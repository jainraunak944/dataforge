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SAM</c:v>
                </c:pt>
              </c:strCache>
            </c:strRef>
          </c:tx>
          <c:spPr>
            <a:solidFill>
              <a:srgbClr val="0E7C7B"/>
            </a:solidFill>
            <a:effectLst/>
          </c:spPr>
          <c:invertIfNegative val="0"/>
          <c:dLbls>
            <c:numFmt formatCode="0.#" sourceLinked="0"/>
            <c:txPr>
              <a:bodyPr/>
              <a:lstStyle/>
              <a:p>
                <a:pPr>
                  <a:defRPr b="0" i="0" strike="noStrike" sz="800" u="none">
                    <a:solidFill>
                      <a:srgbClr val="0B2E4F"/>
                    </a:solidFill>
                    <a:latin typeface="Calibri"/>
                  </a:defRPr>
                </a:pPr>
              </a:p>
            </c:txPr>
            <c:showLegendKey val="0"/>
            <c:showVal val="1"/>
            <c:showCatName val="0"/>
            <c:showSerName val="0"/>
            <c:showPercent val="0"/>
            <c:showBubbleSize val="0"/>
            <c:showLeaderLines val="0"/>
          </c:dLbls>
          <c:cat>
            <c:multiLvlStrRef>
              <c:f>Sheet1!$A$2:$A$8</c:f>
              <c:multiLvlStrCache>
                <c:ptCount val="7"/>
                <c:lvl>
                  <c:pt idx="0">
                    <c:v>Residential developers</c:v>
                  </c:pt>
                  <c:pt idx="1">
                    <c:v>Hospitality</c:v>
                  </c:pt>
                  <c:pt idx="2">
                    <c:v>Bio-digesters (retail)</c:v>
                  </c:pt>
                  <c:pt idx="3">
                    <c:v>Hospitals</c:v>
                  </c:pt>
                  <c:pt idx="4">
                    <c:v>Societies retrofit</c:v>
                  </c:pt>
                  <c:pt idx="5">
                    <c:v>Education &amp; CSR</c:v>
                  </c:pt>
                  <c:pt idx="6">
                    <c:v>Commercial</c:v>
                  </c:pt>
                </c:lvl>
              </c:multiLvlStrCache>
            </c:multiLvlStrRef>
          </c:cat>
          <c:val>
            <c:numRef>
              <c:f>Sheet1!$B$2:$B$8</c:f>
              <c:numCache>
                <c:formatCode>General</c:formatCode>
                <c:ptCount val="7"/>
                <c:pt idx="0">
                  <c:v>96.8</c:v>
                </c:pt>
                <c:pt idx="1">
                  <c:v>27.5</c:v>
                </c:pt>
                <c:pt idx="2">
                  <c:v>20.9</c:v>
                </c:pt>
                <c:pt idx="3">
                  <c:v>8.6</c:v>
                </c:pt>
                <c:pt idx="4">
                  <c:v>5.9</c:v>
                </c:pt>
                <c:pt idx="5">
                  <c:v>3.4</c:v>
                </c:pt>
                <c:pt idx="6">
                  <c:v>2.4</c:v>
                </c:pt>
              </c:numCache>
            </c:numRef>
          </c:val>
        </c:ser>
        <c:dLbls>
          <c:numFmt formatCode="0.#" sourceLinked="0"/>
          <c:txPr>
            <a:bodyPr/>
            <a:lstStyle/>
            <a:p>
              <a:pPr>
                <a:defRPr b="0" i="0" strike="noStrike" sz="800" u="none">
                  <a:solidFill>
                    <a:srgbClr val="0B2E4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26313B"/>
                </a:solidFill>
                <a:latin typeface="Calibri"/>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Existing base (5%/yr)</c:v>
                </c:pt>
              </c:strCache>
            </c:strRef>
          </c:tx>
          <c:spPr>
            <a:solidFill>
              <a:srgbClr val="0B2E4F"/>
            </a:solidFill>
            <a:effectLst/>
          </c:spPr>
          <c:invertIfNegative val="0"/>
          <c:dLbls>
            <c:numFmt formatCode="0.#;;" sourceLinked="0"/>
            <c:txPr>
              <a:bodyPr/>
              <a:lstStyle/>
              <a:p>
                <a:pPr>
                  <a:defRPr b="0" i="0" strike="noStrike" sz="7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FY26</c:v>
                  </c:pt>
                  <c:pt idx="1">
                    <c:v>FY27</c:v>
                  </c:pt>
                  <c:pt idx="2">
                    <c:v>FY28</c:v>
                  </c:pt>
                  <c:pt idx="3">
                    <c:v>FY29</c:v>
                  </c:pt>
                </c:lvl>
              </c:multiLvlStrCache>
            </c:multiLvlStrRef>
          </c:cat>
          <c:val>
            <c:numRef>
              <c:f>Sheet1!$B$2:$B$5</c:f>
              <c:numCache>
                <c:formatCode>General</c:formatCode>
                <c:ptCount val="4"/>
                <c:pt idx="0">
                  <c:v>11.7</c:v>
                </c:pt>
                <c:pt idx="1">
                  <c:v>12.3</c:v>
                </c:pt>
                <c:pt idx="2">
                  <c:v>12.9</c:v>
                </c:pt>
                <c:pt idx="3">
                  <c:v>13.5</c:v>
                </c:pt>
              </c:numCache>
            </c:numRef>
          </c:val>
        </c:ser>
        <c:ser>
          <c:idx val="1"/>
          <c:order val="1"/>
          <c:tx>
            <c:strRef>
              <c:f>Sheet1!$C$1</c:f>
              <c:strCache>
                <c:ptCount val="1"/>
                <c:pt idx="0">
                  <c:v>New private-market</c:v>
                </c:pt>
              </c:strCache>
            </c:strRef>
          </c:tx>
          <c:spPr>
            <a:solidFill>
              <a:srgbClr val="D98E1F"/>
            </a:solidFill>
            <a:effectLst/>
          </c:spPr>
          <c:invertIfNegative val="0"/>
          <c:dLbls>
            <c:numFmt formatCode="0.#;;" sourceLinked="0"/>
            <c:txPr>
              <a:bodyPr/>
              <a:lstStyle/>
              <a:p>
                <a:pPr>
                  <a:defRPr b="0" i="0" strike="noStrike" sz="7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FY26</c:v>
                  </c:pt>
                  <c:pt idx="1">
                    <c:v>FY27</c:v>
                  </c:pt>
                  <c:pt idx="2">
                    <c:v>FY28</c:v>
                  </c:pt>
                  <c:pt idx="3">
                    <c:v>FY29</c:v>
                  </c:pt>
                </c:lvl>
              </c:multiLvlStrCache>
            </c:multiLvlStrRef>
          </c:cat>
          <c:val>
            <c:numRef>
              <c:f>Sheet1!$C$2:$C$5</c:f>
              <c:numCache>
                <c:formatCode>General</c:formatCode>
                <c:ptCount val="4"/>
                <c:pt idx="0">
                  <c:v>0</c:v>
                </c:pt>
                <c:pt idx="1">
                  <c:v>2.4</c:v>
                </c:pt>
                <c:pt idx="2">
                  <c:v>6.4</c:v>
                </c:pt>
                <c:pt idx="3">
                  <c:v>11.9</c:v>
                </c:pt>
              </c:numCache>
            </c:numRef>
          </c:val>
        </c:ser>
        <c:dLbls>
          <c:numFmt formatCode="0.#;;" sourceLinked="0"/>
          <c:txPr>
            <a:bodyPr/>
            <a:lstStyle/>
            <a:p>
              <a:pPr>
                <a:defRPr b="0" i="0" strike="noStrike" sz="700" u="none">
                  <a:solidFill>
                    <a:srgbClr val="FFFFFF"/>
                  </a:solidFill>
                  <a:latin typeface="Calibri"/>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26313B"/>
                </a:solidFill>
                <a:latin typeface="Calibri"/>
              </a:defRPr>
            </a:pPr>
            <a:endParaRPr lang="en-US"/>
          </a:p>
        </c:txPr>
        <c:crossAx val="2094734552"/>
        <c:crosses val="autoZero"/>
        <c:auto val="1"/>
        <c:lblAlgn val="ctr"/>
        <c:noMultiLvlLbl val="1"/>
      </c:catAx>
      <c:valAx>
        <c:axId val="2094734552"/>
        <c:scaling>
          <c:orientation val="minMax"/>
          <c:max val="3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750">
              <a:solidFill>
                <a:srgbClr val="26313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Evaluated</c:v>
                </c:pt>
              </c:strCache>
            </c:strRef>
          </c:tx>
          <c:spPr>
            <a:solidFill>
              <a:srgbClr val="5BA7A6"/>
            </a:solidFill>
            <a:effectLst/>
          </c:spPr>
          <c:invertIfNegative val="0"/>
          <c:dLbls>
            <c:numFmt formatCode="0.00;;" sourceLinked="0"/>
            <c:txPr>
              <a:bodyPr/>
              <a:lstStyle/>
              <a:p>
                <a:pPr>
                  <a:defRPr b="0" i="0" strike="noStrike" sz="7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Biogas &amp; nutrient recovery</c:v>
                  </c:pt>
                  <c:pt idx="1">
                    <c:v>Sludge / faecal-sludge svcs</c:v>
                  </c:pt>
                  <c:pt idx="2">
                    <c:v>Water-as-a-service (BOOT)</c:v>
                  </c:pt>
                  <c:pt idx="3">
                    <c:v>Constructed wetlands / DEWATS</c:v>
                  </c:pt>
                  <c:pt idx="4">
                    <c:v>MBR premium line</c:v>
                  </c:pt>
                  <c:pt idx="5">
                    <c:v>Advanced disinfection</c:v>
                  </c:pt>
                  <c:pt idx="6">
                    <c:v>Greywater recycling</c:v>
                  </c:pt>
                  <c:pt idx="7">
                    <c:v>Water-reuse module (tertiary)</c:v>
                  </c:pt>
                  <c:pt idx="8">
                    <c:v>IoT monitoring &amp; dashboards</c:v>
                  </c:pt>
                  <c:pt idx="9">
                    <c:v>STP retrofit + O&amp;M takeover</c:v>
                  </c:pt>
                </c:lvl>
              </c:multiLvlStrCache>
            </c:multiLvlStrRef>
          </c:cat>
          <c:val>
            <c:numRef>
              <c:f>Sheet1!$B$2:$B$11</c:f>
              <c:numCache>
                <c:formatCode>General</c:formatCode>
                <c:ptCount val="10"/>
                <c:pt idx="0">
                  <c:v>2.3</c:v>
                </c:pt>
                <c:pt idx="1">
                  <c:v>3</c:v>
                </c:pt>
                <c:pt idx="2">
                  <c:v>3.05</c:v>
                </c:pt>
                <c:pt idx="3">
                  <c:v>3.2</c:v>
                </c:pt>
                <c:pt idx="4">
                  <c:v>3.2</c:v>
                </c:pt>
                <c:pt idx="5">
                  <c:v>3.55</c:v>
                </c:pt>
                <c:pt idx="6">
                  <c:v>3.55</c:v>
                </c:pt>
                <c:pt idx="7">
                  <c:v/>
                </c:pt>
                <c:pt idx="8">
                  <c:v/>
                </c:pt>
                <c:pt idx="9">
                  <c:v/>
                </c:pt>
              </c:numCache>
            </c:numRef>
          </c:val>
        </c:ser>
        <c:ser>
          <c:idx val="1"/>
          <c:order val="1"/>
          <c:tx>
            <c:strRef>
              <c:f>Sheet1!$C$1</c:f>
              <c:strCache>
                <c:ptCount val="1"/>
                <c:pt idx="0">
                  <c:v>Selected</c:v>
                </c:pt>
              </c:strCache>
            </c:strRef>
          </c:tx>
          <c:spPr>
            <a:solidFill>
              <a:srgbClr val="D98E1F"/>
            </a:solidFill>
            <a:effectLst/>
          </c:spPr>
          <c:invertIfNegative val="0"/>
          <c:dLbls>
            <c:numFmt formatCode="0.00;;" sourceLinked="0"/>
            <c:txPr>
              <a:bodyPr/>
              <a:lstStyle/>
              <a:p>
                <a:pPr>
                  <a:defRPr b="0" i="0" strike="noStrike" sz="7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Biogas &amp; nutrient recovery</c:v>
                  </c:pt>
                  <c:pt idx="1">
                    <c:v>Sludge / faecal-sludge svcs</c:v>
                  </c:pt>
                  <c:pt idx="2">
                    <c:v>Water-as-a-service (BOOT)</c:v>
                  </c:pt>
                  <c:pt idx="3">
                    <c:v>Constructed wetlands / DEWATS</c:v>
                  </c:pt>
                  <c:pt idx="4">
                    <c:v>MBR premium line</c:v>
                  </c:pt>
                  <c:pt idx="5">
                    <c:v>Advanced disinfection</c:v>
                  </c:pt>
                  <c:pt idx="6">
                    <c:v>Greywater recycling</c:v>
                  </c:pt>
                  <c:pt idx="7">
                    <c:v>Water-reuse module (tertiary)</c:v>
                  </c:pt>
                  <c:pt idx="8">
                    <c:v>IoT monitoring &amp; dashboards</c:v>
                  </c:pt>
                  <c:pt idx="9">
                    <c:v>STP retrofit + O&amp;M takeover</c:v>
                  </c:pt>
                </c:lvl>
              </c:multiLvlStrCache>
            </c:multiLvlStrRef>
          </c:cat>
          <c:val>
            <c:numRef>
              <c:f>Sheet1!$C$2:$C$11</c:f>
              <c:numCache>
                <c:formatCode>General</c:formatCode>
                <c:ptCount val="10"/>
                <c:pt idx="0">
                  <c:v/>
                </c:pt>
                <c:pt idx="1">
                  <c:v/>
                </c:pt>
                <c:pt idx="2">
                  <c:v/>
                </c:pt>
                <c:pt idx="3">
                  <c:v/>
                </c:pt>
                <c:pt idx="4">
                  <c:v/>
                </c:pt>
                <c:pt idx="5">
                  <c:v/>
                </c:pt>
                <c:pt idx="6">
                  <c:v/>
                </c:pt>
                <c:pt idx="7">
                  <c:v>4.3</c:v>
                </c:pt>
                <c:pt idx="8">
                  <c:v>4.55</c:v>
                </c:pt>
                <c:pt idx="9">
                  <c:v>4.65</c:v>
                </c:pt>
              </c:numCache>
            </c:numRef>
          </c:val>
        </c:ser>
        <c:dLbls>
          <c:numFmt formatCode="0.00;;" sourceLinked="0"/>
          <c:txPr>
            <a:bodyPr/>
            <a:lstStyle/>
            <a:p>
              <a:pPr>
                <a:defRPr b="0" i="0" strike="noStrike" sz="750" u="none">
                  <a:solidFill>
                    <a:srgbClr val="FFFFFF"/>
                  </a:solidFill>
                  <a:latin typeface="Calibri"/>
                </a:defRPr>
              </a:pPr>
            </a:p>
          </c:txPr>
          <c:dLblPos val="ctr"/>
          <c:showLegendKey val="0"/>
          <c:showVal val="1"/>
          <c:showCatName val="0"/>
          <c:showSerName val="0"/>
          <c:showPercent val="0"/>
          <c:showBubbleSize val="0"/>
          <c:showLeaderLines val="0"/>
        </c:dLbls>
        <c:gapWidth val="38"/>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60" b="0" i="0" u="none" strike="noStrike">
                <a:solidFill>
                  <a:srgbClr val="26313B"/>
                </a:solidFill>
                <a:latin typeface="Calibri"/>
              </a:defRPr>
            </a:pPr>
            <a:endParaRPr lang="en-US"/>
          </a:p>
        </c:txPr>
        <c:crossAx val="2094734552"/>
        <c:crosses val="autoZero"/>
        <c:auto val="1"/>
        <c:lblAlgn val="ctr"/>
        <c:noMultiLvlLbl val="1"/>
      </c:catAx>
      <c:valAx>
        <c:axId val="2094734552"/>
        <c:scaling>
          <c:orientation val="minMax"/>
          <c:max val="5.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4F"/>
        </a:solidFill>
      </p:bgPr>
    </p:bg>
    <p:spTree>
      <p:nvGrpSpPr>
        <p:cNvPr id="1" name=""/>
        <p:cNvGrpSpPr/>
        <p:nvPr/>
      </p:nvGrpSpPr>
      <p:grpSpPr>
        <a:xfrm>
          <a:off x="0" y="0"/>
          <a:ext cx="0" cy="0"/>
          <a:chOff x="0" y="0"/>
          <a:chExt cx="0" cy="0"/>
        </a:xfrm>
      </p:grpSpPr>
      <p:sp>
        <p:nvSpPr>
          <p:cNvPr id="2" name="Shape 0"/>
          <p:cNvSpPr/>
          <p:nvPr/>
        </p:nvSpPr>
        <p:spPr>
          <a:xfrm>
            <a:off x="7315200" y="1051560"/>
            <a:ext cx="4754880" cy="4754880"/>
          </a:xfrm>
          <a:prstGeom prst="ellipse">
            <a:avLst/>
          </a:prstGeom>
          <a:ln w="13970">
            <a:solidFill>
              <a:srgbClr val="0E7C7B">
                <a:alpha val="45000"/>
              </a:srgbClr>
            </a:solidFill>
            <a:prstDash val="solid"/>
          </a:ln>
        </p:spPr>
      </p:sp>
      <p:sp>
        <p:nvSpPr>
          <p:cNvPr id="3" name="Shape 1"/>
          <p:cNvSpPr/>
          <p:nvPr/>
        </p:nvSpPr>
        <p:spPr>
          <a:xfrm>
            <a:off x="7863840" y="1600200"/>
            <a:ext cx="3657600" cy="3657600"/>
          </a:xfrm>
          <a:prstGeom prst="ellipse">
            <a:avLst/>
          </a:prstGeom>
          <a:ln w="13970">
            <a:solidFill>
              <a:srgbClr val="0E7C7B">
                <a:alpha val="35000"/>
              </a:srgbClr>
            </a:solidFill>
            <a:prstDash val="solid"/>
          </a:ln>
        </p:spPr>
      </p:sp>
      <p:sp>
        <p:nvSpPr>
          <p:cNvPr id="4" name="Shape 2"/>
          <p:cNvSpPr/>
          <p:nvPr/>
        </p:nvSpPr>
        <p:spPr>
          <a:xfrm>
            <a:off x="8412480" y="2148840"/>
            <a:ext cx="2560320" cy="2560320"/>
          </a:xfrm>
          <a:prstGeom prst="ellipse">
            <a:avLst/>
          </a:prstGeom>
          <a:ln w="13970">
            <a:solidFill>
              <a:srgbClr val="0E7C7B">
                <a:alpha val="25000"/>
              </a:srgbClr>
            </a:solidFill>
            <a:prstDash val="solid"/>
          </a:ln>
        </p:spPr>
      </p:sp>
      <p:sp>
        <p:nvSpPr>
          <p:cNvPr id="5" name="Shape 3"/>
          <p:cNvSpPr/>
          <p:nvPr/>
        </p:nvSpPr>
        <p:spPr>
          <a:xfrm>
            <a:off x="9637776" y="3374136"/>
            <a:ext cx="109728" cy="109728"/>
          </a:xfrm>
          <a:prstGeom prst="ellipse">
            <a:avLst/>
          </a:prstGeom>
          <a:solidFill>
            <a:srgbClr val="D98E1F"/>
          </a:solidFill>
          <a:ln/>
        </p:spPr>
      </p:sp>
      <p:sp>
        <p:nvSpPr>
          <p:cNvPr id="6" name="Text 4"/>
          <p:cNvSpPr txBox="1"/>
          <p:nvPr/>
        </p:nvSpPr>
        <p:spPr>
          <a:xfrm>
            <a:off x="685800" y="566928"/>
            <a:ext cx="10058400" cy="274320"/>
          </a:xfrm>
          <a:prstGeom prst="rect">
            <a:avLst/>
          </a:prstGeom>
          <a:noFill/>
          <a:ln/>
        </p:spPr>
        <p:txBody>
          <a:bodyPr wrap="square" lIns="0" tIns="0" rIns="0" bIns="0" rtlCol="0" anchor="ctr"/>
          <a:lstStyle/>
          <a:p>
            <a:pPr indent="0" marL="0">
              <a:buNone/>
            </a:pPr>
            <a:r>
              <a:rPr lang="en-US" sz="1100" b="1" spc="200" kern="0" dirty="0">
                <a:solidFill>
                  <a:srgbClr val="9FC4C3"/>
                </a:solidFill>
                <a:latin typeface="Calibri" pitchFamily="34" charset="0"/>
                <a:ea typeface="Calibri" pitchFamily="34" charset="-122"/>
                <a:cs typeface="Calibri" pitchFamily="34" charset="-120"/>
              </a:rPr>
              <a:t>CASE CONSILIUM 2026  |  ROUND 2  |  BGCC, BITS PILANI K K BIRLA GOA CAMPUS</a:t>
            </a:r>
            <a:endParaRPr lang="en-US" sz="1100" dirty="0"/>
          </a:p>
        </p:txBody>
      </p:sp>
      <p:sp>
        <p:nvSpPr>
          <p:cNvPr id="7" name="Text 5"/>
          <p:cNvSpPr txBox="1"/>
          <p:nvPr/>
        </p:nvSpPr>
        <p:spPr>
          <a:xfrm>
            <a:off x="685800" y="1874520"/>
            <a:ext cx="859536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EP Biocomposites Limited</a:t>
            </a:r>
            <a:endParaRPr lang="en-US" sz="4400" dirty="0"/>
          </a:p>
        </p:txBody>
      </p:sp>
      <p:sp>
        <p:nvSpPr>
          <p:cNvPr id="8" name="Text 6"/>
          <p:cNvSpPr txBox="1"/>
          <p:nvPr/>
        </p:nvSpPr>
        <p:spPr>
          <a:xfrm>
            <a:off x="685800" y="2852928"/>
            <a:ext cx="8138160" cy="914400"/>
          </a:xfrm>
          <a:prstGeom prst="rect">
            <a:avLst/>
          </a:prstGeom>
          <a:noFill/>
          <a:ln/>
        </p:spPr>
        <p:txBody>
          <a:bodyPr wrap="square" lIns="0" tIns="0" rIns="0" bIns="0" rtlCol="0" anchor="ctr"/>
          <a:lstStyle/>
          <a:p>
            <a:pPr indent="0" marL="0">
              <a:lnSpc>
                <a:spcPct val="112000"/>
              </a:lnSpc>
              <a:buNone/>
            </a:pPr>
            <a:r>
              <a:rPr lang="en-US" sz="1700" dirty="0">
                <a:solidFill>
                  <a:srgbClr val="CFE3E2"/>
                </a:solidFill>
                <a:latin typeface="Calibri" pitchFamily="34" charset="0"/>
                <a:ea typeface="Calibri" pitchFamily="34" charset="-122"/>
                <a:cs typeface="Calibri" pitchFamily="34" charset="-120"/>
              </a:rPr>
              <a:t>Concentrate to conquer: three private buyers, one west-coast corridor,</a:t>
            </a:r>
            <a:endParaRPr lang="en-US" sz="1700" dirty="0"/>
          </a:p>
          <a:p>
            <a:pPr indent="0" marL="0">
              <a:lnSpc>
                <a:spcPct val="112000"/>
              </a:lnSpc>
              <a:buNone/>
            </a:pPr>
            <a:r>
              <a:rPr lang="en-US" sz="1700" dirty="0">
                <a:solidFill>
                  <a:srgbClr val="CFE3E2"/>
                </a:solidFill>
                <a:latin typeface="Calibri" pitchFamily="34" charset="0"/>
                <a:ea typeface="Calibri" pitchFamily="34" charset="-122"/>
                <a:cs typeface="Calibri" pitchFamily="34" charset="-120"/>
              </a:rPr>
              <a:t>service-led growth from ₹11.7 crore to ₹25 crore by FY29</a:t>
            </a:r>
            <a:endParaRPr lang="en-US" sz="1700" dirty="0"/>
          </a:p>
        </p:txBody>
      </p:sp>
      <p:sp>
        <p:nvSpPr>
          <p:cNvPr id="9" name="Shape 7"/>
          <p:cNvSpPr/>
          <p:nvPr/>
        </p:nvSpPr>
        <p:spPr>
          <a:xfrm>
            <a:off x="713232" y="4224528"/>
            <a:ext cx="2011680" cy="0"/>
          </a:xfrm>
          <a:prstGeom prst="line">
            <a:avLst/>
          </a:prstGeom>
          <a:noFill/>
          <a:ln w="25400">
            <a:solidFill>
              <a:srgbClr val="D98E1F"/>
            </a:solidFill>
            <a:prstDash val="solid"/>
          </a:ln>
        </p:spPr>
      </p:sp>
      <p:sp>
        <p:nvSpPr>
          <p:cNvPr id="10" name="Text 8"/>
          <p:cNvSpPr txBox="1"/>
          <p:nvPr/>
        </p:nvSpPr>
        <p:spPr>
          <a:xfrm>
            <a:off x="685800" y="4434840"/>
            <a:ext cx="5486400" cy="310896"/>
          </a:xfrm>
          <a:prstGeom prst="rect">
            <a:avLst/>
          </a:prstGeom>
          <a:noFill/>
          <a:ln/>
        </p:spPr>
        <p:txBody>
          <a:bodyPr wrap="square" lIns="0" tIns="0" rIns="0" bIns="0" rtlCol="0" anchor="ctr"/>
          <a:lstStyle/>
          <a:p>
            <a:pPr indent="0" marL="0">
              <a:buNone/>
            </a:pPr>
            <a:r>
              <a:rPr lang="en-US" sz="1500" b="1" spc="250" kern="0" dirty="0">
                <a:solidFill>
                  <a:srgbClr val="D98E1F"/>
                </a:solidFill>
                <a:latin typeface="Calibri" pitchFamily="34" charset="0"/>
                <a:ea typeface="Calibri" pitchFamily="34" charset="-122"/>
                <a:cs typeface="Calibri" pitchFamily="34" charset="-120"/>
              </a:rPr>
              <a:t>TEAM WOOKIES</a:t>
            </a:r>
            <a:endParaRPr lang="en-US" sz="1500" dirty="0"/>
          </a:p>
        </p:txBody>
      </p:sp>
      <p:sp>
        <p:nvSpPr>
          <p:cNvPr id="11" name="Text 9"/>
          <p:cNvSpPr txBox="1"/>
          <p:nvPr/>
        </p:nvSpPr>
        <p:spPr>
          <a:xfrm>
            <a:off x="685800" y="4809744"/>
            <a:ext cx="9144000" cy="320040"/>
          </a:xfrm>
          <a:prstGeom prst="rect">
            <a:avLst/>
          </a:prstGeom>
          <a:noFill/>
          <a:ln/>
        </p:spPr>
        <p:txBody>
          <a:bodyPr wrap="square" lIns="0" tIns="0" rIns="0" bIns="0" rtlCol="0" anchor="ctr"/>
          <a:lstStyle/>
          <a:p>
            <a:pPr indent="0" marL="0">
              <a:buNone/>
            </a:pPr>
            <a:r>
              <a:rPr lang="en-US" sz="1350" dirty="0">
                <a:solidFill>
                  <a:srgbClr val="E8EFF2"/>
                </a:solidFill>
                <a:latin typeface="Calibri" pitchFamily="34" charset="0"/>
                <a:ea typeface="Calibri" pitchFamily="34" charset="-122"/>
                <a:cs typeface="Calibri" pitchFamily="34" charset="-120"/>
              </a:rPr>
              <a:t>Raunak Jain      Dhruv Mundra      Khushi Jha      Sambhav Khandelwal</a:t>
            </a:r>
            <a:endParaRPr lang="en-US" sz="1350" dirty="0"/>
          </a:p>
        </p:txBody>
      </p:sp>
      <p:sp>
        <p:nvSpPr>
          <p:cNvPr id="12" name="Text 10"/>
          <p:cNvSpPr txBox="1"/>
          <p:nvPr/>
        </p:nvSpPr>
        <p:spPr>
          <a:xfrm>
            <a:off x="685800" y="6199632"/>
            <a:ext cx="10789920" cy="274320"/>
          </a:xfrm>
          <a:prstGeom prst="rect">
            <a:avLst/>
          </a:prstGeom>
          <a:noFill/>
          <a:ln/>
        </p:spPr>
        <p:txBody>
          <a:bodyPr wrap="square" lIns="0" tIns="0" rIns="0" bIns="0" rtlCol="0" anchor="ctr"/>
          <a:lstStyle/>
          <a:p>
            <a:pPr indent="0" marL="0">
              <a:buNone/>
            </a:pPr>
            <a:r>
              <a:rPr lang="en-US" sz="1000" dirty="0">
                <a:solidFill>
                  <a:srgbClr val="7E98A8"/>
                </a:solidFill>
                <a:latin typeface="Calibri" pitchFamily="34" charset="0"/>
                <a:ea typeface="Calibri" pitchFamily="34" charset="-122"/>
                <a:cs typeface="Calibri" pitchFamily="34" charset="-120"/>
              </a:rPr>
              <a:t>Bio-digester toilets  |  decentralised STP / ETP  |  wastewater reuse   -   private-pay Tier 2/3 markets of Goa, Maharashtra and Karnataka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83112" cy="256032"/>
          </a:xfrm>
          <a:prstGeom prst="rect">
            <a:avLst/>
          </a:prstGeom>
          <a:noFill/>
          <a:ln/>
        </p:spPr>
        <p:txBody>
          <a:bodyPr wrap="square" lIns="0" tIns="0" rIns="0" bIns="0" rtlCol="0" anchor="ctr"/>
          <a:lstStyle/>
          <a:p>
            <a:pPr indent="0" marL="0">
              <a:buNone/>
            </a:pPr>
            <a:r>
              <a:rPr lang="en-US" sz="1050" b="1" spc="200" kern="0" dirty="0">
                <a:solidFill>
                  <a:srgbClr val="0E7C7B"/>
                </a:solidFill>
                <a:latin typeface="Calibri" pitchFamily="34" charset="0"/>
                <a:ea typeface="Calibri" pitchFamily="34" charset="-122"/>
                <a:cs typeface="Calibri" pitchFamily="34" charset="-120"/>
              </a:rPr>
              <a:t>EXECUTIVE SUMMARY</a:t>
            </a:r>
            <a:endParaRPr lang="en-US" sz="1050" dirty="0"/>
          </a:p>
        </p:txBody>
      </p:sp>
      <p:sp>
        <p:nvSpPr>
          <p:cNvPr id="3" name="Text 1"/>
          <p:cNvSpPr txBox="1"/>
          <p:nvPr/>
        </p:nvSpPr>
        <p:spPr>
          <a:xfrm>
            <a:off x="502920" y="512064"/>
            <a:ext cx="11183112" cy="566928"/>
          </a:xfrm>
          <a:prstGeom prst="rect">
            <a:avLst/>
          </a:prstGeom>
          <a:noFill/>
          <a:ln/>
        </p:spPr>
        <p:txBody>
          <a:bodyPr wrap="square" lIns="0" tIns="0" rIns="0" bIns="0" rtlCol="0" anchor="ctr"/>
          <a:lstStyle/>
          <a:p>
            <a:pPr indent="0" marL="0">
              <a:lnSpc>
                <a:spcPct val="102000"/>
              </a:lnSpc>
              <a:buNone/>
            </a:pPr>
            <a:r>
              <a:rPr lang="en-US" sz="2000" b="1" dirty="0">
                <a:solidFill>
                  <a:srgbClr val="0B2E4F"/>
                </a:solidFill>
                <a:latin typeface="Calibri" pitchFamily="34" charset="0"/>
                <a:ea typeface="Calibri" pitchFamily="34" charset="-122"/>
                <a:cs typeface="Calibri" pitchFamily="34" charset="-120"/>
              </a:rPr>
              <a:t>Win three compliance-driven buyers in a serviceable corridor, then let service quality, not geography, set the pace</a:t>
            </a:r>
            <a:endParaRPr lang="en-US" sz="2000" dirty="0"/>
          </a:p>
        </p:txBody>
      </p:sp>
      <p:sp>
        <p:nvSpPr>
          <p:cNvPr id="4" name="Text 2"/>
          <p:cNvSpPr txBox="1"/>
          <p:nvPr/>
        </p:nvSpPr>
        <p:spPr>
          <a:xfrm>
            <a:off x="502920" y="1207008"/>
            <a:ext cx="1572768" cy="658368"/>
          </a:xfrm>
          <a:prstGeom prst="rect">
            <a:avLst/>
          </a:prstGeom>
          <a:noFill/>
          <a:ln/>
        </p:spPr>
        <p:txBody>
          <a:bodyPr wrap="square" lIns="0" tIns="0" rIns="0" bIns="0" rtlCol="0" anchor="t"/>
          <a:lstStyle/>
          <a:p>
            <a:pPr indent="0" marL="0">
              <a:lnSpc>
                <a:spcPct val="100000"/>
              </a:lnSpc>
              <a:buNone/>
            </a:pPr>
            <a:r>
              <a:rPr lang="en-US" sz="950" b="1" dirty="0">
                <a:solidFill>
                  <a:srgbClr val="0E7C7B"/>
                </a:solidFill>
                <a:latin typeface="Calibri" pitchFamily="34" charset="0"/>
                <a:ea typeface="Calibri" pitchFamily="34" charset="-122"/>
                <a:cs typeface="Calibri" pitchFamily="34" charset="-120"/>
              </a:rPr>
              <a:t>PRIORITY PERSONAS</a:t>
            </a:r>
            <a:endParaRPr lang="en-US" sz="950" dirty="0"/>
          </a:p>
        </p:txBody>
      </p:sp>
      <p:sp>
        <p:nvSpPr>
          <p:cNvPr id="5" name="Text 3"/>
          <p:cNvSpPr txBox="1"/>
          <p:nvPr/>
        </p:nvSpPr>
        <p:spPr>
          <a:xfrm>
            <a:off x="2212848" y="1207008"/>
            <a:ext cx="5742432" cy="658368"/>
          </a:xfrm>
          <a:prstGeom prst="rect">
            <a:avLst/>
          </a:prstGeom>
          <a:noFill/>
          <a:ln/>
        </p:spPr>
        <p:txBody>
          <a:bodyPr wrap="square" lIns="0" tIns="0" rIns="0" bIns="0" rtlCol="0" anchor="t"/>
          <a:lstStyle/>
          <a:p>
            <a:pPr indent="0" marL="0">
              <a:lnSpc>
                <a:spcPct val="104000"/>
              </a:lnSpc>
              <a:buNone/>
            </a:pPr>
            <a:r>
              <a:rPr lang="en-US" sz="980" dirty="0">
                <a:solidFill>
                  <a:srgbClr val="26313B"/>
                </a:solidFill>
                <a:latin typeface="Calibri" pitchFamily="34" charset="0"/>
                <a:ea typeface="Calibri" pitchFamily="34" charset="-122"/>
                <a:cs typeface="Calibri" pitchFamily="34" charset="-120"/>
              </a:rPr>
              <a:t>Coastal and leisure hoteliers (20-150 keys), Tier-2 residential developers (100-400 units), and private hospitals (30-150 beds). They score 4.50, 3.80 and 3.75 on our 10-factor weighted framework; all three buy under a compliance trigger, not discretionary demand.</a:t>
            </a:r>
            <a:endParaRPr lang="en-US" sz="980" dirty="0"/>
          </a:p>
        </p:txBody>
      </p:sp>
      <p:sp>
        <p:nvSpPr>
          <p:cNvPr id="6" name="Shape 4"/>
          <p:cNvSpPr/>
          <p:nvPr/>
        </p:nvSpPr>
        <p:spPr>
          <a:xfrm>
            <a:off x="502920" y="1897380"/>
            <a:ext cx="7452360" cy="0"/>
          </a:xfrm>
          <a:prstGeom prst="line">
            <a:avLst/>
          </a:prstGeom>
          <a:noFill/>
          <a:ln w="9525">
            <a:solidFill>
              <a:srgbClr val="C9D3DA"/>
            </a:solidFill>
            <a:prstDash val="solid"/>
          </a:ln>
        </p:spPr>
      </p:sp>
      <p:sp>
        <p:nvSpPr>
          <p:cNvPr id="7" name="Text 5"/>
          <p:cNvSpPr txBox="1"/>
          <p:nvPr/>
        </p:nvSpPr>
        <p:spPr>
          <a:xfrm>
            <a:off x="502920" y="1956816"/>
            <a:ext cx="1572768" cy="658368"/>
          </a:xfrm>
          <a:prstGeom prst="rect">
            <a:avLst/>
          </a:prstGeom>
          <a:noFill/>
          <a:ln/>
        </p:spPr>
        <p:txBody>
          <a:bodyPr wrap="square" lIns="0" tIns="0" rIns="0" bIns="0" rtlCol="0" anchor="t"/>
          <a:lstStyle/>
          <a:p>
            <a:pPr indent="0" marL="0">
              <a:lnSpc>
                <a:spcPct val="100000"/>
              </a:lnSpc>
              <a:buNone/>
            </a:pPr>
            <a:r>
              <a:rPr lang="en-US" sz="950" b="1" dirty="0">
                <a:solidFill>
                  <a:srgbClr val="0E7C7B"/>
                </a:solidFill>
                <a:latin typeface="Calibri" pitchFamily="34" charset="0"/>
                <a:ea typeface="Calibri" pitchFamily="34" charset="-122"/>
                <a:cs typeface="Calibri" pitchFamily="34" charset="-120"/>
              </a:rPr>
              <a:t>MARKET OPPORTUNITY</a:t>
            </a:r>
            <a:endParaRPr lang="en-US" sz="950" dirty="0"/>
          </a:p>
        </p:txBody>
      </p:sp>
      <p:sp>
        <p:nvSpPr>
          <p:cNvPr id="8" name="Text 6"/>
          <p:cNvSpPr txBox="1"/>
          <p:nvPr/>
        </p:nvSpPr>
        <p:spPr>
          <a:xfrm>
            <a:off x="2212848" y="1956816"/>
            <a:ext cx="5742432" cy="658368"/>
          </a:xfrm>
          <a:prstGeom prst="rect">
            <a:avLst/>
          </a:prstGeom>
          <a:noFill/>
          <a:ln/>
        </p:spPr>
        <p:txBody>
          <a:bodyPr wrap="square" lIns="0" tIns="0" rIns="0" bIns="0" rtlCol="0" anchor="t"/>
          <a:lstStyle/>
          <a:p>
            <a:pPr indent="0" marL="0">
              <a:lnSpc>
                <a:spcPct val="104000"/>
              </a:lnSpc>
              <a:buNone/>
            </a:pPr>
            <a:r>
              <a:rPr lang="en-US" sz="980" dirty="0">
                <a:solidFill>
                  <a:srgbClr val="26313B"/>
                </a:solidFill>
                <a:latin typeface="Calibri" pitchFamily="34" charset="0"/>
                <a:ea typeface="Calibri" pitchFamily="34" charset="-122"/>
                <a:cs typeface="Calibri" pitchFamily="34" charset="-120"/>
              </a:rPr>
              <a:t>Private-pay decentralised demand in the three states is ~₹270 cr/yr (bottom-up); ₹165 cr/yr is serviceable from EPBL's corridor and capability. Realistic 3-year capture: ₹15-28 cr of new revenue (base ₹21 cr), on top of the existing ₹11.7 cr base.</a:t>
            </a:r>
            <a:endParaRPr lang="en-US" sz="980" dirty="0"/>
          </a:p>
        </p:txBody>
      </p:sp>
      <p:sp>
        <p:nvSpPr>
          <p:cNvPr id="9" name="Shape 7"/>
          <p:cNvSpPr/>
          <p:nvPr/>
        </p:nvSpPr>
        <p:spPr>
          <a:xfrm>
            <a:off x="502920" y="2647188"/>
            <a:ext cx="7452360" cy="0"/>
          </a:xfrm>
          <a:prstGeom prst="line">
            <a:avLst/>
          </a:prstGeom>
          <a:noFill/>
          <a:ln w="9525">
            <a:solidFill>
              <a:srgbClr val="C9D3DA"/>
            </a:solidFill>
            <a:prstDash val="solid"/>
          </a:ln>
        </p:spPr>
      </p:sp>
      <p:sp>
        <p:nvSpPr>
          <p:cNvPr id="10" name="Text 8"/>
          <p:cNvSpPr txBox="1"/>
          <p:nvPr/>
        </p:nvSpPr>
        <p:spPr>
          <a:xfrm>
            <a:off x="502920" y="2706624"/>
            <a:ext cx="1572768" cy="658368"/>
          </a:xfrm>
          <a:prstGeom prst="rect">
            <a:avLst/>
          </a:prstGeom>
          <a:noFill/>
          <a:ln/>
        </p:spPr>
        <p:txBody>
          <a:bodyPr wrap="square" lIns="0" tIns="0" rIns="0" bIns="0" rtlCol="0" anchor="t"/>
          <a:lstStyle/>
          <a:p>
            <a:pPr indent="0" marL="0">
              <a:lnSpc>
                <a:spcPct val="100000"/>
              </a:lnSpc>
              <a:buNone/>
            </a:pPr>
            <a:r>
              <a:rPr lang="en-US" sz="950" b="1" dirty="0">
                <a:solidFill>
                  <a:srgbClr val="0E7C7B"/>
                </a:solidFill>
                <a:latin typeface="Calibri" pitchFamily="34" charset="0"/>
                <a:ea typeface="Calibri" pitchFamily="34" charset="-122"/>
                <a:cs typeface="Calibri" pitchFamily="34" charset="-120"/>
              </a:rPr>
              <a:t>WHERE TO START</a:t>
            </a:r>
            <a:endParaRPr lang="en-US" sz="950" dirty="0"/>
          </a:p>
        </p:txBody>
      </p:sp>
      <p:sp>
        <p:nvSpPr>
          <p:cNvPr id="11" name="Text 9"/>
          <p:cNvSpPr txBox="1"/>
          <p:nvPr/>
        </p:nvSpPr>
        <p:spPr>
          <a:xfrm>
            <a:off x="2212848" y="2706624"/>
            <a:ext cx="5742432" cy="658368"/>
          </a:xfrm>
          <a:prstGeom prst="rect">
            <a:avLst/>
          </a:prstGeom>
          <a:noFill/>
          <a:ln/>
        </p:spPr>
        <p:txBody>
          <a:bodyPr wrap="square" lIns="0" tIns="0" rIns="0" bIns="0" rtlCol="0" anchor="t"/>
          <a:lstStyle/>
          <a:p>
            <a:pPr indent="0" marL="0">
              <a:lnSpc>
                <a:spcPct val="104000"/>
              </a:lnSpc>
              <a:buNone/>
            </a:pPr>
            <a:r>
              <a:rPr lang="en-US" sz="980" dirty="0">
                <a:solidFill>
                  <a:srgbClr val="26313B"/>
                </a:solidFill>
                <a:latin typeface="Calibri" pitchFamily="34" charset="0"/>
                <a:ea typeface="Calibri" pitchFamily="34" charset="-122"/>
                <a:cs typeface="Calibri" pitchFamily="34" charset="-120"/>
              </a:rPr>
              <a:t>Phase 1 is Goa plus the 250 km corridor: Sindhudurg-Ratnagiri, Kolhapur, Belagavi, where EPBL is the only in-state OEM with references. Karnataka's Tier-2 anchors (Hubballi-Dharwad, Mangaluru, Mysuru) follow in Year 2, Tier-3 depth via partners in Year 3.</a:t>
            </a:r>
            <a:endParaRPr lang="en-US" sz="980" dirty="0"/>
          </a:p>
        </p:txBody>
      </p:sp>
      <p:sp>
        <p:nvSpPr>
          <p:cNvPr id="12" name="Shape 10"/>
          <p:cNvSpPr/>
          <p:nvPr/>
        </p:nvSpPr>
        <p:spPr>
          <a:xfrm>
            <a:off x="502920" y="3396996"/>
            <a:ext cx="7452360" cy="0"/>
          </a:xfrm>
          <a:prstGeom prst="line">
            <a:avLst/>
          </a:prstGeom>
          <a:noFill/>
          <a:ln w="9525">
            <a:solidFill>
              <a:srgbClr val="C9D3DA"/>
            </a:solidFill>
            <a:prstDash val="solid"/>
          </a:ln>
        </p:spPr>
      </p:sp>
      <p:sp>
        <p:nvSpPr>
          <p:cNvPr id="13" name="Text 11"/>
          <p:cNvSpPr txBox="1"/>
          <p:nvPr/>
        </p:nvSpPr>
        <p:spPr>
          <a:xfrm>
            <a:off x="502920" y="3456432"/>
            <a:ext cx="1572768" cy="548640"/>
          </a:xfrm>
          <a:prstGeom prst="rect">
            <a:avLst/>
          </a:prstGeom>
          <a:noFill/>
          <a:ln/>
        </p:spPr>
        <p:txBody>
          <a:bodyPr wrap="square" lIns="0" tIns="0" rIns="0" bIns="0" rtlCol="0" anchor="t"/>
          <a:lstStyle/>
          <a:p>
            <a:pPr indent="0" marL="0">
              <a:lnSpc>
                <a:spcPct val="100000"/>
              </a:lnSpc>
              <a:buNone/>
            </a:pPr>
            <a:r>
              <a:rPr lang="en-US" sz="950" b="1" dirty="0">
                <a:solidFill>
                  <a:srgbClr val="0E7C7B"/>
                </a:solidFill>
                <a:latin typeface="Calibri" pitchFamily="34" charset="0"/>
                <a:ea typeface="Calibri" pitchFamily="34" charset="-122"/>
                <a:cs typeface="Calibri" pitchFamily="34" charset="-120"/>
              </a:rPr>
              <a:t>COMMERCIAL MODEL</a:t>
            </a:r>
            <a:endParaRPr lang="en-US" sz="950" dirty="0"/>
          </a:p>
        </p:txBody>
      </p:sp>
      <p:sp>
        <p:nvSpPr>
          <p:cNvPr id="14" name="Text 12"/>
          <p:cNvSpPr txBox="1"/>
          <p:nvPr/>
        </p:nvSpPr>
        <p:spPr>
          <a:xfrm>
            <a:off x="2212848" y="3456432"/>
            <a:ext cx="5742432" cy="548640"/>
          </a:xfrm>
          <a:prstGeom prst="rect">
            <a:avLst/>
          </a:prstGeom>
          <a:noFill/>
          <a:ln/>
        </p:spPr>
        <p:txBody>
          <a:bodyPr wrap="square" lIns="0" tIns="0" rIns="0" bIns="0" rtlCol="0" anchor="t"/>
          <a:lstStyle/>
          <a:p>
            <a:pPr indent="0" marL="0">
              <a:lnSpc>
                <a:spcPct val="104000"/>
              </a:lnSpc>
              <a:buNone/>
            </a:pPr>
            <a:r>
              <a:rPr lang="en-US" sz="980" dirty="0">
                <a:solidFill>
                  <a:srgbClr val="26313B"/>
                </a:solidFill>
                <a:latin typeface="Calibri" pitchFamily="34" charset="0"/>
                <a:ea typeface="Calibri" pitchFamily="34" charset="-122"/>
                <a:cs typeface="Calibri" pitchFamily="34" charset="-120"/>
              </a:rPr>
              <a:t>Audit-led direct sales plus MEP-consultant and CREDAI/hotel-association channels; standardised 10/25/50/100 KLD FRP packages; 30-40-25-5 milestone billing; AMC attached to ≥60% of new installs.</a:t>
            </a:r>
            <a:endParaRPr lang="en-US" sz="980" dirty="0"/>
          </a:p>
        </p:txBody>
      </p:sp>
      <p:sp>
        <p:nvSpPr>
          <p:cNvPr id="15" name="Shape 13"/>
          <p:cNvSpPr/>
          <p:nvPr/>
        </p:nvSpPr>
        <p:spPr>
          <a:xfrm>
            <a:off x="502920" y="4037076"/>
            <a:ext cx="7452360" cy="0"/>
          </a:xfrm>
          <a:prstGeom prst="line">
            <a:avLst/>
          </a:prstGeom>
          <a:noFill/>
          <a:ln w="9525">
            <a:solidFill>
              <a:srgbClr val="C9D3DA"/>
            </a:solidFill>
            <a:prstDash val="solid"/>
          </a:ln>
        </p:spPr>
      </p:sp>
      <p:sp>
        <p:nvSpPr>
          <p:cNvPr id="16" name="Text 14"/>
          <p:cNvSpPr txBox="1"/>
          <p:nvPr/>
        </p:nvSpPr>
        <p:spPr>
          <a:xfrm>
            <a:off x="502920" y="4096512"/>
            <a:ext cx="1572768" cy="658368"/>
          </a:xfrm>
          <a:prstGeom prst="rect">
            <a:avLst/>
          </a:prstGeom>
          <a:noFill/>
          <a:ln/>
        </p:spPr>
        <p:txBody>
          <a:bodyPr wrap="square" lIns="0" tIns="0" rIns="0" bIns="0" rtlCol="0" anchor="t"/>
          <a:lstStyle/>
          <a:p>
            <a:pPr indent="0" marL="0">
              <a:lnSpc>
                <a:spcPct val="100000"/>
              </a:lnSpc>
              <a:buNone/>
            </a:pPr>
            <a:r>
              <a:rPr lang="en-US" sz="950" b="1" dirty="0">
                <a:solidFill>
                  <a:srgbClr val="0E7C7B"/>
                </a:solidFill>
                <a:latin typeface="Calibri" pitchFamily="34" charset="0"/>
                <a:ea typeface="Calibri" pitchFamily="34" charset="-122"/>
                <a:cs typeface="Calibri" pitchFamily="34" charset="-120"/>
              </a:rPr>
              <a:t>END OF YEAR 3</a:t>
            </a:r>
            <a:endParaRPr lang="en-US" sz="950" dirty="0"/>
          </a:p>
        </p:txBody>
      </p:sp>
      <p:sp>
        <p:nvSpPr>
          <p:cNvPr id="17" name="Text 15"/>
          <p:cNvSpPr txBox="1"/>
          <p:nvPr/>
        </p:nvSpPr>
        <p:spPr>
          <a:xfrm>
            <a:off x="2212848" y="4096512"/>
            <a:ext cx="5742432" cy="658368"/>
          </a:xfrm>
          <a:prstGeom prst="rect">
            <a:avLst/>
          </a:prstGeom>
          <a:noFill/>
          <a:ln/>
        </p:spPr>
        <p:txBody>
          <a:bodyPr wrap="square" lIns="0" tIns="0" rIns="0" bIns="0" rtlCol="0" anchor="t"/>
          <a:lstStyle/>
          <a:p>
            <a:pPr indent="0" marL="0">
              <a:lnSpc>
                <a:spcPct val="104000"/>
              </a:lnSpc>
              <a:buNone/>
            </a:pPr>
            <a:r>
              <a:rPr lang="en-US" sz="980" dirty="0">
                <a:solidFill>
                  <a:srgbClr val="26313B"/>
                </a:solidFill>
                <a:latin typeface="Calibri" pitchFamily="34" charset="0"/>
                <a:ea typeface="Calibri" pitchFamily="34" charset="-122"/>
                <a:cs typeface="Calibri" pitchFamily="34" charset="-120"/>
              </a:rPr>
              <a:t>₹25.4 cr revenue (2.2x FY26), ~66 new treatment projects and 400+ bio-digesters delivered, ₹2.4 cr/yr recurring service revenue, receivable days ≤75, all funded from internal accruals and IPO working capital (~₹6 cr investment over 3 years).</a:t>
            </a:r>
            <a:endParaRPr lang="en-US" sz="980" dirty="0"/>
          </a:p>
        </p:txBody>
      </p:sp>
      <p:sp>
        <p:nvSpPr>
          <p:cNvPr id="18" name="Shape 16"/>
          <p:cNvSpPr/>
          <p:nvPr/>
        </p:nvSpPr>
        <p:spPr>
          <a:xfrm>
            <a:off x="502920" y="4786884"/>
            <a:ext cx="7452360" cy="0"/>
          </a:xfrm>
          <a:prstGeom prst="line">
            <a:avLst/>
          </a:prstGeom>
          <a:noFill/>
          <a:ln w="9525">
            <a:solidFill>
              <a:srgbClr val="C9D3DA"/>
            </a:solidFill>
            <a:prstDash val="solid"/>
          </a:ln>
        </p:spPr>
      </p:sp>
      <p:sp>
        <p:nvSpPr>
          <p:cNvPr id="19" name="Text 17"/>
          <p:cNvSpPr txBox="1"/>
          <p:nvPr/>
        </p:nvSpPr>
        <p:spPr>
          <a:xfrm>
            <a:off x="502920" y="4846320"/>
            <a:ext cx="1572768" cy="658368"/>
          </a:xfrm>
          <a:prstGeom prst="rect">
            <a:avLst/>
          </a:prstGeom>
          <a:noFill/>
          <a:ln/>
        </p:spPr>
        <p:txBody>
          <a:bodyPr wrap="square" lIns="0" tIns="0" rIns="0" bIns="0" rtlCol="0" anchor="t"/>
          <a:lstStyle/>
          <a:p>
            <a:pPr indent="0" marL="0">
              <a:lnSpc>
                <a:spcPct val="100000"/>
              </a:lnSpc>
              <a:buNone/>
            </a:pPr>
            <a:r>
              <a:rPr lang="en-US" sz="950" b="1" dirty="0">
                <a:solidFill>
                  <a:srgbClr val="0E7C7B"/>
                </a:solidFill>
                <a:latin typeface="Calibri" pitchFamily="34" charset="0"/>
                <a:ea typeface="Calibri" pitchFamily="34" charset="-122"/>
                <a:cs typeface="Calibri" pitchFamily="34" charset="-120"/>
              </a:rPr>
              <a:t>ADJACENT OFFERINGS</a:t>
            </a:r>
            <a:endParaRPr lang="en-US" sz="950" dirty="0"/>
          </a:p>
        </p:txBody>
      </p:sp>
      <p:sp>
        <p:nvSpPr>
          <p:cNvPr id="20" name="Text 18"/>
          <p:cNvSpPr txBox="1"/>
          <p:nvPr/>
        </p:nvSpPr>
        <p:spPr>
          <a:xfrm>
            <a:off x="2212848" y="4846320"/>
            <a:ext cx="5742432" cy="658368"/>
          </a:xfrm>
          <a:prstGeom prst="rect">
            <a:avLst/>
          </a:prstGeom>
          <a:noFill/>
          <a:ln/>
        </p:spPr>
        <p:txBody>
          <a:bodyPr wrap="square" lIns="0" tIns="0" rIns="0" bIns="0" rtlCol="0" anchor="t"/>
          <a:lstStyle/>
          <a:p>
            <a:pPr indent="0" marL="0">
              <a:lnSpc>
                <a:spcPct val="104000"/>
              </a:lnSpc>
              <a:buNone/>
            </a:pPr>
            <a:r>
              <a:rPr lang="en-US" sz="980" dirty="0">
                <a:solidFill>
                  <a:srgbClr val="26313B"/>
                </a:solidFill>
                <a:latin typeface="Calibri" pitchFamily="34" charset="0"/>
                <a:ea typeface="Calibri" pitchFamily="34" charset="-122"/>
                <a:cs typeface="Calibri" pitchFamily="34" charset="-120"/>
              </a:rPr>
              <a:t>1) STP Rescue: retrofit and O&amp;M takeover of failing third-party plants (launch now, zero capex). 2) SmartSTP: IoT compliance monitoring on the AMC fleet (month 6). 3) AquaLoop: water-reuse polishing module built on the IISc MoU (months 9-12).</a:t>
            </a:r>
            <a:endParaRPr lang="en-US" sz="980" dirty="0"/>
          </a:p>
        </p:txBody>
      </p:sp>
      <p:sp>
        <p:nvSpPr>
          <p:cNvPr id="21" name="Shape 19"/>
          <p:cNvSpPr/>
          <p:nvPr/>
        </p:nvSpPr>
        <p:spPr>
          <a:xfrm>
            <a:off x="502920" y="5536692"/>
            <a:ext cx="7452360" cy="0"/>
          </a:xfrm>
          <a:prstGeom prst="line">
            <a:avLst/>
          </a:prstGeom>
          <a:noFill/>
          <a:ln w="9525">
            <a:solidFill>
              <a:srgbClr val="C9D3DA"/>
            </a:solidFill>
            <a:prstDash val="solid"/>
          </a:ln>
        </p:spPr>
      </p:sp>
      <p:sp>
        <p:nvSpPr>
          <p:cNvPr id="22" name="Text 20"/>
          <p:cNvSpPr txBox="1"/>
          <p:nvPr/>
        </p:nvSpPr>
        <p:spPr>
          <a:xfrm>
            <a:off x="502920" y="5596128"/>
            <a:ext cx="1572768" cy="566928"/>
          </a:xfrm>
          <a:prstGeom prst="rect">
            <a:avLst/>
          </a:prstGeom>
          <a:noFill/>
          <a:ln/>
        </p:spPr>
        <p:txBody>
          <a:bodyPr wrap="square" lIns="0" tIns="0" rIns="0" bIns="0" rtlCol="0" anchor="t"/>
          <a:lstStyle/>
          <a:p>
            <a:pPr indent="0" marL="0">
              <a:lnSpc>
                <a:spcPct val="100000"/>
              </a:lnSpc>
              <a:buNone/>
            </a:pPr>
            <a:r>
              <a:rPr lang="en-US" sz="950" b="1" dirty="0">
                <a:solidFill>
                  <a:srgbClr val="0E7C7B"/>
                </a:solidFill>
                <a:latin typeface="Calibri" pitchFamily="34" charset="0"/>
                <a:ea typeface="Calibri" pitchFamily="34" charset="-122"/>
                <a:cs typeface="Calibri" pitchFamily="34" charset="-120"/>
              </a:rPr>
              <a:t>BIGGEST RISK</a:t>
            </a:r>
            <a:endParaRPr lang="en-US" sz="950" dirty="0"/>
          </a:p>
        </p:txBody>
      </p:sp>
      <p:sp>
        <p:nvSpPr>
          <p:cNvPr id="23" name="Text 21"/>
          <p:cNvSpPr txBox="1"/>
          <p:nvPr/>
        </p:nvSpPr>
        <p:spPr>
          <a:xfrm>
            <a:off x="2212848" y="5596128"/>
            <a:ext cx="5742432" cy="566928"/>
          </a:xfrm>
          <a:prstGeom prst="rect">
            <a:avLst/>
          </a:prstGeom>
          <a:noFill/>
          <a:ln/>
        </p:spPr>
        <p:txBody>
          <a:bodyPr wrap="square" lIns="0" tIns="0" rIns="0" bIns="0" rtlCol="0" anchor="t"/>
          <a:lstStyle/>
          <a:p>
            <a:pPr indent="0" marL="0">
              <a:lnSpc>
                <a:spcPct val="104000"/>
              </a:lnSpc>
              <a:buNone/>
            </a:pPr>
            <a:r>
              <a:rPr lang="en-US" sz="980" dirty="0">
                <a:solidFill>
                  <a:srgbClr val="26313B"/>
                </a:solidFill>
                <a:latin typeface="Calibri" pitchFamily="34" charset="0"/>
                <a:ea typeface="Calibri" pitchFamily="34" charset="-122"/>
                <a:cs typeface="Calibri" pitchFamily="34" charset="-120"/>
              </a:rPr>
              <a:t>Developer receivables stretching working capital. Control: milestone billing with advances, credit checks and PDCs, developer exposure capped at 25% of the order book, and KPI gates that stop expansion when DSO exceeds 75 days.</a:t>
            </a:r>
            <a:endParaRPr lang="en-US" sz="980" dirty="0"/>
          </a:p>
        </p:txBody>
      </p:sp>
      <p:sp>
        <p:nvSpPr>
          <p:cNvPr id="24" name="Shape 22"/>
          <p:cNvSpPr/>
          <p:nvPr/>
        </p:nvSpPr>
        <p:spPr>
          <a:xfrm>
            <a:off x="8229600" y="1207008"/>
            <a:ext cx="3456432" cy="4956048"/>
          </a:xfrm>
          <a:prstGeom prst="roundRect">
            <a:avLst>
              <a:gd name="adj" fmla="val 1852"/>
            </a:avLst>
          </a:prstGeom>
          <a:solidFill>
            <a:srgbClr val="0B2E4F"/>
          </a:solidFill>
          <a:ln/>
        </p:spPr>
      </p:sp>
      <p:sp>
        <p:nvSpPr>
          <p:cNvPr id="25" name="Text 23"/>
          <p:cNvSpPr txBox="1"/>
          <p:nvPr/>
        </p:nvSpPr>
        <p:spPr>
          <a:xfrm>
            <a:off x="8430768" y="1371600"/>
            <a:ext cx="3054096" cy="274320"/>
          </a:xfrm>
          <a:prstGeom prst="rect">
            <a:avLst/>
          </a:prstGeom>
          <a:noFill/>
          <a:ln/>
        </p:spPr>
        <p:txBody>
          <a:bodyPr wrap="square" lIns="0" tIns="0" rIns="0" bIns="0" rtlCol="0" anchor="ctr"/>
          <a:lstStyle/>
          <a:p>
            <a:pPr indent="0" marL="0">
              <a:buNone/>
            </a:pPr>
            <a:r>
              <a:rPr lang="en-US" sz="1050" b="1" spc="150" kern="0" dirty="0">
                <a:solidFill>
                  <a:srgbClr val="D98E1F"/>
                </a:solidFill>
                <a:latin typeface="Calibri" pitchFamily="34" charset="0"/>
                <a:ea typeface="Calibri" pitchFamily="34" charset="-122"/>
                <a:cs typeface="Calibri" pitchFamily="34" charset="-120"/>
              </a:rPr>
              <a:t>EPBL BY FY29 (BASE CASE)</a:t>
            </a:r>
            <a:endParaRPr lang="en-US" sz="1050" dirty="0"/>
          </a:p>
        </p:txBody>
      </p:sp>
      <p:sp>
        <p:nvSpPr>
          <p:cNvPr id="26" name="Text 24"/>
          <p:cNvSpPr txBox="1"/>
          <p:nvPr/>
        </p:nvSpPr>
        <p:spPr>
          <a:xfrm>
            <a:off x="8430768" y="1737360"/>
            <a:ext cx="3054096" cy="38404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₹25.4 cr</a:t>
            </a:r>
            <a:endParaRPr lang="en-US" sz="2100" dirty="0"/>
          </a:p>
        </p:txBody>
      </p:sp>
      <p:sp>
        <p:nvSpPr>
          <p:cNvPr id="27" name="Text 25"/>
          <p:cNvSpPr txBox="1"/>
          <p:nvPr/>
        </p:nvSpPr>
        <p:spPr>
          <a:xfrm>
            <a:off x="8430768" y="2103120"/>
            <a:ext cx="3054096" cy="384048"/>
          </a:xfrm>
          <a:prstGeom prst="rect">
            <a:avLst/>
          </a:prstGeom>
          <a:noFill/>
          <a:ln/>
        </p:spPr>
        <p:txBody>
          <a:bodyPr wrap="square" lIns="0" tIns="0" rIns="0" bIns="0" rtlCol="0" anchor="ctr"/>
          <a:lstStyle/>
          <a:p>
            <a:pPr indent="0" marL="0">
              <a:lnSpc>
                <a:spcPct val="102000"/>
              </a:lnSpc>
              <a:buNone/>
            </a:pPr>
            <a:r>
              <a:rPr lang="en-US" sz="880" dirty="0">
                <a:solidFill>
                  <a:srgbClr val="BFD3DE"/>
                </a:solidFill>
                <a:latin typeface="Calibri" pitchFamily="34" charset="0"/>
                <a:ea typeface="Calibri" pitchFamily="34" charset="-122"/>
                <a:cs typeface="Calibri" pitchFamily="34" charset="-120"/>
              </a:rPr>
              <a:t>revenue, 2.2x the FY26 base of ₹11.7 cr</a:t>
            </a:r>
            <a:endParaRPr lang="en-US" sz="880" dirty="0"/>
          </a:p>
        </p:txBody>
      </p:sp>
      <p:sp>
        <p:nvSpPr>
          <p:cNvPr id="28" name="Shape 26"/>
          <p:cNvSpPr/>
          <p:nvPr/>
        </p:nvSpPr>
        <p:spPr>
          <a:xfrm>
            <a:off x="8430768" y="2514600"/>
            <a:ext cx="3054096" cy="0"/>
          </a:xfrm>
          <a:prstGeom prst="line">
            <a:avLst/>
          </a:prstGeom>
          <a:noFill/>
          <a:ln w="9525">
            <a:solidFill>
              <a:srgbClr val="2B4E6E"/>
            </a:solidFill>
            <a:prstDash val="solid"/>
          </a:ln>
        </p:spPr>
      </p:sp>
      <p:sp>
        <p:nvSpPr>
          <p:cNvPr id="29" name="Text 27"/>
          <p:cNvSpPr txBox="1"/>
          <p:nvPr/>
        </p:nvSpPr>
        <p:spPr>
          <a:xfrm>
            <a:off x="8430768" y="2624328"/>
            <a:ext cx="3054096" cy="38404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₹21 cr</a:t>
            </a:r>
            <a:endParaRPr lang="en-US" sz="2100" dirty="0"/>
          </a:p>
        </p:txBody>
      </p:sp>
      <p:sp>
        <p:nvSpPr>
          <p:cNvPr id="30" name="Text 28"/>
          <p:cNvSpPr txBox="1"/>
          <p:nvPr/>
        </p:nvSpPr>
        <p:spPr>
          <a:xfrm>
            <a:off x="8430768" y="2990088"/>
            <a:ext cx="3054096" cy="384048"/>
          </a:xfrm>
          <a:prstGeom prst="rect">
            <a:avLst/>
          </a:prstGeom>
          <a:noFill/>
          <a:ln/>
        </p:spPr>
        <p:txBody>
          <a:bodyPr wrap="square" lIns="0" tIns="0" rIns="0" bIns="0" rtlCol="0" anchor="ctr"/>
          <a:lstStyle/>
          <a:p>
            <a:pPr indent="0" marL="0">
              <a:lnSpc>
                <a:spcPct val="102000"/>
              </a:lnSpc>
              <a:buNone/>
            </a:pPr>
            <a:r>
              <a:rPr lang="en-US" sz="880" dirty="0">
                <a:solidFill>
                  <a:srgbClr val="BFD3DE"/>
                </a:solidFill>
                <a:latin typeface="Calibri" pitchFamily="34" charset="0"/>
                <a:ea typeface="Calibri" pitchFamily="34" charset="-122"/>
                <a:cs typeface="Calibri" pitchFamily="34" charset="-120"/>
              </a:rPr>
              <a:t>cumulative new private-market revenue FY27-29 (range ₹15-28 cr)</a:t>
            </a:r>
            <a:endParaRPr lang="en-US" sz="880" dirty="0"/>
          </a:p>
        </p:txBody>
      </p:sp>
      <p:sp>
        <p:nvSpPr>
          <p:cNvPr id="31" name="Shape 29"/>
          <p:cNvSpPr/>
          <p:nvPr/>
        </p:nvSpPr>
        <p:spPr>
          <a:xfrm>
            <a:off x="8430768" y="3401568"/>
            <a:ext cx="3054096" cy="0"/>
          </a:xfrm>
          <a:prstGeom prst="line">
            <a:avLst/>
          </a:prstGeom>
          <a:noFill/>
          <a:ln w="9525">
            <a:solidFill>
              <a:srgbClr val="2B4E6E"/>
            </a:solidFill>
            <a:prstDash val="solid"/>
          </a:ln>
        </p:spPr>
      </p:sp>
      <p:sp>
        <p:nvSpPr>
          <p:cNvPr id="32" name="Text 30"/>
          <p:cNvSpPr txBox="1"/>
          <p:nvPr/>
        </p:nvSpPr>
        <p:spPr>
          <a:xfrm>
            <a:off x="8430768" y="3511296"/>
            <a:ext cx="3054096" cy="38404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7.2%</a:t>
            </a:r>
            <a:endParaRPr lang="en-US" sz="2100" dirty="0"/>
          </a:p>
        </p:txBody>
      </p:sp>
      <p:sp>
        <p:nvSpPr>
          <p:cNvPr id="33" name="Text 31"/>
          <p:cNvSpPr txBox="1"/>
          <p:nvPr/>
        </p:nvSpPr>
        <p:spPr>
          <a:xfrm>
            <a:off x="8430768" y="3877056"/>
            <a:ext cx="3054096" cy="384048"/>
          </a:xfrm>
          <a:prstGeom prst="rect">
            <a:avLst/>
          </a:prstGeom>
          <a:noFill/>
          <a:ln/>
        </p:spPr>
        <p:txBody>
          <a:bodyPr wrap="square" lIns="0" tIns="0" rIns="0" bIns="0" rtlCol="0" anchor="ctr"/>
          <a:lstStyle/>
          <a:p>
            <a:pPr indent="0" marL="0">
              <a:lnSpc>
                <a:spcPct val="102000"/>
              </a:lnSpc>
              <a:buNone/>
            </a:pPr>
            <a:r>
              <a:rPr lang="en-US" sz="880" dirty="0">
                <a:solidFill>
                  <a:srgbClr val="BFD3DE"/>
                </a:solidFill>
                <a:latin typeface="Calibri" pitchFamily="34" charset="0"/>
                <a:ea typeface="Calibri" pitchFamily="34" charset="-122"/>
                <a:cs typeface="Calibri" pitchFamily="34" charset="-120"/>
              </a:rPr>
              <a:t>share of serviceable annual demand by FY29, from ~0% today</a:t>
            </a:r>
            <a:endParaRPr lang="en-US" sz="880" dirty="0"/>
          </a:p>
        </p:txBody>
      </p:sp>
      <p:sp>
        <p:nvSpPr>
          <p:cNvPr id="34" name="Shape 32"/>
          <p:cNvSpPr/>
          <p:nvPr/>
        </p:nvSpPr>
        <p:spPr>
          <a:xfrm>
            <a:off x="8430768" y="4288536"/>
            <a:ext cx="3054096" cy="0"/>
          </a:xfrm>
          <a:prstGeom prst="line">
            <a:avLst/>
          </a:prstGeom>
          <a:noFill/>
          <a:ln w="9525">
            <a:solidFill>
              <a:srgbClr val="2B4E6E"/>
            </a:solidFill>
            <a:prstDash val="solid"/>
          </a:ln>
        </p:spPr>
      </p:sp>
      <p:sp>
        <p:nvSpPr>
          <p:cNvPr id="35" name="Text 33"/>
          <p:cNvSpPr txBox="1"/>
          <p:nvPr/>
        </p:nvSpPr>
        <p:spPr>
          <a:xfrm>
            <a:off x="8430768" y="4398264"/>
            <a:ext cx="3054096" cy="38404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₹2.4 cr/yr</a:t>
            </a:r>
            <a:endParaRPr lang="en-US" sz="2100" dirty="0"/>
          </a:p>
        </p:txBody>
      </p:sp>
      <p:sp>
        <p:nvSpPr>
          <p:cNvPr id="36" name="Text 34"/>
          <p:cNvSpPr txBox="1"/>
          <p:nvPr/>
        </p:nvSpPr>
        <p:spPr>
          <a:xfrm>
            <a:off x="8430768" y="4764024"/>
            <a:ext cx="3054096" cy="384048"/>
          </a:xfrm>
          <a:prstGeom prst="rect">
            <a:avLst/>
          </a:prstGeom>
          <a:noFill/>
          <a:ln/>
        </p:spPr>
        <p:txBody>
          <a:bodyPr wrap="square" lIns="0" tIns="0" rIns="0" bIns="0" rtlCol="0" anchor="ctr"/>
          <a:lstStyle/>
          <a:p>
            <a:pPr indent="0" marL="0">
              <a:lnSpc>
                <a:spcPct val="102000"/>
              </a:lnSpc>
              <a:buNone/>
            </a:pPr>
            <a:r>
              <a:rPr lang="en-US" sz="880" dirty="0">
                <a:solidFill>
                  <a:srgbClr val="BFD3DE"/>
                </a:solidFill>
                <a:latin typeface="Calibri" pitchFamily="34" charset="0"/>
                <a:ea typeface="Calibri" pitchFamily="34" charset="-122"/>
                <a:cs typeface="Calibri" pitchFamily="34" charset="-120"/>
              </a:rPr>
              <a:t>recurring AMC, O&amp;M and monitoring revenue (~10% of sales)</a:t>
            </a:r>
            <a:endParaRPr lang="en-US" sz="880" dirty="0"/>
          </a:p>
        </p:txBody>
      </p:sp>
      <p:sp>
        <p:nvSpPr>
          <p:cNvPr id="37" name="Shape 35"/>
          <p:cNvSpPr/>
          <p:nvPr/>
        </p:nvSpPr>
        <p:spPr>
          <a:xfrm>
            <a:off x="8430768" y="5175504"/>
            <a:ext cx="3054096" cy="0"/>
          </a:xfrm>
          <a:prstGeom prst="line">
            <a:avLst/>
          </a:prstGeom>
          <a:noFill/>
          <a:ln w="9525">
            <a:solidFill>
              <a:srgbClr val="2B4E6E"/>
            </a:solidFill>
            <a:prstDash val="solid"/>
          </a:ln>
        </p:spPr>
      </p:sp>
      <p:sp>
        <p:nvSpPr>
          <p:cNvPr id="38" name="Text 36"/>
          <p:cNvSpPr txBox="1"/>
          <p:nvPr/>
        </p:nvSpPr>
        <p:spPr>
          <a:xfrm>
            <a:off x="8430768" y="5285232"/>
            <a:ext cx="3054096" cy="384048"/>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14 clusters</a:t>
            </a:r>
            <a:endParaRPr lang="en-US" sz="2100" dirty="0"/>
          </a:p>
        </p:txBody>
      </p:sp>
      <p:sp>
        <p:nvSpPr>
          <p:cNvPr id="39" name="Text 37"/>
          <p:cNvSpPr txBox="1"/>
          <p:nvPr/>
        </p:nvSpPr>
        <p:spPr>
          <a:xfrm>
            <a:off x="8430768" y="5650992"/>
            <a:ext cx="3054096" cy="384048"/>
          </a:xfrm>
          <a:prstGeom prst="rect">
            <a:avLst/>
          </a:prstGeom>
          <a:noFill/>
          <a:ln/>
        </p:spPr>
        <p:txBody>
          <a:bodyPr wrap="square" lIns="0" tIns="0" rIns="0" bIns="0" rtlCol="0" anchor="ctr"/>
          <a:lstStyle/>
          <a:p>
            <a:pPr indent="0" marL="0">
              <a:lnSpc>
                <a:spcPct val="102000"/>
              </a:lnSpc>
              <a:buNone/>
            </a:pPr>
            <a:r>
              <a:rPr lang="en-US" sz="880" dirty="0">
                <a:solidFill>
                  <a:srgbClr val="BFD3DE"/>
                </a:solidFill>
                <a:latin typeface="Calibri" pitchFamily="34" charset="0"/>
                <a:ea typeface="Calibri" pitchFamily="34" charset="-122"/>
                <a:cs typeface="Calibri" pitchFamily="34" charset="-120"/>
              </a:rPr>
              <a:t>across 3 states, via 2 service hubs and 25 certified partners</a:t>
            </a:r>
            <a:endParaRPr lang="en-US" sz="880" dirty="0"/>
          </a:p>
        </p:txBody>
      </p:sp>
      <p:sp>
        <p:nvSpPr>
          <p:cNvPr id="40" name="Text 38"/>
          <p:cNvSpPr txBox="1"/>
          <p:nvPr/>
        </p:nvSpPr>
        <p:spPr>
          <a:xfrm>
            <a:off x="502920" y="6473952"/>
            <a:ext cx="9692640" cy="310896"/>
          </a:xfrm>
          <a:prstGeom prst="rect">
            <a:avLst/>
          </a:prstGeom>
          <a:noFill/>
          <a:ln/>
        </p:spPr>
        <p:txBody>
          <a:bodyPr wrap="square" lIns="0" tIns="0" rIns="0" bIns="0" rtlCol="0" anchor="t"/>
          <a:lstStyle/>
          <a:p>
            <a:pPr indent="0" marL="0">
              <a:lnSpc>
                <a:spcPct val="100000"/>
              </a:lnSpc>
              <a:buNone/>
            </a:pPr>
            <a:r>
              <a:rPr lang="en-US" sz="800" dirty="0">
                <a:solidFill>
                  <a:srgbClr val="8A959E"/>
                </a:solidFill>
                <a:latin typeface="Calibri" pitchFamily="34" charset="0"/>
                <a:ea typeface="Calibri" pitchFamily="34" charset="-122"/>
                <a:cs typeface="Calibri" pitchFamily="34" charset="-120"/>
              </a:rPr>
              <a:t>Figures from the market model on p.4 and roadmap on p.5; FY26 base per BGCC problem statement. All FY27-29 figures are estimates.</a:t>
            </a:r>
            <a:endParaRPr lang="en-US" sz="800" dirty="0"/>
          </a:p>
        </p:txBody>
      </p:sp>
      <p:sp>
        <p:nvSpPr>
          <p:cNvPr id="41" name="Text 39"/>
          <p:cNvSpPr txBox="1"/>
          <p:nvPr/>
        </p:nvSpPr>
        <p:spPr>
          <a:xfrm>
            <a:off x="10378440" y="6510528"/>
            <a:ext cx="1325880" cy="237744"/>
          </a:xfrm>
          <a:prstGeom prst="rect">
            <a:avLst/>
          </a:prstGeom>
          <a:noFill/>
          <a:ln/>
        </p:spPr>
        <p:txBody>
          <a:bodyPr wrap="square" lIns="0" tIns="0" rIns="0" bIns="0" rtlCol="0" anchor="ctr"/>
          <a:lstStyle/>
          <a:p>
            <a:pPr algn="r" indent="0" marL="0">
              <a:buNone/>
            </a:pPr>
            <a:r>
              <a:rPr lang="en-US" sz="800" dirty="0">
                <a:solidFill>
                  <a:srgbClr val="8A959E"/>
                </a:solidFill>
                <a:latin typeface="Calibri" pitchFamily="34" charset="0"/>
                <a:ea typeface="Calibri" pitchFamily="34" charset="-122"/>
                <a:cs typeface="Calibri" pitchFamily="34" charset="-120"/>
              </a:rPr>
              <a:t>Team Wookies</a:t>
            </a:r>
            <a:pPr algn="r" indent="0" marL="0">
              <a:buNone/>
            </a:pPr>
            <a:r>
              <a:rPr lang="en-US" sz="900" b="1" dirty="0">
                <a:solidFill>
                  <a:srgbClr val="5D6A75"/>
                </a:solidFill>
                <a:latin typeface="Calibri" pitchFamily="34" charset="0"/>
                <a:ea typeface="Calibri" pitchFamily="34" charset="-122"/>
                <a:cs typeface="Calibri" pitchFamily="34" charset="-120"/>
              </a:rPr>
              <a:t>   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83112" cy="256032"/>
          </a:xfrm>
          <a:prstGeom prst="rect">
            <a:avLst/>
          </a:prstGeom>
          <a:noFill/>
          <a:ln/>
        </p:spPr>
        <p:txBody>
          <a:bodyPr wrap="square" lIns="0" tIns="0" rIns="0" bIns="0" rtlCol="0" anchor="ctr"/>
          <a:lstStyle/>
          <a:p>
            <a:pPr indent="0" marL="0">
              <a:buNone/>
            </a:pPr>
            <a:r>
              <a:rPr lang="en-US" sz="1050" b="1" spc="200" kern="0" dirty="0">
                <a:solidFill>
                  <a:srgbClr val="0E7C7B"/>
                </a:solidFill>
                <a:latin typeface="Calibri" pitchFamily="34" charset="0"/>
                <a:ea typeface="Calibri" pitchFamily="34" charset="-122"/>
                <a:cs typeface="Calibri" pitchFamily="34" charset="-120"/>
              </a:rPr>
              <a:t>DELIVERABLE 1 | CUSTOMER SEGMENTATION AND TARGETING</a:t>
            </a:r>
            <a:endParaRPr lang="en-US" sz="1050" dirty="0"/>
          </a:p>
        </p:txBody>
      </p:sp>
      <p:sp>
        <p:nvSpPr>
          <p:cNvPr id="3" name="Text 1"/>
          <p:cNvSpPr txBox="1"/>
          <p:nvPr/>
        </p:nvSpPr>
        <p:spPr>
          <a:xfrm>
            <a:off x="502920" y="512064"/>
            <a:ext cx="11183112" cy="566928"/>
          </a:xfrm>
          <a:prstGeom prst="rect">
            <a:avLst/>
          </a:prstGeom>
          <a:noFill/>
          <a:ln/>
        </p:spPr>
        <p:txBody>
          <a:bodyPr wrap="square" lIns="0" tIns="0" rIns="0" bIns="0" rtlCol="0" anchor="ctr"/>
          <a:lstStyle/>
          <a:p>
            <a:pPr indent="0" marL="0">
              <a:lnSpc>
                <a:spcPct val="102000"/>
              </a:lnSpc>
              <a:buNone/>
            </a:pPr>
            <a:r>
              <a:rPr lang="en-US" sz="2000" b="1" dirty="0">
                <a:solidFill>
                  <a:srgbClr val="0B2E4F"/>
                </a:solidFill>
                <a:latin typeface="Calibri" pitchFamily="34" charset="0"/>
                <a:ea typeface="Calibri" pitchFamily="34" charset="-122"/>
                <a:cs typeface="Calibri" pitchFamily="34" charset="-120"/>
              </a:rPr>
              <a:t>Three of eight private buyer segments justify focused pursuit: hoteliers, Tier-2 developers and private hospitals</a:t>
            </a:r>
            <a:endParaRPr lang="en-US" sz="2000" dirty="0"/>
          </a:p>
        </p:txBody>
      </p:sp>
      <p:sp>
        <p:nvSpPr>
          <p:cNvPr id="4" name="Text 2"/>
          <p:cNvSpPr txBox="1"/>
          <p:nvPr/>
        </p:nvSpPr>
        <p:spPr>
          <a:xfrm>
            <a:off x="502920" y="1188720"/>
            <a:ext cx="4526280"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Segment attractiveness, 10-factor weighted score</a:t>
            </a:r>
            <a:endParaRPr lang="en-US" sz="1100" dirty="0"/>
          </a:p>
        </p:txBody>
      </p:sp>
      <p:sp>
        <p:nvSpPr>
          <p:cNvPr id="5" name="Shape 3"/>
          <p:cNvSpPr/>
          <p:nvPr/>
        </p:nvSpPr>
        <p:spPr>
          <a:xfrm>
            <a:off x="502920" y="1444752"/>
            <a:ext cx="4160520" cy="3246120"/>
          </a:xfrm>
          <a:prstGeom prst="rect">
            <a:avLst/>
          </a:prstGeom>
          <a:solidFill>
            <a:srgbClr val="FBFCFD"/>
          </a:solidFill>
          <a:ln w="12700">
            <a:solidFill>
              <a:srgbClr val="C9D3DA"/>
            </a:solidFill>
            <a:prstDash val="solid"/>
          </a:ln>
        </p:spPr>
      </p:sp>
      <p:sp>
        <p:nvSpPr>
          <p:cNvPr id="6" name="Shape 4"/>
          <p:cNvSpPr/>
          <p:nvPr/>
        </p:nvSpPr>
        <p:spPr>
          <a:xfrm>
            <a:off x="2583180" y="1444752"/>
            <a:ext cx="0" cy="3246120"/>
          </a:xfrm>
          <a:prstGeom prst="line">
            <a:avLst/>
          </a:prstGeom>
          <a:noFill/>
          <a:ln w="9525">
            <a:solidFill>
              <a:srgbClr val="C9D3DA"/>
            </a:solidFill>
            <a:prstDash val="dash"/>
          </a:ln>
        </p:spPr>
      </p:sp>
      <p:sp>
        <p:nvSpPr>
          <p:cNvPr id="7" name="Shape 5"/>
          <p:cNvSpPr/>
          <p:nvPr/>
        </p:nvSpPr>
        <p:spPr>
          <a:xfrm>
            <a:off x="502920" y="3067812"/>
            <a:ext cx="4160520" cy="0"/>
          </a:xfrm>
          <a:prstGeom prst="line">
            <a:avLst/>
          </a:prstGeom>
          <a:noFill/>
          <a:ln w="9525">
            <a:solidFill>
              <a:srgbClr val="C9D3DA"/>
            </a:solidFill>
            <a:prstDash val="dash"/>
          </a:ln>
        </p:spPr>
      </p:sp>
      <p:sp>
        <p:nvSpPr>
          <p:cNvPr id="8" name="Shape 6"/>
          <p:cNvSpPr/>
          <p:nvPr/>
        </p:nvSpPr>
        <p:spPr>
          <a:xfrm>
            <a:off x="1420054" y="3382564"/>
            <a:ext cx="461192" cy="461192"/>
          </a:xfrm>
          <a:prstGeom prst="ellipse">
            <a:avLst/>
          </a:prstGeom>
          <a:solidFill>
            <a:srgbClr val="5BA7A6">
              <a:alpha val="58000"/>
            </a:srgbClr>
          </a:solidFill>
          <a:ln w="10160">
            <a:solidFill>
              <a:srgbClr val="0E7C7B"/>
            </a:solidFill>
            <a:prstDash val="solid"/>
          </a:ln>
        </p:spPr>
      </p:sp>
      <p:sp>
        <p:nvSpPr>
          <p:cNvPr id="9" name="Shape 7"/>
          <p:cNvSpPr/>
          <p:nvPr/>
        </p:nvSpPr>
        <p:spPr>
          <a:xfrm>
            <a:off x="971640" y="3072079"/>
            <a:ext cx="640689" cy="640689"/>
          </a:xfrm>
          <a:prstGeom prst="ellipse">
            <a:avLst/>
          </a:prstGeom>
          <a:solidFill>
            <a:srgbClr val="5BA7A6">
              <a:alpha val="58000"/>
            </a:srgbClr>
          </a:solidFill>
          <a:ln w="10160">
            <a:solidFill>
              <a:srgbClr val="0E7C7B"/>
            </a:solidFill>
            <a:prstDash val="solid"/>
          </a:ln>
        </p:spPr>
      </p:sp>
      <p:sp>
        <p:nvSpPr>
          <p:cNvPr id="10" name="Shape 8"/>
          <p:cNvSpPr/>
          <p:nvPr/>
        </p:nvSpPr>
        <p:spPr>
          <a:xfrm>
            <a:off x="1172339" y="3514761"/>
            <a:ext cx="612302" cy="612302"/>
          </a:xfrm>
          <a:prstGeom prst="ellipse">
            <a:avLst/>
          </a:prstGeom>
          <a:solidFill>
            <a:srgbClr val="5BA7A6">
              <a:alpha val="58000"/>
            </a:srgbClr>
          </a:solidFill>
          <a:ln w="10160">
            <a:solidFill>
              <a:srgbClr val="0E7C7B"/>
            </a:solidFill>
            <a:prstDash val="solid"/>
          </a:ln>
        </p:spPr>
      </p:sp>
      <p:sp>
        <p:nvSpPr>
          <p:cNvPr id="11" name="Shape 9"/>
          <p:cNvSpPr/>
          <p:nvPr/>
        </p:nvSpPr>
        <p:spPr>
          <a:xfrm>
            <a:off x="1778719" y="3914928"/>
            <a:ext cx="461192" cy="461192"/>
          </a:xfrm>
          <a:prstGeom prst="ellipse">
            <a:avLst/>
          </a:prstGeom>
          <a:solidFill>
            <a:srgbClr val="5BA7A6">
              <a:alpha val="58000"/>
            </a:srgbClr>
          </a:solidFill>
          <a:ln w="10160">
            <a:solidFill>
              <a:srgbClr val="0E7C7B"/>
            </a:solidFill>
            <a:prstDash val="solid"/>
          </a:ln>
        </p:spPr>
      </p:sp>
      <p:sp>
        <p:nvSpPr>
          <p:cNvPr id="12" name="Shape 10"/>
          <p:cNvSpPr/>
          <p:nvPr/>
        </p:nvSpPr>
        <p:spPr>
          <a:xfrm>
            <a:off x="3502984" y="4134885"/>
            <a:ext cx="254998" cy="254998"/>
          </a:xfrm>
          <a:prstGeom prst="ellipse">
            <a:avLst/>
          </a:prstGeom>
          <a:solidFill>
            <a:srgbClr val="5BA7A6">
              <a:alpha val="58000"/>
            </a:srgbClr>
          </a:solidFill>
          <a:ln w="10160">
            <a:solidFill>
              <a:srgbClr val="0E7C7B"/>
            </a:solidFill>
            <a:prstDash val="solid"/>
          </a:ln>
        </p:spPr>
      </p:sp>
      <p:sp>
        <p:nvSpPr>
          <p:cNvPr id="13" name="Shape 11"/>
          <p:cNvSpPr/>
          <p:nvPr/>
        </p:nvSpPr>
        <p:spPr>
          <a:xfrm>
            <a:off x="3359673" y="1719290"/>
            <a:ext cx="541620" cy="541620"/>
          </a:xfrm>
          <a:prstGeom prst="ellipse">
            <a:avLst/>
          </a:prstGeom>
          <a:solidFill>
            <a:srgbClr val="D98E1F">
              <a:alpha val="92000"/>
            </a:srgbClr>
          </a:solidFill>
          <a:ln w="19050">
            <a:solidFill>
              <a:srgbClr val="B37417"/>
            </a:solidFill>
            <a:prstDash val="solid"/>
          </a:ln>
        </p:spPr>
      </p:sp>
      <p:sp>
        <p:nvSpPr>
          <p:cNvPr id="14" name="Shape 12"/>
          <p:cNvSpPr/>
          <p:nvPr/>
        </p:nvSpPr>
        <p:spPr>
          <a:xfrm>
            <a:off x="1137171" y="1856532"/>
            <a:ext cx="682639" cy="682639"/>
          </a:xfrm>
          <a:prstGeom prst="ellipse">
            <a:avLst/>
          </a:prstGeom>
          <a:solidFill>
            <a:srgbClr val="D98E1F">
              <a:alpha val="92000"/>
            </a:srgbClr>
          </a:solidFill>
          <a:ln w="19050">
            <a:solidFill>
              <a:srgbClr val="B37417"/>
            </a:solidFill>
            <a:prstDash val="solid"/>
          </a:ln>
        </p:spPr>
      </p:sp>
      <p:sp>
        <p:nvSpPr>
          <p:cNvPr id="15" name="Shape 13"/>
          <p:cNvSpPr/>
          <p:nvPr/>
        </p:nvSpPr>
        <p:spPr>
          <a:xfrm>
            <a:off x="2673579" y="2932115"/>
            <a:ext cx="479146" cy="479146"/>
          </a:xfrm>
          <a:prstGeom prst="ellipse">
            <a:avLst/>
          </a:prstGeom>
          <a:solidFill>
            <a:srgbClr val="D98E1F">
              <a:alpha val="92000"/>
            </a:srgbClr>
          </a:solidFill>
          <a:ln w="19050">
            <a:solidFill>
              <a:srgbClr val="B37417"/>
            </a:solidFill>
            <a:prstDash val="solid"/>
          </a:ln>
        </p:spPr>
      </p:sp>
      <p:sp>
        <p:nvSpPr>
          <p:cNvPr id="16" name="Text 14"/>
          <p:cNvSpPr txBox="1"/>
          <p:nvPr/>
        </p:nvSpPr>
        <p:spPr>
          <a:xfrm>
            <a:off x="2944683" y="1532900"/>
            <a:ext cx="1371600" cy="201168"/>
          </a:xfrm>
          <a:prstGeom prst="rect">
            <a:avLst/>
          </a:prstGeom>
          <a:noFill/>
          <a:ln/>
        </p:spPr>
        <p:txBody>
          <a:bodyPr wrap="square" lIns="0" tIns="0" rIns="0" bIns="0" rtlCol="0" anchor="ctr"/>
          <a:lstStyle/>
          <a:p>
            <a:pPr algn="ctr" indent="0" marL="0">
              <a:buNone/>
            </a:pPr>
            <a:r>
              <a:rPr lang="en-US" sz="800" b="1" dirty="0">
                <a:solidFill>
                  <a:srgbClr val="0B2E4F"/>
                </a:solidFill>
                <a:latin typeface="Calibri" pitchFamily="34" charset="0"/>
                <a:ea typeface="Calibri" pitchFamily="34" charset="-122"/>
                <a:cs typeface="Calibri" pitchFamily="34" charset="-120"/>
              </a:rPr>
              <a:t>Hoteliers</a:t>
            </a:r>
            <a:endParaRPr lang="en-US" sz="800" dirty="0"/>
          </a:p>
        </p:txBody>
      </p:sp>
      <p:sp>
        <p:nvSpPr>
          <p:cNvPr id="17" name="Text 15"/>
          <p:cNvSpPr txBox="1"/>
          <p:nvPr/>
        </p:nvSpPr>
        <p:spPr>
          <a:xfrm>
            <a:off x="838410" y="1649212"/>
            <a:ext cx="1371600" cy="201168"/>
          </a:xfrm>
          <a:prstGeom prst="rect">
            <a:avLst/>
          </a:prstGeom>
          <a:noFill/>
          <a:ln/>
        </p:spPr>
        <p:txBody>
          <a:bodyPr wrap="square" lIns="0" tIns="0" rIns="0" bIns="0" rtlCol="0" anchor="ctr"/>
          <a:lstStyle/>
          <a:p>
            <a:pPr algn="ctr" indent="0" marL="0">
              <a:buNone/>
            </a:pPr>
            <a:r>
              <a:rPr lang="en-US" sz="800" b="1" dirty="0">
                <a:solidFill>
                  <a:srgbClr val="0B2E4F"/>
                </a:solidFill>
                <a:latin typeface="Calibri" pitchFamily="34" charset="0"/>
                <a:ea typeface="Calibri" pitchFamily="34" charset="-122"/>
                <a:cs typeface="Calibri" pitchFamily="34" charset="-120"/>
              </a:rPr>
              <a:t>Developers</a:t>
            </a:r>
            <a:endParaRPr lang="en-US" sz="800" dirty="0"/>
          </a:p>
        </p:txBody>
      </p:sp>
      <p:sp>
        <p:nvSpPr>
          <p:cNvPr id="18" name="Text 16"/>
          <p:cNvSpPr txBox="1"/>
          <p:nvPr/>
        </p:nvSpPr>
        <p:spPr>
          <a:xfrm>
            <a:off x="2794280" y="2824216"/>
            <a:ext cx="1371600" cy="201168"/>
          </a:xfrm>
          <a:prstGeom prst="rect">
            <a:avLst/>
          </a:prstGeom>
          <a:noFill/>
          <a:ln/>
        </p:spPr>
        <p:txBody>
          <a:bodyPr wrap="square" lIns="0" tIns="0" rIns="0" bIns="0" rtlCol="0" anchor="ctr"/>
          <a:lstStyle/>
          <a:p>
            <a:pPr algn="ctr" indent="0" marL="0">
              <a:buNone/>
            </a:pPr>
            <a:r>
              <a:rPr lang="en-US" sz="800" b="1" dirty="0">
                <a:solidFill>
                  <a:srgbClr val="0B2E4F"/>
                </a:solidFill>
                <a:latin typeface="Calibri" pitchFamily="34" charset="0"/>
                <a:ea typeface="Calibri" pitchFamily="34" charset="-122"/>
                <a:cs typeface="Calibri" pitchFamily="34" charset="-120"/>
              </a:rPr>
              <a:t>Hospitals</a:t>
            </a:r>
            <a:endParaRPr lang="en-US" sz="800" dirty="0"/>
          </a:p>
        </p:txBody>
      </p:sp>
      <p:sp>
        <p:nvSpPr>
          <p:cNvPr id="19" name="Text 17"/>
          <p:cNvSpPr txBox="1"/>
          <p:nvPr/>
        </p:nvSpPr>
        <p:spPr>
          <a:xfrm>
            <a:off x="2944683" y="4408688"/>
            <a:ext cx="1371600" cy="201168"/>
          </a:xfrm>
          <a:prstGeom prst="rect">
            <a:avLst/>
          </a:prstGeom>
          <a:noFill/>
          <a:ln/>
        </p:spPr>
        <p:txBody>
          <a:bodyPr wrap="square" lIns="0" tIns="0" rIns="0" bIns="0" rtlCol="0" anchor="ctr"/>
          <a:lstStyle/>
          <a:p>
            <a:pPr algn="ctr" indent="0" marL="0">
              <a:buNone/>
            </a:pPr>
            <a:r>
              <a:rPr lang="en-US" sz="800" dirty="0">
                <a:solidFill>
                  <a:srgbClr val="5D6A75"/>
                </a:solidFill>
                <a:latin typeface="Calibri" pitchFamily="34" charset="0"/>
                <a:ea typeface="Calibri" pitchFamily="34" charset="-122"/>
                <a:cs typeface="Calibri" pitchFamily="34" charset="-120"/>
              </a:rPr>
              <a:t>Homeowners</a:t>
            </a:r>
            <a:endParaRPr lang="en-US" sz="800" dirty="0"/>
          </a:p>
        </p:txBody>
      </p:sp>
      <p:sp>
        <p:nvSpPr>
          <p:cNvPr id="20" name="Text 18"/>
          <p:cNvSpPr txBox="1"/>
          <p:nvPr/>
        </p:nvSpPr>
        <p:spPr>
          <a:xfrm>
            <a:off x="781970" y="3082808"/>
            <a:ext cx="1371600" cy="201168"/>
          </a:xfrm>
          <a:prstGeom prst="rect">
            <a:avLst/>
          </a:prstGeom>
          <a:noFill/>
          <a:ln/>
        </p:spPr>
        <p:txBody>
          <a:bodyPr wrap="square" lIns="0" tIns="0" rIns="0" bIns="0" rtlCol="0" anchor="ctr"/>
          <a:lstStyle/>
          <a:p>
            <a:pPr algn="ctr" indent="0" marL="0">
              <a:buNone/>
            </a:pPr>
            <a:r>
              <a:rPr lang="en-US" sz="800" dirty="0">
                <a:solidFill>
                  <a:srgbClr val="5D6A75"/>
                </a:solidFill>
                <a:latin typeface="Calibri" pitchFamily="34" charset="0"/>
                <a:ea typeface="Calibri" pitchFamily="34" charset="-122"/>
                <a:cs typeface="Calibri" pitchFamily="34" charset="-120"/>
              </a:rPr>
              <a:t>Societies (retrofit)</a:t>
            </a:r>
            <a:endParaRPr lang="en-US" sz="800" dirty="0"/>
          </a:p>
        </p:txBody>
      </p:sp>
      <p:sp>
        <p:nvSpPr>
          <p:cNvPr id="21" name="Text 19"/>
          <p:cNvSpPr txBox="1"/>
          <p:nvPr/>
        </p:nvSpPr>
        <p:spPr>
          <a:xfrm>
            <a:off x="880504" y="2752344"/>
            <a:ext cx="1371600" cy="201168"/>
          </a:xfrm>
          <a:prstGeom prst="rect">
            <a:avLst/>
          </a:prstGeom>
          <a:noFill/>
          <a:ln/>
        </p:spPr>
        <p:txBody>
          <a:bodyPr wrap="square" lIns="0" tIns="0" rIns="0" bIns="0" rtlCol="0" anchor="ctr"/>
          <a:lstStyle/>
          <a:p>
            <a:pPr algn="ctr" indent="0" marL="0">
              <a:buNone/>
            </a:pPr>
            <a:r>
              <a:rPr lang="en-US" sz="800" dirty="0">
                <a:solidFill>
                  <a:srgbClr val="5D6A75"/>
                </a:solidFill>
                <a:latin typeface="Calibri" pitchFamily="34" charset="0"/>
                <a:ea typeface="Calibri" pitchFamily="34" charset="-122"/>
                <a:cs typeface="Calibri" pitchFamily="34" charset="-120"/>
              </a:rPr>
              <a:t>MSME industrial</a:t>
            </a:r>
            <a:endParaRPr lang="en-US" sz="800" dirty="0"/>
          </a:p>
        </p:txBody>
      </p:sp>
      <p:sp>
        <p:nvSpPr>
          <p:cNvPr id="22" name="Text 20"/>
          <p:cNvSpPr txBox="1"/>
          <p:nvPr/>
        </p:nvSpPr>
        <p:spPr>
          <a:xfrm>
            <a:off x="1945307" y="4054084"/>
            <a:ext cx="1371600" cy="201168"/>
          </a:xfrm>
          <a:prstGeom prst="rect">
            <a:avLst/>
          </a:prstGeom>
          <a:noFill/>
          <a:ln/>
        </p:spPr>
        <p:txBody>
          <a:bodyPr wrap="square" lIns="0" tIns="0" rIns="0" bIns="0" rtlCol="0" anchor="ctr"/>
          <a:lstStyle/>
          <a:p>
            <a:pPr algn="ctr" indent="0" marL="0">
              <a:buNone/>
            </a:pPr>
            <a:r>
              <a:rPr lang="en-US" sz="800" dirty="0">
                <a:solidFill>
                  <a:srgbClr val="5D6A75"/>
                </a:solidFill>
                <a:latin typeface="Calibri" pitchFamily="34" charset="0"/>
                <a:ea typeface="Calibri" pitchFamily="34" charset="-122"/>
                <a:cs typeface="Calibri" pitchFamily="34" charset="-120"/>
              </a:rPr>
              <a:t>Schools &amp; CSR</a:t>
            </a:r>
            <a:endParaRPr lang="en-US" sz="800" dirty="0"/>
          </a:p>
        </p:txBody>
      </p:sp>
      <p:sp>
        <p:nvSpPr>
          <p:cNvPr id="23" name="Text 21"/>
          <p:cNvSpPr txBox="1"/>
          <p:nvPr/>
        </p:nvSpPr>
        <p:spPr>
          <a:xfrm>
            <a:off x="792690" y="4131808"/>
            <a:ext cx="1371600" cy="201168"/>
          </a:xfrm>
          <a:prstGeom prst="rect">
            <a:avLst/>
          </a:prstGeom>
          <a:noFill/>
          <a:ln/>
        </p:spPr>
        <p:txBody>
          <a:bodyPr wrap="square" lIns="0" tIns="0" rIns="0" bIns="0" rtlCol="0" anchor="ctr"/>
          <a:lstStyle/>
          <a:p>
            <a:pPr algn="ctr" indent="0" marL="0">
              <a:buNone/>
            </a:pPr>
            <a:r>
              <a:rPr lang="en-US" sz="800" dirty="0">
                <a:solidFill>
                  <a:srgbClr val="5D6A75"/>
                </a:solidFill>
                <a:latin typeface="Calibri" pitchFamily="34" charset="0"/>
                <a:ea typeface="Calibri" pitchFamily="34" charset="-122"/>
                <a:cs typeface="Calibri" pitchFamily="34" charset="-120"/>
              </a:rPr>
              <a:t>Commercial dev.</a:t>
            </a:r>
            <a:endParaRPr lang="en-US" sz="800" dirty="0"/>
          </a:p>
        </p:txBody>
      </p:sp>
      <p:sp>
        <p:nvSpPr>
          <p:cNvPr id="24" name="Text 22"/>
          <p:cNvSpPr txBox="1"/>
          <p:nvPr/>
        </p:nvSpPr>
        <p:spPr>
          <a:xfrm>
            <a:off x="502920" y="4736592"/>
            <a:ext cx="4160520" cy="292608"/>
          </a:xfrm>
          <a:prstGeom prst="rect">
            <a:avLst/>
          </a:prstGeom>
          <a:noFill/>
          <a:ln/>
        </p:spPr>
        <p:txBody>
          <a:bodyPr wrap="square" lIns="0" tIns="0" rIns="0" bIns="0" rtlCol="0" anchor="ctr"/>
          <a:lstStyle/>
          <a:p>
            <a:pPr algn="ctr" indent="0" marL="0">
              <a:buNone/>
            </a:pPr>
            <a:r>
              <a:rPr lang="en-US" sz="750" dirty="0">
                <a:solidFill>
                  <a:srgbClr val="5D6A75"/>
                </a:solidFill>
                <a:latin typeface="Calibri" pitchFamily="34" charset="0"/>
                <a:ea typeface="Calibri" pitchFamily="34" charset="-122"/>
                <a:cs typeface="Calibri" pitchFamily="34" charset="-120"/>
              </a:rPr>
              <a:t>Ease of capture →  (access to decision maker, cycle, payment reliability, serviceability, rivalry)</a:t>
            </a:r>
            <a:endParaRPr lang="en-US" sz="750" dirty="0"/>
          </a:p>
        </p:txBody>
      </p:sp>
      <p:sp>
        <p:nvSpPr>
          <p:cNvPr id="25" name="Text 23"/>
          <p:cNvSpPr txBox="1"/>
          <p:nvPr/>
        </p:nvSpPr>
        <p:spPr>
          <a:xfrm rot="16200000">
            <a:off x="-978408" y="2976372"/>
            <a:ext cx="2926080" cy="182880"/>
          </a:xfrm>
          <a:prstGeom prst="rect">
            <a:avLst/>
          </a:prstGeom>
          <a:noFill/>
          <a:ln/>
        </p:spPr>
        <p:txBody>
          <a:bodyPr wrap="square" lIns="0" tIns="0" rIns="0" bIns="0" rtlCol="0" anchor="ctr"/>
          <a:lstStyle/>
          <a:p>
            <a:pPr algn="ctr" indent="0" marL="0">
              <a:buNone/>
            </a:pPr>
            <a:r>
              <a:rPr lang="en-US" sz="750" dirty="0">
                <a:solidFill>
                  <a:srgbClr val="5D6A75"/>
                </a:solidFill>
                <a:latin typeface="Calibri" pitchFamily="34" charset="0"/>
                <a:ea typeface="Calibri" pitchFamily="34" charset="-122"/>
                <a:cs typeface="Calibri" pitchFamily="34" charset="-120"/>
              </a:rPr>
              <a:t>Value at stake →</a:t>
            </a:r>
            <a:endParaRPr lang="en-US" sz="750" dirty="0"/>
          </a:p>
        </p:txBody>
      </p:sp>
      <p:sp>
        <p:nvSpPr>
          <p:cNvPr id="26" name="Text 24"/>
          <p:cNvSpPr txBox="1"/>
          <p:nvPr/>
        </p:nvSpPr>
        <p:spPr>
          <a:xfrm>
            <a:off x="502920" y="5001768"/>
            <a:ext cx="4160520" cy="201168"/>
          </a:xfrm>
          <a:prstGeom prst="rect">
            <a:avLst/>
          </a:prstGeom>
          <a:noFill/>
          <a:ln/>
        </p:spPr>
        <p:txBody>
          <a:bodyPr wrap="square" lIns="0" tIns="0" rIns="0" bIns="0" rtlCol="0" anchor="ctr"/>
          <a:lstStyle/>
          <a:p>
            <a:pPr algn="ctr" indent="0" marL="0">
              <a:buNone/>
            </a:pPr>
            <a:r>
              <a:rPr lang="en-US" sz="750" dirty="0">
                <a:solidFill>
                  <a:srgbClr val="5D6A75"/>
                </a:solidFill>
                <a:latin typeface="Calibri" pitchFamily="34" charset="0"/>
                <a:ea typeface="Calibri" pitchFamily="34" charset="-122"/>
                <a:cs typeface="Calibri" pitchFamily="34" charset="-120"/>
              </a:rPr>
              <a:t>Bubble area = average ticket size (₹0.6 L to ₹48 L). Amber = priority personas.</a:t>
            </a:r>
            <a:endParaRPr lang="en-US" sz="750" dirty="0"/>
          </a:p>
        </p:txBody>
      </p:sp>
      <p:sp>
        <p:nvSpPr>
          <p:cNvPr id="27" name="Text 25"/>
          <p:cNvSpPr txBox="1"/>
          <p:nvPr/>
        </p:nvSpPr>
        <p:spPr>
          <a:xfrm>
            <a:off x="502920" y="5239512"/>
            <a:ext cx="4160520" cy="502920"/>
          </a:xfrm>
          <a:prstGeom prst="rect">
            <a:avLst/>
          </a:prstGeom>
          <a:noFill/>
          <a:ln/>
        </p:spPr>
        <p:txBody>
          <a:bodyPr wrap="square" lIns="0" tIns="0" rIns="0" bIns="0" rtlCol="0" anchor="ctr"/>
          <a:lstStyle/>
          <a:p>
            <a:pPr indent="0" marL="0">
              <a:lnSpc>
                <a:spcPct val="105000"/>
              </a:lnSpc>
              <a:buNone/>
            </a:pPr>
            <a:r>
              <a:rPr lang="en-US" sz="780" b="1" dirty="0">
                <a:solidFill>
                  <a:srgbClr val="0B2E4F"/>
                </a:solidFill>
                <a:latin typeface="Calibri" pitchFamily="34" charset="0"/>
                <a:ea typeface="Calibri" pitchFamily="34" charset="-122"/>
                <a:cs typeface="Calibri" pitchFamily="34" charset="-120"/>
              </a:rPr>
              <a:t>Weights: </a:t>
            </a:r>
            <a:pPr indent="0" marL="0">
              <a:lnSpc>
                <a:spcPct val="105000"/>
              </a:lnSpc>
              <a:buNone/>
            </a:pPr>
            <a:r>
              <a:rPr lang="en-US" sz="780" dirty="0">
                <a:solidFill>
                  <a:srgbClr val="5D6A75"/>
                </a:solidFill>
                <a:latin typeface="Calibri" pitchFamily="34" charset="0"/>
                <a:ea typeface="Calibri" pitchFamily="34" charset="-122"/>
                <a:cs typeface="Calibri" pitchFamily="34" charset="-120"/>
              </a:rPr>
              <a:t>demand 15 · compliance urgency 15 · product fit 10 · ticket 10 · decision-maker access 10 · payment reliability 10 · repeat &amp; AMC 10 · serviceability 10 · rivalry 5 · cycle 5. Scores 1-5, evidence in backup (p.9).</a:t>
            </a:r>
            <a:endParaRPr lang="en-US" sz="780" dirty="0"/>
          </a:p>
        </p:txBody>
      </p:sp>
      <p:sp>
        <p:nvSpPr>
          <p:cNvPr id="28" name="Text 26"/>
          <p:cNvSpPr txBox="1"/>
          <p:nvPr/>
        </p:nvSpPr>
        <p:spPr>
          <a:xfrm>
            <a:off x="4956048" y="1188720"/>
            <a:ext cx="6729984"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Priority persona playbook</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956048" y="1444752"/>
          <a:ext cx="6729984" cy="914400"/>
        </p:xfrm>
        <a:graphic>
          <a:graphicData uri="http://schemas.openxmlformats.org/drawingml/2006/table">
            <a:tbl>
              <a:tblPr/>
              <a:tblGrid>
                <a:gridCol w="786384"/>
                <a:gridCol w="1984248"/>
                <a:gridCol w="1984248"/>
                <a:gridCol w="1975104"/>
              </a:tblGrid>
              <a:tr h="0">
                <a:tc>
                  <a:txBody>
                    <a:bodyPr/>
                    <a:lstStyle/>
                    <a:p>
                      <a:pPr algn="l" indent="0" marL="0">
                        <a:buNone/>
                      </a:pP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860" b="1" dirty="0">
                          <a:solidFill>
                            <a:srgbClr val="FFFFFF"/>
                          </a:solidFill>
                          <a:latin typeface="Calibri" pitchFamily="34" charset="0"/>
                          <a:ea typeface="Calibri" pitchFamily="34" charset="-122"/>
                          <a:cs typeface="Calibri" pitchFamily="34" charset="-120"/>
                        </a:rPr>
                        <a:t>1 | Coastal &amp; leisure hotelier</a:t>
                      </a:r>
                      <a:endParaRPr lang="en-US" sz="86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E7C7B"/>
                    </a:solidFill>
                  </a:tcPr>
                </a:tc>
                <a:tc>
                  <a:txBody>
                    <a:bodyPr/>
                    <a:lstStyle/>
                    <a:p>
                      <a:pPr algn="l" indent="0" marL="0">
                        <a:buNone/>
                      </a:pPr>
                      <a:r>
                        <a:rPr lang="en-US" sz="860" b="1" dirty="0">
                          <a:solidFill>
                            <a:srgbClr val="FFFFFF"/>
                          </a:solidFill>
                          <a:latin typeface="Calibri" pitchFamily="34" charset="0"/>
                          <a:ea typeface="Calibri" pitchFamily="34" charset="-122"/>
                          <a:cs typeface="Calibri" pitchFamily="34" charset="-120"/>
                        </a:rPr>
                        <a:t>2 | Tier-2 residential developer</a:t>
                      </a:r>
                      <a:endParaRPr lang="en-US" sz="86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E7C7B"/>
                    </a:solidFill>
                  </a:tcPr>
                </a:tc>
                <a:tc>
                  <a:txBody>
                    <a:bodyPr/>
                    <a:lstStyle/>
                    <a:p>
                      <a:pPr algn="l" indent="0" marL="0">
                        <a:buNone/>
                      </a:pPr>
                      <a:r>
                        <a:rPr lang="en-US" sz="860" b="1" dirty="0">
                          <a:solidFill>
                            <a:srgbClr val="FFFFFF"/>
                          </a:solidFill>
                          <a:latin typeface="Calibri" pitchFamily="34" charset="0"/>
                          <a:ea typeface="Calibri" pitchFamily="34" charset="-122"/>
                          <a:cs typeface="Calibri" pitchFamily="34" charset="-120"/>
                        </a:rPr>
                        <a:t>3 | Private hospital / clinic</a:t>
                      </a:r>
                      <a:endParaRPr lang="en-US" sz="86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E7C7B"/>
                    </a:solidFill>
                  </a:tcPr>
                </a:tc>
              </a:tr>
              <a:tr h="0">
                <a:tc>
                  <a:txBody>
                    <a:bodyPr/>
                    <a:lstStyle/>
                    <a:p>
                      <a:pPr algn="l" indent="0" marL="0">
                        <a:buNone/>
                      </a:pPr>
                      <a:r>
                        <a:rPr lang="en-US" sz="800" b="1" dirty="0">
                          <a:solidFill>
                            <a:srgbClr val="0B2E4F"/>
                          </a:solidFill>
                          <a:latin typeface="Calibri" pitchFamily="34" charset="0"/>
                          <a:ea typeface="Calibri" pitchFamily="34" charset="-122"/>
                          <a:cs typeface="Calibri" pitchFamily="34" charset="-120"/>
                        </a:rPr>
                        <a:t>Who &amp; trigger</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20-150 key hotels, resorts, hostels in Goa, Konkan, hill towns. Trigger: GSPCB/MPCB consent renewal or notice, expansion, tanker-water cost.</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100-400 unit projects in Kolhapur, Belagavi, Hubballi, Mysuru. Trigger: EC condition (≥20,000 sqm) and occupancy certificate need a working STP.</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30-150 bed private hospitals. Trigger: BMW Rules 2016 mandate effluent treatment for &gt;10-bed facilities; NABH audits; SPCB consent.</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800" b="1" dirty="0">
                          <a:solidFill>
                            <a:srgbClr val="0B2E4F"/>
                          </a:solidFill>
                          <a:latin typeface="Calibri" pitchFamily="34" charset="0"/>
                          <a:ea typeface="Calibri" pitchFamily="34" charset="-122"/>
                          <a:cs typeface="Calibri" pitchFamily="34" charset="-120"/>
                        </a:rPr>
                        <a:t>Decision maker</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Owner-promoter decides; GM, chief engineer and PCB consultant influence.</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Promoter/director decides; MEP consultant, PMC and liaison architect specify.</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Owner-doctor or trustee decides; hospital administrator and biomedical engineer influence.</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800" b="1" dirty="0">
                          <a:solidFill>
                            <a:srgbClr val="0B2E4F"/>
                          </a:solidFill>
                          <a:latin typeface="Calibri" pitchFamily="34" charset="0"/>
                          <a:ea typeface="Calibri" pitchFamily="34" charset="-122"/>
                          <a:cs typeface="Calibri" pitchFamily="34" charset="-120"/>
                        </a:rPr>
                        <a:t>How they shortlist</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Peer referrals, MEP consultants, TTAG/GCCI association contacts, visible local installs.</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Consultant empanelment, CREDAI chapter events, past-project references.</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Hospital consultants, IMA/AHPI chapters, PCB-liaison advisors.</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800" b="1" dirty="0">
                          <a:solidFill>
                            <a:srgbClr val="0B2E4F"/>
                          </a:solidFill>
                          <a:latin typeface="Calibri" pitchFamily="34" charset="0"/>
                          <a:ea typeface="Calibri" pitchFamily="34" charset="-122"/>
                          <a:cs typeface="Calibri" pitchFamily="34" charset="-120"/>
                        </a:rPr>
                        <a:t>Price they bear</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₹18-45 L turnkey (10-50 KLD) + AMC ₹0.6-1.5 L/yr.</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₹35 L-1.2 cr design-build (25-150 KLD), milestone billed.</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₹12-35 L compact ETP/STP skid (5-30 KLD) + AMC ₹0.8-2 L/yr.</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800" b="1" dirty="0">
                          <a:solidFill>
                            <a:srgbClr val="0B2E4F"/>
                          </a:solidFill>
                          <a:latin typeface="Calibri" pitchFamily="34" charset="0"/>
                          <a:ea typeface="Calibri" pitchFamily="34" charset="-122"/>
                          <a:cs typeface="Calibri" pitchFamily="34" charset="-120"/>
                        </a:rPr>
                        <a:t>Cycle &amp; proof</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2-4 months. Needs reference visits, effluent lab reports, uptime SLA, DRDO-certified pedigree.</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6-9 months, tracks construction. Needs 200+ housing installs, ONGC 100-KLD MBR reference, bank guarantee.</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3-6 months. Needs compliance document pack, disinfection performance, live-site install method.</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800" b="1" dirty="0">
                          <a:solidFill>
                            <a:srgbClr val="0B2E4F"/>
                          </a:solidFill>
                          <a:latin typeface="Calibri" pitchFamily="34" charset="0"/>
                          <a:ea typeface="Calibri" pitchFamily="34" charset="-122"/>
                          <a:cs typeface="Calibri" pitchFamily="34" charset="-120"/>
                        </a:rPr>
                        <a:t>Entry offer → onboarding</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₹25k water &amp; compliance audit credited to order → design in 7 days → fixed-price modular install ≤4 weeks → AMC with quarterly lab reports.</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Free STP sizing + compliance plan at EC stage → spec-in via consultant → staged install → society handover kit with 3-yr O&amp;M.</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BMW-compliance liquid-waste audit → PCB liaison support → phased install in live hospital → compliance dashboard reporting.</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800" b="1" dirty="0">
                          <a:solidFill>
                            <a:srgbClr val="0B2E4F"/>
                          </a:solidFill>
                          <a:latin typeface="Calibri" pitchFamily="34" charset="0"/>
                          <a:ea typeface="Calibri" pitchFamily="34" charset="-122"/>
                          <a:cs typeface="Calibri" pitchFamily="34" charset="-120"/>
                        </a:rPr>
                        <a:t>Repeat &amp; referral</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Sister properties, reuse-module upsell, consumables; dense hotel clusters refer.</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Next projects, retrofit of older stock, society O&amp;M annuity after handover.</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800" dirty="0">
                          <a:solidFill>
                            <a:srgbClr val="26313B"/>
                          </a:solidFill>
                          <a:latin typeface="Calibri" pitchFamily="34" charset="0"/>
                          <a:ea typeface="Calibri" pitchFamily="34" charset="-122"/>
                          <a:cs typeface="Calibri" pitchFamily="34" charset="-120"/>
                        </a:rPr>
                        <a:t>Sister facilities, disinfection upgrades, long AMC tenure; doctor networks refer.</a:t>
                      </a:r>
                      <a:endParaRPr lang="en-US" sz="80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bl>
          </a:graphicData>
        </a:graphic>
      </p:graphicFrame>
      <p:sp>
        <p:nvSpPr>
          <p:cNvPr id="30" name="Shape 27"/>
          <p:cNvSpPr/>
          <p:nvPr/>
        </p:nvSpPr>
        <p:spPr>
          <a:xfrm>
            <a:off x="502920" y="5888736"/>
            <a:ext cx="11183112" cy="475488"/>
          </a:xfrm>
          <a:prstGeom prst="roundRect">
            <a:avLst>
              <a:gd name="adj" fmla="val 10577"/>
            </a:avLst>
          </a:prstGeom>
          <a:solidFill>
            <a:srgbClr val="0B2E4F"/>
          </a:solidFill>
          <a:ln/>
        </p:spPr>
      </p:sp>
      <p:sp>
        <p:nvSpPr>
          <p:cNvPr id="31" name="Text 28"/>
          <p:cNvSpPr txBox="1"/>
          <p:nvPr/>
        </p:nvSpPr>
        <p:spPr>
          <a:xfrm>
            <a:off x="704088" y="5888736"/>
            <a:ext cx="10780776" cy="475488"/>
          </a:xfrm>
          <a:prstGeom prst="rect">
            <a:avLst/>
          </a:prstGeom>
          <a:noFill/>
          <a:ln/>
        </p:spPr>
        <p:txBody>
          <a:bodyPr wrap="square" lIns="0" tIns="0" rIns="0" bIns="0" rtlCol="0" anchor="ctr"/>
          <a:lstStyle/>
          <a:p>
            <a:pPr indent="0" marL="0">
              <a:lnSpc>
                <a:spcPct val="103000"/>
              </a:lnSpc>
              <a:buNone/>
            </a:pPr>
            <a:r>
              <a:rPr lang="en-US" sz="1050" b="1" spc="150" kern="0" dirty="0">
                <a:solidFill>
                  <a:srgbClr val="D98E1F"/>
                </a:solidFill>
                <a:latin typeface="Calibri" pitchFamily="34" charset="0"/>
                <a:ea typeface="Calibri" pitchFamily="34" charset="-122"/>
                <a:cs typeface="Calibri" pitchFamily="34" charset="-120"/>
              </a:rPr>
              <a:t>DECISION   </a:t>
            </a:r>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Put 80% of new-business effort on these three personas. Homeowners stay a dealer-led run-rate business; industrial ETPs are taken opportunistically, not pursued.</a:t>
            </a:r>
            <a:endParaRPr lang="en-US" sz="1050" dirty="0"/>
          </a:p>
        </p:txBody>
      </p:sp>
      <p:sp>
        <p:nvSpPr>
          <p:cNvPr id="32" name="Text 29"/>
          <p:cNvSpPr txBox="1"/>
          <p:nvPr/>
        </p:nvSpPr>
        <p:spPr>
          <a:xfrm>
            <a:off x="502920" y="6473952"/>
            <a:ext cx="9692640" cy="310896"/>
          </a:xfrm>
          <a:prstGeom prst="rect">
            <a:avLst/>
          </a:prstGeom>
          <a:noFill/>
          <a:ln/>
        </p:spPr>
        <p:txBody>
          <a:bodyPr wrap="square" lIns="0" tIns="0" rIns="0" bIns="0" rtlCol="0" anchor="t"/>
          <a:lstStyle/>
          <a:p>
            <a:pPr indent="0" marL="0">
              <a:lnSpc>
                <a:spcPct val="100000"/>
              </a:lnSpc>
              <a:buNone/>
            </a:pPr>
            <a:r>
              <a:rPr lang="en-US" sz="800" dirty="0">
                <a:solidFill>
                  <a:srgbClr val="8A959E"/>
                </a:solidFill>
                <a:latin typeface="Calibri" pitchFamily="34" charset="0"/>
                <a:ea typeface="Calibri" pitchFamily="34" charset="-122"/>
                <a:cs typeface="Calibri" pitchFamily="34" charset="-120"/>
              </a:rPr>
              <a:t>Sources: GSPCB consent framework (susbio.in guide); Bio-medical Waste Mgmt Rules 2016 (&gt;10-bed ETP mandate); EIA Notification 2006 item 8(a); KSPCB apartment STP rules (Deccan Herald, 2024); EPBL references (epbiocomposites.com; EquityBulls, Dec 2023). Scores: team analysis.</a:t>
            </a:r>
            <a:endParaRPr lang="en-US" sz="800" dirty="0"/>
          </a:p>
        </p:txBody>
      </p:sp>
      <p:sp>
        <p:nvSpPr>
          <p:cNvPr id="33" name="Text 30"/>
          <p:cNvSpPr txBox="1"/>
          <p:nvPr/>
        </p:nvSpPr>
        <p:spPr>
          <a:xfrm>
            <a:off x="10378440" y="6510528"/>
            <a:ext cx="1325880" cy="237744"/>
          </a:xfrm>
          <a:prstGeom prst="rect">
            <a:avLst/>
          </a:prstGeom>
          <a:noFill/>
          <a:ln/>
        </p:spPr>
        <p:txBody>
          <a:bodyPr wrap="square" lIns="0" tIns="0" rIns="0" bIns="0" rtlCol="0" anchor="ctr"/>
          <a:lstStyle/>
          <a:p>
            <a:pPr algn="r" indent="0" marL="0">
              <a:buNone/>
            </a:pPr>
            <a:r>
              <a:rPr lang="en-US" sz="800" dirty="0">
                <a:solidFill>
                  <a:srgbClr val="8A959E"/>
                </a:solidFill>
                <a:latin typeface="Calibri" pitchFamily="34" charset="0"/>
                <a:ea typeface="Calibri" pitchFamily="34" charset="-122"/>
                <a:cs typeface="Calibri" pitchFamily="34" charset="-120"/>
              </a:rPr>
              <a:t>Team Wookies</a:t>
            </a:r>
            <a:pPr algn="r" indent="0" marL="0">
              <a:buNone/>
            </a:pPr>
            <a:r>
              <a:rPr lang="en-US" sz="900" b="1" dirty="0">
                <a:solidFill>
                  <a:srgbClr val="5D6A75"/>
                </a:solidFill>
                <a:latin typeface="Calibri" pitchFamily="34" charset="0"/>
                <a:ea typeface="Calibri" pitchFamily="34" charset="-122"/>
                <a:cs typeface="Calibri" pitchFamily="34" charset="-120"/>
              </a:rPr>
              <a:t>   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83112" cy="256032"/>
          </a:xfrm>
          <a:prstGeom prst="rect">
            <a:avLst/>
          </a:prstGeom>
          <a:noFill/>
          <a:ln/>
        </p:spPr>
        <p:txBody>
          <a:bodyPr wrap="square" lIns="0" tIns="0" rIns="0" bIns="0" rtlCol="0" anchor="ctr"/>
          <a:lstStyle/>
          <a:p>
            <a:pPr indent="0" marL="0">
              <a:buNone/>
            </a:pPr>
            <a:r>
              <a:rPr lang="en-US" sz="1050" b="1" spc="200" kern="0" dirty="0">
                <a:solidFill>
                  <a:srgbClr val="0E7C7B"/>
                </a:solidFill>
                <a:latin typeface="Calibri" pitchFamily="34" charset="0"/>
                <a:ea typeface="Calibri" pitchFamily="34" charset="-122"/>
                <a:cs typeface="Calibri" pitchFamily="34" charset="-120"/>
              </a:rPr>
              <a:t>DELIVERABLE 2A | MARKET OPPORTUNITY AND COMPETITIVE POSITIONING</a:t>
            </a:r>
            <a:endParaRPr lang="en-US" sz="1050" dirty="0"/>
          </a:p>
        </p:txBody>
      </p:sp>
      <p:sp>
        <p:nvSpPr>
          <p:cNvPr id="3" name="Text 1"/>
          <p:cNvSpPr txBox="1"/>
          <p:nvPr/>
        </p:nvSpPr>
        <p:spPr>
          <a:xfrm>
            <a:off x="502920" y="512064"/>
            <a:ext cx="11183112" cy="566928"/>
          </a:xfrm>
          <a:prstGeom prst="rect">
            <a:avLst/>
          </a:prstGeom>
          <a:noFill/>
          <a:ln/>
        </p:spPr>
        <p:txBody>
          <a:bodyPr wrap="square" lIns="0" tIns="0" rIns="0" bIns="0" rtlCol="0" anchor="ctr"/>
          <a:lstStyle/>
          <a:p>
            <a:pPr indent="0" marL="0">
              <a:lnSpc>
                <a:spcPct val="102000"/>
              </a:lnSpc>
              <a:buNone/>
            </a:pPr>
            <a:r>
              <a:rPr lang="en-US" sz="2000" b="1" dirty="0">
                <a:solidFill>
                  <a:srgbClr val="0B2E4F"/>
                </a:solidFill>
                <a:latin typeface="Calibri" pitchFamily="34" charset="0"/>
                <a:ea typeface="Calibri" pitchFamily="34" charset="-122"/>
                <a:cs typeface="Calibri" pitchFamily="34" charset="-120"/>
              </a:rPr>
              <a:t>A ~₹270 cr/yr private market; EPBL can credibly win ₹15-28 cr of new revenue over three years</a:t>
            </a:r>
            <a:endParaRPr lang="en-US" sz="2000" dirty="0"/>
          </a:p>
        </p:txBody>
      </p:sp>
      <p:sp>
        <p:nvSpPr>
          <p:cNvPr id="4" name="Text 2"/>
          <p:cNvSpPr txBox="1"/>
          <p:nvPr/>
        </p:nvSpPr>
        <p:spPr>
          <a:xfrm>
            <a:off x="502920" y="1188720"/>
            <a:ext cx="3931920"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Bottom-up opportunity (annual)</a:t>
            </a:r>
            <a:endParaRPr lang="en-US" sz="1100" dirty="0"/>
          </a:p>
        </p:txBody>
      </p:sp>
      <p:sp>
        <p:nvSpPr>
          <p:cNvPr id="5" name="Shape 3"/>
          <p:cNvSpPr/>
          <p:nvPr/>
        </p:nvSpPr>
        <p:spPr>
          <a:xfrm>
            <a:off x="502920" y="1426464"/>
            <a:ext cx="3931920" cy="621792"/>
          </a:xfrm>
          <a:prstGeom prst="roundRect">
            <a:avLst>
              <a:gd name="adj" fmla="val 7353"/>
            </a:avLst>
          </a:prstGeom>
          <a:solidFill>
            <a:srgbClr val="0B2E4F"/>
          </a:solidFill>
          <a:ln/>
        </p:spPr>
      </p:sp>
      <p:sp>
        <p:nvSpPr>
          <p:cNvPr id="6" name="Text 4"/>
          <p:cNvSpPr txBox="1"/>
          <p:nvPr/>
        </p:nvSpPr>
        <p:spPr>
          <a:xfrm>
            <a:off x="612648" y="1453896"/>
            <a:ext cx="3749040" cy="21945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TAM  ₹270 cr/yr</a:t>
            </a:r>
            <a:endParaRPr lang="en-US" sz="1100" dirty="0"/>
          </a:p>
        </p:txBody>
      </p:sp>
      <p:sp>
        <p:nvSpPr>
          <p:cNvPr id="7" name="Text 5"/>
          <p:cNvSpPr txBox="1"/>
          <p:nvPr/>
        </p:nvSpPr>
        <p:spPr>
          <a:xfrm>
            <a:off x="612648" y="1664208"/>
            <a:ext cx="3749040" cy="365760"/>
          </a:xfrm>
          <a:prstGeom prst="rect">
            <a:avLst/>
          </a:prstGeom>
          <a:noFill/>
          <a:ln/>
        </p:spPr>
        <p:txBody>
          <a:bodyPr wrap="square" lIns="0" tIns="0" rIns="0" bIns="0" rtlCol="0" anchor="ctr"/>
          <a:lstStyle/>
          <a:p>
            <a:pPr indent="0" marL="0">
              <a:lnSpc>
                <a:spcPct val="98000"/>
              </a:lnSpc>
              <a:buNone/>
            </a:pPr>
            <a:r>
              <a:rPr lang="en-US" sz="690" dirty="0">
                <a:solidFill>
                  <a:srgbClr val="FFFFFF"/>
                </a:solidFill>
                <a:latin typeface="Calibri" pitchFamily="34" charset="0"/>
                <a:ea typeface="Calibri" pitchFamily="34" charset="-122"/>
                <a:cs typeface="Calibri" pitchFamily="34" charset="-120"/>
              </a:rPr>
              <a:t>All private-pay decentralised demand, Tier 2/3 of Goa + MH + KA (₹239 cr STP/ETP + ₹32 cr bio-digester)</a:t>
            </a:r>
            <a:endParaRPr lang="en-US" sz="690" dirty="0"/>
          </a:p>
        </p:txBody>
      </p:sp>
      <p:sp>
        <p:nvSpPr>
          <p:cNvPr id="8" name="Shape 6"/>
          <p:cNvSpPr/>
          <p:nvPr/>
        </p:nvSpPr>
        <p:spPr>
          <a:xfrm>
            <a:off x="502920" y="2121408"/>
            <a:ext cx="3246120" cy="621792"/>
          </a:xfrm>
          <a:prstGeom prst="roundRect">
            <a:avLst>
              <a:gd name="adj" fmla="val 7353"/>
            </a:avLst>
          </a:prstGeom>
          <a:solidFill>
            <a:srgbClr val="0E7C7B"/>
          </a:solidFill>
          <a:ln/>
        </p:spPr>
      </p:sp>
      <p:sp>
        <p:nvSpPr>
          <p:cNvPr id="9" name="Text 7"/>
          <p:cNvSpPr txBox="1"/>
          <p:nvPr/>
        </p:nvSpPr>
        <p:spPr>
          <a:xfrm>
            <a:off x="612648" y="2148840"/>
            <a:ext cx="3063240" cy="21945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SAM  ₹165 cr/yr</a:t>
            </a:r>
            <a:endParaRPr lang="en-US" sz="1100" dirty="0"/>
          </a:p>
        </p:txBody>
      </p:sp>
      <p:sp>
        <p:nvSpPr>
          <p:cNvPr id="10" name="Text 8"/>
          <p:cNvSpPr txBox="1"/>
          <p:nvPr/>
        </p:nvSpPr>
        <p:spPr>
          <a:xfrm>
            <a:off x="612648" y="2359152"/>
            <a:ext cx="3063240" cy="365760"/>
          </a:xfrm>
          <a:prstGeom prst="rect">
            <a:avLst/>
          </a:prstGeom>
          <a:noFill/>
          <a:ln/>
        </p:spPr>
        <p:txBody>
          <a:bodyPr wrap="square" lIns="0" tIns="0" rIns="0" bIns="0" rtlCol="0" anchor="ctr"/>
          <a:lstStyle/>
          <a:p>
            <a:pPr indent="0" marL="0">
              <a:lnSpc>
                <a:spcPct val="98000"/>
              </a:lnSpc>
              <a:buNone/>
            </a:pPr>
            <a:r>
              <a:rPr lang="en-US" sz="690" dirty="0">
                <a:solidFill>
                  <a:srgbClr val="FFFFFF"/>
                </a:solidFill>
                <a:latin typeface="Calibri" pitchFamily="34" charset="0"/>
                <a:ea typeface="Calibri" pitchFamily="34" charset="-122"/>
                <a:cs typeface="Calibri" pitchFamily="34" charset="-120"/>
              </a:rPr>
              <a:t>Within EPBL's 3-phase corridor &amp; capability; ₹5 L-2.5 cr projects; excludes complex industrial chemistry</a:t>
            </a:r>
            <a:endParaRPr lang="en-US" sz="690" dirty="0"/>
          </a:p>
        </p:txBody>
      </p:sp>
      <p:sp>
        <p:nvSpPr>
          <p:cNvPr id="11" name="Shape 9"/>
          <p:cNvSpPr/>
          <p:nvPr/>
        </p:nvSpPr>
        <p:spPr>
          <a:xfrm>
            <a:off x="502920" y="2816352"/>
            <a:ext cx="2560320" cy="621792"/>
          </a:xfrm>
          <a:prstGeom prst="roundRect">
            <a:avLst>
              <a:gd name="adj" fmla="val 7353"/>
            </a:avLst>
          </a:prstGeom>
          <a:solidFill>
            <a:srgbClr val="D98E1F"/>
          </a:solidFill>
          <a:ln/>
        </p:spPr>
      </p:sp>
      <p:sp>
        <p:nvSpPr>
          <p:cNvPr id="12" name="Text 10"/>
          <p:cNvSpPr txBox="1"/>
          <p:nvPr/>
        </p:nvSpPr>
        <p:spPr>
          <a:xfrm>
            <a:off x="612648" y="2843784"/>
            <a:ext cx="2377440" cy="21945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SOM  ₹21 cr</a:t>
            </a:r>
            <a:endParaRPr lang="en-US" sz="1100" dirty="0"/>
          </a:p>
        </p:txBody>
      </p:sp>
      <p:sp>
        <p:nvSpPr>
          <p:cNvPr id="13" name="Text 11"/>
          <p:cNvSpPr txBox="1"/>
          <p:nvPr/>
        </p:nvSpPr>
        <p:spPr>
          <a:xfrm>
            <a:off x="612648" y="3054096"/>
            <a:ext cx="2377440" cy="365760"/>
          </a:xfrm>
          <a:prstGeom prst="rect">
            <a:avLst/>
          </a:prstGeom>
          <a:noFill/>
          <a:ln/>
        </p:spPr>
        <p:txBody>
          <a:bodyPr wrap="square" lIns="0" tIns="0" rIns="0" bIns="0" rtlCol="0" anchor="ctr"/>
          <a:lstStyle/>
          <a:p>
            <a:pPr indent="0" marL="0">
              <a:lnSpc>
                <a:spcPct val="98000"/>
              </a:lnSpc>
              <a:buNone/>
            </a:pPr>
            <a:r>
              <a:rPr lang="en-US" sz="690" dirty="0">
                <a:solidFill>
                  <a:srgbClr val="FFFFFF"/>
                </a:solidFill>
                <a:latin typeface="Calibri" pitchFamily="34" charset="0"/>
                <a:ea typeface="Calibri" pitchFamily="34" charset="-122"/>
                <a:cs typeface="Calibri" pitchFamily="34" charset="-120"/>
              </a:rPr>
              <a:t>3-yr cumulative NEW revenue FY27-29 (range ₹15-28 cr); FY29 run-rate = 7.2% of SAM</a:t>
            </a:r>
            <a:endParaRPr lang="en-US" sz="690" dirty="0"/>
          </a:p>
        </p:txBody>
      </p:sp>
      <p:sp>
        <p:nvSpPr>
          <p:cNvPr id="14" name="Text 12"/>
          <p:cNvSpPr txBox="1"/>
          <p:nvPr/>
        </p:nvSpPr>
        <p:spPr>
          <a:xfrm>
            <a:off x="502920" y="3547872"/>
            <a:ext cx="3977640" cy="384048"/>
          </a:xfrm>
          <a:prstGeom prst="rect">
            <a:avLst/>
          </a:prstGeom>
          <a:noFill/>
          <a:ln/>
        </p:spPr>
        <p:txBody>
          <a:bodyPr wrap="square" lIns="0" tIns="0" rIns="0" bIns="0" rtlCol="0" anchor="ctr"/>
          <a:lstStyle/>
          <a:p>
            <a:pPr indent="0" marL="0">
              <a:lnSpc>
                <a:spcPct val="102000"/>
              </a:lnSpc>
              <a:buNone/>
            </a:pPr>
            <a:r>
              <a:rPr lang="en-US" sz="800" b="1" dirty="0">
                <a:solidFill>
                  <a:srgbClr val="0B2E4F"/>
                </a:solidFill>
                <a:latin typeface="Calibri" pitchFamily="34" charset="0"/>
                <a:ea typeface="Calibri" pitchFamily="34" charset="-122"/>
                <a:cs typeface="Calibri" pitchFamily="34" charset="-120"/>
              </a:rPr>
              <a:t>By state (TAM): </a:t>
            </a:r>
            <a:pPr indent="0" marL="0">
              <a:lnSpc>
                <a:spcPct val="102000"/>
              </a:lnSpc>
              <a:buNone/>
            </a:pPr>
            <a:r>
              <a:rPr lang="en-US" sz="800" dirty="0">
                <a:solidFill>
                  <a:srgbClr val="26313B"/>
                </a:solidFill>
                <a:latin typeface="Calibri" pitchFamily="34" charset="0"/>
                <a:ea typeface="Calibri" pitchFamily="34" charset="-122"/>
                <a:cs typeface="Calibri" pitchFamily="34" charset="-120"/>
              </a:rPr>
              <a:t>MH 59% · KA 28% · Goa 13%; Goa is smallest but highest win-rate (home market). </a:t>
            </a:r>
            <a:pPr indent="0" marL="0">
              <a:lnSpc>
                <a:spcPct val="102000"/>
              </a:lnSpc>
              <a:buNone/>
            </a:pPr>
            <a:r>
              <a:rPr lang="en-US" sz="800" b="1" dirty="0">
                <a:solidFill>
                  <a:srgbClr val="0B2E4F"/>
                </a:solidFill>
                <a:latin typeface="Calibri" pitchFamily="34" charset="0"/>
                <a:ea typeface="Calibri" pitchFamily="34" charset="-122"/>
                <a:cs typeface="Calibri" pitchFamily="34" charset="-120"/>
              </a:rPr>
              <a:t>Formula: </a:t>
            </a:r>
            <a:pPr indent="0" marL="0">
              <a:lnSpc>
                <a:spcPct val="102000"/>
              </a:lnSpc>
              <a:buNone/>
            </a:pPr>
            <a:r>
              <a:rPr lang="en-US" sz="800" dirty="0">
                <a:solidFill>
                  <a:srgbClr val="26313B"/>
                </a:solidFill>
                <a:latin typeface="Calibri" pitchFamily="34" charset="0"/>
                <a:ea typeface="Calibri" pitchFamily="34" charset="-122"/>
                <a:cs typeface="Calibri" pitchFamily="34" charset="-120"/>
              </a:rPr>
              <a:t>units x %lacking x fit x conversion x ticket, per segment per state (p.9).</a:t>
            </a:r>
            <a:endParaRPr lang="en-US" sz="800" dirty="0"/>
          </a:p>
        </p:txBody>
      </p:sp>
      <p:sp>
        <p:nvSpPr>
          <p:cNvPr id="15" name="Text 13"/>
          <p:cNvSpPr txBox="1"/>
          <p:nvPr/>
        </p:nvSpPr>
        <p:spPr>
          <a:xfrm>
            <a:off x="4709160" y="1188720"/>
            <a:ext cx="3246120"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SAM by segment, ₹cr/yr</a:t>
            </a:r>
            <a:endParaRPr lang="en-US" sz="1100" dirty="0"/>
          </a:p>
        </p:txBody>
      </p:sp>
      <p:graphicFrame>
        <p:nvGraphicFramePr>
          <p:cNvPr id="16" name="Chart 0" descr=""/>
          <p:cNvGraphicFramePr/>
          <p:nvPr/>
        </p:nvGraphicFramePr>
        <p:xfrm>
          <a:off x="4709160" y="1408176"/>
          <a:ext cx="3246120" cy="210312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4709160" y="3566160"/>
            <a:ext cx="3246120" cy="566928"/>
          </a:xfrm>
          <a:prstGeom prst="rect">
            <a:avLst/>
          </a:prstGeom>
          <a:noFill/>
          <a:ln/>
        </p:spPr>
        <p:txBody>
          <a:bodyPr wrap="square" lIns="0" tIns="0" rIns="0" bIns="0" rtlCol="0" anchor="ctr"/>
          <a:lstStyle/>
          <a:p>
            <a:pPr indent="0" marL="0">
              <a:lnSpc>
                <a:spcPct val="104000"/>
              </a:lnSpc>
              <a:buNone/>
            </a:pPr>
            <a:r>
              <a:rPr lang="en-US" sz="800" dirty="0">
                <a:solidFill>
                  <a:srgbClr val="26313B"/>
                </a:solidFill>
                <a:latin typeface="Calibri" pitchFamily="34" charset="0"/>
                <a:ea typeface="Calibri" pitchFamily="34" charset="-122"/>
                <a:cs typeface="Calibri" pitchFamily="34" charset="-120"/>
              </a:rPr>
              <a:t>Developers dominate value but pay slowly: </a:t>
            </a:r>
            <a:pPr indent="0" marL="0">
              <a:lnSpc>
                <a:spcPct val="104000"/>
              </a:lnSpc>
              <a:buNone/>
            </a:pPr>
            <a:r>
              <a:rPr lang="en-US" sz="800" b="1" dirty="0">
                <a:solidFill>
                  <a:srgbClr val="0B2E4F"/>
                </a:solidFill>
                <a:latin typeface="Calibri" pitchFamily="34" charset="0"/>
                <a:ea typeface="Calibri" pitchFamily="34" charset="-122"/>
                <a:cs typeface="Calibri" pitchFamily="34" charset="-120"/>
              </a:rPr>
              <a:t>SOM tilts to hotels &amp; hospitals first; </a:t>
            </a:r>
            <a:pPr indent="0" marL="0">
              <a:lnSpc>
                <a:spcPct val="104000"/>
              </a:lnSpc>
              <a:buNone/>
            </a:pPr>
            <a:r>
              <a:rPr lang="en-US" sz="800" dirty="0">
                <a:solidFill>
                  <a:srgbClr val="26313B"/>
                </a:solidFill>
                <a:latin typeface="Calibri" pitchFamily="34" charset="0"/>
                <a:ea typeface="Calibri" pitchFamily="34" charset="-122"/>
                <a:cs typeface="Calibri" pitchFamily="34" charset="-120"/>
              </a:rPr>
              <a:t>developer exposure capped at 25% of order book.</a:t>
            </a:r>
            <a:endParaRPr lang="en-US" sz="800" dirty="0"/>
          </a:p>
        </p:txBody>
      </p:sp>
      <p:sp>
        <p:nvSpPr>
          <p:cNvPr id="18" name="Text 15"/>
          <p:cNvSpPr txBox="1"/>
          <p:nvPr/>
        </p:nvSpPr>
        <p:spPr>
          <a:xfrm>
            <a:off x="8275320" y="1188720"/>
            <a:ext cx="3410712"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Scenarios &amp; key sensitivities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75320" y="1408176"/>
          <a:ext cx="3410712" cy="914400"/>
        </p:xfrm>
        <a:graphic>
          <a:graphicData uri="http://schemas.openxmlformats.org/drawingml/2006/table">
            <a:tbl>
              <a:tblPr/>
              <a:tblGrid>
                <a:gridCol w="1490472"/>
                <a:gridCol w="640080"/>
                <a:gridCol w="640080"/>
                <a:gridCol w="640080"/>
              </a:tblGrid>
              <a:tr h="0">
                <a:tc>
                  <a:txBody>
                    <a:bodyPr/>
                    <a:lstStyle/>
                    <a:p>
                      <a:pPr algn="l" indent="0" marL="0">
                        <a:buNone/>
                      </a:pPr>
                      <a:r>
                        <a:rPr lang="en-US" sz="780" b="1" dirty="0">
                          <a:solidFill>
                            <a:srgbClr val="FFFFFF"/>
                          </a:solidFill>
                          <a:latin typeface="Calibri" pitchFamily="34" charset="0"/>
                          <a:ea typeface="Calibri" pitchFamily="34" charset="-122"/>
                          <a:cs typeface="Calibri" pitchFamily="34" charset="-120"/>
                        </a:rPr>
                        <a:t>FY29, ₹cr</a:t>
                      </a:r>
                      <a:endParaRPr lang="en-US" sz="7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80" b="1" dirty="0">
                          <a:solidFill>
                            <a:srgbClr val="FFFFFF"/>
                          </a:solidFill>
                          <a:latin typeface="Calibri" pitchFamily="34" charset="0"/>
                          <a:ea typeface="Calibri" pitchFamily="34" charset="-122"/>
                          <a:cs typeface="Calibri" pitchFamily="34" charset="-120"/>
                        </a:rPr>
                        <a:t>Cons.</a:t>
                      </a:r>
                      <a:endParaRPr lang="en-US" sz="7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80" b="1" dirty="0">
                          <a:solidFill>
                            <a:srgbClr val="FFFFFF"/>
                          </a:solidFill>
                          <a:latin typeface="Calibri" pitchFamily="34" charset="0"/>
                          <a:ea typeface="Calibri" pitchFamily="34" charset="-122"/>
                          <a:cs typeface="Calibri" pitchFamily="34" charset="-120"/>
                        </a:rPr>
                        <a:t>Base</a:t>
                      </a:r>
                      <a:endParaRPr lang="en-US" sz="7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80" b="1" dirty="0">
                          <a:solidFill>
                            <a:srgbClr val="FFFFFF"/>
                          </a:solidFill>
                          <a:latin typeface="Calibri" pitchFamily="34" charset="0"/>
                          <a:ea typeface="Calibri" pitchFamily="34" charset="-122"/>
                          <a:cs typeface="Calibri" pitchFamily="34" charset="-120"/>
                        </a:rPr>
                        <a:t>Upside</a:t>
                      </a:r>
                      <a:endParaRPr lang="en-US" sz="7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r>
              <a:tr h="0">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Total revenue</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780" dirty="0">
                          <a:solidFill>
                            <a:srgbClr val="26313B"/>
                          </a:solidFill>
                          <a:latin typeface="Calibri" pitchFamily="34" charset="0"/>
                          <a:ea typeface="Calibri" pitchFamily="34" charset="-122"/>
                          <a:cs typeface="Calibri" pitchFamily="34" charset="-120"/>
                        </a:rPr>
                        <a:t>22.1</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780" b="1" dirty="0">
                          <a:solidFill>
                            <a:srgbClr val="26313B"/>
                          </a:solidFill>
                          <a:latin typeface="Calibri" pitchFamily="34" charset="0"/>
                          <a:ea typeface="Calibri" pitchFamily="34" charset="-122"/>
                          <a:cs typeface="Calibri" pitchFamily="34" charset="-120"/>
                        </a:rPr>
                        <a:t>25.4</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c>
                  <a:txBody>
                    <a:bodyPr/>
                    <a:lstStyle/>
                    <a:p>
                      <a:pPr algn="ctr" indent="0" marL="0">
                        <a:buNone/>
                      </a:pPr>
                      <a:r>
                        <a:rPr lang="en-US" sz="780" dirty="0">
                          <a:solidFill>
                            <a:srgbClr val="26313B"/>
                          </a:solidFill>
                          <a:latin typeface="Calibri" pitchFamily="34" charset="0"/>
                          <a:ea typeface="Calibri" pitchFamily="34" charset="-122"/>
                          <a:cs typeface="Calibri" pitchFamily="34" charset="-120"/>
                        </a:rPr>
                        <a:t>29.3</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Cum. new rev. FY27-29</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780" dirty="0">
                          <a:solidFill>
                            <a:srgbClr val="26313B"/>
                          </a:solidFill>
                          <a:latin typeface="Calibri" pitchFamily="34" charset="0"/>
                          <a:ea typeface="Calibri" pitchFamily="34" charset="-122"/>
                          <a:cs typeface="Calibri" pitchFamily="34" charset="-120"/>
                        </a:rPr>
                        <a:t>15.0</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780" b="1" dirty="0">
                          <a:solidFill>
                            <a:srgbClr val="26313B"/>
                          </a:solidFill>
                          <a:latin typeface="Calibri" pitchFamily="34" charset="0"/>
                          <a:ea typeface="Calibri" pitchFamily="34" charset="-122"/>
                          <a:cs typeface="Calibri" pitchFamily="34" charset="-120"/>
                        </a:rPr>
                        <a:t>20.7</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c>
                  <a:txBody>
                    <a:bodyPr/>
                    <a:lstStyle/>
                    <a:p>
                      <a:pPr algn="ctr" indent="0" marL="0">
                        <a:buNone/>
                      </a:pPr>
                      <a:r>
                        <a:rPr lang="en-US" sz="780" dirty="0">
                          <a:solidFill>
                            <a:srgbClr val="26313B"/>
                          </a:solidFill>
                          <a:latin typeface="Calibri" pitchFamily="34" charset="0"/>
                          <a:ea typeface="Calibri" pitchFamily="34" charset="-122"/>
                          <a:cs typeface="Calibri" pitchFamily="34" charset="-120"/>
                        </a:rPr>
                        <a:t>27.6</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Cum. total rev. FY27-29</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780" dirty="0">
                          <a:solidFill>
                            <a:srgbClr val="26313B"/>
                          </a:solidFill>
                          <a:latin typeface="Calibri" pitchFamily="34" charset="0"/>
                          <a:ea typeface="Calibri" pitchFamily="34" charset="-122"/>
                          <a:cs typeface="Calibri" pitchFamily="34" charset="-120"/>
                        </a:rPr>
                        <a:t>53.7</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780" b="1" dirty="0">
                          <a:solidFill>
                            <a:srgbClr val="26313B"/>
                          </a:solidFill>
                          <a:latin typeface="Calibri" pitchFamily="34" charset="0"/>
                          <a:ea typeface="Calibri" pitchFamily="34" charset="-122"/>
                          <a:cs typeface="Calibri" pitchFamily="34" charset="-120"/>
                        </a:rPr>
                        <a:t>59.4</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c>
                  <a:txBody>
                    <a:bodyPr/>
                    <a:lstStyle/>
                    <a:p>
                      <a:pPr algn="ctr" indent="0" marL="0">
                        <a:buNone/>
                      </a:pPr>
                      <a:r>
                        <a:rPr lang="en-US" sz="780" dirty="0">
                          <a:solidFill>
                            <a:srgbClr val="26313B"/>
                          </a:solidFill>
                          <a:latin typeface="Calibri" pitchFamily="34" charset="0"/>
                          <a:ea typeface="Calibri" pitchFamily="34" charset="-122"/>
                          <a:cs typeface="Calibri" pitchFamily="34" charset="-120"/>
                        </a:rPr>
                        <a:t>66.3</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bl>
          </a:graphicData>
        </a:graphic>
      </p:graphicFrame>
      <p:sp>
        <p:nvSpPr>
          <p:cNvPr id="20" name="Text 16"/>
          <p:cNvSpPr txBox="1"/>
          <p:nvPr/>
        </p:nvSpPr>
        <p:spPr>
          <a:xfrm>
            <a:off x="8275320" y="2560320"/>
            <a:ext cx="3410712" cy="1417320"/>
          </a:xfrm>
          <a:prstGeom prst="rect">
            <a:avLst/>
          </a:prstGeom>
          <a:noFill/>
          <a:ln/>
        </p:spPr>
        <p:txBody>
          <a:bodyPr wrap="square" lIns="0" tIns="0" rIns="0" bIns="0" rtlCol="0" anchor="ctr"/>
          <a:lstStyle/>
          <a:p>
            <a:pPr indent="0" marL="0">
              <a:lnSpc>
                <a:spcPct val="105000"/>
              </a:lnSpc>
              <a:buNone/>
            </a:pPr>
            <a:r>
              <a:rPr lang="en-US" sz="800" b="1" dirty="0">
                <a:solidFill>
                  <a:srgbClr val="0B2E4F"/>
                </a:solidFill>
                <a:latin typeface="Calibri" pitchFamily="34" charset="0"/>
                <a:ea typeface="Calibri" pitchFamily="34" charset="-122"/>
                <a:cs typeface="Calibri" pitchFamily="34" charset="-120"/>
              </a:rPr>
              <a:t>Swing factors: </a:t>
            </a:r>
            <a:pPr indent="0" marL="0">
              <a:lnSpc>
                <a:spcPct val="105000"/>
              </a:lnSpc>
              <a:buNone/>
            </a:pPr>
            <a:r>
              <a:rPr lang="en-US" sz="800" dirty="0">
                <a:solidFill>
                  <a:srgbClr val="26313B"/>
                </a:solidFill>
                <a:latin typeface="Calibri" pitchFamily="34" charset="0"/>
                <a:ea typeface="Calibri" pitchFamily="34" charset="-122"/>
                <a:cs typeface="Calibri" pitchFamily="34" charset="-120"/>
              </a:rPr>
              <a:t>hotel conversion 6→10%/yr (±₹9 cr TAM); developer STP-trigger share 15→25% (±₹35 cr); win-rate 15→25%. Checks: FY29 needs 34 installs/yr (5 crews, feasible); receivables at 75 DSO = ₹5.2 cr vs net worth &gt;₹12 cr.</a:t>
            </a:r>
            <a:endParaRPr lang="en-US" sz="800" dirty="0"/>
          </a:p>
        </p:txBody>
      </p:sp>
      <p:sp>
        <p:nvSpPr>
          <p:cNvPr id="21" name="Text 17"/>
          <p:cNvSpPr txBox="1"/>
          <p:nvPr/>
        </p:nvSpPr>
        <p:spPr>
          <a:xfrm>
            <a:off x="502920" y="3877056"/>
            <a:ext cx="8229600"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Competitor &amp; technology landscape (researched)</a:t>
            </a:r>
            <a:endParaRPr lang="en-US" sz="11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02920" y="4114800"/>
          <a:ext cx="11183112" cy="914400"/>
        </p:xfrm>
        <a:graphic>
          <a:graphicData uri="http://schemas.openxmlformats.org/drawingml/2006/table">
            <a:tbl>
              <a:tblPr/>
              <a:tblGrid>
                <a:gridCol w="1417320"/>
                <a:gridCol w="2240280"/>
                <a:gridCol w="2331720"/>
                <a:gridCol w="2103120"/>
                <a:gridCol w="3090672"/>
              </a:tblGrid>
              <a:tr h="0">
                <a:tc>
                  <a:txBody>
                    <a:bodyPr/>
                    <a:lstStyle/>
                    <a:p>
                      <a:pPr algn="l" indent="0" marL="0">
                        <a:buNone/>
                      </a:pPr>
                      <a:r>
                        <a:rPr lang="en-US" sz="760" b="1" dirty="0">
                          <a:solidFill>
                            <a:srgbClr val="FFFFFF"/>
                          </a:solidFill>
                          <a:latin typeface="Calibri" pitchFamily="34" charset="0"/>
                          <a:ea typeface="Calibri" pitchFamily="34" charset="-122"/>
                          <a:cs typeface="Calibri" pitchFamily="34" charset="-120"/>
                        </a:rPr>
                        <a:t>Player</a:t>
                      </a:r>
                      <a:endParaRPr lang="en-US" sz="76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l" indent="0" marL="0">
                        <a:buNone/>
                      </a:pPr>
                      <a:r>
                        <a:rPr lang="en-US" sz="760" b="1" dirty="0">
                          <a:solidFill>
                            <a:srgbClr val="FFFFFF"/>
                          </a:solidFill>
                          <a:latin typeface="Calibri" pitchFamily="34" charset="0"/>
                          <a:ea typeface="Calibri" pitchFamily="34" charset="-122"/>
                          <a:cs typeface="Calibri" pitchFamily="34" charset="-120"/>
                        </a:rPr>
                        <a:t>Technology</a:t>
                      </a:r>
                      <a:endParaRPr lang="en-US" sz="76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l" indent="0" marL="0">
                        <a:buNone/>
                      </a:pPr>
                      <a:r>
                        <a:rPr lang="en-US" sz="760" b="1" dirty="0">
                          <a:solidFill>
                            <a:srgbClr val="FFFFFF"/>
                          </a:solidFill>
                          <a:latin typeface="Calibri" pitchFamily="34" charset="0"/>
                          <a:ea typeface="Calibri" pitchFamily="34" charset="-122"/>
                          <a:cs typeface="Calibri" pitchFamily="34" charset="-120"/>
                        </a:rPr>
                        <a:t>Focus &amp; scale</a:t>
                      </a:r>
                      <a:endParaRPr lang="en-US" sz="76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l" indent="0" marL="0">
                        <a:buNone/>
                      </a:pPr>
                      <a:r>
                        <a:rPr lang="en-US" sz="760" b="1" dirty="0">
                          <a:solidFill>
                            <a:srgbClr val="FFFFFF"/>
                          </a:solidFill>
                          <a:latin typeface="Calibri" pitchFamily="34" charset="0"/>
                          <a:ea typeface="Calibri" pitchFamily="34" charset="-122"/>
                          <a:cs typeface="Calibri" pitchFamily="34" charset="-120"/>
                        </a:rPr>
                        <a:t>Presence</a:t>
                      </a:r>
                      <a:endParaRPr lang="en-US" sz="76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l" indent="0" marL="0">
                        <a:buNone/>
                      </a:pPr>
                      <a:r>
                        <a:rPr lang="en-US" sz="760" b="1" dirty="0">
                          <a:solidFill>
                            <a:srgbClr val="FFFFFF"/>
                          </a:solidFill>
                          <a:latin typeface="Calibri" pitchFamily="34" charset="0"/>
                          <a:ea typeface="Calibri" pitchFamily="34" charset="-122"/>
                          <a:cs typeface="Calibri" pitchFamily="34" charset="-120"/>
                        </a:rPr>
                        <a:t>Whitespace EPBL exploits</a:t>
                      </a:r>
                      <a:endParaRPr lang="en-US" sz="76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r>
              <a:tr h="0">
                <a:tc>
                  <a:txBody>
                    <a:bodyPr/>
                    <a:lstStyle/>
                    <a:p>
                      <a:pPr algn="l" indent="0" marL="0">
                        <a:buNone/>
                      </a:pPr>
                      <a:r>
                        <a:rPr lang="en-US" sz="720" b="1" dirty="0">
                          <a:solidFill>
                            <a:srgbClr val="26313B"/>
                          </a:solidFill>
                          <a:latin typeface="Calibri" pitchFamily="34" charset="0"/>
                          <a:ea typeface="Calibri" pitchFamily="34" charset="-122"/>
                          <a:cs typeface="Calibri" pitchFamily="34" charset="-120"/>
                        </a:rPr>
                        <a:t>Daiki Axis India</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Johkasou FRP capsule, 1-50 KLD</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Villas, hotels, institutions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Pan-India dealers; ₹200 cr Tumakuru (KA) plant announced</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Dealer-led premium import; thin local turnkey-civil + AMC depth</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26313B"/>
                          </a:solidFill>
                          <a:latin typeface="Calibri" pitchFamily="34" charset="0"/>
                          <a:ea typeface="Calibri" pitchFamily="34" charset="-122"/>
                          <a:cs typeface="Calibri" pitchFamily="34" charset="-120"/>
                        </a:rPr>
                        <a:t>Ion Exchange</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INDION packaged, SBR, MBR</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SME to municipal, all scales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Pan-India partner network</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Small jobs routed to partners, little direct engineering attention</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26313B"/>
                          </a:solidFill>
                          <a:latin typeface="Calibri" pitchFamily="34" charset="0"/>
                          <a:ea typeface="Calibri" pitchFamily="34" charset="-122"/>
                          <a:cs typeface="Calibri" pitchFamily="34" charset="-120"/>
                        </a:rPr>
                        <a:t>Thermax</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FabX MBBR, BioCask packaged, custom ETP</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Industrial &amp; large commercial; &gt;1 MLD sweet spot</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Pan-India</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10-50 KLD packaged sold via 3rd-party distributors, not a focus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26313B"/>
                          </a:solidFill>
                          <a:latin typeface="Calibri" pitchFamily="34" charset="0"/>
                          <a:ea typeface="Calibri" pitchFamily="34" charset="-122"/>
                          <a:cs typeface="Calibri" pitchFamily="34" charset="-120"/>
                        </a:rPr>
                        <a:t>Banka BioLoo</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DRDO-inoculum bio-toilets, STP, FSM</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Railways, institutions (₹56.5 cr rev.)</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Pan-India, Hyderabad base</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Rail-centric; weak west-coast hospitality presence</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26313B"/>
                          </a:solidFill>
                          <a:latin typeface="Calibri" pitchFamily="34" charset="0"/>
                          <a:ea typeface="Calibri" pitchFamily="34" charset="-122"/>
                          <a:cs typeface="Calibri" pitchFamily="34" charset="-120"/>
                        </a:rPr>
                        <a:t>SUSBIO (Pune)</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ECOTREAT anaerobic + MBBR FRP, 1-500 KLD</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Hotels, resorts; from ₹35k/KLD, 3-5 day install</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Maharashtra &amp; west</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Sharpest rival: match its speed; beat it on Goa/KA service + certification</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26313B"/>
                          </a:solidFill>
                          <a:latin typeface="Calibri" pitchFamily="34" charset="0"/>
                          <a:ea typeface="Calibri" pitchFamily="34" charset="-122"/>
                          <a:cs typeface="Calibri" pitchFamily="34" charset="-120"/>
                        </a:rPr>
                        <a:t>Netsol / Kelvin (NCR)</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MBBR / MBR / SBR fabrication</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Commercial &amp; industrial</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Pan-India claims; no verified GA/MH/KA installs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Remote AMC response; local 24-48h service wins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26313B"/>
                          </a:solidFill>
                          <a:latin typeface="Calibri" pitchFamily="34" charset="0"/>
                          <a:ea typeface="Calibri" pitchFamily="34" charset="-122"/>
                          <a:cs typeface="Calibri" pitchFamily="34" charset="-120"/>
                        </a:rPr>
                        <a:t>CDD Society / Boson</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DEWATS nature-based; STP-water polishing + IoT (WaaS)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Communities; Bengaluru apartments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Karnataka base</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Adjacent models to learn from (reuse, WaaS), not plant rivals in Tier 2/3</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bl>
          </a:graphicData>
        </a:graphic>
      </p:graphicFrame>
      <p:sp>
        <p:nvSpPr>
          <p:cNvPr id="23" name="Shape 18"/>
          <p:cNvSpPr/>
          <p:nvPr/>
        </p:nvSpPr>
        <p:spPr>
          <a:xfrm>
            <a:off x="502920" y="5998464"/>
            <a:ext cx="11183112" cy="420624"/>
          </a:xfrm>
          <a:prstGeom prst="roundRect">
            <a:avLst>
              <a:gd name="adj" fmla="val 11957"/>
            </a:avLst>
          </a:prstGeom>
          <a:solidFill>
            <a:srgbClr val="0B2E4F"/>
          </a:solidFill>
          <a:ln/>
        </p:spPr>
      </p:sp>
      <p:sp>
        <p:nvSpPr>
          <p:cNvPr id="24" name="Text 19"/>
          <p:cNvSpPr txBox="1"/>
          <p:nvPr/>
        </p:nvSpPr>
        <p:spPr>
          <a:xfrm>
            <a:off x="704088" y="5998464"/>
            <a:ext cx="10780776" cy="420624"/>
          </a:xfrm>
          <a:prstGeom prst="rect">
            <a:avLst/>
          </a:prstGeom>
          <a:noFill/>
          <a:ln/>
        </p:spPr>
        <p:txBody>
          <a:bodyPr wrap="square" lIns="0" tIns="0" rIns="0" bIns="0" rtlCol="0" anchor="ctr"/>
          <a:lstStyle/>
          <a:p>
            <a:pPr indent="0" marL="0">
              <a:lnSpc>
                <a:spcPct val="103000"/>
              </a:lnSpc>
              <a:buNone/>
            </a:pPr>
            <a:r>
              <a:rPr lang="en-US" sz="1050" b="1" spc="150" kern="0" dirty="0">
                <a:solidFill>
                  <a:srgbClr val="D98E1F"/>
                </a:solidFill>
                <a:latin typeface="Calibri" pitchFamily="34" charset="0"/>
                <a:ea typeface="Calibri" pitchFamily="34" charset="-122"/>
                <a:cs typeface="Calibri" pitchFamily="34" charset="-120"/>
              </a:rPr>
              <a:t>POSITIONING   </a:t>
            </a:r>
            <a:pPr indent="0" marL="0">
              <a:lnSpc>
                <a:spcPct val="103000"/>
              </a:lnSpc>
              <a:buNone/>
            </a:pPr>
            <a:r>
              <a:rPr lang="en-US" sz="1100" dirty="0">
                <a:solidFill>
                  <a:srgbClr val="FFFFFF"/>
                </a:solidFill>
                <a:latin typeface="Calibri" pitchFamily="34" charset="0"/>
                <a:ea typeface="Calibri" pitchFamily="34" charset="-122"/>
                <a:cs typeface="Calibri" pitchFamily="34" charset="-120"/>
              </a:rPr>
              <a:t>EPBL, the west-coast compliance partner: in-state FRP manufacturing, DRDO-certified ToT, MBBR/SBR/MBR + ozone range, 24-48h corridor service; sold on audited compliance and lifecycle cost, not lowest capex.</a:t>
            </a:r>
            <a:endParaRPr lang="en-US" sz="1050" dirty="0"/>
          </a:p>
        </p:txBody>
      </p:sp>
      <p:sp>
        <p:nvSpPr>
          <p:cNvPr id="25" name="Text 20"/>
          <p:cNvSpPr txBox="1"/>
          <p:nvPr/>
        </p:nvSpPr>
        <p:spPr>
          <a:xfrm>
            <a:off x="502920" y="6473952"/>
            <a:ext cx="9692640" cy="310896"/>
          </a:xfrm>
          <a:prstGeom prst="rect">
            <a:avLst/>
          </a:prstGeom>
          <a:noFill/>
          <a:ln/>
        </p:spPr>
        <p:txBody>
          <a:bodyPr wrap="square" lIns="0" tIns="0" rIns="0" bIns="0" rtlCol="0" anchor="t"/>
          <a:lstStyle/>
          <a:p>
            <a:pPr indent="0" marL="0">
              <a:lnSpc>
                <a:spcPct val="100000"/>
              </a:lnSpc>
              <a:buNone/>
            </a:pPr>
            <a:r>
              <a:rPr lang="en-US" sz="800" dirty="0">
                <a:solidFill>
                  <a:srgbClr val="8A959E"/>
                </a:solidFill>
                <a:latin typeface="Calibri" pitchFamily="34" charset="0"/>
                <a:ea typeface="Calibri" pitchFamily="34" charset="-122"/>
                <a:cs typeface="Calibri" pitchFamily="34" charset="-120"/>
              </a:rPr>
              <a:t>Sources: CPCB STP Inventory 2021; Goa Tourism 2024; HVS-ANAROCK 2024; MahaRERA (Construction World, 2025); 99acres RERA counts; BMW Rules 2016; company sites: daikiaxis.in, ionexchangeglobal.com, thermaxglobal.com, susbio.in, netsolwater.com, cddindia.org; Screener (Banka). Full URLs p.8; model assumptions p.9.</a:t>
            </a:r>
            <a:endParaRPr lang="en-US" sz="800" dirty="0"/>
          </a:p>
        </p:txBody>
      </p:sp>
      <p:sp>
        <p:nvSpPr>
          <p:cNvPr id="26" name="Text 21"/>
          <p:cNvSpPr txBox="1"/>
          <p:nvPr/>
        </p:nvSpPr>
        <p:spPr>
          <a:xfrm>
            <a:off x="10378440" y="6510528"/>
            <a:ext cx="1325880" cy="237744"/>
          </a:xfrm>
          <a:prstGeom prst="rect">
            <a:avLst/>
          </a:prstGeom>
          <a:noFill/>
          <a:ln/>
        </p:spPr>
        <p:txBody>
          <a:bodyPr wrap="square" lIns="0" tIns="0" rIns="0" bIns="0" rtlCol="0" anchor="ctr"/>
          <a:lstStyle/>
          <a:p>
            <a:pPr algn="r" indent="0" marL="0">
              <a:buNone/>
            </a:pPr>
            <a:r>
              <a:rPr lang="en-US" sz="800" dirty="0">
                <a:solidFill>
                  <a:srgbClr val="8A959E"/>
                </a:solidFill>
                <a:latin typeface="Calibri" pitchFamily="34" charset="0"/>
                <a:ea typeface="Calibri" pitchFamily="34" charset="-122"/>
                <a:cs typeface="Calibri" pitchFamily="34" charset="-120"/>
              </a:rPr>
              <a:t>Team Wookies</a:t>
            </a:r>
            <a:pPr algn="r" indent="0" marL="0">
              <a:buNone/>
            </a:pPr>
            <a:r>
              <a:rPr lang="en-US" sz="900" b="1" dirty="0">
                <a:solidFill>
                  <a:srgbClr val="5D6A75"/>
                </a:solidFill>
                <a:latin typeface="Calibri" pitchFamily="34" charset="0"/>
                <a:ea typeface="Calibri" pitchFamily="34" charset="-122"/>
                <a:cs typeface="Calibri" pitchFamily="34" charset="-120"/>
              </a:rPr>
              <a:t>   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83112" cy="256032"/>
          </a:xfrm>
          <a:prstGeom prst="rect">
            <a:avLst/>
          </a:prstGeom>
          <a:noFill/>
          <a:ln/>
        </p:spPr>
        <p:txBody>
          <a:bodyPr wrap="square" lIns="0" tIns="0" rIns="0" bIns="0" rtlCol="0" anchor="ctr"/>
          <a:lstStyle/>
          <a:p>
            <a:pPr indent="0" marL="0">
              <a:buNone/>
            </a:pPr>
            <a:r>
              <a:rPr lang="en-US" sz="1050" b="1" spc="200" kern="0" dirty="0">
                <a:solidFill>
                  <a:srgbClr val="0E7C7B"/>
                </a:solidFill>
                <a:latin typeface="Calibri" pitchFamily="34" charset="0"/>
                <a:ea typeface="Calibri" pitchFamily="34" charset="-122"/>
                <a:cs typeface="Calibri" pitchFamily="34" charset="-120"/>
              </a:rPr>
              <a:t>DELIVERABLE 2B | THREE-YEAR GO-TO-MARKET ROADMAP</a:t>
            </a:r>
            <a:endParaRPr lang="en-US" sz="1050" dirty="0"/>
          </a:p>
        </p:txBody>
      </p:sp>
      <p:sp>
        <p:nvSpPr>
          <p:cNvPr id="3" name="Text 1"/>
          <p:cNvSpPr txBox="1"/>
          <p:nvPr/>
        </p:nvSpPr>
        <p:spPr>
          <a:xfrm>
            <a:off x="502920" y="512064"/>
            <a:ext cx="11183112" cy="566928"/>
          </a:xfrm>
          <a:prstGeom prst="rect">
            <a:avLst/>
          </a:prstGeom>
          <a:noFill/>
          <a:ln/>
        </p:spPr>
        <p:txBody>
          <a:bodyPr wrap="square" lIns="0" tIns="0" rIns="0" bIns="0" rtlCol="0" anchor="ctr"/>
          <a:lstStyle/>
          <a:p>
            <a:pPr indent="0" marL="0">
              <a:lnSpc>
                <a:spcPct val="102000"/>
              </a:lnSpc>
              <a:buNone/>
            </a:pPr>
            <a:r>
              <a:rPr lang="en-US" sz="2000" b="1" dirty="0">
                <a:solidFill>
                  <a:srgbClr val="0B2E4F"/>
                </a:solidFill>
                <a:latin typeface="Calibri" pitchFamily="34" charset="0"/>
                <a:ea typeface="Calibri" pitchFamily="34" charset="-122"/>
                <a:cs typeface="Calibri" pitchFamily="34" charset="-120"/>
              </a:rPr>
              <a:t>Corridor by corridor, gated by service quality and cash: ₹11.7 cr → ₹25.4 cr by FY29</a:t>
            </a:r>
            <a:endParaRPr lang="en-US" sz="2000" dirty="0"/>
          </a:p>
        </p:txBody>
      </p:sp>
      <p:sp>
        <p:nvSpPr>
          <p:cNvPr id="4" name="Shape 2"/>
          <p:cNvSpPr/>
          <p:nvPr/>
        </p:nvSpPr>
        <p:spPr>
          <a:xfrm>
            <a:off x="502920" y="1188720"/>
            <a:ext cx="3456432" cy="2798064"/>
          </a:xfrm>
          <a:prstGeom prst="roundRect">
            <a:avLst>
              <a:gd name="adj" fmla="val 1961"/>
            </a:avLst>
          </a:prstGeom>
          <a:solidFill>
            <a:srgbClr val="F2F5F7"/>
          </a:solidFill>
          <a:ln w="9525">
            <a:solidFill>
              <a:srgbClr val="C9D3DA"/>
            </a:solidFill>
            <a:prstDash val="solid"/>
          </a:ln>
        </p:spPr>
      </p:sp>
      <p:sp>
        <p:nvSpPr>
          <p:cNvPr id="5" name="Shape 3"/>
          <p:cNvSpPr/>
          <p:nvPr/>
        </p:nvSpPr>
        <p:spPr>
          <a:xfrm>
            <a:off x="502920" y="1188720"/>
            <a:ext cx="3456432" cy="384048"/>
          </a:xfrm>
          <a:prstGeom prst="roundRect">
            <a:avLst>
              <a:gd name="adj" fmla="val 14286"/>
            </a:avLst>
          </a:prstGeom>
          <a:solidFill>
            <a:srgbClr val="0E7C7B"/>
          </a:solidFill>
          <a:ln/>
        </p:spPr>
      </p:sp>
      <p:sp>
        <p:nvSpPr>
          <p:cNvPr id="6" name="Text 4"/>
          <p:cNvSpPr txBox="1"/>
          <p:nvPr/>
        </p:nvSpPr>
        <p:spPr>
          <a:xfrm>
            <a:off x="630936" y="1188720"/>
            <a:ext cx="3200400" cy="384048"/>
          </a:xfrm>
          <a:prstGeom prst="rect">
            <a:avLst/>
          </a:prstGeom>
          <a:noFill/>
          <a:ln/>
        </p:spPr>
        <p:txBody>
          <a:bodyPr wrap="square" lIns="0" tIns="0" rIns="0" bIns="0" rtlCol="0" anchor="ctr"/>
          <a:lstStyle/>
          <a:p>
            <a:pPr indent="0" marL="0">
              <a:buNone/>
            </a:pPr>
            <a:r>
              <a:rPr lang="en-US" sz="850" b="1" dirty="0">
                <a:solidFill>
                  <a:srgbClr val="D9E6EC"/>
                </a:solidFill>
                <a:latin typeface="Calibri" pitchFamily="34" charset="0"/>
                <a:ea typeface="Calibri" pitchFamily="34" charset="-122"/>
                <a:cs typeface="Calibri" pitchFamily="34" charset="-120"/>
              </a:rPr>
              <a:t>PHASE 1 · FY27   </a:t>
            </a:r>
            <a:pPr indent="0" marL="0">
              <a:buNone/>
            </a:pPr>
            <a:r>
              <a:rPr lang="en-US" sz="1050" b="1" dirty="0">
                <a:solidFill>
                  <a:srgbClr val="FFFFFF"/>
                </a:solidFill>
                <a:latin typeface="Calibri" pitchFamily="34" charset="0"/>
                <a:ea typeface="Calibri" pitchFamily="34" charset="-122"/>
                <a:cs typeface="Calibri" pitchFamily="34" charset="-120"/>
              </a:rPr>
              <a:t>Fortress Goa + Konkan</a:t>
            </a:r>
            <a:endParaRPr lang="en-US" sz="850" dirty="0"/>
          </a:p>
        </p:txBody>
      </p:sp>
      <p:sp>
        <p:nvSpPr>
          <p:cNvPr id="7" name="Text 5"/>
          <p:cNvSpPr txBox="1"/>
          <p:nvPr/>
        </p:nvSpPr>
        <p:spPr>
          <a:xfrm>
            <a:off x="630936" y="1645920"/>
            <a:ext cx="566928" cy="384048"/>
          </a:xfrm>
          <a:prstGeom prst="rect">
            <a:avLst/>
          </a:prstGeom>
          <a:noFill/>
          <a:ln/>
        </p:spPr>
        <p:txBody>
          <a:bodyPr wrap="square" lIns="0" tIns="0" rIns="0" bIns="0" rtlCol="0" anchor="t"/>
          <a:lstStyle/>
          <a:p>
            <a:pPr indent="0" marL="0">
              <a:buNone/>
            </a:pPr>
            <a:r>
              <a:rPr lang="en-US" sz="700" b="1" dirty="0">
                <a:solidFill>
                  <a:srgbClr val="0E7C7B"/>
                </a:solidFill>
                <a:latin typeface="Calibri" pitchFamily="34" charset="0"/>
                <a:ea typeface="Calibri" pitchFamily="34" charset="-122"/>
                <a:cs typeface="Calibri" pitchFamily="34" charset="-120"/>
              </a:rPr>
              <a:t>WHERE</a:t>
            </a:r>
            <a:endParaRPr lang="en-US" sz="700" dirty="0"/>
          </a:p>
        </p:txBody>
      </p:sp>
      <p:sp>
        <p:nvSpPr>
          <p:cNvPr id="8" name="Text 6"/>
          <p:cNvSpPr txBox="1"/>
          <p:nvPr/>
        </p:nvSpPr>
        <p:spPr>
          <a:xfrm>
            <a:off x="1234440" y="1645920"/>
            <a:ext cx="2578608" cy="384048"/>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Goa (all), Sindhudurg-Ratnagiri, Kolhapur, Belagavi (≤250 km of Bicholim)</a:t>
            </a:r>
            <a:endParaRPr lang="en-US" sz="740" dirty="0"/>
          </a:p>
        </p:txBody>
      </p:sp>
      <p:sp>
        <p:nvSpPr>
          <p:cNvPr id="9" name="Text 7"/>
          <p:cNvSpPr txBox="1"/>
          <p:nvPr/>
        </p:nvSpPr>
        <p:spPr>
          <a:xfrm>
            <a:off x="630936" y="2055571"/>
            <a:ext cx="566928" cy="256032"/>
          </a:xfrm>
          <a:prstGeom prst="rect">
            <a:avLst/>
          </a:prstGeom>
          <a:noFill/>
          <a:ln/>
        </p:spPr>
        <p:txBody>
          <a:bodyPr wrap="square" lIns="0" tIns="0" rIns="0" bIns="0" rtlCol="0" anchor="t"/>
          <a:lstStyle/>
          <a:p>
            <a:pPr indent="0" marL="0">
              <a:buNone/>
            </a:pPr>
            <a:r>
              <a:rPr lang="en-US" sz="700" b="1" dirty="0">
                <a:solidFill>
                  <a:srgbClr val="0E7C7B"/>
                </a:solidFill>
                <a:latin typeface="Calibri" pitchFamily="34" charset="0"/>
                <a:ea typeface="Calibri" pitchFamily="34" charset="-122"/>
                <a:cs typeface="Calibri" pitchFamily="34" charset="-120"/>
              </a:rPr>
              <a:t>WHO</a:t>
            </a:r>
            <a:endParaRPr lang="en-US" sz="700" dirty="0"/>
          </a:p>
        </p:txBody>
      </p:sp>
      <p:sp>
        <p:nvSpPr>
          <p:cNvPr id="10" name="Text 8"/>
          <p:cNvSpPr txBox="1"/>
          <p:nvPr/>
        </p:nvSpPr>
        <p:spPr>
          <a:xfrm>
            <a:off x="1234440" y="2055571"/>
            <a:ext cx="2578608" cy="256032"/>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Hoteliers first, hospitals, selective developers</a:t>
            </a:r>
            <a:endParaRPr lang="en-US" sz="740" dirty="0"/>
          </a:p>
        </p:txBody>
      </p:sp>
      <p:sp>
        <p:nvSpPr>
          <p:cNvPr id="11" name="Text 9"/>
          <p:cNvSpPr txBox="1"/>
          <p:nvPr/>
        </p:nvSpPr>
        <p:spPr>
          <a:xfrm>
            <a:off x="630936" y="2337206"/>
            <a:ext cx="566928" cy="457200"/>
          </a:xfrm>
          <a:prstGeom prst="rect">
            <a:avLst/>
          </a:prstGeom>
          <a:noFill/>
          <a:ln/>
        </p:spPr>
        <p:txBody>
          <a:bodyPr wrap="square" lIns="0" tIns="0" rIns="0" bIns="0" rtlCol="0" anchor="t"/>
          <a:lstStyle/>
          <a:p>
            <a:pPr indent="0" marL="0">
              <a:buNone/>
            </a:pPr>
            <a:r>
              <a:rPr lang="en-US" sz="700" b="1" dirty="0">
                <a:solidFill>
                  <a:srgbClr val="0E7C7B"/>
                </a:solidFill>
                <a:latin typeface="Calibri" pitchFamily="34" charset="0"/>
                <a:ea typeface="Calibri" pitchFamily="34" charset="-122"/>
                <a:cs typeface="Calibri" pitchFamily="34" charset="-120"/>
              </a:rPr>
              <a:t>SELL</a:t>
            </a:r>
            <a:endParaRPr lang="en-US" sz="700" dirty="0"/>
          </a:p>
        </p:txBody>
      </p:sp>
      <p:sp>
        <p:nvSpPr>
          <p:cNvPr id="12" name="Text 10"/>
          <p:cNvSpPr txBox="1"/>
          <p:nvPr/>
        </p:nvSpPr>
        <p:spPr>
          <a:xfrm>
            <a:off x="1234440" y="2337206"/>
            <a:ext cx="2578608" cy="457200"/>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10/25/50 KLD FRP packages; ₹25k compliance audit entry offer; bio-digester retail; STP Rescue retrofits</a:t>
            </a:r>
            <a:endParaRPr lang="en-US" sz="740" dirty="0"/>
          </a:p>
        </p:txBody>
      </p:sp>
      <p:sp>
        <p:nvSpPr>
          <p:cNvPr id="13" name="Text 11"/>
          <p:cNvSpPr txBox="1"/>
          <p:nvPr/>
        </p:nvSpPr>
        <p:spPr>
          <a:xfrm>
            <a:off x="630936" y="2820010"/>
            <a:ext cx="566928" cy="457200"/>
          </a:xfrm>
          <a:prstGeom prst="rect">
            <a:avLst/>
          </a:prstGeom>
          <a:noFill/>
          <a:ln/>
        </p:spPr>
        <p:txBody>
          <a:bodyPr wrap="square" lIns="0" tIns="0" rIns="0" bIns="0" rtlCol="0" anchor="t"/>
          <a:lstStyle/>
          <a:p>
            <a:pPr indent="0" marL="0">
              <a:buNone/>
            </a:pPr>
            <a:r>
              <a:rPr lang="en-US" sz="700" b="1" dirty="0">
                <a:solidFill>
                  <a:srgbClr val="0E7C7B"/>
                </a:solidFill>
                <a:latin typeface="Calibri" pitchFamily="34" charset="0"/>
                <a:ea typeface="Calibri" pitchFamily="34" charset="-122"/>
                <a:cs typeface="Calibri" pitchFamily="34" charset="-120"/>
              </a:rPr>
              <a:t>ROUTE</a:t>
            </a:r>
            <a:endParaRPr lang="en-US" sz="700" dirty="0"/>
          </a:p>
        </p:txBody>
      </p:sp>
      <p:sp>
        <p:nvSpPr>
          <p:cNvPr id="14" name="Text 12"/>
          <p:cNvSpPr txBox="1"/>
          <p:nvPr/>
        </p:nvSpPr>
        <p:spPr>
          <a:xfrm>
            <a:off x="1234440" y="2820010"/>
            <a:ext cx="2578608" cy="457200"/>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Founder-led ABM + 2 account managers; 15 MEP consultants; TTAG, GCCI, CREDAI Kolhapur; 10 plumber-dealers</a:t>
            </a:r>
            <a:endParaRPr lang="en-US" sz="740" dirty="0"/>
          </a:p>
        </p:txBody>
      </p:sp>
      <p:sp>
        <p:nvSpPr>
          <p:cNvPr id="15" name="Text 13"/>
          <p:cNvSpPr txBox="1"/>
          <p:nvPr/>
        </p:nvSpPr>
        <p:spPr>
          <a:xfrm>
            <a:off x="630936" y="3302813"/>
            <a:ext cx="566928" cy="256032"/>
          </a:xfrm>
          <a:prstGeom prst="rect">
            <a:avLst/>
          </a:prstGeom>
          <a:noFill/>
          <a:ln/>
        </p:spPr>
        <p:txBody>
          <a:bodyPr wrap="square" lIns="0" tIns="0" rIns="0" bIns="0" rtlCol="0" anchor="t"/>
          <a:lstStyle/>
          <a:p>
            <a:pPr indent="0" marL="0">
              <a:buNone/>
            </a:pPr>
            <a:r>
              <a:rPr lang="en-US" sz="700" b="1" dirty="0">
                <a:solidFill>
                  <a:srgbClr val="0E7C7B"/>
                </a:solidFill>
                <a:latin typeface="Calibri" pitchFamily="34" charset="0"/>
                <a:ea typeface="Calibri" pitchFamily="34" charset="-122"/>
                <a:cs typeface="Calibri" pitchFamily="34" charset="-120"/>
              </a:rPr>
              <a:t>INVEST</a:t>
            </a:r>
            <a:endParaRPr lang="en-US" sz="700" dirty="0"/>
          </a:p>
        </p:txBody>
      </p:sp>
      <p:sp>
        <p:nvSpPr>
          <p:cNvPr id="16" name="Text 14"/>
          <p:cNvSpPr txBox="1"/>
          <p:nvPr/>
        </p:nvSpPr>
        <p:spPr>
          <a:xfrm>
            <a:off x="1234440" y="3302813"/>
            <a:ext cx="2578608" cy="256032"/>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₹1.4 cr: hires, demo skids, service van, CRM, NABL lab tie-up</a:t>
            </a:r>
            <a:endParaRPr lang="en-US" sz="740" dirty="0"/>
          </a:p>
        </p:txBody>
      </p:sp>
      <p:sp>
        <p:nvSpPr>
          <p:cNvPr id="17" name="Text 15"/>
          <p:cNvSpPr txBox="1"/>
          <p:nvPr/>
        </p:nvSpPr>
        <p:spPr>
          <a:xfrm>
            <a:off x="630936" y="3584448"/>
            <a:ext cx="566928" cy="365760"/>
          </a:xfrm>
          <a:prstGeom prst="rect">
            <a:avLst/>
          </a:prstGeom>
          <a:noFill/>
          <a:ln/>
        </p:spPr>
        <p:txBody>
          <a:bodyPr wrap="square" lIns="0" tIns="0" rIns="0" bIns="0" rtlCol="0" anchor="t"/>
          <a:lstStyle/>
          <a:p>
            <a:pPr indent="0" marL="0">
              <a:buNone/>
            </a:pPr>
            <a:r>
              <a:rPr lang="en-US" sz="700" b="1" dirty="0">
                <a:solidFill>
                  <a:srgbClr val="0E7C7B"/>
                </a:solidFill>
                <a:latin typeface="Calibri" pitchFamily="34" charset="0"/>
                <a:ea typeface="Calibri" pitchFamily="34" charset="-122"/>
                <a:cs typeface="Calibri" pitchFamily="34" charset="-120"/>
              </a:rPr>
              <a:t>TARGET</a:t>
            </a:r>
            <a:endParaRPr lang="en-US" sz="700" dirty="0"/>
          </a:p>
        </p:txBody>
      </p:sp>
      <p:sp>
        <p:nvSpPr>
          <p:cNvPr id="18" name="Text 16"/>
          <p:cNvSpPr txBox="1"/>
          <p:nvPr/>
        </p:nvSpPr>
        <p:spPr>
          <a:xfrm>
            <a:off x="1234440" y="3584448"/>
            <a:ext cx="2578608" cy="365760"/>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₹3.0-3.5 cr new orders · 10 installs · AMC attach ≥50%</a:t>
            </a:r>
            <a:endParaRPr lang="en-US" sz="740" dirty="0"/>
          </a:p>
        </p:txBody>
      </p:sp>
      <p:sp>
        <p:nvSpPr>
          <p:cNvPr id="19" name="Shape 17"/>
          <p:cNvSpPr/>
          <p:nvPr/>
        </p:nvSpPr>
        <p:spPr>
          <a:xfrm>
            <a:off x="4000500" y="2304288"/>
            <a:ext cx="329184" cy="502920"/>
          </a:xfrm>
          <a:prstGeom prst="chevron">
            <a:avLst/>
          </a:prstGeom>
          <a:solidFill>
            <a:srgbClr val="D98E1F"/>
          </a:solidFill>
          <a:ln/>
        </p:spPr>
      </p:sp>
      <p:sp>
        <p:nvSpPr>
          <p:cNvPr id="20" name="Shape 18"/>
          <p:cNvSpPr/>
          <p:nvPr/>
        </p:nvSpPr>
        <p:spPr>
          <a:xfrm>
            <a:off x="4361688" y="1188720"/>
            <a:ext cx="3456432" cy="2798064"/>
          </a:xfrm>
          <a:prstGeom prst="roundRect">
            <a:avLst>
              <a:gd name="adj" fmla="val 1961"/>
            </a:avLst>
          </a:prstGeom>
          <a:solidFill>
            <a:srgbClr val="F2F5F7"/>
          </a:solidFill>
          <a:ln w="9525">
            <a:solidFill>
              <a:srgbClr val="C9D3DA"/>
            </a:solidFill>
            <a:prstDash val="solid"/>
          </a:ln>
        </p:spPr>
      </p:sp>
      <p:sp>
        <p:nvSpPr>
          <p:cNvPr id="21" name="Shape 19"/>
          <p:cNvSpPr/>
          <p:nvPr/>
        </p:nvSpPr>
        <p:spPr>
          <a:xfrm>
            <a:off x="4361688" y="1188720"/>
            <a:ext cx="3456432" cy="384048"/>
          </a:xfrm>
          <a:prstGeom prst="roundRect">
            <a:avLst>
              <a:gd name="adj" fmla="val 14286"/>
            </a:avLst>
          </a:prstGeom>
          <a:solidFill>
            <a:srgbClr val="123F63"/>
          </a:solidFill>
          <a:ln/>
        </p:spPr>
      </p:sp>
      <p:sp>
        <p:nvSpPr>
          <p:cNvPr id="22" name="Text 20"/>
          <p:cNvSpPr txBox="1"/>
          <p:nvPr/>
        </p:nvSpPr>
        <p:spPr>
          <a:xfrm>
            <a:off x="4489704" y="1188720"/>
            <a:ext cx="3200400" cy="384048"/>
          </a:xfrm>
          <a:prstGeom prst="rect">
            <a:avLst/>
          </a:prstGeom>
          <a:noFill/>
          <a:ln/>
        </p:spPr>
        <p:txBody>
          <a:bodyPr wrap="square" lIns="0" tIns="0" rIns="0" bIns="0" rtlCol="0" anchor="ctr"/>
          <a:lstStyle/>
          <a:p>
            <a:pPr indent="0" marL="0">
              <a:buNone/>
            </a:pPr>
            <a:r>
              <a:rPr lang="en-US" sz="850" b="1" dirty="0">
                <a:solidFill>
                  <a:srgbClr val="D9E6EC"/>
                </a:solidFill>
                <a:latin typeface="Calibri" pitchFamily="34" charset="0"/>
                <a:ea typeface="Calibri" pitchFamily="34" charset="-122"/>
                <a:cs typeface="Calibri" pitchFamily="34" charset="-120"/>
              </a:rPr>
              <a:t>PHASE 2 · FY28   </a:t>
            </a:r>
            <a:pPr indent="0" marL="0">
              <a:buNone/>
            </a:pPr>
            <a:r>
              <a:rPr lang="en-US" sz="1050" b="1" dirty="0">
                <a:solidFill>
                  <a:srgbClr val="FFFFFF"/>
                </a:solidFill>
                <a:latin typeface="Calibri" pitchFamily="34" charset="0"/>
                <a:ea typeface="Calibri" pitchFamily="34" charset="-122"/>
                <a:cs typeface="Calibri" pitchFamily="34" charset="-120"/>
              </a:rPr>
              <a:t>Karnataka corridor</a:t>
            </a:r>
            <a:endParaRPr lang="en-US" sz="850" dirty="0"/>
          </a:p>
        </p:txBody>
      </p:sp>
      <p:sp>
        <p:nvSpPr>
          <p:cNvPr id="23" name="Text 21"/>
          <p:cNvSpPr txBox="1"/>
          <p:nvPr/>
        </p:nvSpPr>
        <p:spPr>
          <a:xfrm>
            <a:off x="4489704" y="1645920"/>
            <a:ext cx="566928" cy="384048"/>
          </a:xfrm>
          <a:prstGeom prst="rect">
            <a:avLst/>
          </a:prstGeom>
          <a:noFill/>
          <a:ln/>
        </p:spPr>
        <p:txBody>
          <a:bodyPr wrap="square" lIns="0" tIns="0" rIns="0" bIns="0" rtlCol="0" anchor="t"/>
          <a:lstStyle/>
          <a:p>
            <a:pPr indent="0" marL="0">
              <a:buNone/>
            </a:pPr>
            <a:r>
              <a:rPr lang="en-US" sz="700" b="1" dirty="0">
                <a:solidFill>
                  <a:srgbClr val="123F63"/>
                </a:solidFill>
                <a:latin typeface="Calibri" pitchFamily="34" charset="0"/>
                <a:ea typeface="Calibri" pitchFamily="34" charset="-122"/>
                <a:cs typeface="Calibri" pitchFamily="34" charset="-120"/>
              </a:rPr>
              <a:t>WHERE</a:t>
            </a:r>
            <a:endParaRPr lang="en-US" sz="700" dirty="0"/>
          </a:p>
        </p:txBody>
      </p:sp>
      <p:sp>
        <p:nvSpPr>
          <p:cNvPr id="24" name="Text 22"/>
          <p:cNvSpPr txBox="1"/>
          <p:nvPr/>
        </p:nvSpPr>
        <p:spPr>
          <a:xfrm>
            <a:off x="5093208" y="1645920"/>
            <a:ext cx="2578608" cy="384048"/>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 Hubballi-Dharwad, Mangaluru, Mysuru, Sangli probe; Belagavi service hub + Mangaluru spoke</a:t>
            </a:r>
            <a:endParaRPr lang="en-US" sz="740" dirty="0"/>
          </a:p>
        </p:txBody>
      </p:sp>
      <p:sp>
        <p:nvSpPr>
          <p:cNvPr id="25" name="Text 23"/>
          <p:cNvSpPr txBox="1"/>
          <p:nvPr/>
        </p:nvSpPr>
        <p:spPr>
          <a:xfrm>
            <a:off x="4489704" y="2055571"/>
            <a:ext cx="566928" cy="256032"/>
          </a:xfrm>
          <a:prstGeom prst="rect">
            <a:avLst/>
          </a:prstGeom>
          <a:noFill/>
          <a:ln/>
        </p:spPr>
        <p:txBody>
          <a:bodyPr wrap="square" lIns="0" tIns="0" rIns="0" bIns="0" rtlCol="0" anchor="t"/>
          <a:lstStyle/>
          <a:p>
            <a:pPr indent="0" marL="0">
              <a:buNone/>
            </a:pPr>
            <a:r>
              <a:rPr lang="en-US" sz="700" b="1" dirty="0">
                <a:solidFill>
                  <a:srgbClr val="123F63"/>
                </a:solidFill>
                <a:latin typeface="Calibri" pitchFamily="34" charset="0"/>
                <a:ea typeface="Calibri" pitchFamily="34" charset="-122"/>
                <a:cs typeface="Calibri" pitchFamily="34" charset="-120"/>
              </a:rPr>
              <a:t>WHO</a:t>
            </a:r>
            <a:endParaRPr lang="en-US" sz="700" dirty="0"/>
          </a:p>
        </p:txBody>
      </p:sp>
      <p:sp>
        <p:nvSpPr>
          <p:cNvPr id="26" name="Text 24"/>
          <p:cNvSpPr txBox="1"/>
          <p:nvPr/>
        </p:nvSpPr>
        <p:spPr>
          <a:xfrm>
            <a:off x="5093208" y="2055571"/>
            <a:ext cx="2578608" cy="256032"/>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Developers scaled up, hospitals, education &amp; CSR campuses</a:t>
            </a:r>
            <a:endParaRPr lang="en-US" sz="740" dirty="0"/>
          </a:p>
        </p:txBody>
      </p:sp>
      <p:sp>
        <p:nvSpPr>
          <p:cNvPr id="27" name="Text 25"/>
          <p:cNvSpPr txBox="1"/>
          <p:nvPr/>
        </p:nvSpPr>
        <p:spPr>
          <a:xfrm>
            <a:off x="4489704" y="2337206"/>
            <a:ext cx="566928" cy="457200"/>
          </a:xfrm>
          <a:prstGeom prst="rect">
            <a:avLst/>
          </a:prstGeom>
          <a:noFill/>
          <a:ln/>
        </p:spPr>
        <p:txBody>
          <a:bodyPr wrap="square" lIns="0" tIns="0" rIns="0" bIns="0" rtlCol="0" anchor="t"/>
          <a:lstStyle/>
          <a:p>
            <a:pPr indent="0" marL="0">
              <a:buNone/>
            </a:pPr>
            <a:r>
              <a:rPr lang="en-US" sz="700" b="1" dirty="0">
                <a:solidFill>
                  <a:srgbClr val="123F63"/>
                </a:solidFill>
                <a:latin typeface="Calibri" pitchFamily="34" charset="0"/>
                <a:ea typeface="Calibri" pitchFamily="34" charset="-122"/>
                <a:cs typeface="Calibri" pitchFamily="34" charset="-120"/>
              </a:rPr>
              <a:t>SELL</a:t>
            </a:r>
            <a:endParaRPr lang="en-US" sz="700" dirty="0"/>
          </a:p>
        </p:txBody>
      </p:sp>
      <p:sp>
        <p:nvSpPr>
          <p:cNvPr id="28" name="Text 26"/>
          <p:cNvSpPr txBox="1"/>
          <p:nvPr/>
        </p:nvSpPr>
        <p:spPr>
          <a:xfrm>
            <a:off x="5093208" y="2337206"/>
            <a:ext cx="2578608" cy="457200"/>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+ 100 KLD series, hospital ETP skid, SmartSTP monitoring, 3-yr O&amp;M handover contracts</a:t>
            </a:r>
            <a:endParaRPr lang="en-US" sz="740" dirty="0"/>
          </a:p>
        </p:txBody>
      </p:sp>
      <p:sp>
        <p:nvSpPr>
          <p:cNvPr id="29" name="Text 27"/>
          <p:cNvSpPr txBox="1"/>
          <p:nvPr/>
        </p:nvSpPr>
        <p:spPr>
          <a:xfrm>
            <a:off x="4489704" y="2820010"/>
            <a:ext cx="566928" cy="457200"/>
          </a:xfrm>
          <a:prstGeom prst="rect">
            <a:avLst/>
          </a:prstGeom>
          <a:noFill/>
          <a:ln/>
        </p:spPr>
        <p:txBody>
          <a:bodyPr wrap="square" lIns="0" tIns="0" rIns="0" bIns="0" rtlCol="0" anchor="t"/>
          <a:lstStyle/>
          <a:p>
            <a:pPr indent="0" marL="0">
              <a:buNone/>
            </a:pPr>
            <a:r>
              <a:rPr lang="en-US" sz="700" b="1" dirty="0">
                <a:solidFill>
                  <a:srgbClr val="123F63"/>
                </a:solidFill>
                <a:latin typeface="Calibri" pitchFamily="34" charset="0"/>
                <a:ea typeface="Calibri" pitchFamily="34" charset="-122"/>
                <a:cs typeface="Calibri" pitchFamily="34" charset="-120"/>
              </a:rPr>
              <a:t>ROUTE</a:t>
            </a:r>
            <a:endParaRPr lang="en-US" sz="700" dirty="0"/>
          </a:p>
        </p:txBody>
      </p:sp>
      <p:sp>
        <p:nvSpPr>
          <p:cNvPr id="30" name="Text 28"/>
          <p:cNvSpPr txBox="1"/>
          <p:nvPr/>
        </p:nvSpPr>
        <p:spPr>
          <a:xfrm>
            <a:off x="5093208" y="2820010"/>
            <a:ext cx="2578608" cy="457200"/>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25 consultants; 6 EPC install franchisees; AHPI/IMA chapters; CSR implementation partners</a:t>
            </a:r>
            <a:endParaRPr lang="en-US" sz="740" dirty="0"/>
          </a:p>
        </p:txBody>
      </p:sp>
      <p:sp>
        <p:nvSpPr>
          <p:cNvPr id="31" name="Text 29"/>
          <p:cNvSpPr txBox="1"/>
          <p:nvPr/>
        </p:nvSpPr>
        <p:spPr>
          <a:xfrm>
            <a:off x="4489704" y="3302813"/>
            <a:ext cx="566928" cy="256032"/>
          </a:xfrm>
          <a:prstGeom prst="rect">
            <a:avLst/>
          </a:prstGeom>
          <a:noFill/>
          <a:ln/>
        </p:spPr>
        <p:txBody>
          <a:bodyPr wrap="square" lIns="0" tIns="0" rIns="0" bIns="0" rtlCol="0" anchor="t"/>
          <a:lstStyle/>
          <a:p>
            <a:pPr indent="0" marL="0">
              <a:buNone/>
            </a:pPr>
            <a:r>
              <a:rPr lang="en-US" sz="700" b="1" dirty="0">
                <a:solidFill>
                  <a:srgbClr val="123F63"/>
                </a:solidFill>
                <a:latin typeface="Calibri" pitchFamily="34" charset="0"/>
                <a:ea typeface="Calibri" pitchFamily="34" charset="-122"/>
                <a:cs typeface="Calibri" pitchFamily="34" charset="-120"/>
              </a:rPr>
              <a:t>INVEST</a:t>
            </a:r>
            <a:endParaRPr lang="en-US" sz="700" dirty="0"/>
          </a:p>
        </p:txBody>
      </p:sp>
      <p:sp>
        <p:nvSpPr>
          <p:cNvPr id="32" name="Text 30"/>
          <p:cNvSpPr txBox="1"/>
          <p:nvPr/>
        </p:nvSpPr>
        <p:spPr>
          <a:xfrm>
            <a:off x="5093208" y="3302813"/>
            <a:ext cx="2578608" cy="256032"/>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₹2.2 cr: 2 hubs, 4 hires, inventory, monitoring stock</a:t>
            </a:r>
            <a:endParaRPr lang="en-US" sz="740" dirty="0"/>
          </a:p>
        </p:txBody>
      </p:sp>
      <p:sp>
        <p:nvSpPr>
          <p:cNvPr id="33" name="Text 31"/>
          <p:cNvSpPr txBox="1"/>
          <p:nvPr/>
        </p:nvSpPr>
        <p:spPr>
          <a:xfrm>
            <a:off x="4489704" y="3584448"/>
            <a:ext cx="566928" cy="365760"/>
          </a:xfrm>
          <a:prstGeom prst="rect">
            <a:avLst/>
          </a:prstGeom>
          <a:noFill/>
          <a:ln/>
        </p:spPr>
        <p:txBody>
          <a:bodyPr wrap="square" lIns="0" tIns="0" rIns="0" bIns="0" rtlCol="0" anchor="t"/>
          <a:lstStyle/>
          <a:p>
            <a:pPr indent="0" marL="0">
              <a:buNone/>
            </a:pPr>
            <a:r>
              <a:rPr lang="en-US" sz="700" b="1" dirty="0">
                <a:solidFill>
                  <a:srgbClr val="123F63"/>
                </a:solidFill>
                <a:latin typeface="Calibri" pitchFamily="34" charset="0"/>
                <a:ea typeface="Calibri" pitchFamily="34" charset="-122"/>
                <a:cs typeface="Calibri" pitchFamily="34" charset="-120"/>
              </a:rPr>
              <a:t>TARGET</a:t>
            </a:r>
            <a:endParaRPr lang="en-US" sz="700" dirty="0"/>
          </a:p>
        </p:txBody>
      </p:sp>
      <p:sp>
        <p:nvSpPr>
          <p:cNvPr id="34" name="Text 32"/>
          <p:cNvSpPr txBox="1"/>
          <p:nvPr/>
        </p:nvSpPr>
        <p:spPr>
          <a:xfrm>
            <a:off x="5093208" y="3584448"/>
            <a:ext cx="2578608" cy="365760"/>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₹6.4 cr new revenue · channel ≥40% of pipeline · uptime ≥95%</a:t>
            </a:r>
            <a:endParaRPr lang="en-US" sz="740" dirty="0"/>
          </a:p>
        </p:txBody>
      </p:sp>
      <p:sp>
        <p:nvSpPr>
          <p:cNvPr id="35" name="Shape 33"/>
          <p:cNvSpPr/>
          <p:nvPr/>
        </p:nvSpPr>
        <p:spPr>
          <a:xfrm>
            <a:off x="7859268" y="2304288"/>
            <a:ext cx="329184" cy="502920"/>
          </a:xfrm>
          <a:prstGeom prst="chevron">
            <a:avLst/>
          </a:prstGeom>
          <a:solidFill>
            <a:srgbClr val="D98E1F"/>
          </a:solidFill>
          <a:ln/>
        </p:spPr>
      </p:sp>
      <p:sp>
        <p:nvSpPr>
          <p:cNvPr id="36" name="Shape 34"/>
          <p:cNvSpPr/>
          <p:nvPr/>
        </p:nvSpPr>
        <p:spPr>
          <a:xfrm>
            <a:off x="8220456" y="1188720"/>
            <a:ext cx="3456432" cy="2798064"/>
          </a:xfrm>
          <a:prstGeom prst="roundRect">
            <a:avLst>
              <a:gd name="adj" fmla="val 1961"/>
            </a:avLst>
          </a:prstGeom>
          <a:solidFill>
            <a:srgbClr val="F2F5F7"/>
          </a:solidFill>
          <a:ln w="9525">
            <a:solidFill>
              <a:srgbClr val="C9D3DA"/>
            </a:solidFill>
            <a:prstDash val="solid"/>
          </a:ln>
        </p:spPr>
      </p:sp>
      <p:sp>
        <p:nvSpPr>
          <p:cNvPr id="37" name="Shape 35"/>
          <p:cNvSpPr/>
          <p:nvPr/>
        </p:nvSpPr>
        <p:spPr>
          <a:xfrm>
            <a:off x="8220456" y="1188720"/>
            <a:ext cx="3456432" cy="384048"/>
          </a:xfrm>
          <a:prstGeom prst="roundRect">
            <a:avLst>
              <a:gd name="adj" fmla="val 14286"/>
            </a:avLst>
          </a:prstGeom>
          <a:solidFill>
            <a:srgbClr val="3E7D5C"/>
          </a:solidFill>
          <a:ln/>
        </p:spPr>
      </p:sp>
      <p:sp>
        <p:nvSpPr>
          <p:cNvPr id="38" name="Text 36"/>
          <p:cNvSpPr txBox="1"/>
          <p:nvPr/>
        </p:nvSpPr>
        <p:spPr>
          <a:xfrm>
            <a:off x="8348472" y="1188720"/>
            <a:ext cx="3200400" cy="384048"/>
          </a:xfrm>
          <a:prstGeom prst="rect">
            <a:avLst/>
          </a:prstGeom>
          <a:noFill/>
          <a:ln/>
        </p:spPr>
        <p:txBody>
          <a:bodyPr wrap="square" lIns="0" tIns="0" rIns="0" bIns="0" rtlCol="0" anchor="ctr"/>
          <a:lstStyle/>
          <a:p>
            <a:pPr indent="0" marL="0">
              <a:buNone/>
            </a:pPr>
            <a:r>
              <a:rPr lang="en-US" sz="850" b="1" dirty="0">
                <a:solidFill>
                  <a:srgbClr val="D9E6EC"/>
                </a:solidFill>
                <a:latin typeface="Calibri" pitchFamily="34" charset="0"/>
                <a:ea typeface="Calibri" pitchFamily="34" charset="-122"/>
                <a:cs typeface="Calibri" pitchFamily="34" charset="-120"/>
              </a:rPr>
              <a:t>PHASE 3 · FY29   </a:t>
            </a:r>
            <a:pPr indent="0" marL="0">
              <a:buNone/>
            </a:pPr>
            <a:r>
              <a:rPr lang="en-US" sz="1050" b="1" dirty="0">
                <a:solidFill>
                  <a:srgbClr val="FFFFFF"/>
                </a:solidFill>
                <a:latin typeface="Calibri" pitchFamily="34" charset="0"/>
                <a:ea typeface="Calibri" pitchFamily="34" charset="-122"/>
                <a:cs typeface="Calibri" pitchFamily="34" charset="-120"/>
              </a:rPr>
              <a:t>Tier-3 via partners</a:t>
            </a:r>
            <a:endParaRPr lang="en-US" sz="850" dirty="0"/>
          </a:p>
        </p:txBody>
      </p:sp>
      <p:sp>
        <p:nvSpPr>
          <p:cNvPr id="39" name="Text 37"/>
          <p:cNvSpPr txBox="1"/>
          <p:nvPr/>
        </p:nvSpPr>
        <p:spPr>
          <a:xfrm>
            <a:off x="8348472" y="1645920"/>
            <a:ext cx="566928" cy="384048"/>
          </a:xfrm>
          <a:prstGeom prst="rect">
            <a:avLst/>
          </a:prstGeom>
          <a:noFill/>
          <a:ln/>
        </p:spPr>
        <p:txBody>
          <a:bodyPr wrap="square" lIns="0" tIns="0" rIns="0" bIns="0" rtlCol="0" anchor="t"/>
          <a:lstStyle/>
          <a:p>
            <a:pPr indent="0" marL="0">
              <a:buNone/>
            </a:pPr>
            <a:r>
              <a:rPr lang="en-US" sz="700" b="1" dirty="0">
                <a:solidFill>
                  <a:srgbClr val="3E7D5C"/>
                </a:solidFill>
                <a:latin typeface="Calibri" pitchFamily="34" charset="0"/>
                <a:ea typeface="Calibri" pitchFamily="34" charset="-122"/>
                <a:cs typeface="Calibri" pitchFamily="34" charset="-120"/>
              </a:rPr>
              <a:t>WHERE</a:t>
            </a:r>
            <a:endParaRPr lang="en-US" sz="700" dirty="0"/>
          </a:p>
        </p:txBody>
      </p:sp>
      <p:sp>
        <p:nvSpPr>
          <p:cNvPr id="40" name="Text 38"/>
          <p:cNvSpPr txBox="1"/>
          <p:nvPr/>
        </p:nvSpPr>
        <p:spPr>
          <a:xfrm>
            <a:off x="8951976" y="1645920"/>
            <a:ext cx="2578608" cy="384048"/>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Davanagere, Shivamogga, Udupi, Hassan, Solapur; Nashik &amp; Sambhajinagar partner-led</a:t>
            </a:r>
            <a:endParaRPr lang="en-US" sz="740" dirty="0"/>
          </a:p>
        </p:txBody>
      </p:sp>
      <p:sp>
        <p:nvSpPr>
          <p:cNvPr id="41" name="Text 39"/>
          <p:cNvSpPr txBox="1"/>
          <p:nvPr/>
        </p:nvSpPr>
        <p:spPr>
          <a:xfrm>
            <a:off x="8348472" y="2055571"/>
            <a:ext cx="566928" cy="256032"/>
          </a:xfrm>
          <a:prstGeom prst="rect">
            <a:avLst/>
          </a:prstGeom>
          <a:noFill/>
          <a:ln/>
        </p:spPr>
        <p:txBody>
          <a:bodyPr wrap="square" lIns="0" tIns="0" rIns="0" bIns="0" rtlCol="0" anchor="t"/>
          <a:lstStyle/>
          <a:p>
            <a:pPr indent="0" marL="0">
              <a:buNone/>
            </a:pPr>
            <a:r>
              <a:rPr lang="en-US" sz="700" b="1" dirty="0">
                <a:solidFill>
                  <a:srgbClr val="3E7D5C"/>
                </a:solidFill>
                <a:latin typeface="Calibri" pitchFamily="34" charset="0"/>
                <a:ea typeface="Calibri" pitchFamily="34" charset="-122"/>
                <a:cs typeface="Calibri" pitchFamily="34" charset="-120"/>
              </a:rPr>
              <a:t>WHO</a:t>
            </a:r>
            <a:endParaRPr lang="en-US" sz="700" dirty="0"/>
          </a:p>
        </p:txBody>
      </p:sp>
      <p:sp>
        <p:nvSpPr>
          <p:cNvPr id="42" name="Text 40"/>
          <p:cNvSpPr txBox="1"/>
          <p:nvPr/>
        </p:nvSpPr>
        <p:spPr>
          <a:xfrm>
            <a:off x="8951976" y="2055571"/>
            <a:ext cx="2578608" cy="256032"/>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All three personas + societies retrofit at scale</a:t>
            </a:r>
            <a:endParaRPr lang="en-US" sz="740" dirty="0"/>
          </a:p>
        </p:txBody>
      </p:sp>
      <p:sp>
        <p:nvSpPr>
          <p:cNvPr id="43" name="Text 41"/>
          <p:cNvSpPr txBox="1"/>
          <p:nvPr/>
        </p:nvSpPr>
        <p:spPr>
          <a:xfrm>
            <a:off x="8348472" y="2337206"/>
            <a:ext cx="566928" cy="457200"/>
          </a:xfrm>
          <a:prstGeom prst="rect">
            <a:avLst/>
          </a:prstGeom>
          <a:noFill/>
          <a:ln/>
        </p:spPr>
        <p:txBody>
          <a:bodyPr wrap="square" lIns="0" tIns="0" rIns="0" bIns="0" rtlCol="0" anchor="t"/>
          <a:lstStyle/>
          <a:p>
            <a:pPr indent="0" marL="0">
              <a:buNone/>
            </a:pPr>
            <a:r>
              <a:rPr lang="en-US" sz="700" b="1" dirty="0">
                <a:solidFill>
                  <a:srgbClr val="3E7D5C"/>
                </a:solidFill>
                <a:latin typeface="Calibri" pitchFamily="34" charset="0"/>
                <a:ea typeface="Calibri" pitchFamily="34" charset="-122"/>
                <a:cs typeface="Calibri" pitchFamily="34" charset="-120"/>
              </a:rPr>
              <a:t>SELL</a:t>
            </a:r>
            <a:endParaRPr lang="en-US" sz="700" dirty="0"/>
          </a:p>
        </p:txBody>
      </p:sp>
      <p:sp>
        <p:nvSpPr>
          <p:cNvPr id="44" name="Text 42"/>
          <p:cNvSpPr txBox="1"/>
          <p:nvPr/>
        </p:nvSpPr>
        <p:spPr>
          <a:xfrm>
            <a:off x="8951976" y="2337206"/>
            <a:ext cx="2578608" cy="457200"/>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Full catalogue + AquaLoop reuse module + O&amp;M takeovers; WaaS pilot</a:t>
            </a:r>
            <a:endParaRPr lang="en-US" sz="740" dirty="0"/>
          </a:p>
        </p:txBody>
      </p:sp>
      <p:sp>
        <p:nvSpPr>
          <p:cNvPr id="45" name="Text 43"/>
          <p:cNvSpPr txBox="1"/>
          <p:nvPr/>
        </p:nvSpPr>
        <p:spPr>
          <a:xfrm>
            <a:off x="8348472" y="2820010"/>
            <a:ext cx="566928" cy="457200"/>
          </a:xfrm>
          <a:prstGeom prst="rect">
            <a:avLst/>
          </a:prstGeom>
          <a:noFill/>
          <a:ln/>
        </p:spPr>
        <p:txBody>
          <a:bodyPr wrap="square" lIns="0" tIns="0" rIns="0" bIns="0" rtlCol="0" anchor="t"/>
          <a:lstStyle/>
          <a:p>
            <a:pPr indent="0" marL="0">
              <a:buNone/>
            </a:pPr>
            <a:r>
              <a:rPr lang="en-US" sz="700" b="1" dirty="0">
                <a:solidFill>
                  <a:srgbClr val="3E7D5C"/>
                </a:solidFill>
                <a:latin typeface="Calibri" pitchFamily="34" charset="0"/>
                <a:ea typeface="Calibri" pitchFamily="34" charset="-122"/>
                <a:cs typeface="Calibri" pitchFamily="34" charset="-120"/>
              </a:rPr>
              <a:t>ROUTE</a:t>
            </a:r>
            <a:endParaRPr lang="en-US" sz="700" dirty="0"/>
          </a:p>
        </p:txBody>
      </p:sp>
      <p:sp>
        <p:nvSpPr>
          <p:cNvPr id="46" name="Text 44"/>
          <p:cNvSpPr txBox="1"/>
          <p:nvPr/>
        </p:nvSpPr>
        <p:spPr>
          <a:xfrm>
            <a:off x="8951976" y="2820010"/>
            <a:ext cx="2578608" cy="457200"/>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25 certified dealer-installers; association bulk programmes; account-based direct for ₹50 L+ deals</a:t>
            </a:r>
            <a:endParaRPr lang="en-US" sz="740" dirty="0"/>
          </a:p>
        </p:txBody>
      </p:sp>
      <p:sp>
        <p:nvSpPr>
          <p:cNvPr id="47" name="Text 45"/>
          <p:cNvSpPr txBox="1"/>
          <p:nvPr/>
        </p:nvSpPr>
        <p:spPr>
          <a:xfrm>
            <a:off x="8348472" y="3302813"/>
            <a:ext cx="566928" cy="256032"/>
          </a:xfrm>
          <a:prstGeom prst="rect">
            <a:avLst/>
          </a:prstGeom>
          <a:noFill/>
          <a:ln/>
        </p:spPr>
        <p:txBody>
          <a:bodyPr wrap="square" lIns="0" tIns="0" rIns="0" bIns="0" rtlCol="0" anchor="t"/>
          <a:lstStyle/>
          <a:p>
            <a:pPr indent="0" marL="0">
              <a:buNone/>
            </a:pPr>
            <a:r>
              <a:rPr lang="en-US" sz="700" b="1" dirty="0">
                <a:solidFill>
                  <a:srgbClr val="3E7D5C"/>
                </a:solidFill>
                <a:latin typeface="Calibri" pitchFamily="34" charset="0"/>
                <a:ea typeface="Calibri" pitchFamily="34" charset="-122"/>
                <a:cs typeface="Calibri" pitchFamily="34" charset="-120"/>
              </a:rPr>
              <a:t>INVEST</a:t>
            </a:r>
            <a:endParaRPr lang="en-US" sz="700" dirty="0"/>
          </a:p>
        </p:txBody>
      </p:sp>
      <p:sp>
        <p:nvSpPr>
          <p:cNvPr id="48" name="Text 46"/>
          <p:cNvSpPr txBox="1"/>
          <p:nvPr/>
        </p:nvSpPr>
        <p:spPr>
          <a:xfrm>
            <a:off x="8951976" y="3302813"/>
            <a:ext cx="2578608" cy="256032"/>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₹2.6 cr: dealer academy, monitoring fleet, working capital</a:t>
            </a:r>
            <a:endParaRPr lang="en-US" sz="740" dirty="0"/>
          </a:p>
        </p:txBody>
      </p:sp>
      <p:sp>
        <p:nvSpPr>
          <p:cNvPr id="49" name="Text 47"/>
          <p:cNvSpPr txBox="1"/>
          <p:nvPr/>
        </p:nvSpPr>
        <p:spPr>
          <a:xfrm>
            <a:off x="8348472" y="3584448"/>
            <a:ext cx="566928" cy="365760"/>
          </a:xfrm>
          <a:prstGeom prst="rect">
            <a:avLst/>
          </a:prstGeom>
          <a:noFill/>
          <a:ln/>
        </p:spPr>
        <p:txBody>
          <a:bodyPr wrap="square" lIns="0" tIns="0" rIns="0" bIns="0" rtlCol="0" anchor="t"/>
          <a:lstStyle/>
          <a:p>
            <a:pPr indent="0" marL="0">
              <a:buNone/>
            </a:pPr>
            <a:r>
              <a:rPr lang="en-US" sz="700" b="1" dirty="0">
                <a:solidFill>
                  <a:srgbClr val="3E7D5C"/>
                </a:solidFill>
                <a:latin typeface="Calibri" pitchFamily="34" charset="0"/>
                <a:ea typeface="Calibri" pitchFamily="34" charset="-122"/>
                <a:cs typeface="Calibri" pitchFamily="34" charset="-120"/>
              </a:rPr>
              <a:t>TARGET</a:t>
            </a:r>
            <a:endParaRPr lang="en-US" sz="700" dirty="0"/>
          </a:p>
        </p:txBody>
      </p:sp>
      <p:sp>
        <p:nvSpPr>
          <p:cNvPr id="50" name="Text 48"/>
          <p:cNvSpPr txBox="1"/>
          <p:nvPr/>
        </p:nvSpPr>
        <p:spPr>
          <a:xfrm>
            <a:off x="8951976" y="3584448"/>
            <a:ext cx="2578608" cy="365760"/>
          </a:xfrm>
          <a:prstGeom prst="rect">
            <a:avLst/>
          </a:prstGeom>
          <a:noFill/>
          <a:ln/>
        </p:spPr>
        <p:txBody>
          <a:bodyPr wrap="square" lIns="0" tIns="0" rIns="0" bIns="0" rtlCol="0" anchor="t"/>
          <a:lstStyle/>
          <a:p>
            <a:pPr indent="0" marL="0">
              <a:lnSpc>
                <a:spcPct val="98000"/>
              </a:lnSpc>
              <a:buNone/>
            </a:pPr>
            <a:r>
              <a:rPr lang="en-US" sz="740" dirty="0">
                <a:solidFill>
                  <a:srgbClr val="26313B"/>
                </a:solidFill>
                <a:latin typeface="Calibri" pitchFamily="34" charset="0"/>
                <a:ea typeface="Calibri" pitchFamily="34" charset="-122"/>
                <a:cs typeface="Calibri" pitchFamily="34" charset="-120"/>
              </a:rPr>
              <a:t>₹11.9 cr new revenue · recurring ~10% of sales · 34 installs/yr</a:t>
            </a:r>
            <a:endParaRPr lang="en-US" sz="740" dirty="0"/>
          </a:p>
        </p:txBody>
      </p:sp>
      <p:sp>
        <p:nvSpPr>
          <p:cNvPr id="51" name="Shape 49"/>
          <p:cNvSpPr/>
          <p:nvPr/>
        </p:nvSpPr>
        <p:spPr>
          <a:xfrm>
            <a:off x="2240280" y="4059936"/>
            <a:ext cx="3639312" cy="438912"/>
          </a:xfrm>
          <a:prstGeom prst="roundRect">
            <a:avLst>
              <a:gd name="adj" fmla="val 10417"/>
            </a:avLst>
          </a:prstGeom>
          <a:solidFill>
            <a:srgbClr val="FBF1DE"/>
          </a:solidFill>
          <a:ln w="12700">
            <a:solidFill>
              <a:srgbClr val="D98E1F"/>
            </a:solidFill>
            <a:prstDash val="solid"/>
          </a:ln>
        </p:spPr>
      </p:sp>
      <p:sp>
        <p:nvSpPr>
          <p:cNvPr id="52" name="Text 50"/>
          <p:cNvSpPr txBox="1"/>
          <p:nvPr/>
        </p:nvSpPr>
        <p:spPr>
          <a:xfrm>
            <a:off x="2331720" y="4059936"/>
            <a:ext cx="3456432" cy="438912"/>
          </a:xfrm>
          <a:prstGeom prst="rect">
            <a:avLst/>
          </a:prstGeom>
          <a:noFill/>
          <a:ln/>
        </p:spPr>
        <p:txBody>
          <a:bodyPr wrap="square" lIns="0" tIns="0" rIns="0" bIns="0" rtlCol="0" anchor="ctr"/>
          <a:lstStyle/>
          <a:p>
            <a:pPr indent="0" marL="0">
              <a:lnSpc>
                <a:spcPct val="98000"/>
              </a:lnSpc>
              <a:buNone/>
            </a:pPr>
            <a:r>
              <a:rPr lang="en-US" sz="780" b="1" dirty="0">
                <a:solidFill>
                  <a:srgbClr val="9A6A0F"/>
                </a:solidFill>
                <a:latin typeface="Calibri" pitchFamily="34" charset="0"/>
                <a:ea typeface="Calibri" pitchFamily="34" charset="-122"/>
                <a:cs typeface="Calibri" pitchFamily="34" charset="-120"/>
              </a:rPr>
              <a:t>GATE 1 → 2  </a:t>
            </a:r>
            <a:pPr indent="0" marL="0">
              <a:lnSpc>
                <a:spcPct val="98000"/>
              </a:lnSpc>
              <a:buNone/>
            </a:pPr>
            <a:r>
              <a:rPr lang="en-US" sz="730" dirty="0">
                <a:solidFill>
                  <a:srgbClr val="26313B"/>
                </a:solidFill>
                <a:latin typeface="Calibri" pitchFamily="34" charset="0"/>
                <a:ea typeface="Calibri" pitchFamily="34" charset="-122"/>
                <a:cs typeface="Calibri" pitchFamily="34" charset="-120"/>
              </a:rPr>
              <a:t>≥10 lab-verified reference installs · AMC attach ≥50% · DSO ≤75 days · pipeline ≥3x next-year target</a:t>
            </a:r>
            <a:endParaRPr lang="en-US" sz="780" dirty="0"/>
          </a:p>
        </p:txBody>
      </p:sp>
      <p:sp>
        <p:nvSpPr>
          <p:cNvPr id="53" name="Shape 51"/>
          <p:cNvSpPr/>
          <p:nvPr/>
        </p:nvSpPr>
        <p:spPr>
          <a:xfrm>
            <a:off x="6099048" y="4059936"/>
            <a:ext cx="3639312" cy="438912"/>
          </a:xfrm>
          <a:prstGeom prst="roundRect">
            <a:avLst>
              <a:gd name="adj" fmla="val 10417"/>
            </a:avLst>
          </a:prstGeom>
          <a:solidFill>
            <a:srgbClr val="FBF1DE"/>
          </a:solidFill>
          <a:ln w="12700">
            <a:solidFill>
              <a:srgbClr val="D98E1F"/>
            </a:solidFill>
            <a:prstDash val="solid"/>
          </a:ln>
        </p:spPr>
      </p:sp>
      <p:sp>
        <p:nvSpPr>
          <p:cNvPr id="54" name="Text 52"/>
          <p:cNvSpPr txBox="1"/>
          <p:nvPr/>
        </p:nvSpPr>
        <p:spPr>
          <a:xfrm>
            <a:off x="6190488" y="4059936"/>
            <a:ext cx="3456432" cy="438912"/>
          </a:xfrm>
          <a:prstGeom prst="rect">
            <a:avLst/>
          </a:prstGeom>
          <a:noFill/>
          <a:ln/>
        </p:spPr>
        <p:txBody>
          <a:bodyPr wrap="square" lIns="0" tIns="0" rIns="0" bIns="0" rtlCol="0" anchor="ctr"/>
          <a:lstStyle/>
          <a:p>
            <a:pPr indent="0" marL="0">
              <a:lnSpc>
                <a:spcPct val="98000"/>
              </a:lnSpc>
              <a:buNone/>
            </a:pPr>
            <a:r>
              <a:rPr lang="en-US" sz="780" b="1" dirty="0">
                <a:solidFill>
                  <a:srgbClr val="9A6A0F"/>
                </a:solidFill>
                <a:latin typeface="Calibri" pitchFamily="34" charset="0"/>
                <a:ea typeface="Calibri" pitchFamily="34" charset="-122"/>
                <a:cs typeface="Calibri" pitchFamily="34" charset="-120"/>
              </a:rPr>
              <a:t>GATE 2 → 3  </a:t>
            </a:r>
            <a:pPr indent="0" marL="0">
              <a:lnSpc>
                <a:spcPct val="98000"/>
              </a:lnSpc>
              <a:buNone/>
            </a:pPr>
            <a:r>
              <a:rPr lang="en-US" sz="730" dirty="0">
                <a:solidFill>
                  <a:srgbClr val="26313B"/>
                </a:solidFill>
                <a:latin typeface="Calibri" pitchFamily="34" charset="0"/>
                <a:ea typeface="Calibri" pitchFamily="34" charset="-122"/>
                <a:cs typeface="Calibri" pitchFamily="34" charset="-120"/>
              </a:rPr>
              <a:t>Channel-sourced ≥40% of qualified pipeline · install cycle ≤45 days · fleet uptime ≥95% · repeat/referral ≥20% of orders · gross margin ≥30%</a:t>
            </a:r>
            <a:endParaRPr lang="en-US" sz="780" dirty="0"/>
          </a:p>
        </p:txBody>
      </p:sp>
      <p:sp>
        <p:nvSpPr>
          <p:cNvPr id="55" name="Text 53"/>
          <p:cNvSpPr txBox="1"/>
          <p:nvPr/>
        </p:nvSpPr>
        <p:spPr>
          <a:xfrm>
            <a:off x="502920" y="4626864"/>
            <a:ext cx="6035040" cy="237744"/>
          </a:xfrm>
          <a:prstGeom prst="rect">
            <a:avLst/>
          </a:prstGeom>
          <a:noFill/>
          <a:ln/>
        </p:spPr>
        <p:txBody>
          <a:bodyPr wrap="square" lIns="0" tIns="0" rIns="0" bIns="0" rtlCol="0" anchor="ctr"/>
          <a:lstStyle/>
          <a:p>
            <a:pPr indent="0" marL="0">
              <a:buNone/>
            </a:pPr>
            <a:r>
              <a:rPr lang="en-US" sz="1050" b="1" spc="50" kern="0" dirty="0">
                <a:solidFill>
                  <a:srgbClr val="0B2E4F"/>
                </a:solidFill>
                <a:latin typeface="Calibri" pitchFamily="34" charset="0"/>
                <a:ea typeface="Calibri" pitchFamily="34" charset="-122"/>
                <a:cs typeface="Calibri" pitchFamily="34" charset="-120"/>
              </a:rPr>
              <a:t>Acquisition funnel &amp; capacity (FY27 → FY29)</a:t>
            </a:r>
            <a:endParaRPr lang="en-US" sz="1050" dirty="0"/>
          </a:p>
        </p:txBody>
      </p:sp>
      <p:sp>
        <p:nvSpPr>
          <p:cNvPr id="56" name="Shape 54"/>
          <p:cNvSpPr/>
          <p:nvPr/>
        </p:nvSpPr>
        <p:spPr>
          <a:xfrm>
            <a:off x="502920" y="4864608"/>
            <a:ext cx="1225296" cy="676656"/>
          </a:xfrm>
          <a:prstGeom prst="chevron">
            <a:avLst/>
          </a:prstGeom>
          <a:solidFill>
            <a:srgbClr val="E7F2F1"/>
          </a:solidFill>
          <a:ln w="9525">
            <a:solidFill>
              <a:srgbClr val="0E7C7B"/>
            </a:solidFill>
            <a:prstDash val="solid"/>
          </a:ln>
        </p:spPr>
      </p:sp>
      <p:sp>
        <p:nvSpPr>
          <p:cNvPr id="57" name="Text 55"/>
          <p:cNvSpPr txBox="1"/>
          <p:nvPr/>
        </p:nvSpPr>
        <p:spPr>
          <a:xfrm>
            <a:off x="630936" y="4864608"/>
            <a:ext cx="1005840" cy="676656"/>
          </a:xfrm>
          <a:prstGeom prst="rect">
            <a:avLst/>
          </a:prstGeom>
          <a:noFill/>
          <a:ln/>
        </p:spPr>
        <p:txBody>
          <a:bodyPr wrap="square" lIns="0" tIns="0" rIns="0" bIns="0" rtlCol="0" anchor="ctr"/>
          <a:lstStyle/>
          <a:p>
            <a:pPr algn="ctr" indent="0" marL="0">
              <a:lnSpc>
                <a:spcPct val="96000"/>
              </a:lnSpc>
              <a:buNone/>
            </a:pPr>
            <a:r>
              <a:rPr lang="en-US" sz="730" b="1" dirty="0">
                <a:solidFill>
                  <a:srgbClr val="0B2E4F"/>
                </a:solidFill>
                <a:latin typeface="Calibri" pitchFamily="34" charset="0"/>
                <a:ea typeface="Calibri" pitchFamily="34" charset="-122"/>
                <a:cs typeface="Calibri" pitchFamily="34" charset="-120"/>
              </a:rPr>
              <a:t>Audits / leads
</a:t>
            </a:r>
            <a:pPr algn="ctr" indent="0" marL="0">
              <a:lnSpc>
                <a:spcPct val="96000"/>
              </a:lnSpc>
              <a:buNone/>
            </a:pPr>
            <a:r>
              <a:rPr lang="en-US" sz="710" dirty="0">
                <a:solidFill>
                  <a:srgbClr val="26313B"/>
                </a:solidFill>
                <a:latin typeface="Calibri" pitchFamily="34" charset="0"/>
                <a:ea typeface="Calibri" pitchFamily="34" charset="-122"/>
                <a:cs typeface="Calibri" pitchFamily="34" charset="-120"/>
              </a:rPr>
              <a:t>320 → 900</a:t>
            </a:r>
            <a:endParaRPr lang="en-US" sz="730" dirty="0"/>
          </a:p>
        </p:txBody>
      </p:sp>
      <p:sp>
        <p:nvSpPr>
          <p:cNvPr id="58" name="Shape 56"/>
          <p:cNvSpPr/>
          <p:nvPr/>
        </p:nvSpPr>
        <p:spPr>
          <a:xfrm>
            <a:off x="1783080" y="4864608"/>
            <a:ext cx="1225296" cy="676656"/>
          </a:xfrm>
          <a:prstGeom prst="chevron">
            <a:avLst/>
          </a:prstGeom>
          <a:solidFill>
            <a:srgbClr val="E7F2F1"/>
          </a:solidFill>
          <a:ln w="9525">
            <a:solidFill>
              <a:srgbClr val="0E7C7B"/>
            </a:solidFill>
            <a:prstDash val="solid"/>
          </a:ln>
        </p:spPr>
      </p:sp>
      <p:sp>
        <p:nvSpPr>
          <p:cNvPr id="59" name="Text 57"/>
          <p:cNvSpPr txBox="1"/>
          <p:nvPr/>
        </p:nvSpPr>
        <p:spPr>
          <a:xfrm>
            <a:off x="1911096" y="4864608"/>
            <a:ext cx="1005840" cy="676656"/>
          </a:xfrm>
          <a:prstGeom prst="rect">
            <a:avLst/>
          </a:prstGeom>
          <a:noFill/>
          <a:ln/>
        </p:spPr>
        <p:txBody>
          <a:bodyPr wrap="square" lIns="0" tIns="0" rIns="0" bIns="0" rtlCol="0" anchor="ctr"/>
          <a:lstStyle/>
          <a:p>
            <a:pPr algn="ctr" indent="0" marL="0">
              <a:lnSpc>
                <a:spcPct val="96000"/>
              </a:lnSpc>
              <a:buNone/>
            </a:pPr>
            <a:r>
              <a:rPr lang="en-US" sz="730" b="1" dirty="0">
                <a:solidFill>
                  <a:srgbClr val="0B2E4F"/>
                </a:solidFill>
                <a:latin typeface="Calibri" pitchFamily="34" charset="0"/>
                <a:ea typeface="Calibri" pitchFamily="34" charset="-122"/>
                <a:cs typeface="Calibri" pitchFamily="34" charset="-120"/>
              </a:rPr>
              <a:t>Qualified
</a:t>
            </a:r>
            <a:pPr algn="ctr" indent="0" marL="0">
              <a:lnSpc>
                <a:spcPct val="96000"/>
              </a:lnSpc>
              <a:buNone/>
            </a:pPr>
            <a:r>
              <a:rPr lang="en-US" sz="710" dirty="0">
                <a:solidFill>
                  <a:srgbClr val="26313B"/>
                </a:solidFill>
                <a:latin typeface="Calibri" pitchFamily="34" charset="0"/>
                <a:ea typeface="Calibri" pitchFamily="34" charset="-122"/>
                <a:cs typeface="Calibri" pitchFamily="34" charset="-120"/>
              </a:rPr>
              <a:t>130 → 380</a:t>
            </a:r>
            <a:endParaRPr lang="en-US" sz="730" dirty="0"/>
          </a:p>
          <a:p>
            <a:pPr algn="ctr" indent="0" marL="0">
              <a:lnSpc>
                <a:spcPct val="96000"/>
              </a:lnSpc>
              <a:buNone/>
            </a:pPr>
            <a:r>
              <a:rPr lang="en-US" sz="710" dirty="0">
                <a:solidFill>
                  <a:srgbClr val="26313B"/>
                </a:solidFill>
                <a:latin typeface="Calibri" pitchFamily="34" charset="0"/>
                <a:ea typeface="Calibri" pitchFamily="34" charset="-122"/>
                <a:cs typeface="Calibri" pitchFamily="34" charset="-120"/>
              </a:rPr>
              <a:t>(₹32 → 95 cr)</a:t>
            </a:r>
            <a:endParaRPr lang="en-US" sz="730" dirty="0"/>
          </a:p>
        </p:txBody>
      </p:sp>
      <p:sp>
        <p:nvSpPr>
          <p:cNvPr id="60" name="Shape 58"/>
          <p:cNvSpPr/>
          <p:nvPr/>
        </p:nvSpPr>
        <p:spPr>
          <a:xfrm>
            <a:off x="3063240" y="4864608"/>
            <a:ext cx="1225296" cy="676656"/>
          </a:xfrm>
          <a:prstGeom prst="chevron">
            <a:avLst/>
          </a:prstGeom>
          <a:solidFill>
            <a:srgbClr val="E7F2F1"/>
          </a:solidFill>
          <a:ln w="9525">
            <a:solidFill>
              <a:srgbClr val="0E7C7B"/>
            </a:solidFill>
            <a:prstDash val="solid"/>
          </a:ln>
        </p:spPr>
      </p:sp>
      <p:sp>
        <p:nvSpPr>
          <p:cNvPr id="61" name="Text 59"/>
          <p:cNvSpPr txBox="1"/>
          <p:nvPr/>
        </p:nvSpPr>
        <p:spPr>
          <a:xfrm>
            <a:off x="3191256" y="4864608"/>
            <a:ext cx="1005840" cy="676656"/>
          </a:xfrm>
          <a:prstGeom prst="rect">
            <a:avLst/>
          </a:prstGeom>
          <a:noFill/>
          <a:ln/>
        </p:spPr>
        <p:txBody>
          <a:bodyPr wrap="square" lIns="0" tIns="0" rIns="0" bIns="0" rtlCol="0" anchor="ctr"/>
          <a:lstStyle/>
          <a:p>
            <a:pPr algn="ctr" indent="0" marL="0">
              <a:lnSpc>
                <a:spcPct val="96000"/>
              </a:lnSpc>
              <a:buNone/>
            </a:pPr>
            <a:r>
              <a:rPr lang="en-US" sz="730" b="1" dirty="0">
                <a:solidFill>
                  <a:srgbClr val="0B2E4F"/>
                </a:solidFill>
                <a:latin typeface="Calibri" pitchFamily="34" charset="0"/>
                <a:ea typeface="Calibri" pitchFamily="34" charset="-122"/>
                <a:cs typeface="Calibri" pitchFamily="34" charset="-120"/>
              </a:rPr>
              <a:t>Proposals
</a:t>
            </a:r>
            <a:pPr algn="ctr" indent="0" marL="0">
              <a:lnSpc>
                <a:spcPct val="96000"/>
              </a:lnSpc>
              <a:buNone/>
            </a:pPr>
            <a:r>
              <a:rPr lang="en-US" sz="710" dirty="0">
                <a:solidFill>
                  <a:srgbClr val="26313B"/>
                </a:solidFill>
                <a:latin typeface="Calibri" pitchFamily="34" charset="0"/>
                <a:ea typeface="Calibri" pitchFamily="34" charset="-122"/>
                <a:cs typeface="Calibri" pitchFamily="34" charset="-120"/>
              </a:rPr>
              <a:t>55 → 160</a:t>
            </a:r>
            <a:endParaRPr lang="en-US" sz="730" dirty="0"/>
          </a:p>
        </p:txBody>
      </p:sp>
      <p:sp>
        <p:nvSpPr>
          <p:cNvPr id="62" name="Shape 60"/>
          <p:cNvSpPr/>
          <p:nvPr/>
        </p:nvSpPr>
        <p:spPr>
          <a:xfrm>
            <a:off x="4343400" y="4864608"/>
            <a:ext cx="1225296" cy="676656"/>
          </a:xfrm>
          <a:prstGeom prst="chevron">
            <a:avLst/>
          </a:prstGeom>
          <a:solidFill>
            <a:srgbClr val="E7F2F1"/>
          </a:solidFill>
          <a:ln w="9525">
            <a:solidFill>
              <a:srgbClr val="0E7C7B"/>
            </a:solidFill>
            <a:prstDash val="solid"/>
          </a:ln>
        </p:spPr>
      </p:sp>
      <p:sp>
        <p:nvSpPr>
          <p:cNvPr id="63" name="Text 61"/>
          <p:cNvSpPr txBox="1"/>
          <p:nvPr/>
        </p:nvSpPr>
        <p:spPr>
          <a:xfrm>
            <a:off x="4471416" y="4864608"/>
            <a:ext cx="1005840" cy="676656"/>
          </a:xfrm>
          <a:prstGeom prst="rect">
            <a:avLst/>
          </a:prstGeom>
          <a:noFill/>
          <a:ln/>
        </p:spPr>
        <p:txBody>
          <a:bodyPr wrap="square" lIns="0" tIns="0" rIns="0" bIns="0" rtlCol="0" anchor="ctr"/>
          <a:lstStyle/>
          <a:p>
            <a:pPr algn="ctr" indent="0" marL="0">
              <a:lnSpc>
                <a:spcPct val="96000"/>
              </a:lnSpc>
              <a:buNone/>
            </a:pPr>
            <a:r>
              <a:rPr lang="en-US" sz="730" b="1" dirty="0">
                <a:solidFill>
                  <a:srgbClr val="0B2E4F"/>
                </a:solidFill>
                <a:latin typeface="Calibri" pitchFamily="34" charset="0"/>
                <a:ea typeface="Calibri" pitchFamily="34" charset="-122"/>
                <a:cs typeface="Calibri" pitchFamily="34" charset="-120"/>
              </a:rPr>
              <a:t>Wins
</a:t>
            </a:r>
            <a:pPr algn="ctr" indent="0" marL="0">
              <a:lnSpc>
                <a:spcPct val="96000"/>
              </a:lnSpc>
              <a:buNone/>
            </a:pPr>
            <a:r>
              <a:rPr lang="en-US" sz="710" dirty="0">
                <a:solidFill>
                  <a:srgbClr val="26313B"/>
                </a:solidFill>
                <a:latin typeface="Calibri" pitchFamily="34" charset="0"/>
                <a:ea typeface="Calibri" pitchFamily="34" charset="-122"/>
                <a:cs typeface="Calibri" pitchFamily="34" charset="-120"/>
              </a:rPr>
              <a:t>10 → 34</a:t>
            </a:r>
            <a:endParaRPr lang="en-US" sz="730" dirty="0"/>
          </a:p>
        </p:txBody>
      </p:sp>
      <p:sp>
        <p:nvSpPr>
          <p:cNvPr id="64" name="Shape 62"/>
          <p:cNvSpPr/>
          <p:nvPr/>
        </p:nvSpPr>
        <p:spPr>
          <a:xfrm>
            <a:off x="5623560" y="4864608"/>
            <a:ext cx="1481328" cy="676656"/>
          </a:xfrm>
          <a:prstGeom prst="roundRect">
            <a:avLst>
              <a:gd name="adj" fmla="val 10811"/>
            </a:avLst>
          </a:prstGeom>
          <a:solidFill>
            <a:srgbClr val="0B2E4F"/>
          </a:solidFill>
          <a:ln/>
        </p:spPr>
      </p:sp>
      <p:sp>
        <p:nvSpPr>
          <p:cNvPr id="65" name="Text 63"/>
          <p:cNvSpPr txBox="1"/>
          <p:nvPr/>
        </p:nvSpPr>
        <p:spPr>
          <a:xfrm>
            <a:off x="5696712" y="4864608"/>
            <a:ext cx="1335024" cy="676656"/>
          </a:xfrm>
          <a:prstGeom prst="rect">
            <a:avLst/>
          </a:prstGeom>
          <a:noFill/>
          <a:ln/>
        </p:spPr>
        <p:txBody>
          <a:bodyPr wrap="square" lIns="0" tIns="0" rIns="0" bIns="0" rtlCol="0" anchor="ctr"/>
          <a:lstStyle/>
          <a:p>
            <a:pPr algn="ctr" indent="0" marL="0">
              <a:lnSpc>
                <a:spcPct val="96000"/>
              </a:lnSpc>
              <a:buNone/>
            </a:pPr>
            <a:r>
              <a:rPr lang="en-US" sz="730" b="1" dirty="0">
                <a:solidFill>
                  <a:srgbClr val="FFFFFF"/>
                </a:solidFill>
                <a:latin typeface="Calibri" pitchFamily="34" charset="0"/>
                <a:ea typeface="Calibri" pitchFamily="34" charset="-122"/>
                <a:cs typeface="Calibri" pitchFamily="34" charset="-120"/>
              </a:rPr>
              <a:t>New revenue
</a:t>
            </a:r>
            <a:pPr algn="ctr" indent="0" marL="0">
              <a:lnSpc>
                <a:spcPct val="96000"/>
              </a:lnSpc>
              <a:buNone/>
            </a:pPr>
            <a:r>
              <a:rPr lang="en-US" sz="710" dirty="0">
                <a:solidFill>
                  <a:srgbClr val="FFD9A0"/>
                </a:solidFill>
                <a:latin typeface="Calibri" pitchFamily="34" charset="0"/>
                <a:ea typeface="Calibri" pitchFamily="34" charset="-122"/>
                <a:cs typeface="Calibri" pitchFamily="34" charset="-120"/>
              </a:rPr>
              <a:t>₹2.4 → 11.9 cr</a:t>
            </a:r>
            <a:endParaRPr lang="en-US" sz="730" dirty="0"/>
          </a:p>
        </p:txBody>
      </p:sp>
      <p:sp>
        <p:nvSpPr>
          <p:cNvPr id="66" name="Text 64"/>
          <p:cNvSpPr txBox="1"/>
          <p:nvPr/>
        </p:nvSpPr>
        <p:spPr>
          <a:xfrm>
            <a:off x="502920" y="5596128"/>
            <a:ext cx="6537960" cy="384048"/>
          </a:xfrm>
          <a:prstGeom prst="rect">
            <a:avLst/>
          </a:prstGeom>
          <a:noFill/>
          <a:ln/>
        </p:spPr>
        <p:txBody>
          <a:bodyPr wrap="square" lIns="0" tIns="0" rIns="0" bIns="0" rtlCol="0" anchor="ctr"/>
          <a:lstStyle/>
          <a:p>
            <a:pPr indent="0" marL="0">
              <a:lnSpc>
                <a:spcPct val="100000"/>
              </a:lnSpc>
              <a:buNone/>
            </a:pPr>
            <a:r>
              <a:rPr lang="en-US" sz="730" dirty="0">
                <a:solidFill>
                  <a:srgbClr val="5D6A75"/>
                </a:solidFill>
                <a:latin typeface="Calibri" pitchFamily="34" charset="0"/>
                <a:ea typeface="Calibri" pitchFamily="34" charset="-122"/>
                <a:cs typeface="Calibri" pitchFamily="34" charset="-120"/>
              </a:rPr>
              <a:t>Cycle: hotels 2-4 mo · hospitals 3-6 mo · developers 6-9 mo. Capacity: 2 own crews FY27 → 3 own + 2 partner crews FY29 (~8 installs/crew/yr). KPIs: pipeline cover, proposal→win %, DSO, install cycle, AMC attach, uptime, repeat share.</a:t>
            </a:r>
            <a:endParaRPr lang="en-US" sz="730" dirty="0"/>
          </a:p>
        </p:txBody>
      </p:sp>
      <p:sp>
        <p:nvSpPr>
          <p:cNvPr id="67" name="Text 65"/>
          <p:cNvSpPr txBox="1"/>
          <p:nvPr/>
        </p:nvSpPr>
        <p:spPr>
          <a:xfrm>
            <a:off x="7315200" y="4626864"/>
            <a:ext cx="4370832" cy="237744"/>
          </a:xfrm>
          <a:prstGeom prst="rect">
            <a:avLst/>
          </a:prstGeom>
          <a:noFill/>
          <a:ln/>
        </p:spPr>
        <p:txBody>
          <a:bodyPr wrap="square" lIns="0" tIns="0" rIns="0" bIns="0" rtlCol="0" anchor="ctr"/>
          <a:lstStyle/>
          <a:p>
            <a:pPr indent="0" marL="0">
              <a:buNone/>
            </a:pPr>
            <a:r>
              <a:rPr lang="en-US" sz="1050" b="1" spc="50" kern="0" dirty="0">
                <a:solidFill>
                  <a:srgbClr val="0B2E4F"/>
                </a:solidFill>
                <a:latin typeface="Calibri" pitchFamily="34" charset="0"/>
                <a:ea typeface="Calibri" pitchFamily="34" charset="-122"/>
                <a:cs typeface="Calibri" pitchFamily="34" charset="-120"/>
              </a:rPr>
              <a:t>Revenue build, ₹cr (base case)</a:t>
            </a:r>
            <a:endParaRPr lang="en-US" sz="1050" dirty="0"/>
          </a:p>
        </p:txBody>
      </p:sp>
      <p:graphicFrame>
        <p:nvGraphicFramePr>
          <p:cNvPr id="68" name="Chart 0" descr=""/>
          <p:cNvGraphicFramePr/>
          <p:nvPr/>
        </p:nvGraphicFramePr>
        <p:xfrm>
          <a:off x="7315200" y="4828032"/>
          <a:ext cx="4370832" cy="1152144"/>
        </p:xfrm>
        <a:graphic xmlns:a="http://schemas.openxmlformats.org/drawingml/2006/main">
          <a:graphicData uri="http://schemas.openxmlformats.org/drawingml/2006/chart">
            <c:chart xmlns:c="http://schemas.openxmlformats.org/drawingml/2006/chart" r:id="rId1"/>
          </a:graphicData>
        </a:graphic>
      </p:graphicFrame>
      <p:sp>
        <p:nvSpPr>
          <p:cNvPr id="69" name="Shape 66"/>
          <p:cNvSpPr/>
          <p:nvPr/>
        </p:nvSpPr>
        <p:spPr>
          <a:xfrm>
            <a:off x="502920" y="6053328"/>
            <a:ext cx="11183112" cy="365760"/>
          </a:xfrm>
          <a:prstGeom prst="roundRect">
            <a:avLst>
              <a:gd name="adj" fmla="val 13750"/>
            </a:avLst>
          </a:prstGeom>
          <a:solidFill>
            <a:srgbClr val="0B2E4F"/>
          </a:solidFill>
          <a:ln/>
        </p:spPr>
      </p:sp>
      <p:sp>
        <p:nvSpPr>
          <p:cNvPr id="70" name="Text 67"/>
          <p:cNvSpPr txBox="1"/>
          <p:nvPr/>
        </p:nvSpPr>
        <p:spPr>
          <a:xfrm>
            <a:off x="704088" y="6053328"/>
            <a:ext cx="10780776" cy="365760"/>
          </a:xfrm>
          <a:prstGeom prst="rect">
            <a:avLst/>
          </a:prstGeom>
          <a:noFill/>
          <a:ln/>
        </p:spPr>
        <p:txBody>
          <a:bodyPr wrap="square" lIns="0" tIns="0" rIns="0" bIns="0" rtlCol="0" anchor="ctr"/>
          <a:lstStyle/>
          <a:p>
            <a:pPr indent="0" marL="0">
              <a:lnSpc>
                <a:spcPct val="103000"/>
              </a:lnSpc>
              <a:buNone/>
            </a:pPr>
            <a:r>
              <a:rPr lang="en-US" sz="1050" b="1" spc="150" kern="0" dirty="0">
                <a:solidFill>
                  <a:srgbClr val="D98E1F"/>
                </a:solidFill>
                <a:latin typeface="Calibri" pitchFamily="34" charset="0"/>
                <a:ea typeface="Calibri" pitchFamily="34" charset="-122"/>
                <a:cs typeface="Calibri" pitchFamily="34" charset="-120"/>
              </a:rPr>
              <a:t>RULE   </a:t>
            </a:r>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A new cluster opens only when the previous one passes its gate: service quality and cash discipline scale before geography.</a:t>
            </a:r>
            <a:endParaRPr lang="en-US" sz="1050" dirty="0"/>
          </a:p>
        </p:txBody>
      </p:sp>
      <p:sp>
        <p:nvSpPr>
          <p:cNvPr id="71" name="Text 68"/>
          <p:cNvSpPr txBox="1"/>
          <p:nvPr/>
        </p:nvSpPr>
        <p:spPr>
          <a:xfrm>
            <a:off x="502920" y="6473952"/>
            <a:ext cx="9692640" cy="310896"/>
          </a:xfrm>
          <a:prstGeom prst="rect">
            <a:avLst/>
          </a:prstGeom>
          <a:noFill/>
          <a:ln/>
        </p:spPr>
        <p:txBody>
          <a:bodyPr wrap="square" lIns="0" tIns="0" rIns="0" bIns="0" rtlCol="0" anchor="t"/>
          <a:lstStyle/>
          <a:p>
            <a:pPr indent="0" marL="0">
              <a:lnSpc>
                <a:spcPct val="100000"/>
              </a:lnSpc>
              <a:buNone/>
            </a:pPr>
            <a:r>
              <a:rPr lang="en-US" sz="800" dirty="0">
                <a:solidFill>
                  <a:srgbClr val="8A959E"/>
                </a:solidFill>
                <a:latin typeface="Calibri" pitchFamily="34" charset="0"/>
                <a:ea typeface="Calibri" pitchFamily="34" charset="-122"/>
                <a:cs typeface="Calibri" pitchFamily="34" charset="-120"/>
              </a:rPr>
              <a:t>Targets are team estimates from the p.4 model; cluster distances from Bicholim, Goa. Investment funded by internal accruals + IPO working capital (problem statement).</a:t>
            </a:r>
            <a:endParaRPr lang="en-US" sz="800" dirty="0"/>
          </a:p>
        </p:txBody>
      </p:sp>
      <p:sp>
        <p:nvSpPr>
          <p:cNvPr id="72" name="Text 69"/>
          <p:cNvSpPr txBox="1"/>
          <p:nvPr/>
        </p:nvSpPr>
        <p:spPr>
          <a:xfrm>
            <a:off x="10378440" y="6510528"/>
            <a:ext cx="1325880" cy="237744"/>
          </a:xfrm>
          <a:prstGeom prst="rect">
            <a:avLst/>
          </a:prstGeom>
          <a:noFill/>
          <a:ln/>
        </p:spPr>
        <p:txBody>
          <a:bodyPr wrap="square" lIns="0" tIns="0" rIns="0" bIns="0" rtlCol="0" anchor="ctr"/>
          <a:lstStyle/>
          <a:p>
            <a:pPr algn="r" indent="0" marL="0">
              <a:buNone/>
            </a:pPr>
            <a:r>
              <a:rPr lang="en-US" sz="800" dirty="0">
                <a:solidFill>
                  <a:srgbClr val="8A959E"/>
                </a:solidFill>
                <a:latin typeface="Calibri" pitchFamily="34" charset="0"/>
                <a:ea typeface="Calibri" pitchFamily="34" charset="-122"/>
                <a:cs typeface="Calibri" pitchFamily="34" charset="-120"/>
              </a:rPr>
              <a:t>Team Wookies</a:t>
            </a:r>
            <a:pPr algn="r" indent="0" marL="0">
              <a:buNone/>
            </a:pPr>
            <a:r>
              <a:rPr lang="en-US" sz="900" b="1" dirty="0">
                <a:solidFill>
                  <a:srgbClr val="5D6A75"/>
                </a:solidFill>
                <a:latin typeface="Calibri" pitchFamily="34" charset="0"/>
                <a:ea typeface="Calibri" pitchFamily="34" charset="-122"/>
                <a:cs typeface="Calibri" pitchFamily="34" charset="-120"/>
              </a:rPr>
              <a:t>   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83112" cy="256032"/>
          </a:xfrm>
          <a:prstGeom prst="rect">
            <a:avLst/>
          </a:prstGeom>
          <a:noFill/>
          <a:ln/>
        </p:spPr>
        <p:txBody>
          <a:bodyPr wrap="square" lIns="0" tIns="0" rIns="0" bIns="0" rtlCol="0" anchor="ctr"/>
          <a:lstStyle/>
          <a:p>
            <a:pPr indent="0" marL="0">
              <a:buNone/>
            </a:pPr>
            <a:r>
              <a:rPr lang="en-US" sz="1050" b="1" spc="200" kern="0" dirty="0">
                <a:solidFill>
                  <a:srgbClr val="0E7C7B"/>
                </a:solidFill>
                <a:latin typeface="Calibri" pitchFamily="34" charset="0"/>
                <a:ea typeface="Calibri" pitchFamily="34" charset="-122"/>
                <a:cs typeface="Calibri" pitchFamily="34" charset="-120"/>
              </a:rPr>
              <a:t>DELIVERABLE 3 | RISK ASSESSMENT AND MITIGATION</a:t>
            </a:r>
            <a:endParaRPr lang="en-US" sz="1050" dirty="0"/>
          </a:p>
        </p:txBody>
      </p:sp>
      <p:sp>
        <p:nvSpPr>
          <p:cNvPr id="3" name="Text 1"/>
          <p:cNvSpPr txBox="1"/>
          <p:nvPr/>
        </p:nvSpPr>
        <p:spPr>
          <a:xfrm>
            <a:off x="502920" y="512064"/>
            <a:ext cx="11183112" cy="566928"/>
          </a:xfrm>
          <a:prstGeom prst="rect">
            <a:avLst/>
          </a:prstGeom>
          <a:noFill/>
          <a:ln/>
        </p:spPr>
        <p:txBody>
          <a:bodyPr wrap="square" lIns="0" tIns="0" rIns="0" bIns="0" rtlCol="0" anchor="ctr"/>
          <a:lstStyle/>
          <a:p>
            <a:pPr indent="0" marL="0">
              <a:lnSpc>
                <a:spcPct val="102000"/>
              </a:lnSpc>
              <a:buNone/>
            </a:pPr>
            <a:r>
              <a:rPr lang="en-US" sz="2000" b="1" dirty="0">
                <a:solidFill>
                  <a:srgbClr val="0B2E4F"/>
                </a:solidFill>
                <a:latin typeface="Calibri" pitchFamily="34" charset="0"/>
                <a:ea typeface="Calibri" pitchFamily="34" charset="-122"/>
                <a:cs typeface="Calibri" pitchFamily="34" charset="-120"/>
              </a:rPr>
              <a:t>The binding constraints are cash and credibility, not demand: two red-zone risks get standing controls</a:t>
            </a:r>
            <a:endParaRPr lang="en-US" sz="2000" dirty="0"/>
          </a:p>
        </p:txBody>
      </p:sp>
      <p:sp>
        <p:nvSpPr>
          <p:cNvPr id="4" name="Text 2"/>
          <p:cNvSpPr txBox="1"/>
          <p:nvPr/>
        </p:nvSpPr>
        <p:spPr>
          <a:xfrm>
            <a:off x="502920" y="1188720"/>
            <a:ext cx="3840480"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Likelihood x impact heatmap</a:t>
            </a:r>
            <a:endParaRPr lang="en-US" sz="1100" dirty="0"/>
          </a:p>
        </p:txBody>
      </p:sp>
      <p:sp>
        <p:nvSpPr>
          <p:cNvPr id="5" name="Shape 3"/>
          <p:cNvSpPr/>
          <p:nvPr/>
        </p:nvSpPr>
        <p:spPr>
          <a:xfrm>
            <a:off x="704088" y="4005072"/>
            <a:ext cx="694944" cy="640080"/>
          </a:xfrm>
          <a:prstGeom prst="rect">
            <a:avLst/>
          </a:prstGeom>
          <a:solidFill>
            <a:srgbClr val="EAF3EE"/>
          </a:solidFill>
          <a:ln w="19050">
            <a:solidFill>
              <a:srgbClr val="FFFFFF"/>
            </a:solidFill>
            <a:prstDash val="solid"/>
          </a:ln>
        </p:spPr>
      </p:sp>
      <p:sp>
        <p:nvSpPr>
          <p:cNvPr id="6" name="Shape 4"/>
          <p:cNvSpPr/>
          <p:nvPr/>
        </p:nvSpPr>
        <p:spPr>
          <a:xfrm>
            <a:off x="704088" y="3364992"/>
            <a:ext cx="694944" cy="640080"/>
          </a:xfrm>
          <a:prstGeom prst="rect">
            <a:avLst/>
          </a:prstGeom>
          <a:solidFill>
            <a:srgbClr val="EAF3EE"/>
          </a:solidFill>
          <a:ln w="19050">
            <a:solidFill>
              <a:srgbClr val="FFFFFF"/>
            </a:solidFill>
            <a:prstDash val="solid"/>
          </a:ln>
        </p:spPr>
      </p:sp>
      <p:sp>
        <p:nvSpPr>
          <p:cNvPr id="7" name="Shape 5"/>
          <p:cNvSpPr/>
          <p:nvPr/>
        </p:nvSpPr>
        <p:spPr>
          <a:xfrm>
            <a:off x="704088" y="2724912"/>
            <a:ext cx="694944" cy="640080"/>
          </a:xfrm>
          <a:prstGeom prst="rect">
            <a:avLst/>
          </a:prstGeom>
          <a:solidFill>
            <a:srgbClr val="EAF3EE"/>
          </a:solidFill>
          <a:ln w="19050">
            <a:solidFill>
              <a:srgbClr val="FFFFFF"/>
            </a:solidFill>
            <a:prstDash val="solid"/>
          </a:ln>
        </p:spPr>
      </p:sp>
      <p:sp>
        <p:nvSpPr>
          <p:cNvPr id="8" name="Shape 6"/>
          <p:cNvSpPr/>
          <p:nvPr/>
        </p:nvSpPr>
        <p:spPr>
          <a:xfrm>
            <a:off x="704088" y="2084832"/>
            <a:ext cx="694944" cy="640080"/>
          </a:xfrm>
          <a:prstGeom prst="rect">
            <a:avLst/>
          </a:prstGeom>
          <a:solidFill>
            <a:srgbClr val="EAF3EE"/>
          </a:solidFill>
          <a:ln w="19050">
            <a:solidFill>
              <a:srgbClr val="FFFFFF"/>
            </a:solidFill>
            <a:prstDash val="solid"/>
          </a:ln>
        </p:spPr>
      </p:sp>
      <p:sp>
        <p:nvSpPr>
          <p:cNvPr id="9" name="Shape 7"/>
          <p:cNvSpPr/>
          <p:nvPr/>
        </p:nvSpPr>
        <p:spPr>
          <a:xfrm>
            <a:off x="704088" y="1444752"/>
            <a:ext cx="694944" cy="640080"/>
          </a:xfrm>
          <a:prstGeom prst="rect">
            <a:avLst/>
          </a:prstGeom>
          <a:solidFill>
            <a:srgbClr val="FDF3D7"/>
          </a:solidFill>
          <a:ln w="19050">
            <a:solidFill>
              <a:srgbClr val="FFFFFF"/>
            </a:solidFill>
            <a:prstDash val="solid"/>
          </a:ln>
        </p:spPr>
      </p:sp>
      <p:sp>
        <p:nvSpPr>
          <p:cNvPr id="10" name="Shape 8"/>
          <p:cNvSpPr/>
          <p:nvPr/>
        </p:nvSpPr>
        <p:spPr>
          <a:xfrm>
            <a:off x="1399032" y="4005072"/>
            <a:ext cx="694944" cy="640080"/>
          </a:xfrm>
          <a:prstGeom prst="rect">
            <a:avLst/>
          </a:prstGeom>
          <a:solidFill>
            <a:srgbClr val="EAF3EE"/>
          </a:solidFill>
          <a:ln w="19050">
            <a:solidFill>
              <a:srgbClr val="FFFFFF"/>
            </a:solidFill>
            <a:prstDash val="solid"/>
          </a:ln>
        </p:spPr>
      </p:sp>
      <p:sp>
        <p:nvSpPr>
          <p:cNvPr id="11" name="Shape 9"/>
          <p:cNvSpPr/>
          <p:nvPr/>
        </p:nvSpPr>
        <p:spPr>
          <a:xfrm>
            <a:off x="1399032" y="3364992"/>
            <a:ext cx="694944" cy="640080"/>
          </a:xfrm>
          <a:prstGeom prst="rect">
            <a:avLst/>
          </a:prstGeom>
          <a:solidFill>
            <a:srgbClr val="EAF3EE"/>
          </a:solidFill>
          <a:ln w="19050">
            <a:solidFill>
              <a:srgbClr val="FFFFFF"/>
            </a:solidFill>
            <a:prstDash val="solid"/>
          </a:ln>
        </p:spPr>
      </p:sp>
      <p:sp>
        <p:nvSpPr>
          <p:cNvPr id="12" name="Shape 10"/>
          <p:cNvSpPr/>
          <p:nvPr/>
        </p:nvSpPr>
        <p:spPr>
          <a:xfrm>
            <a:off x="1399032" y="2724912"/>
            <a:ext cx="694944" cy="640080"/>
          </a:xfrm>
          <a:prstGeom prst="rect">
            <a:avLst/>
          </a:prstGeom>
          <a:solidFill>
            <a:srgbClr val="EAF3EE"/>
          </a:solidFill>
          <a:ln w="19050">
            <a:solidFill>
              <a:srgbClr val="FFFFFF"/>
            </a:solidFill>
            <a:prstDash val="solid"/>
          </a:ln>
        </p:spPr>
      </p:sp>
      <p:sp>
        <p:nvSpPr>
          <p:cNvPr id="13" name="Shape 11"/>
          <p:cNvSpPr/>
          <p:nvPr/>
        </p:nvSpPr>
        <p:spPr>
          <a:xfrm>
            <a:off x="1399032" y="2084832"/>
            <a:ext cx="694944" cy="640080"/>
          </a:xfrm>
          <a:prstGeom prst="rect">
            <a:avLst/>
          </a:prstGeom>
          <a:solidFill>
            <a:srgbClr val="FDF3D7"/>
          </a:solidFill>
          <a:ln w="19050">
            <a:solidFill>
              <a:srgbClr val="FFFFFF"/>
            </a:solidFill>
            <a:prstDash val="solid"/>
          </a:ln>
        </p:spPr>
      </p:sp>
      <p:sp>
        <p:nvSpPr>
          <p:cNvPr id="14" name="Shape 12"/>
          <p:cNvSpPr/>
          <p:nvPr/>
        </p:nvSpPr>
        <p:spPr>
          <a:xfrm>
            <a:off x="1399032" y="1444752"/>
            <a:ext cx="694944" cy="640080"/>
          </a:xfrm>
          <a:prstGeom prst="rect">
            <a:avLst/>
          </a:prstGeom>
          <a:solidFill>
            <a:srgbClr val="FDF3D7"/>
          </a:solidFill>
          <a:ln w="19050">
            <a:solidFill>
              <a:srgbClr val="FFFFFF"/>
            </a:solidFill>
            <a:prstDash val="solid"/>
          </a:ln>
        </p:spPr>
      </p:sp>
      <p:sp>
        <p:nvSpPr>
          <p:cNvPr id="15" name="Shape 13"/>
          <p:cNvSpPr/>
          <p:nvPr/>
        </p:nvSpPr>
        <p:spPr>
          <a:xfrm>
            <a:off x="2093976" y="4005072"/>
            <a:ext cx="694944" cy="640080"/>
          </a:xfrm>
          <a:prstGeom prst="rect">
            <a:avLst/>
          </a:prstGeom>
          <a:solidFill>
            <a:srgbClr val="EAF3EE"/>
          </a:solidFill>
          <a:ln w="19050">
            <a:solidFill>
              <a:srgbClr val="FFFFFF"/>
            </a:solidFill>
            <a:prstDash val="solid"/>
          </a:ln>
        </p:spPr>
      </p:sp>
      <p:sp>
        <p:nvSpPr>
          <p:cNvPr id="16" name="Shape 14"/>
          <p:cNvSpPr/>
          <p:nvPr/>
        </p:nvSpPr>
        <p:spPr>
          <a:xfrm>
            <a:off x="2093976" y="3364992"/>
            <a:ext cx="694944" cy="640080"/>
          </a:xfrm>
          <a:prstGeom prst="rect">
            <a:avLst/>
          </a:prstGeom>
          <a:solidFill>
            <a:srgbClr val="EAF3EE"/>
          </a:solidFill>
          <a:ln w="19050">
            <a:solidFill>
              <a:srgbClr val="FFFFFF"/>
            </a:solidFill>
            <a:prstDash val="solid"/>
          </a:ln>
        </p:spPr>
      </p:sp>
      <p:sp>
        <p:nvSpPr>
          <p:cNvPr id="17" name="Shape 15"/>
          <p:cNvSpPr/>
          <p:nvPr/>
        </p:nvSpPr>
        <p:spPr>
          <a:xfrm>
            <a:off x="2093976" y="2724912"/>
            <a:ext cx="694944" cy="640080"/>
          </a:xfrm>
          <a:prstGeom prst="rect">
            <a:avLst/>
          </a:prstGeom>
          <a:solidFill>
            <a:srgbClr val="FDF3D7"/>
          </a:solidFill>
          <a:ln w="19050">
            <a:solidFill>
              <a:srgbClr val="FFFFFF"/>
            </a:solidFill>
            <a:prstDash val="solid"/>
          </a:ln>
        </p:spPr>
      </p:sp>
      <p:sp>
        <p:nvSpPr>
          <p:cNvPr id="18" name="Shape 16"/>
          <p:cNvSpPr/>
          <p:nvPr/>
        </p:nvSpPr>
        <p:spPr>
          <a:xfrm>
            <a:off x="2093976" y="2084832"/>
            <a:ext cx="694944" cy="640080"/>
          </a:xfrm>
          <a:prstGeom prst="rect">
            <a:avLst/>
          </a:prstGeom>
          <a:solidFill>
            <a:srgbClr val="FDF3D7"/>
          </a:solidFill>
          <a:ln w="19050">
            <a:solidFill>
              <a:srgbClr val="FFFFFF"/>
            </a:solidFill>
            <a:prstDash val="solid"/>
          </a:ln>
        </p:spPr>
      </p:sp>
      <p:sp>
        <p:nvSpPr>
          <p:cNvPr id="19" name="Shape 17"/>
          <p:cNvSpPr/>
          <p:nvPr/>
        </p:nvSpPr>
        <p:spPr>
          <a:xfrm>
            <a:off x="2093976" y="1444752"/>
            <a:ext cx="694944" cy="640080"/>
          </a:xfrm>
          <a:prstGeom prst="rect">
            <a:avLst/>
          </a:prstGeom>
          <a:solidFill>
            <a:srgbClr val="F5E3DE"/>
          </a:solidFill>
          <a:ln w="19050">
            <a:solidFill>
              <a:srgbClr val="FFFFFF"/>
            </a:solidFill>
            <a:prstDash val="solid"/>
          </a:ln>
        </p:spPr>
      </p:sp>
      <p:sp>
        <p:nvSpPr>
          <p:cNvPr id="20" name="Shape 18"/>
          <p:cNvSpPr/>
          <p:nvPr/>
        </p:nvSpPr>
        <p:spPr>
          <a:xfrm>
            <a:off x="2788920" y="4005072"/>
            <a:ext cx="694944" cy="640080"/>
          </a:xfrm>
          <a:prstGeom prst="rect">
            <a:avLst/>
          </a:prstGeom>
          <a:solidFill>
            <a:srgbClr val="EAF3EE"/>
          </a:solidFill>
          <a:ln w="19050">
            <a:solidFill>
              <a:srgbClr val="FFFFFF"/>
            </a:solidFill>
            <a:prstDash val="solid"/>
          </a:ln>
        </p:spPr>
      </p:sp>
      <p:sp>
        <p:nvSpPr>
          <p:cNvPr id="21" name="Shape 19"/>
          <p:cNvSpPr/>
          <p:nvPr/>
        </p:nvSpPr>
        <p:spPr>
          <a:xfrm>
            <a:off x="2788920" y="3364992"/>
            <a:ext cx="694944" cy="640080"/>
          </a:xfrm>
          <a:prstGeom prst="rect">
            <a:avLst/>
          </a:prstGeom>
          <a:solidFill>
            <a:srgbClr val="FDF3D7"/>
          </a:solidFill>
          <a:ln w="19050">
            <a:solidFill>
              <a:srgbClr val="FFFFFF"/>
            </a:solidFill>
            <a:prstDash val="solid"/>
          </a:ln>
        </p:spPr>
      </p:sp>
      <p:sp>
        <p:nvSpPr>
          <p:cNvPr id="22" name="Shape 20"/>
          <p:cNvSpPr/>
          <p:nvPr/>
        </p:nvSpPr>
        <p:spPr>
          <a:xfrm>
            <a:off x="2788920" y="2724912"/>
            <a:ext cx="694944" cy="640080"/>
          </a:xfrm>
          <a:prstGeom prst="rect">
            <a:avLst/>
          </a:prstGeom>
          <a:solidFill>
            <a:srgbClr val="FDF3D7"/>
          </a:solidFill>
          <a:ln w="19050">
            <a:solidFill>
              <a:srgbClr val="FFFFFF"/>
            </a:solidFill>
            <a:prstDash val="solid"/>
          </a:ln>
        </p:spPr>
      </p:sp>
      <p:sp>
        <p:nvSpPr>
          <p:cNvPr id="23" name="Shape 21"/>
          <p:cNvSpPr/>
          <p:nvPr/>
        </p:nvSpPr>
        <p:spPr>
          <a:xfrm>
            <a:off x="2788920" y="2084832"/>
            <a:ext cx="694944" cy="640080"/>
          </a:xfrm>
          <a:prstGeom prst="rect">
            <a:avLst/>
          </a:prstGeom>
          <a:solidFill>
            <a:srgbClr val="F5E3DE"/>
          </a:solidFill>
          <a:ln w="19050">
            <a:solidFill>
              <a:srgbClr val="FFFFFF"/>
            </a:solidFill>
            <a:prstDash val="solid"/>
          </a:ln>
        </p:spPr>
      </p:sp>
      <p:sp>
        <p:nvSpPr>
          <p:cNvPr id="24" name="Shape 22"/>
          <p:cNvSpPr/>
          <p:nvPr/>
        </p:nvSpPr>
        <p:spPr>
          <a:xfrm>
            <a:off x="2788920" y="1444752"/>
            <a:ext cx="694944" cy="640080"/>
          </a:xfrm>
          <a:prstGeom prst="rect">
            <a:avLst/>
          </a:prstGeom>
          <a:solidFill>
            <a:srgbClr val="F5E3DE"/>
          </a:solidFill>
          <a:ln w="19050">
            <a:solidFill>
              <a:srgbClr val="FFFFFF"/>
            </a:solidFill>
            <a:prstDash val="solid"/>
          </a:ln>
        </p:spPr>
      </p:sp>
      <p:sp>
        <p:nvSpPr>
          <p:cNvPr id="25" name="Shape 23"/>
          <p:cNvSpPr/>
          <p:nvPr/>
        </p:nvSpPr>
        <p:spPr>
          <a:xfrm>
            <a:off x="3483864" y="4005072"/>
            <a:ext cx="694944" cy="640080"/>
          </a:xfrm>
          <a:prstGeom prst="rect">
            <a:avLst/>
          </a:prstGeom>
          <a:solidFill>
            <a:srgbClr val="FDF3D7"/>
          </a:solidFill>
          <a:ln w="19050">
            <a:solidFill>
              <a:srgbClr val="FFFFFF"/>
            </a:solidFill>
            <a:prstDash val="solid"/>
          </a:ln>
        </p:spPr>
      </p:sp>
      <p:sp>
        <p:nvSpPr>
          <p:cNvPr id="26" name="Shape 24"/>
          <p:cNvSpPr/>
          <p:nvPr/>
        </p:nvSpPr>
        <p:spPr>
          <a:xfrm>
            <a:off x="3483864" y="3364992"/>
            <a:ext cx="694944" cy="640080"/>
          </a:xfrm>
          <a:prstGeom prst="rect">
            <a:avLst/>
          </a:prstGeom>
          <a:solidFill>
            <a:srgbClr val="FDF3D7"/>
          </a:solidFill>
          <a:ln w="19050">
            <a:solidFill>
              <a:srgbClr val="FFFFFF"/>
            </a:solidFill>
            <a:prstDash val="solid"/>
          </a:ln>
        </p:spPr>
      </p:sp>
      <p:sp>
        <p:nvSpPr>
          <p:cNvPr id="27" name="Shape 25"/>
          <p:cNvSpPr/>
          <p:nvPr/>
        </p:nvSpPr>
        <p:spPr>
          <a:xfrm>
            <a:off x="3483864" y="2724912"/>
            <a:ext cx="694944" cy="640080"/>
          </a:xfrm>
          <a:prstGeom prst="rect">
            <a:avLst/>
          </a:prstGeom>
          <a:solidFill>
            <a:srgbClr val="F5E3DE"/>
          </a:solidFill>
          <a:ln w="19050">
            <a:solidFill>
              <a:srgbClr val="FFFFFF"/>
            </a:solidFill>
            <a:prstDash val="solid"/>
          </a:ln>
        </p:spPr>
      </p:sp>
      <p:sp>
        <p:nvSpPr>
          <p:cNvPr id="28" name="Shape 26"/>
          <p:cNvSpPr/>
          <p:nvPr/>
        </p:nvSpPr>
        <p:spPr>
          <a:xfrm>
            <a:off x="3483864" y="2084832"/>
            <a:ext cx="694944" cy="640080"/>
          </a:xfrm>
          <a:prstGeom prst="rect">
            <a:avLst/>
          </a:prstGeom>
          <a:solidFill>
            <a:srgbClr val="F5E3DE"/>
          </a:solidFill>
          <a:ln w="19050">
            <a:solidFill>
              <a:srgbClr val="FFFFFF"/>
            </a:solidFill>
            <a:prstDash val="solid"/>
          </a:ln>
        </p:spPr>
      </p:sp>
      <p:sp>
        <p:nvSpPr>
          <p:cNvPr id="29" name="Shape 27"/>
          <p:cNvSpPr/>
          <p:nvPr/>
        </p:nvSpPr>
        <p:spPr>
          <a:xfrm>
            <a:off x="3483864" y="1444752"/>
            <a:ext cx="694944" cy="640080"/>
          </a:xfrm>
          <a:prstGeom prst="rect">
            <a:avLst/>
          </a:prstGeom>
          <a:solidFill>
            <a:srgbClr val="F5E3DE"/>
          </a:solidFill>
          <a:ln w="19050">
            <a:solidFill>
              <a:srgbClr val="FFFFFF"/>
            </a:solidFill>
            <a:prstDash val="solid"/>
          </a:ln>
        </p:spPr>
      </p:sp>
      <p:sp>
        <p:nvSpPr>
          <p:cNvPr id="30" name="Text 28"/>
          <p:cNvSpPr txBox="1"/>
          <p:nvPr/>
        </p:nvSpPr>
        <p:spPr>
          <a:xfrm>
            <a:off x="704088" y="4663440"/>
            <a:ext cx="694944" cy="164592"/>
          </a:xfrm>
          <a:prstGeom prst="rect">
            <a:avLst/>
          </a:prstGeom>
          <a:noFill/>
          <a:ln/>
        </p:spPr>
        <p:txBody>
          <a:bodyPr wrap="square" lIns="0" tIns="0" rIns="0" bIns="0" rtlCol="0" anchor="ctr"/>
          <a:lstStyle/>
          <a:p>
            <a:pPr algn="ctr" indent="0" marL="0">
              <a:buNone/>
            </a:pPr>
            <a:r>
              <a:rPr lang="en-US" sz="700" dirty="0">
                <a:solidFill>
                  <a:srgbClr val="8A959E"/>
                </a:solidFill>
                <a:latin typeface="Calibri" pitchFamily="34" charset="0"/>
                <a:ea typeface="Calibri" pitchFamily="34" charset="-122"/>
                <a:cs typeface="Calibri" pitchFamily="34" charset="-120"/>
              </a:rPr>
              <a:t>1</a:t>
            </a:r>
            <a:endParaRPr lang="en-US" sz="700" dirty="0"/>
          </a:p>
        </p:txBody>
      </p:sp>
      <p:sp>
        <p:nvSpPr>
          <p:cNvPr id="31" name="Text 29"/>
          <p:cNvSpPr txBox="1"/>
          <p:nvPr/>
        </p:nvSpPr>
        <p:spPr>
          <a:xfrm>
            <a:off x="521208" y="4242816"/>
            <a:ext cx="146304" cy="164592"/>
          </a:xfrm>
          <a:prstGeom prst="rect">
            <a:avLst/>
          </a:prstGeom>
          <a:noFill/>
          <a:ln/>
        </p:spPr>
        <p:txBody>
          <a:bodyPr wrap="square" lIns="0" tIns="0" rIns="0" bIns="0" rtlCol="0" anchor="ctr"/>
          <a:lstStyle/>
          <a:p>
            <a:pPr algn="ctr" indent="0" marL="0">
              <a:buNone/>
            </a:pPr>
            <a:r>
              <a:rPr lang="en-US" sz="700" dirty="0">
                <a:solidFill>
                  <a:srgbClr val="8A959E"/>
                </a:solidFill>
                <a:latin typeface="Calibri" pitchFamily="34" charset="0"/>
                <a:ea typeface="Calibri" pitchFamily="34" charset="-122"/>
                <a:cs typeface="Calibri" pitchFamily="34" charset="-120"/>
              </a:rPr>
              <a:t>1</a:t>
            </a:r>
            <a:endParaRPr lang="en-US" sz="700" dirty="0"/>
          </a:p>
        </p:txBody>
      </p:sp>
      <p:sp>
        <p:nvSpPr>
          <p:cNvPr id="32" name="Text 30"/>
          <p:cNvSpPr txBox="1"/>
          <p:nvPr/>
        </p:nvSpPr>
        <p:spPr>
          <a:xfrm>
            <a:off x="1399032" y="4663440"/>
            <a:ext cx="694944" cy="164592"/>
          </a:xfrm>
          <a:prstGeom prst="rect">
            <a:avLst/>
          </a:prstGeom>
          <a:noFill/>
          <a:ln/>
        </p:spPr>
        <p:txBody>
          <a:bodyPr wrap="square" lIns="0" tIns="0" rIns="0" bIns="0" rtlCol="0" anchor="ctr"/>
          <a:lstStyle/>
          <a:p>
            <a:pPr algn="ctr" indent="0" marL="0">
              <a:buNone/>
            </a:pPr>
            <a:r>
              <a:rPr lang="en-US" sz="700" dirty="0">
                <a:solidFill>
                  <a:srgbClr val="8A959E"/>
                </a:solidFill>
                <a:latin typeface="Calibri" pitchFamily="34" charset="0"/>
                <a:ea typeface="Calibri" pitchFamily="34" charset="-122"/>
                <a:cs typeface="Calibri" pitchFamily="34" charset="-120"/>
              </a:rPr>
              <a:t>2</a:t>
            </a:r>
            <a:endParaRPr lang="en-US" sz="700" dirty="0"/>
          </a:p>
        </p:txBody>
      </p:sp>
      <p:sp>
        <p:nvSpPr>
          <p:cNvPr id="33" name="Text 31"/>
          <p:cNvSpPr txBox="1"/>
          <p:nvPr/>
        </p:nvSpPr>
        <p:spPr>
          <a:xfrm>
            <a:off x="521208" y="3602736"/>
            <a:ext cx="146304" cy="164592"/>
          </a:xfrm>
          <a:prstGeom prst="rect">
            <a:avLst/>
          </a:prstGeom>
          <a:noFill/>
          <a:ln/>
        </p:spPr>
        <p:txBody>
          <a:bodyPr wrap="square" lIns="0" tIns="0" rIns="0" bIns="0" rtlCol="0" anchor="ctr"/>
          <a:lstStyle/>
          <a:p>
            <a:pPr algn="ctr" indent="0" marL="0">
              <a:buNone/>
            </a:pPr>
            <a:r>
              <a:rPr lang="en-US" sz="700" dirty="0">
                <a:solidFill>
                  <a:srgbClr val="8A959E"/>
                </a:solidFill>
                <a:latin typeface="Calibri" pitchFamily="34" charset="0"/>
                <a:ea typeface="Calibri" pitchFamily="34" charset="-122"/>
                <a:cs typeface="Calibri" pitchFamily="34" charset="-120"/>
              </a:rPr>
              <a:t>2</a:t>
            </a:r>
            <a:endParaRPr lang="en-US" sz="700" dirty="0"/>
          </a:p>
        </p:txBody>
      </p:sp>
      <p:sp>
        <p:nvSpPr>
          <p:cNvPr id="34" name="Text 32"/>
          <p:cNvSpPr txBox="1"/>
          <p:nvPr/>
        </p:nvSpPr>
        <p:spPr>
          <a:xfrm>
            <a:off x="2093976" y="4663440"/>
            <a:ext cx="694944" cy="164592"/>
          </a:xfrm>
          <a:prstGeom prst="rect">
            <a:avLst/>
          </a:prstGeom>
          <a:noFill/>
          <a:ln/>
        </p:spPr>
        <p:txBody>
          <a:bodyPr wrap="square" lIns="0" tIns="0" rIns="0" bIns="0" rtlCol="0" anchor="ctr"/>
          <a:lstStyle/>
          <a:p>
            <a:pPr algn="ctr" indent="0" marL="0">
              <a:buNone/>
            </a:pPr>
            <a:r>
              <a:rPr lang="en-US" sz="700" dirty="0">
                <a:solidFill>
                  <a:srgbClr val="8A959E"/>
                </a:solidFill>
                <a:latin typeface="Calibri" pitchFamily="34" charset="0"/>
                <a:ea typeface="Calibri" pitchFamily="34" charset="-122"/>
                <a:cs typeface="Calibri" pitchFamily="34" charset="-120"/>
              </a:rPr>
              <a:t>3</a:t>
            </a:r>
            <a:endParaRPr lang="en-US" sz="700" dirty="0"/>
          </a:p>
        </p:txBody>
      </p:sp>
      <p:sp>
        <p:nvSpPr>
          <p:cNvPr id="35" name="Text 33"/>
          <p:cNvSpPr txBox="1"/>
          <p:nvPr/>
        </p:nvSpPr>
        <p:spPr>
          <a:xfrm>
            <a:off x="521208" y="2962656"/>
            <a:ext cx="146304" cy="164592"/>
          </a:xfrm>
          <a:prstGeom prst="rect">
            <a:avLst/>
          </a:prstGeom>
          <a:noFill/>
          <a:ln/>
        </p:spPr>
        <p:txBody>
          <a:bodyPr wrap="square" lIns="0" tIns="0" rIns="0" bIns="0" rtlCol="0" anchor="ctr"/>
          <a:lstStyle/>
          <a:p>
            <a:pPr algn="ctr" indent="0" marL="0">
              <a:buNone/>
            </a:pPr>
            <a:r>
              <a:rPr lang="en-US" sz="700" dirty="0">
                <a:solidFill>
                  <a:srgbClr val="8A959E"/>
                </a:solidFill>
                <a:latin typeface="Calibri" pitchFamily="34" charset="0"/>
                <a:ea typeface="Calibri" pitchFamily="34" charset="-122"/>
                <a:cs typeface="Calibri" pitchFamily="34" charset="-120"/>
              </a:rPr>
              <a:t>3</a:t>
            </a:r>
            <a:endParaRPr lang="en-US" sz="700" dirty="0"/>
          </a:p>
        </p:txBody>
      </p:sp>
      <p:sp>
        <p:nvSpPr>
          <p:cNvPr id="36" name="Text 34"/>
          <p:cNvSpPr txBox="1"/>
          <p:nvPr/>
        </p:nvSpPr>
        <p:spPr>
          <a:xfrm>
            <a:off x="2788920" y="4663440"/>
            <a:ext cx="694944" cy="164592"/>
          </a:xfrm>
          <a:prstGeom prst="rect">
            <a:avLst/>
          </a:prstGeom>
          <a:noFill/>
          <a:ln/>
        </p:spPr>
        <p:txBody>
          <a:bodyPr wrap="square" lIns="0" tIns="0" rIns="0" bIns="0" rtlCol="0" anchor="ctr"/>
          <a:lstStyle/>
          <a:p>
            <a:pPr algn="ctr" indent="0" marL="0">
              <a:buNone/>
            </a:pPr>
            <a:r>
              <a:rPr lang="en-US" sz="700" dirty="0">
                <a:solidFill>
                  <a:srgbClr val="8A959E"/>
                </a:solidFill>
                <a:latin typeface="Calibri" pitchFamily="34" charset="0"/>
                <a:ea typeface="Calibri" pitchFamily="34" charset="-122"/>
                <a:cs typeface="Calibri" pitchFamily="34" charset="-120"/>
              </a:rPr>
              <a:t>4</a:t>
            </a:r>
            <a:endParaRPr lang="en-US" sz="700" dirty="0"/>
          </a:p>
        </p:txBody>
      </p:sp>
      <p:sp>
        <p:nvSpPr>
          <p:cNvPr id="37" name="Text 35"/>
          <p:cNvSpPr txBox="1"/>
          <p:nvPr/>
        </p:nvSpPr>
        <p:spPr>
          <a:xfrm>
            <a:off x="521208" y="2322576"/>
            <a:ext cx="146304" cy="164592"/>
          </a:xfrm>
          <a:prstGeom prst="rect">
            <a:avLst/>
          </a:prstGeom>
          <a:noFill/>
          <a:ln/>
        </p:spPr>
        <p:txBody>
          <a:bodyPr wrap="square" lIns="0" tIns="0" rIns="0" bIns="0" rtlCol="0" anchor="ctr"/>
          <a:lstStyle/>
          <a:p>
            <a:pPr algn="ctr" indent="0" marL="0">
              <a:buNone/>
            </a:pPr>
            <a:r>
              <a:rPr lang="en-US" sz="700" dirty="0">
                <a:solidFill>
                  <a:srgbClr val="8A959E"/>
                </a:solidFill>
                <a:latin typeface="Calibri" pitchFamily="34" charset="0"/>
                <a:ea typeface="Calibri" pitchFamily="34" charset="-122"/>
                <a:cs typeface="Calibri" pitchFamily="34" charset="-120"/>
              </a:rPr>
              <a:t>4</a:t>
            </a:r>
            <a:endParaRPr lang="en-US" sz="700" dirty="0"/>
          </a:p>
        </p:txBody>
      </p:sp>
      <p:sp>
        <p:nvSpPr>
          <p:cNvPr id="38" name="Text 36"/>
          <p:cNvSpPr txBox="1"/>
          <p:nvPr/>
        </p:nvSpPr>
        <p:spPr>
          <a:xfrm>
            <a:off x="3483864" y="4663440"/>
            <a:ext cx="694944" cy="164592"/>
          </a:xfrm>
          <a:prstGeom prst="rect">
            <a:avLst/>
          </a:prstGeom>
          <a:noFill/>
          <a:ln/>
        </p:spPr>
        <p:txBody>
          <a:bodyPr wrap="square" lIns="0" tIns="0" rIns="0" bIns="0" rtlCol="0" anchor="ctr"/>
          <a:lstStyle/>
          <a:p>
            <a:pPr algn="ctr" indent="0" marL="0">
              <a:buNone/>
            </a:pPr>
            <a:r>
              <a:rPr lang="en-US" sz="700" dirty="0">
                <a:solidFill>
                  <a:srgbClr val="8A959E"/>
                </a:solidFill>
                <a:latin typeface="Calibri" pitchFamily="34" charset="0"/>
                <a:ea typeface="Calibri" pitchFamily="34" charset="-122"/>
                <a:cs typeface="Calibri" pitchFamily="34" charset="-120"/>
              </a:rPr>
              <a:t>5</a:t>
            </a:r>
            <a:endParaRPr lang="en-US" sz="700" dirty="0"/>
          </a:p>
        </p:txBody>
      </p:sp>
      <p:sp>
        <p:nvSpPr>
          <p:cNvPr id="39" name="Text 37"/>
          <p:cNvSpPr txBox="1"/>
          <p:nvPr/>
        </p:nvSpPr>
        <p:spPr>
          <a:xfrm>
            <a:off x="521208" y="1682496"/>
            <a:ext cx="146304" cy="164592"/>
          </a:xfrm>
          <a:prstGeom prst="rect">
            <a:avLst/>
          </a:prstGeom>
          <a:noFill/>
          <a:ln/>
        </p:spPr>
        <p:txBody>
          <a:bodyPr wrap="square" lIns="0" tIns="0" rIns="0" bIns="0" rtlCol="0" anchor="ctr"/>
          <a:lstStyle/>
          <a:p>
            <a:pPr algn="ctr" indent="0" marL="0">
              <a:buNone/>
            </a:pPr>
            <a:r>
              <a:rPr lang="en-US" sz="700" dirty="0">
                <a:solidFill>
                  <a:srgbClr val="8A959E"/>
                </a:solidFill>
                <a:latin typeface="Calibri" pitchFamily="34" charset="0"/>
                <a:ea typeface="Calibri" pitchFamily="34" charset="-122"/>
                <a:cs typeface="Calibri" pitchFamily="34" charset="-120"/>
              </a:rPr>
              <a:t>5</a:t>
            </a:r>
            <a:endParaRPr lang="en-US" sz="700" dirty="0"/>
          </a:p>
        </p:txBody>
      </p:sp>
      <p:sp>
        <p:nvSpPr>
          <p:cNvPr id="40" name="Shape 38"/>
          <p:cNvSpPr/>
          <p:nvPr/>
        </p:nvSpPr>
        <p:spPr>
          <a:xfrm>
            <a:off x="2990088" y="1618488"/>
            <a:ext cx="292608" cy="292608"/>
          </a:xfrm>
          <a:prstGeom prst="ellipse">
            <a:avLst/>
          </a:prstGeom>
          <a:solidFill>
            <a:srgbClr val="B3442E"/>
          </a:solidFill>
          <a:ln w="12700">
            <a:solidFill>
              <a:srgbClr val="FFFFFF"/>
            </a:solidFill>
            <a:prstDash val="solid"/>
          </a:ln>
        </p:spPr>
      </p:sp>
      <p:sp>
        <p:nvSpPr>
          <p:cNvPr id="41" name="Text 39"/>
          <p:cNvSpPr txBox="1"/>
          <p:nvPr/>
        </p:nvSpPr>
        <p:spPr>
          <a:xfrm>
            <a:off x="2944368" y="1641348"/>
            <a:ext cx="384048"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R1</a:t>
            </a:r>
            <a:endParaRPr lang="en-US" sz="750" dirty="0"/>
          </a:p>
        </p:txBody>
      </p:sp>
      <p:sp>
        <p:nvSpPr>
          <p:cNvPr id="42" name="Shape 40"/>
          <p:cNvSpPr/>
          <p:nvPr/>
        </p:nvSpPr>
        <p:spPr>
          <a:xfrm>
            <a:off x="2990088" y="2898648"/>
            <a:ext cx="292608" cy="292608"/>
          </a:xfrm>
          <a:prstGeom prst="ellipse">
            <a:avLst/>
          </a:prstGeom>
          <a:solidFill>
            <a:srgbClr val="0B2E4F"/>
          </a:solidFill>
          <a:ln w="12700">
            <a:solidFill>
              <a:srgbClr val="FFFFFF"/>
            </a:solidFill>
            <a:prstDash val="solid"/>
          </a:ln>
        </p:spPr>
      </p:sp>
      <p:sp>
        <p:nvSpPr>
          <p:cNvPr id="43" name="Text 41"/>
          <p:cNvSpPr txBox="1"/>
          <p:nvPr/>
        </p:nvSpPr>
        <p:spPr>
          <a:xfrm>
            <a:off x="2944368" y="2921508"/>
            <a:ext cx="384048"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R2</a:t>
            </a:r>
            <a:endParaRPr lang="en-US" sz="750" dirty="0"/>
          </a:p>
        </p:txBody>
      </p:sp>
      <p:sp>
        <p:nvSpPr>
          <p:cNvPr id="44" name="Shape 42"/>
          <p:cNvSpPr/>
          <p:nvPr/>
        </p:nvSpPr>
        <p:spPr>
          <a:xfrm>
            <a:off x="2121408" y="2258568"/>
            <a:ext cx="292608" cy="292608"/>
          </a:xfrm>
          <a:prstGeom prst="ellipse">
            <a:avLst/>
          </a:prstGeom>
          <a:solidFill>
            <a:srgbClr val="0B2E4F"/>
          </a:solidFill>
          <a:ln w="12700">
            <a:solidFill>
              <a:srgbClr val="FFFFFF"/>
            </a:solidFill>
            <a:prstDash val="solid"/>
          </a:ln>
        </p:spPr>
      </p:sp>
      <p:sp>
        <p:nvSpPr>
          <p:cNvPr id="45" name="Text 43"/>
          <p:cNvSpPr txBox="1"/>
          <p:nvPr/>
        </p:nvSpPr>
        <p:spPr>
          <a:xfrm>
            <a:off x="2075688" y="2281428"/>
            <a:ext cx="384048"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R3</a:t>
            </a:r>
            <a:endParaRPr lang="en-US" sz="750" dirty="0"/>
          </a:p>
        </p:txBody>
      </p:sp>
      <p:sp>
        <p:nvSpPr>
          <p:cNvPr id="46" name="Shape 44"/>
          <p:cNvSpPr/>
          <p:nvPr/>
        </p:nvSpPr>
        <p:spPr>
          <a:xfrm>
            <a:off x="2295144" y="2898648"/>
            <a:ext cx="292608" cy="292608"/>
          </a:xfrm>
          <a:prstGeom prst="ellipse">
            <a:avLst/>
          </a:prstGeom>
          <a:solidFill>
            <a:srgbClr val="0B2E4F"/>
          </a:solidFill>
          <a:ln w="12700">
            <a:solidFill>
              <a:srgbClr val="FFFFFF"/>
            </a:solidFill>
            <a:prstDash val="solid"/>
          </a:ln>
        </p:spPr>
      </p:sp>
      <p:sp>
        <p:nvSpPr>
          <p:cNvPr id="47" name="Text 45"/>
          <p:cNvSpPr txBox="1"/>
          <p:nvPr/>
        </p:nvSpPr>
        <p:spPr>
          <a:xfrm>
            <a:off x="2249424" y="2921508"/>
            <a:ext cx="384048"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R4</a:t>
            </a:r>
            <a:endParaRPr lang="en-US" sz="750" dirty="0"/>
          </a:p>
        </p:txBody>
      </p:sp>
      <p:sp>
        <p:nvSpPr>
          <p:cNvPr id="48" name="Shape 46"/>
          <p:cNvSpPr/>
          <p:nvPr/>
        </p:nvSpPr>
        <p:spPr>
          <a:xfrm>
            <a:off x="2468880" y="2258568"/>
            <a:ext cx="292608" cy="292608"/>
          </a:xfrm>
          <a:prstGeom prst="ellipse">
            <a:avLst/>
          </a:prstGeom>
          <a:solidFill>
            <a:srgbClr val="0B2E4F"/>
          </a:solidFill>
          <a:ln w="12700">
            <a:solidFill>
              <a:srgbClr val="FFFFFF"/>
            </a:solidFill>
            <a:prstDash val="solid"/>
          </a:ln>
        </p:spPr>
      </p:sp>
      <p:sp>
        <p:nvSpPr>
          <p:cNvPr id="49" name="Text 47"/>
          <p:cNvSpPr txBox="1"/>
          <p:nvPr/>
        </p:nvSpPr>
        <p:spPr>
          <a:xfrm>
            <a:off x="2423160" y="2281428"/>
            <a:ext cx="384048"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R5</a:t>
            </a:r>
            <a:endParaRPr lang="en-US" sz="750" dirty="0"/>
          </a:p>
        </p:txBody>
      </p:sp>
      <p:sp>
        <p:nvSpPr>
          <p:cNvPr id="50" name="Shape 48"/>
          <p:cNvSpPr/>
          <p:nvPr/>
        </p:nvSpPr>
        <p:spPr>
          <a:xfrm>
            <a:off x="1600200" y="2258568"/>
            <a:ext cx="292608" cy="292608"/>
          </a:xfrm>
          <a:prstGeom prst="ellipse">
            <a:avLst/>
          </a:prstGeom>
          <a:solidFill>
            <a:srgbClr val="0B2E4F"/>
          </a:solidFill>
          <a:ln w="12700">
            <a:solidFill>
              <a:srgbClr val="FFFFFF"/>
            </a:solidFill>
            <a:prstDash val="solid"/>
          </a:ln>
        </p:spPr>
      </p:sp>
      <p:sp>
        <p:nvSpPr>
          <p:cNvPr id="51" name="Text 49"/>
          <p:cNvSpPr txBox="1"/>
          <p:nvPr/>
        </p:nvSpPr>
        <p:spPr>
          <a:xfrm>
            <a:off x="1554480" y="2281428"/>
            <a:ext cx="384048"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R6</a:t>
            </a:r>
            <a:endParaRPr lang="en-US" sz="750" dirty="0"/>
          </a:p>
        </p:txBody>
      </p:sp>
      <p:sp>
        <p:nvSpPr>
          <p:cNvPr id="52" name="Shape 50"/>
          <p:cNvSpPr/>
          <p:nvPr/>
        </p:nvSpPr>
        <p:spPr>
          <a:xfrm>
            <a:off x="2295144" y="3538728"/>
            <a:ext cx="292608" cy="292608"/>
          </a:xfrm>
          <a:prstGeom prst="ellipse">
            <a:avLst/>
          </a:prstGeom>
          <a:solidFill>
            <a:srgbClr val="0B2E4F"/>
          </a:solidFill>
          <a:ln w="12700">
            <a:solidFill>
              <a:srgbClr val="FFFFFF"/>
            </a:solidFill>
            <a:prstDash val="solid"/>
          </a:ln>
        </p:spPr>
      </p:sp>
      <p:sp>
        <p:nvSpPr>
          <p:cNvPr id="53" name="Text 51"/>
          <p:cNvSpPr txBox="1"/>
          <p:nvPr/>
        </p:nvSpPr>
        <p:spPr>
          <a:xfrm>
            <a:off x="2249424" y="3561588"/>
            <a:ext cx="384048"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R7</a:t>
            </a:r>
            <a:endParaRPr lang="en-US" sz="750" dirty="0"/>
          </a:p>
        </p:txBody>
      </p:sp>
      <p:sp>
        <p:nvSpPr>
          <p:cNvPr id="54" name="Shape 52"/>
          <p:cNvSpPr/>
          <p:nvPr/>
        </p:nvSpPr>
        <p:spPr>
          <a:xfrm>
            <a:off x="1600200" y="1618488"/>
            <a:ext cx="292608" cy="292608"/>
          </a:xfrm>
          <a:prstGeom prst="ellipse">
            <a:avLst/>
          </a:prstGeom>
          <a:solidFill>
            <a:srgbClr val="0B2E4F"/>
          </a:solidFill>
          <a:ln w="12700">
            <a:solidFill>
              <a:srgbClr val="FFFFFF"/>
            </a:solidFill>
            <a:prstDash val="solid"/>
          </a:ln>
        </p:spPr>
      </p:sp>
      <p:sp>
        <p:nvSpPr>
          <p:cNvPr id="55" name="Text 53"/>
          <p:cNvSpPr txBox="1"/>
          <p:nvPr/>
        </p:nvSpPr>
        <p:spPr>
          <a:xfrm>
            <a:off x="1554480" y="1641348"/>
            <a:ext cx="384048"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R8</a:t>
            </a:r>
            <a:endParaRPr lang="en-US" sz="750" dirty="0"/>
          </a:p>
        </p:txBody>
      </p:sp>
      <p:sp>
        <p:nvSpPr>
          <p:cNvPr id="56" name="Text 54"/>
          <p:cNvSpPr txBox="1"/>
          <p:nvPr/>
        </p:nvSpPr>
        <p:spPr>
          <a:xfrm>
            <a:off x="704088" y="4846320"/>
            <a:ext cx="3474720" cy="182880"/>
          </a:xfrm>
          <a:prstGeom prst="rect">
            <a:avLst/>
          </a:prstGeom>
          <a:noFill/>
          <a:ln/>
        </p:spPr>
        <p:txBody>
          <a:bodyPr wrap="square" lIns="0" tIns="0" rIns="0" bIns="0" rtlCol="0" anchor="ctr"/>
          <a:lstStyle/>
          <a:p>
            <a:pPr algn="ctr" indent="0" marL="0">
              <a:buNone/>
            </a:pPr>
            <a:r>
              <a:rPr lang="en-US" sz="750" dirty="0">
                <a:solidFill>
                  <a:srgbClr val="5D6A75"/>
                </a:solidFill>
                <a:latin typeface="Calibri" pitchFamily="34" charset="0"/>
                <a:ea typeface="Calibri" pitchFamily="34" charset="-122"/>
                <a:cs typeface="Calibri" pitchFamily="34" charset="-120"/>
              </a:rPr>
              <a:t>Likelihood →</a:t>
            </a:r>
            <a:endParaRPr lang="en-US" sz="750" dirty="0"/>
          </a:p>
        </p:txBody>
      </p:sp>
      <p:sp>
        <p:nvSpPr>
          <p:cNvPr id="57" name="Text 55"/>
          <p:cNvSpPr txBox="1"/>
          <p:nvPr/>
        </p:nvSpPr>
        <p:spPr>
          <a:xfrm rot="16200000">
            <a:off x="-685800" y="2953512"/>
            <a:ext cx="2194560" cy="182880"/>
          </a:xfrm>
          <a:prstGeom prst="rect">
            <a:avLst/>
          </a:prstGeom>
          <a:noFill/>
          <a:ln/>
        </p:spPr>
        <p:txBody>
          <a:bodyPr wrap="square" lIns="0" tIns="0" rIns="0" bIns="0" rtlCol="0" anchor="ctr"/>
          <a:lstStyle/>
          <a:p>
            <a:pPr algn="ctr" indent="0" marL="0">
              <a:buNone/>
            </a:pPr>
            <a:r>
              <a:rPr lang="en-US" sz="750" dirty="0">
                <a:solidFill>
                  <a:srgbClr val="5D6A75"/>
                </a:solidFill>
                <a:latin typeface="Calibri" pitchFamily="34" charset="0"/>
                <a:ea typeface="Calibri" pitchFamily="34" charset="-122"/>
                <a:cs typeface="Calibri" pitchFamily="34" charset="-120"/>
              </a:rPr>
              <a:t>Impact →</a:t>
            </a:r>
            <a:endParaRPr lang="en-US" sz="750" dirty="0"/>
          </a:p>
        </p:txBody>
      </p:sp>
      <p:sp>
        <p:nvSpPr>
          <p:cNvPr id="58" name="Text 56"/>
          <p:cNvSpPr txBox="1"/>
          <p:nvPr/>
        </p:nvSpPr>
        <p:spPr>
          <a:xfrm>
            <a:off x="502920" y="5102352"/>
            <a:ext cx="3657600" cy="960120"/>
          </a:xfrm>
          <a:prstGeom prst="rect">
            <a:avLst/>
          </a:prstGeom>
          <a:noFill/>
          <a:ln/>
        </p:spPr>
        <p:txBody>
          <a:bodyPr wrap="square" lIns="0" tIns="0" rIns="0" bIns="0" rtlCol="0" anchor="ctr"/>
          <a:lstStyle/>
          <a:p>
            <a:pPr indent="0" marL="0">
              <a:lnSpc>
                <a:spcPct val="114000"/>
              </a:lnSpc>
              <a:buNone/>
            </a:pPr>
            <a:r>
              <a:rPr lang="en-US" sz="780" b="1" dirty="0">
                <a:solidFill>
                  <a:srgbClr val="26313B"/>
                </a:solidFill>
                <a:latin typeface="Calibri" pitchFamily="34" charset="0"/>
                <a:ea typeface="Calibri" pitchFamily="34" charset="-122"/>
                <a:cs typeface="Calibri" pitchFamily="34" charset="-120"/>
              </a:rPr>
              <a:t>R1 </a:t>
            </a:r>
            <a:pPr indent="0" marL="0">
              <a:lnSpc>
                <a:spcPct val="114000"/>
              </a:lnSpc>
              <a:buNone/>
            </a:pPr>
            <a:r>
              <a:rPr lang="en-US" sz="780" dirty="0">
                <a:solidFill>
                  <a:srgbClr val="26313B"/>
                </a:solidFill>
                <a:latin typeface="Calibri" pitchFamily="34" charset="0"/>
                <a:ea typeface="Calibri" pitchFamily="34" charset="-122"/>
                <a:cs typeface="Calibri" pitchFamily="34" charset="-120"/>
              </a:rPr>
              <a:t>Developer receivables (Fin) · </a:t>
            </a:r>
            <a:pPr indent="0" marL="0">
              <a:lnSpc>
                <a:spcPct val="114000"/>
              </a:lnSpc>
              <a:buNone/>
            </a:pPr>
            <a:r>
              <a:rPr lang="en-US" sz="780" b="1" dirty="0">
                <a:solidFill>
                  <a:srgbClr val="26313B"/>
                </a:solidFill>
                <a:latin typeface="Calibri" pitchFamily="34" charset="0"/>
                <a:ea typeface="Calibri" pitchFamily="34" charset="-122"/>
                <a:cs typeface="Calibri" pitchFamily="34" charset="-120"/>
              </a:rPr>
              <a:t>R2 </a:t>
            </a:r>
            <a:pPr indent="0" marL="0">
              <a:lnSpc>
                <a:spcPct val="114000"/>
              </a:lnSpc>
              <a:buNone/>
            </a:pPr>
            <a:r>
              <a:rPr lang="en-US" sz="780" dirty="0">
                <a:solidFill>
                  <a:srgbClr val="26313B"/>
                </a:solidFill>
                <a:latin typeface="Calibri" pitchFamily="34" charset="0"/>
                <a:ea typeface="Calibri" pitchFamily="34" charset="-122"/>
                <a:cs typeface="Calibri" pitchFamily="34" charset="-120"/>
              </a:rPr>
              <a:t>Price war (Comp) · </a:t>
            </a:r>
            <a:pPr indent="0" marL="0">
              <a:lnSpc>
                <a:spcPct val="114000"/>
              </a:lnSpc>
              <a:buNone/>
            </a:pPr>
            <a:r>
              <a:rPr lang="en-US" sz="780" b="1" dirty="0">
                <a:solidFill>
                  <a:srgbClr val="26313B"/>
                </a:solidFill>
                <a:latin typeface="Calibri" pitchFamily="34" charset="0"/>
                <a:ea typeface="Calibri" pitchFamily="34" charset="-122"/>
                <a:cs typeface="Calibri" pitchFamily="34" charset="-120"/>
              </a:rPr>
              <a:t>R3 </a:t>
            </a:r>
            <a:pPr indent="0" marL="0">
              <a:lnSpc>
                <a:spcPct val="114000"/>
              </a:lnSpc>
              <a:buNone/>
            </a:pPr>
            <a:r>
              <a:rPr lang="en-US" sz="780" dirty="0">
                <a:solidFill>
                  <a:srgbClr val="26313B"/>
                </a:solidFill>
                <a:latin typeface="Calibri" pitchFamily="34" charset="0"/>
                <a:ea typeface="Calibri" pitchFamily="34" charset="-122"/>
                <a:cs typeface="Calibri" pitchFamily="34" charset="-120"/>
              </a:rPr>
              <a:t>Commissioning &amp; inoculum variability (Ops) · </a:t>
            </a:r>
            <a:pPr indent="0" marL="0">
              <a:lnSpc>
                <a:spcPct val="114000"/>
              </a:lnSpc>
              <a:buNone/>
            </a:pPr>
            <a:r>
              <a:rPr lang="en-US" sz="780" b="1" dirty="0">
                <a:solidFill>
                  <a:srgbClr val="26313B"/>
                </a:solidFill>
                <a:latin typeface="Calibri" pitchFamily="34" charset="0"/>
                <a:ea typeface="Calibri" pitchFamily="34" charset="-122"/>
                <a:cs typeface="Calibri" pitchFamily="34" charset="-120"/>
              </a:rPr>
              <a:t>R4 </a:t>
            </a:r>
            <a:pPr indent="0" marL="0">
              <a:lnSpc>
                <a:spcPct val="114000"/>
              </a:lnSpc>
              <a:buNone/>
            </a:pPr>
            <a:r>
              <a:rPr lang="en-US" sz="780" dirty="0">
                <a:solidFill>
                  <a:srgbClr val="26313B"/>
                </a:solidFill>
                <a:latin typeface="Calibri" pitchFamily="34" charset="0"/>
                <a:ea typeface="Calibri" pitchFamily="34" charset="-122"/>
                <a:cs typeface="Calibri" pitchFamily="34" charset="-120"/>
              </a:rPr>
              <a:t>Partner conflict (Distr.) · </a:t>
            </a:r>
            <a:pPr indent="0" marL="0">
              <a:lnSpc>
                <a:spcPct val="114000"/>
              </a:lnSpc>
              <a:buNone/>
            </a:pPr>
            <a:r>
              <a:rPr lang="en-US" sz="780" b="1" dirty="0">
                <a:solidFill>
                  <a:srgbClr val="26313B"/>
                </a:solidFill>
                <a:latin typeface="Calibri" pitchFamily="34" charset="0"/>
                <a:ea typeface="Calibri" pitchFamily="34" charset="-122"/>
                <a:cs typeface="Calibri" pitchFamily="34" charset="-120"/>
              </a:rPr>
              <a:t>R5 </a:t>
            </a:r>
            <a:pPr indent="0" marL="0">
              <a:lnSpc>
                <a:spcPct val="114000"/>
              </a:lnSpc>
              <a:buNone/>
            </a:pPr>
            <a:r>
              <a:rPr lang="en-US" sz="780" dirty="0">
                <a:solidFill>
                  <a:srgbClr val="26313B"/>
                </a:solidFill>
                <a:latin typeface="Calibri" pitchFamily="34" charset="0"/>
                <a:ea typeface="Calibri" pitchFamily="34" charset="-122"/>
                <a:cs typeface="Calibri" pitchFamily="34" charset="-120"/>
              </a:rPr>
              <a:t>Expansion outruns service (Ops) · </a:t>
            </a:r>
            <a:pPr indent="0" marL="0">
              <a:lnSpc>
                <a:spcPct val="114000"/>
              </a:lnSpc>
              <a:buNone/>
            </a:pPr>
            <a:r>
              <a:rPr lang="en-US" sz="780" b="1" dirty="0">
                <a:solidFill>
                  <a:srgbClr val="26313B"/>
                </a:solidFill>
                <a:latin typeface="Calibri" pitchFamily="34" charset="0"/>
                <a:ea typeface="Calibri" pitchFamily="34" charset="-122"/>
                <a:cs typeface="Calibri" pitchFamily="34" charset="-120"/>
              </a:rPr>
              <a:t>R6 </a:t>
            </a:r>
            <a:pPr indent="0" marL="0">
              <a:lnSpc>
                <a:spcPct val="114000"/>
              </a:lnSpc>
              <a:buNone/>
            </a:pPr>
            <a:r>
              <a:rPr lang="en-US" sz="780" dirty="0">
                <a:solidFill>
                  <a:srgbClr val="26313B"/>
                </a:solidFill>
                <a:latin typeface="Calibri" pitchFamily="34" charset="0"/>
                <a:ea typeface="Calibri" pitchFamily="34" charset="-122"/>
                <a:cs typeface="Calibri" pitchFamily="34" charset="-120"/>
              </a:rPr>
              <a:t>Norm tightening (Reg.) · </a:t>
            </a:r>
            <a:pPr indent="0" marL="0">
              <a:lnSpc>
                <a:spcPct val="114000"/>
              </a:lnSpc>
              <a:buNone/>
            </a:pPr>
            <a:r>
              <a:rPr lang="en-US" sz="780" b="1" dirty="0">
                <a:solidFill>
                  <a:srgbClr val="26313B"/>
                </a:solidFill>
                <a:latin typeface="Calibri" pitchFamily="34" charset="0"/>
                <a:ea typeface="Calibri" pitchFamily="34" charset="-122"/>
                <a:cs typeface="Calibri" pitchFamily="34" charset="-120"/>
              </a:rPr>
              <a:t>R7 </a:t>
            </a:r>
            <a:pPr indent="0" marL="0">
              <a:lnSpc>
                <a:spcPct val="114000"/>
              </a:lnSpc>
              <a:buNone/>
            </a:pPr>
            <a:r>
              <a:rPr lang="en-US" sz="780" dirty="0">
                <a:solidFill>
                  <a:srgbClr val="26313B"/>
                </a:solidFill>
                <a:latin typeface="Calibri" pitchFamily="34" charset="0"/>
                <a:ea typeface="Calibri" pitchFamily="34" charset="-122"/>
                <a:cs typeface="Calibri" pitchFamily="34" charset="-120"/>
              </a:rPr>
              <a:t>Long cycles stall cash (Fin) · </a:t>
            </a:r>
            <a:pPr indent="0" marL="0">
              <a:lnSpc>
                <a:spcPct val="114000"/>
              </a:lnSpc>
              <a:buNone/>
            </a:pPr>
            <a:r>
              <a:rPr lang="en-US" sz="780" b="1" dirty="0">
                <a:solidFill>
                  <a:srgbClr val="26313B"/>
                </a:solidFill>
                <a:latin typeface="Calibri" pitchFamily="34" charset="0"/>
                <a:ea typeface="Calibri" pitchFamily="34" charset="-122"/>
                <a:cs typeface="Calibri" pitchFamily="34" charset="-120"/>
              </a:rPr>
              <a:t>R8 </a:t>
            </a:r>
            <a:pPr indent="0" marL="0">
              <a:lnSpc>
                <a:spcPct val="114000"/>
              </a:lnSpc>
              <a:buNone/>
            </a:pPr>
            <a:r>
              <a:rPr lang="en-US" sz="780" dirty="0">
                <a:solidFill>
                  <a:srgbClr val="26313B"/>
                </a:solidFill>
                <a:latin typeface="Calibri" pitchFamily="34" charset="0"/>
                <a:ea typeface="Calibri" pitchFamily="34" charset="-122"/>
                <a:cs typeface="Calibri" pitchFamily="34" charset="-120"/>
              </a:rPr>
              <a:t>Marquee-site failure (Reputation). </a:t>
            </a:r>
            <a:pPr indent="0" marL="0">
              <a:lnSpc>
                <a:spcPct val="114000"/>
              </a:lnSpc>
              <a:buNone/>
            </a:pPr>
            <a:r>
              <a:rPr lang="en-US" sz="780" dirty="0">
                <a:solidFill>
                  <a:srgbClr val="5D6A75"/>
                </a:solidFill>
                <a:latin typeface="Calibri" pitchFamily="34" charset="0"/>
                <a:ea typeface="Calibri" pitchFamily="34" charset="-122"/>
                <a:cs typeface="Calibri" pitchFamily="34" charset="-120"/>
              </a:rPr>
              <a:t>Red dots = red-zone (likelihood + impact ≥ 8).</a:t>
            </a:r>
            <a:endParaRPr lang="en-US" sz="780" dirty="0"/>
          </a:p>
        </p:txBody>
      </p:sp>
      <p:sp>
        <p:nvSpPr>
          <p:cNvPr id="59" name="Text 57"/>
          <p:cNvSpPr txBox="1"/>
          <p:nvPr/>
        </p:nvSpPr>
        <p:spPr>
          <a:xfrm>
            <a:off x="4434840" y="1188720"/>
            <a:ext cx="7251192"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Mitigation plan for the six material risks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434840" y="1444752"/>
          <a:ext cx="7251192" cy="914400"/>
        </p:xfrm>
        <a:graphic>
          <a:graphicData uri="http://schemas.openxmlformats.org/drawingml/2006/table">
            <a:tbl>
              <a:tblPr/>
              <a:tblGrid>
                <a:gridCol w="1207008"/>
                <a:gridCol w="1572768"/>
                <a:gridCol w="1005840"/>
                <a:gridCol w="1737360"/>
                <a:gridCol w="1042416"/>
                <a:gridCol w="685800"/>
              </a:tblGrid>
              <a:tr h="0">
                <a:tc>
                  <a:txBody>
                    <a:bodyPr/>
                    <a:lstStyle/>
                    <a:p>
                      <a:pPr algn="l" indent="0" marL="0">
                        <a:buNone/>
                      </a:pPr>
                      <a:r>
                        <a:rPr lang="en-US" sz="810" b="1" dirty="0">
                          <a:solidFill>
                            <a:srgbClr val="FFFFFF"/>
                          </a:solidFill>
                          <a:latin typeface="Calibri" pitchFamily="34" charset="0"/>
                          <a:ea typeface="Calibri" pitchFamily="34" charset="-122"/>
                          <a:cs typeface="Calibri" pitchFamily="34" charset="-120"/>
                        </a:rPr>
                        <a:t>Risk (cat.)</a:t>
                      </a:r>
                      <a:endParaRPr lang="en-US" sz="8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l" indent="0" marL="0">
                        <a:buNone/>
                      </a:pPr>
                      <a:r>
                        <a:rPr lang="en-US" sz="810" b="1" dirty="0">
                          <a:solidFill>
                            <a:srgbClr val="FFFFFF"/>
                          </a:solidFill>
                          <a:latin typeface="Calibri" pitchFamily="34" charset="0"/>
                          <a:ea typeface="Calibri" pitchFamily="34" charset="-122"/>
                          <a:cs typeface="Calibri" pitchFamily="34" charset="-120"/>
                        </a:rPr>
                        <a:t>Root cause &amp; impact</a:t>
                      </a:r>
                      <a:endParaRPr lang="en-US" sz="8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l" indent="0" marL="0">
                        <a:buNone/>
                      </a:pPr>
                      <a:r>
                        <a:rPr lang="en-US" sz="810" b="1" dirty="0">
                          <a:solidFill>
                            <a:srgbClr val="FFFFFF"/>
                          </a:solidFill>
                          <a:latin typeface="Calibri" pitchFamily="34" charset="0"/>
                          <a:ea typeface="Calibri" pitchFamily="34" charset="-122"/>
                          <a:cs typeface="Calibri" pitchFamily="34" charset="-120"/>
                        </a:rPr>
                        <a:t>Early warning</a:t>
                      </a:r>
                      <a:endParaRPr lang="en-US" sz="8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l" indent="0" marL="0">
                        <a:buNone/>
                      </a:pPr>
                      <a:r>
                        <a:rPr lang="en-US" sz="810" b="1" dirty="0">
                          <a:solidFill>
                            <a:srgbClr val="FFFFFF"/>
                          </a:solidFill>
                          <a:latin typeface="Calibri" pitchFamily="34" charset="0"/>
                          <a:ea typeface="Calibri" pitchFamily="34" charset="-122"/>
                          <a:cs typeface="Calibri" pitchFamily="34" charset="-120"/>
                        </a:rPr>
                        <a:t>Preventive control</a:t>
                      </a:r>
                      <a:endParaRPr lang="en-US" sz="8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l" indent="0" marL="0">
                        <a:buNone/>
                      </a:pPr>
                      <a:r>
                        <a:rPr lang="en-US" sz="810" b="1" dirty="0">
                          <a:solidFill>
                            <a:srgbClr val="FFFFFF"/>
                          </a:solidFill>
                          <a:latin typeface="Calibri" pitchFamily="34" charset="0"/>
                          <a:ea typeface="Calibri" pitchFamily="34" charset="-122"/>
                          <a:cs typeface="Calibri" pitchFamily="34" charset="-120"/>
                        </a:rPr>
                        <a:t>Contingency</a:t>
                      </a:r>
                      <a:endParaRPr lang="en-US" sz="8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l" indent="0" marL="0">
                        <a:buNone/>
                      </a:pPr>
                      <a:r>
                        <a:rPr lang="en-US" sz="810" b="1" dirty="0">
                          <a:solidFill>
                            <a:srgbClr val="FFFFFF"/>
                          </a:solidFill>
                          <a:latin typeface="Calibri" pitchFamily="34" charset="0"/>
                          <a:ea typeface="Calibri" pitchFamily="34" charset="-122"/>
                          <a:cs typeface="Calibri" pitchFamily="34" charset="-120"/>
                        </a:rPr>
                        <a:t>Owner</a:t>
                      </a:r>
                      <a:endParaRPr lang="en-US" sz="8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r>
              <a:tr h="0">
                <a:tc>
                  <a:txBody>
                    <a:bodyPr/>
                    <a:lstStyle/>
                    <a:p>
                      <a:pPr algn="l" indent="0" marL="0">
                        <a:buNone/>
                      </a:pPr>
                      <a:r>
                        <a:rPr lang="en-US" sz="780" b="1" dirty="0">
                          <a:solidFill>
                            <a:srgbClr val="B3442E"/>
                          </a:solidFill>
                          <a:latin typeface="Calibri" pitchFamily="34" charset="0"/>
                          <a:ea typeface="Calibri" pitchFamily="34" charset="-122"/>
                          <a:cs typeface="Calibri" pitchFamily="34" charset="-120"/>
                        </a:rPr>
                        <a:t>R1 Developer receivables (Financial)</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Milestone slippage, RERA escrow timing; ₹2-3 cr locked, growth stalls</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DSO &gt;75; billing-collection gap &gt;2 mo</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30-40-25-5 milestone billing with advance; credit check + PDCs; developer cap 25% of book</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Stop-work clause; invoice discounting</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CFO</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80" b="1" dirty="0">
                          <a:solidFill>
                            <a:srgbClr val="26313B"/>
                          </a:solidFill>
                          <a:latin typeface="Calibri" pitchFamily="34" charset="0"/>
                          <a:ea typeface="Calibri" pitchFamily="34" charset="-122"/>
                          <a:cs typeface="Calibri" pitchFamily="34" charset="-120"/>
                        </a:rPr>
                        <a:t>R2 Price-led rivalry (Competitive)</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SUSBIO from ₹35k/KLD; Daiki KA plant; NCR online bidders; margin erosion</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Win rate &lt;25%; avg discount &gt;8%</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Lifecycle-cost selling; compliance + AMC bundle; walk-away floor at 28% GM</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Value-engineered Lite SKU for price deals</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Sales head</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80" b="1" dirty="0">
                          <a:solidFill>
                            <a:srgbClr val="26313B"/>
                          </a:solidFill>
                          <a:latin typeface="Calibri" pitchFamily="34" charset="0"/>
                          <a:ea typeface="Calibri" pitchFamily="34" charset="-122"/>
                          <a:cs typeface="Calibri" pitchFamily="34" charset="-120"/>
                        </a:rPr>
                        <a:t>R3 Commissioning &amp; inoculum variation (Operational)</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Site variability; biology stabilises over 4-8 weeks; norm breach at handover</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&gt;2 sites off-norm at day-30 test</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Factory acceptance test; inoculum batch QC; 30/60/90-day third-party NABL tests</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Rapid-response protocol; ozone-assist retrofit</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Technical head</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80" b="1" dirty="0">
                          <a:solidFill>
                            <a:srgbClr val="26313B"/>
                          </a:solidFill>
                          <a:latin typeface="Calibri" pitchFamily="34" charset="0"/>
                          <a:ea typeface="Calibri" pitchFamily="34" charset="-122"/>
                          <a:cs typeface="Calibri" pitchFamily="34" charset="-120"/>
                        </a:rPr>
                        <a:t>R4 Partner conflict / underperformance (Distribution)</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Overlapping territories, poaching; channel stalls</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Partner pipeline &lt;30% of plan; duplicate lead claims</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≤2 partners per territory; registered-lead lock; installer academy; tiered margins</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Territory reassignment; direct coverage</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Channel manager</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80" b="1" dirty="0">
                          <a:solidFill>
                            <a:srgbClr val="B3442E"/>
                          </a:solidFill>
                          <a:latin typeface="Calibri" pitchFamily="34" charset="0"/>
                          <a:ea typeface="Calibri" pitchFamily="34" charset="-122"/>
                          <a:cs typeface="Calibri" pitchFamily="34" charset="-120"/>
                        </a:rPr>
                        <a:t>R5 Expansion outruns service (Operational)</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Install base grows faster than technicians; SLA breach, churn</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Response &gt;48h; uptime &lt;95%</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KPI gates before new clusters; hub per ~150 km; 1 technician : 25 AMC sites</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Freeze new clusters; contract service partners</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COO</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80" b="1" dirty="0">
                          <a:solidFill>
                            <a:srgbClr val="26313B"/>
                          </a:solidFill>
                          <a:latin typeface="Calibri" pitchFamily="34" charset="0"/>
                          <a:ea typeface="Calibri" pitchFamily="34" charset="-122"/>
                          <a:cs typeface="Calibri" pitchFamily="34" charset="-120"/>
                        </a:rPr>
                        <a:t>R6 Discharge norms tighten (Regulatory, added category)</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NGT / CPCB revisions strand installed designs</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Draft notifications; consent-renewal queries</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Design margin to stricter norms; IISc tertiary pipeline</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Paid retrofit-upgrade programme (upside)</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780" dirty="0">
                          <a:solidFill>
                            <a:srgbClr val="26313B"/>
                          </a:solidFill>
                          <a:latin typeface="Calibri" pitchFamily="34" charset="0"/>
                          <a:ea typeface="Calibri" pitchFamily="34" charset="-122"/>
                          <a:cs typeface="Calibri" pitchFamily="34" charset="-120"/>
                        </a:rPr>
                        <a:t>MD + Tech</a:t>
                      </a:r>
                      <a:endParaRPr lang="en-US" sz="78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bl>
          </a:graphicData>
        </a:graphic>
      </p:graphicFrame>
      <p:sp>
        <p:nvSpPr>
          <p:cNvPr id="61" name="Shape 58"/>
          <p:cNvSpPr/>
          <p:nvPr/>
        </p:nvSpPr>
        <p:spPr>
          <a:xfrm>
            <a:off x="502920" y="5998464"/>
            <a:ext cx="11183112" cy="402336"/>
          </a:xfrm>
          <a:prstGeom prst="roundRect">
            <a:avLst>
              <a:gd name="adj" fmla="val 12500"/>
            </a:avLst>
          </a:prstGeom>
          <a:solidFill>
            <a:srgbClr val="0B2E4F"/>
          </a:solidFill>
          <a:ln/>
        </p:spPr>
      </p:sp>
      <p:sp>
        <p:nvSpPr>
          <p:cNvPr id="62" name="Text 59"/>
          <p:cNvSpPr txBox="1"/>
          <p:nvPr/>
        </p:nvSpPr>
        <p:spPr>
          <a:xfrm>
            <a:off x="704088" y="5998464"/>
            <a:ext cx="10780776" cy="402336"/>
          </a:xfrm>
          <a:prstGeom prst="rect">
            <a:avLst/>
          </a:prstGeom>
          <a:noFill/>
          <a:ln/>
        </p:spPr>
        <p:txBody>
          <a:bodyPr wrap="square" lIns="0" tIns="0" rIns="0" bIns="0" rtlCol="0" anchor="ctr"/>
          <a:lstStyle/>
          <a:p>
            <a:pPr indent="0" marL="0">
              <a:lnSpc>
                <a:spcPct val="103000"/>
              </a:lnSpc>
              <a:buNone/>
            </a:pPr>
            <a:r>
              <a:rPr lang="en-US" sz="1050" b="1" spc="150" kern="0" dirty="0">
                <a:solidFill>
                  <a:srgbClr val="D98E1F"/>
                </a:solidFill>
                <a:latin typeface="Calibri" pitchFamily="34" charset="0"/>
                <a:ea typeface="Calibri" pitchFamily="34" charset="-122"/>
                <a:cs typeface="Calibri" pitchFamily="34" charset="-120"/>
              </a:rPr>
              <a:t>CONTROL   </a:t>
            </a:r>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Milestone billing, exposure caps and gated expansion keep the plan self-funding; R7 and R8 stay on watch metrics.</a:t>
            </a:r>
            <a:endParaRPr lang="en-US" sz="1050" dirty="0"/>
          </a:p>
        </p:txBody>
      </p:sp>
      <p:sp>
        <p:nvSpPr>
          <p:cNvPr id="63" name="Text 60"/>
          <p:cNvSpPr txBox="1"/>
          <p:nvPr/>
        </p:nvSpPr>
        <p:spPr>
          <a:xfrm>
            <a:off x="502920" y="6473952"/>
            <a:ext cx="9692640" cy="310896"/>
          </a:xfrm>
          <a:prstGeom prst="rect">
            <a:avLst/>
          </a:prstGeom>
          <a:noFill/>
          <a:ln/>
        </p:spPr>
        <p:txBody>
          <a:bodyPr wrap="square" lIns="0" tIns="0" rIns="0" bIns="0" rtlCol="0" anchor="t"/>
          <a:lstStyle/>
          <a:p>
            <a:pPr indent="0" marL="0">
              <a:lnSpc>
                <a:spcPct val="100000"/>
              </a:lnSpc>
              <a:buNone/>
            </a:pPr>
            <a:r>
              <a:rPr lang="en-US" sz="800" dirty="0">
                <a:solidFill>
                  <a:srgbClr val="8A959E"/>
                </a:solidFill>
                <a:latin typeface="Calibri" pitchFamily="34" charset="0"/>
                <a:ea typeface="Calibri" pitchFamily="34" charset="-122"/>
                <a:cs typeface="Calibri" pitchFamily="34" charset="-120"/>
              </a:rPr>
              <a:t>Likelihood/impact: team scoring from competitor research (susbio.in; biltraxmedia.com on Daiki), CPCB 2021 utilisation gap, and SME receivable norms. Impact scale: 5 = &gt;₹2 cr or franchise damage.</a:t>
            </a:r>
            <a:endParaRPr lang="en-US" sz="800" dirty="0"/>
          </a:p>
        </p:txBody>
      </p:sp>
      <p:sp>
        <p:nvSpPr>
          <p:cNvPr id="64" name="Text 61"/>
          <p:cNvSpPr txBox="1"/>
          <p:nvPr/>
        </p:nvSpPr>
        <p:spPr>
          <a:xfrm>
            <a:off x="10378440" y="6510528"/>
            <a:ext cx="1325880" cy="237744"/>
          </a:xfrm>
          <a:prstGeom prst="rect">
            <a:avLst/>
          </a:prstGeom>
          <a:noFill/>
          <a:ln/>
        </p:spPr>
        <p:txBody>
          <a:bodyPr wrap="square" lIns="0" tIns="0" rIns="0" bIns="0" rtlCol="0" anchor="ctr"/>
          <a:lstStyle/>
          <a:p>
            <a:pPr algn="r" indent="0" marL="0">
              <a:buNone/>
            </a:pPr>
            <a:r>
              <a:rPr lang="en-US" sz="800" dirty="0">
                <a:solidFill>
                  <a:srgbClr val="8A959E"/>
                </a:solidFill>
                <a:latin typeface="Calibri" pitchFamily="34" charset="0"/>
                <a:ea typeface="Calibri" pitchFamily="34" charset="-122"/>
                <a:cs typeface="Calibri" pitchFamily="34" charset="-120"/>
              </a:rPr>
              <a:t>Team Wookies</a:t>
            </a:r>
            <a:pPr algn="r" indent="0" marL="0">
              <a:buNone/>
            </a:pPr>
            <a:r>
              <a:rPr lang="en-US" sz="900" b="1" dirty="0">
                <a:solidFill>
                  <a:srgbClr val="5D6A75"/>
                </a:solidFill>
                <a:latin typeface="Calibri" pitchFamily="34" charset="0"/>
                <a:ea typeface="Calibri" pitchFamily="34" charset="-122"/>
                <a:cs typeface="Calibri" pitchFamily="34" charset="-120"/>
              </a:rPr>
              <a:t>   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83112" cy="256032"/>
          </a:xfrm>
          <a:prstGeom prst="rect">
            <a:avLst/>
          </a:prstGeom>
          <a:noFill/>
          <a:ln/>
        </p:spPr>
        <p:txBody>
          <a:bodyPr wrap="square" lIns="0" tIns="0" rIns="0" bIns="0" rtlCol="0" anchor="ctr"/>
          <a:lstStyle/>
          <a:p>
            <a:pPr indent="0" marL="0">
              <a:buNone/>
            </a:pPr>
            <a:r>
              <a:rPr lang="en-US" sz="1050" b="1" spc="200" kern="0" dirty="0">
                <a:solidFill>
                  <a:srgbClr val="0E7C7B"/>
                </a:solidFill>
                <a:latin typeface="Calibri" pitchFamily="34" charset="0"/>
                <a:ea typeface="Calibri" pitchFamily="34" charset="-122"/>
                <a:cs typeface="Calibri" pitchFamily="34" charset="-120"/>
              </a:rPr>
              <a:t>DELIVERABLE 4 | PORTFOLIO EXPANSION: ADJACENT PRODUCTS AND TECHNOLOGIES</a:t>
            </a:r>
            <a:endParaRPr lang="en-US" sz="1050" dirty="0"/>
          </a:p>
        </p:txBody>
      </p:sp>
      <p:sp>
        <p:nvSpPr>
          <p:cNvPr id="3" name="Text 1"/>
          <p:cNvSpPr txBox="1"/>
          <p:nvPr/>
        </p:nvSpPr>
        <p:spPr>
          <a:xfrm>
            <a:off x="502920" y="512064"/>
            <a:ext cx="11183112" cy="566928"/>
          </a:xfrm>
          <a:prstGeom prst="rect">
            <a:avLst/>
          </a:prstGeom>
          <a:noFill/>
          <a:ln/>
        </p:spPr>
        <p:txBody>
          <a:bodyPr wrap="square" lIns="0" tIns="0" rIns="0" bIns="0" rtlCol="0" anchor="ctr"/>
          <a:lstStyle/>
          <a:p>
            <a:pPr indent="0" marL="0">
              <a:lnSpc>
                <a:spcPct val="102000"/>
              </a:lnSpc>
              <a:buNone/>
            </a:pPr>
            <a:r>
              <a:rPr lang="en-US" sz="2000" b="1" dirty="0">
                <a:solidFill>
                  <a:srgbClr val="0B2E4F"/>
                </a:solidFill>
                <a:latin typeface="Calibri" pitchFamily="34" charset="0"/>
                <a:ea typeface="Calibri" pitchFamily="34" charset="-122"/>
                <a:cs typeface="Calibri" pitchFamily="34" charset="-120"/>
              </a:rPr>
              <a:t>Extend the installed base: rescue and run plants first, monitor them second, recycle their water third</a:t>
            </a:r>
            <a:endParaRPr lang="en-US" sz="2000" dirty="0"/>
          </a:p>
        </p:txBody>
      </p:sp>
      <p:sp>
        <p:nvSpPr>
          <p:cNvPr id="4" name="Text 2"/>
          <p:cNvSpPr txBox="1"/>
          <p:nvPr/>
        </p:nvSpPr>
        <p:spPr>
          <a:xfrm>
            <a:off x="502920" y="1188720"/>
            <a:ext cx="4572000"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Weighted adjacency scores (7 criteria, 100 pts)</a:t>
            </a:r>
            <a:endParaRPr lang="en-US" sz="1100" dirty="0"/>
          </a:p>
        </p:txBody>
      </p:sp>
      <p:graphicFrame>
        <p:nvGraphicFramePr>
          <p:cNvPr id="5" name="Chart 0" descr=""/>
          <p:cNvGraphicFramePr/>
          <p:nvPr/>
        </p:nvGraphicFramePr>
        <p:xfrm>
          <a:off x="502920" y="1444752"/>
          <a:ext cx="4572000" cy="3246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02920" y="4754880"/>
            <a:ext cx="4572000" cy="621792"/>
          </a:xfrm>
          <a:prstGeom prst="rect">
            <a:avLst/>
          </a:prstGeom>
          <a:noFill/>
          <a:ln/>
        </p:spPr>
        <p:txBody>
          <a:bodyPr wrap="square" lIns="0" tIns="0" rIns="0" bIns="0" rtlCol="0" anchor="ctr"/>
          <a:lstStyle/>
          <a:p>
            <a:pPr indent="0" marL="0">
              <a:lnSpc>
                <a:spcPct val="105000"/>
              </a:lnSpc>
              <a:buNone/>
            </a:pPr>
            <a:r>
              <a:rPr lang="en-US" sz="780" b="1" dirty="0">
                <a:solidFill>
                  <a:srgbClr val="0B2E4F"/>
                </a:solidFill>
                <a:latin typeface="Calibri" pitchFamily="34" charset="0"/>
                <a:ea typeface="Calibri" pitchFamily="34" charset="-122"/>
                <a:cs typeface="Calibri" pitchFamily="34" charset="-120"/>
              </a:rPr>
              <a:t>Criteria (weights): </a:t>
            </a:r>
            <a:pPr indent="0" marL="0">
              <a:lnSpc>
                <a:spcPct val="105000"/>
              </a:lnSpc>
              <a:buNone/>
            </a:pPr>
            <a:r>
              <a:rPr lang="en-US" sz="780" dirty="0">
                <a:solidFill>
                  <a:srgbClr val="5D6A75"/>
                </a:solidFill>
                <a:latin typeface="Calibri" pitchFamily="34" charset="0"/>
                <a:ea typeface="Calibri" pitchFamily="34" charset="-122"/>
                <a:cs typeface="Calibri" pitchFamily="34" charset="-120"/>
              </a:rPr>
              <a:t>market demand 20 · synergy &amp; technical feasibility 20 · capital required 15 (inverse) · margin 15 · operational complexity 10 (inverse) · time-to-market 10 · recurring potential 10. Scores 1-5; matrix in backup (p.9).</a:t>
            </a:r>
            <a:endParaRPr lang="en-US" sz="780" dirty="0"/>
          </a:p>
        </p:txBody>
      </p:sp>
      <p:sp>
        <p:nvSpPr>
          <p:cNvPr id="7" name="Text 4"/>
          <p:cNvSpPr txBox="1"/>
          <p:nvPr/>
        </p:nvSpPr>
        <p:spPr>
          <a:xfrm>
            <a:off x="5440680" y="1188720"/>
            <a:ext cx="6245352"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The chosen three: sequenced, not simultaneous</a:t>
            </a:r>
            <a:endParaRPr lang="en-US" sz="1100" dirty="0"/>
          </a:p>
        </p:txBody>
      </p:sp>
      <p:sp>
        <p:nvSpPr>
          <p:cNvPr id="8" name="Shape 5"/>
          <p:cNvSpPr/>
          <p:nvPr/>
        </p:nvSpPr>
        <p:spPr>
          <a:xfrm>
            <a:off x="5440680" y="1444752"/>
            <a:ext cx="6245352" cy="1133856"/>
          </a:xfrm>
          <a:prstGeom prst="roundRect">
            <a:avLst>
              <a:gd name="adj" fmla="val 4839"/>
            </a:avLst>
          </a:prstGeom>
          <a:solidFill>
            <a:srgbClr val="F2F5F7"/>
          </a:solidFill>
          <a:ln w="9525">
            <a:solidFill>
              <a:srgbClr val="C9D3DA"/>
            </a:solidFill>
            <a:prstDash val="solid"/>
          </a:ln>
        </p:spPr>
      </p:sp>
      <p:sp>
        <p:nvSpPr>
          <p:cNvPr id="9" name="Text 6"/>
          <p:cNvSpPr txBox="1"/>
          <p:nvPr/>
        </p:nvSpPr>
        <p:spPr>
          <a:xfrm>
            <a:off x="5568696" y="1490472"/>
            <a:ext cx="5989320" cy="219456"/>
          </a:xfrm>
          <a:prstGeom prst="rect">
            <a:avLst/>
          </a:prstGeom>
          <a:noFill/>
          <a:ln/>
        </p:spPr>
        <p:txBody>
          <a:bodyPr wrap="square" lIns="0" tIns="0" rIns="0" bIns="0" rtlCol="0" anchor="ctr"/>
          <a:lstStyle/>
          <a:p>
            <a:pPr indent="0" marL="0">
              <a:buNone/>
            </a:pPr>
            <a:r>
              <a:rPr lang="en-US" sz="1000" b="1" dirty="0">
                <a:solidFill>
                  <a:srgbClr val="0E7C7B"/>
                </a:solidFill>
                <a:latin typeface="Calibri" pitchFamily="34" charset="0"/>
                <a:ea typeface="Calibri" pitchFamily="34" charset="-122"/>
                <a:cs typeface="Calibri" pitchFamily="34" charset="-120"/>
              </a:rPr>
              <a:t>STP Rescue: retrofit + O&amp;M takeover   </a:t>
            </a:r>
            <a:pPr indent="0" marL="0">
              <a:buNone/>
            </a:pPr>
            <a:r>
              <a:rPr lang="en-US" sz="700" b="1" dirty="0">
                <a:solidFill>
                  <a:srgbClr val="9A6A0F"/>
                </a:solidFill>
                <a:latin typeface="Calibri" pitchFamily="34" charset="0"/>
                <a:ea typeface="Calibri" pitchFamily="34" charset="-122"/>
                <a:cs typeface="Calibri" pitchFamily="34" charset="-120"/>
              </a:rPr>
              <a:t>NOW (M0-3) · BUILD IN-HOUSE</a:t>
            </a:r>
            <a:endParaRPr lang="en-US" sz="1000" dirty="0"/>
          </a:p>
        </p:txBody>
      </p:sp>
      <p:sp>
        <p:nvSpPr>
          <p:cNvPr id="10" name="Text 7"/>
          <p:cNvSpPr txBox="1"/>
          <p:nvPr/>
        </p:nvSpPr>
        <p:spPr>
          <a:xfrm>
            <a:off x="5568696" y="1719072"/>
            <a:ext cx="5989320" cy="804672"/>
          </a:xfrm>
          <a:prstGeom prst="rect">
            <a:avLst/>
          </a:prstGeom>
          <a:noFill/>
          <a:ln/>
        </p:spPr>
        <p:txBody>
          <a:bodyPr wrap="square" lIns="0" tIns="0" rIns="0" bIns="0" rtlCol="0" anchor="t"/>
          <a:lstStyle/>
          <a:p>
            <a:pPr indent="0" marL="0">
              <a:lnSpc>
                <a:spcPct val="100000"/>
              </a:lnSpc>
              <a:buNone/>
            </a:pPr>
            <a:r>
              <a:rPr lang="en-US" sz="790" dirty="0">
                <a:solidFill>
                  <a:srgbClr val="26313B"/>
                </a:solidFill>
                <a:latin typeface="Calibri" pitchFamily="34" charset="0"/>
                <a:ea typeface="Calibri" pitchFamily="34" charset="-122"/>
                <a:cs typeface="Calibri" pitchFamily="34" charset="-120"/>
              </a:rPr>
              <a:t>Why: CPCB 2021 shows a third of installed capacity idle or off-norm, so demand is certain and capex is zero. Target: hotels &amp; societies with failing third-party STPs. Price: ₹3-15 L retrofit + ₹0.5-3 L/yr O&amp;M. Pilot: 10 audits at Goa hotels. Metric: 25 retrofits + 40 O&amp;M contracts by FY29 at ~35% GM; seeds the AMC fleet.</a:t>
            </a:r>
            <a:endParaRPr lang="en-US" sz="790" dirty="0"/>
          </a:p>
        </p:txBody>
      </p:sp>
      <p:sp>
        <p:nvSpPr>
          <p:cNvPr id="11" name="Shape 8"/>
          <p:cNvSpPr/>
          <p:nvPr/>
        </p:nvSpPr>
        <p:spPr>
          <a:xfrm>
            <a:off x="5440680" y="2706624"/>
            <a:ext cx="6245352" cy="969264"/>
          </a:xfrm>
          <a:prstGeom prst="roundRect">
            <a:avLst>
              <a:gd name="adj" fmla="val 5660"/>
            </a:avLst>
          </a:prstGeom>
          <a:solidFill>
            <a:srgbClr val="F2F5F7"/>
          </a:solidFill>
          <a:ln w="9525">
            <a:solidFill>
              <a:srgbClr val="C9D3DA"/>
            </a:solidFill>
            <a:prstDash val="solid"/>
          </a:ln>
        </p:spPr>
      </p:sp>
      <p:sp>
        <p:nvSpPr>
          <p:cNvPr id="12" name="Text 9"/>
          <p:cNvSpPr txBox="1"/>
          <p:nvPr/>
        </p:nvSpPr>
        <p:spPr>
          <a:xfrm>
            <a:off x="5568696" y="2752344"/>
            <a:ext cx="5989320" cy="219456"/>
          </a:xfrm>
          <a:prstGeom prst="rect">
            <a:avLst/>
          </a:prstGeom>
          <a:noFill/>
          <a:ln/>
        </p:spPr>
        <p:txBody>
          <a:bodyPr wrap="square" lIns="0" tIns="0" rIns="0" bIns="0" rtlCol="0" anchor="ctr"/>
          <a:lstStyle/>
          <a:p>
            <a:pPr indent="0" marL="0">
              <a:buNone/>
            </a:pPr>
            <a:r>
              <a:rPr lang="en-US" sz="1000" b="1" dirty="0">
                <a:solidFill>
                  <a:srgbClr val="123F63"/>
                </a:solidFill>
                <a:latin typeface="Calibri" pitchFamily="34" charset="0"/>
                <a:ea typeface="Calibri" pitchFamily="34" charset="-122"/>
                <a:cs typeface="Calibri" pitchFamily="34" charset="-120"/>
              </a:rPr>
              <a:t>SmartSTP: IoT monitoring &amp; compliance reports   </a:t>
            </a:r>
            <a:pPr indent="0" marL="0">
              <a:buNone/>
            </a:pPr>
            <a:r>
              <a:rPr lang="en-US" sz="700" b="1" dirty="0">
                <a:solidFill>
                  <a:srgbClr val="9A6A0F"/>
                </a:solidFill>
                <a:latin typeface="Calibri" pitchFamily="34" charset="0"/>
                <a:ea typeface="Calibri" pitchFamily="34" charset="-122"/>
                <a:cs typeface="Calibri" pitchFamily="34" charset="-120"/>
              </a:rPr>
              <a:t>M6 · WHITE-LABEL + OWN DASHBOARD</a:t>
            </a:r>
            <a:endParaRPr lang="en-US" sz="1000" dirty="0"/>
          </a:p>
        </p:txBody>
      </p:sp>
      <p:sp>
        <p:nvSpPr>
          <p:cNvPr id="13" name="Text 10"/>
          <p:cNvSpPr txBox="1"/>
          <p:nvPr/>
        </p:nvSpPr>
        <p:spPr>
          <a:xfrm>
            <a:off x="5568696" y="2980944"/>
            <a:ext cx="5989320" cy="640080"/>
          </a:xfrm>
          <a:prstGeom prst="rect">
            <a:avLst/>
          </a:prstGeom>
          <a:noFill/>
          <a:ln/>
        </p:spPr>
        <p:txBody>
          <a:bodyPr wrap="square" lIns="0" tIns="0" rIns="0" bIns="0" rtlCol="0" anchor="t"/>
          <a:lstStyle/>
          <a:p>
            <a:pPr indent="0" marL="0">
              <a:lnSpc>
                <a:spcPct val="100000"/>
              </a:lnSpc>
              <a:buNone/>
            </a:pPr>
            <a:r>
              <a:rPr lang="en-US" sz="790" dirty="0">
                <a:solidFill>
                  <a:srgbClr val="26313B"/>
                </a:solidFill>
                <a:latin typeface="Calibri" pitchFamily="34" charset="0"/>
                <a:ea typeface="Calibri" pitchFamily="34" charset="-122"/>
                <a:cs typeface="Calibri" pitchFamily="34" charset="-120"/>
              </a:rPr>
              <a:t>Why: consent renewals increasingly demand data; differentiates every EPBL AMC. Mode: distribute white-label sensors, own the dashboard. Invest ₹50-70 L. Price: ₹10-15k install + ₹3-5k/month per site. Pilot: 20 AMC sites in Goa. Metric: 150 connected sites by FY29, churn &lt;10%.</a:t>
            </a:r>
            <a:endParaRPr lang="en-US" sz="790" dirty="0"/>
          </a:p>
        </p:txBody>
      </p:sp>
      <p:sp>
        <p:nvSpPr>
          <p:cNvPr id="14" name="Shape 11"/>
          <p:cNvSpPr/>
          <p:nvPr/>
        </p:nvSpPr>
        <p:spPr>
          <a:xfrm>
            <a:off x="5440680" y="3803904"/>
            <a:ext cx="6245352" cy="1188720"/>
          </a:xfrm>
          <a:prstGeom prst="roundRect">
            <a:avLst>
              <a:gd name="adj" fmla="val 4615"/>
            </a:avLst>
          </a:prstGeom>
          <a:solidFill>
            <a:srgbClr val="F2F5F7"/>
          </a:solidFill>
          <a:ln w="9525">
            <a:solidFill>
              <a:srgbClr val="C9D3DA"/>
            </a:solidFill>
            <a:prstDash val="solid"/>
          </a:ln>
        </p:spPr>
      </p:sp>
      <p:sp>
        <p:nvSpPr>
          <p:cNvPr id="15" name="Text 12"/>
          <p:cNvSpPr txBox="1"/>
          <p:nvPr/>
        </p:nvSpPr>
        <p:spPr>
          <a:xfrm>
            <a:off x="5568696" y="3849624"/>
            <a:ext cx="5989320" cy="219456"/>
          </a:xfrm>
          <a:prstGeom prst="rect">
            <a:avLst/>
          </a:prstGeom>
          <a:noFill/>
          <a:ln/>
        </p:spPr>
        <p:txBody>
          <a:bodyPr wrap="square" lIns="0" tIns="0" rIns="0" bIns="0" rtlCol="0" anchor="ctr"/>
          <a:lstStyle/>
          <a:p>
            <a:pPr indent="0" marL="0">
              <a:buNone/>
            </a:pPr>
            <a:r>
              <a:rPr lang="en-US" sz="1000" b="1" dirty="0">
                <a:solidFill>
                  <a:srgbClr val="3E7D5C"/>
                </a:solidFill>
                <a:latin typeface="Calibri" pitchFamily="34" charset="0"/>
                <a:ea typeface="Calibri" pitchFamily="34" charset="-122"/>
                <a:cs typeface="Calibri" pitchFamily="34" charset="-120"/>
              </a:rPr>
              <a:t>AquaLoop: treated-water reuse module   </a:t>
            </a:r>
            <a:pPr indent="0" marL="0">
              <a:buNone/>
            </a:pPr>
            <a:r>
              <a:rPr lang="en-US" sz="700" b="1" dirty="0">
                <a:solidFill>
                  <a:srgbClr val="9A6A0F"/>
                </a:solidFill>
                <a:latin typeface="Calibri" pitchFamily="34" charset="0"/>
                <a:ea typeface="Calibri" pitchFamily="34" charset="-122"/>
                <a:cs typeface="Calibri" pitchFamily="34" charset="-120"/>
              </a:rPr>
              <a:t>M9-12 · DEVELOP WITH IISc</a:t>
            </a:r>
            <a:endParaRPr lang="en-US" sz="1000" dirty="0"/>
          </a:p>
        </p:txBody>
      </p:sp>
      <p:sp>
        <p:nvSpPr>
          <p:cNvPr id="16" name="Text 13"/>
          <p:cNvSpPr txBox="1"/>
          <p:nvPr/>
        </p:nvSpPr>
        <p:spPr>
          <a:xfrm>
            <a:off x="5568696" y="4078224"/>
            <a:ext cx="5989320" cy="859536"/>
          </a:xfrm>
          <a:prstGeom prst="rect">
            <a:avLst/>
          </a:prstGeom>
          <a:noFill/>
          <a:ln/>
        </p:spPr>
        <p:txBody>
          <a:bodyPr wrap="square" lIns="0" tIns="0" rIns="0" bIns="0" rtlCol="0" anchor="t"/>
          <a:lstStyle/>
          <a:p>
            <a:pPr indent="0" marL="0">
              <a:lnSpc>
                <a:spcPct val="100000"/>
              </a:lnSpc>
              <a:buNone/>
            </a:pPr>
            <a:r>
              <a:rPr lang="en-US" sz="790" dirty="0">
                <a:solidFill>
                  <a:srgbClr val="26313B"/>
                </a:solidFill>
                <a:latin typeface="Calibri" pitchFamily="34" charset="0"/>
                <a:ea typeface="Calibri" pitchFamily="34" charset="-122"/>
                <a:cs typeface="Calibri" pitchFamily="34" charset="-120"/>
              </a:rPr>
              <a:t>Why: hotels pay tanker rates for water CGWA already tells them to recycle; builds directly on the ozone oxy-STP line and Feb-2026 IISc MoU (non-biological treatment). Mode: develop + assemble at Bicholim; ₹1-1.5 cr. Price: ₹6-18 L add-on skid (UF + carbon + UV/O3). Pilot: 2 Goa resorts + 1 Kolhapur society. Metric: attached to 25% of new STP orders by FY29.</a:t>
            </a:r>
            <a:endParaRPr lang="en-US" sz="790" dirty="0"/>
          </a:p>
        </p:txBody>
      </p:sp>
      <p:sp>
        <p:nvSpPr>
          <p:cNvPr id="17" name="Text 14"/>
          <p:cNvSpPr txBox="1"/>
          <p:nvPr/>
        </p:nvSpPr>
        <p:spPr>
          <a:xfrm>
            <a:off x="5440680" y="5175504"/>
            <a:ext cx="6245352" cy="731520"/>
          </a:xfrm>
          <a:prstGeom prst="rect">
            <a:avLst/>
          </a:prstGeom>
          <a:noFill/>
          <a:ln/>
        </p:spPr>
        <p:txBody>
          <a:bodyPr wrap="square" lIns="0" tIns="0" rIns="0" bIns="0" rtlCol="0" anchor="ctr"/>
          <a:lstStyle/>
          <a:p>
            <a:pPr indent="0" marL="0">
              <a:lnSpc>
                <a:spcPct val="106000"/>
              </a:lnSpc>
              <a:buNone/>
            </a:pPr>
            <a:r>
              <a:rPr lang="en-US" sz="800" b="1" dirty="0">
                <a:solidFill>
                  <a:srgbClr val="0B2E4F"/>
                </a:solidFill>
                <a:latin typeface="Calibri" pitchFamily="34" charset="0"/>
                <a:ea typeface="Calibri" pitchFamily="34" charset="-122"/>
                <a:cs typeface="Calibri" pitchFamily="34" charset="-120"/>
              </a:rPr>
              <a:t>Deferred: </a:t>
            </a:r>
            <a:pPr indent="0" marL="0">
              <a:lnSpc>
                <a:spcPct val="106000"/>
              </a:lnSpc>
              <a:buNone/>
            </a:pPr>
            <a:r>
              <a:rPr lang="en-US" sz="800" dirty="0">
                <a:solidFill>
                  <a:srgbClr val="26313B"/>
                </a:solidFill>
                <a:latin typeface="Calibri" pitchFamily="34" charset="0"/>
                <a:ea typeface="Calibri" pitchFamily="34" charset="-122"/>
                <a:cs typeface="Calibri" pitchFamily="34" charset="-120"/>
              </a:rPr>
              <a:t>WaaS/BOOT piloted only in FY29 via partner financing (capital-heavy); MBR premium line, FSTP and biogas dropped for now: capex, municipal dependence, or sub-scale economics. Combined contribution of the three: ~₹2.4 cr/yr recurring by FY29 at 35-40% GM, cross-sold to the installed base.</a:t>
            </a:r>
            <a:endParaRPr lang="en-US" sz="800" dirty="0"/>
          </a:p>
        </p:txBody>
      </p:sp>
      <p:sp>
        <p:nvSpPr>
          <p:cNvPr id="18" name="Shape 15"/>
          <p:cNvSpPr/>
          <p:nvPr/>
        </p:nvSpPr>
        <p:spPr>
          <a:xfrm>
            <a:off x="502920" y="5943600"/>
            <a:ext cx="11183112" cy="475488"/>
          </a:xfrm>
          <a:prstGeom prst="roundRect">
            <a:avLst>
              <a:gd name="adj" fmla="val 10577"/>
            </a:avLst>
          </a:prstGeom>
          <a:solidFill>
            <a:srgbClr val="0B2E4F"/>
          </a:solidFill>
          <a:ln/>
        </p:spPr>
      </p:sp>
      <p:sp>
        <p:nvSpPr>
          <p:cNvPr id="19" name="Text 16"/>
          <p:cNvSpPr txBox="1"/>
          <p:nvPr/>
        </p:nvSpPr>
        <p:spPr>
          <a:xfrm>
            <a:off x="704088" y="5943600"/>
            <a:ext cx="10780776" cy="475488"/>
          </a:xfrm>
          <a:prstGeom prst="rect">
            <a:avLst/>
          </a:prstGeom>
          <a:noFill/>
          <a:ln/>
        </p:spPr>
        <p:txBody>
          <a:bodyPr wrap="square" lIns="0" tIns="0" rIns="0" bIns="0" rtlCol="0" anchor="ctr"/>
          <a:lstStyle/>
          <a:p>
            <a:pPr indent="0" marL="0">
              <a:lnSpc>
                <a:spcPct val="103000"/>
              </a:lnSpc>
              <a:buNone/>
            </a:pPr>
            <a:r>
              <a:rPr lang="en-US" sz="1050" b="1" spc="150" kern="0" dirty="0">
                <a:solidFill>
                  <a:srgbClr val="D98E1F"/>
                </a:solidFill>
                <a:latin typeface="Calibri" pitchFamily="34" charset="0"/>
                <a:ea typeface="Calibri" pitchFamily="34" charset="-122"/>
                <a:cs typeface="Calibri" pitchFamily="34" charset="-120"/>
              </a:rPr>
              <a:t>SEQUENCE   </a:t>
            </a:r>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Each adjacency deepens the same installed base and lifts recurring revenue to ~10% of sales by FY29; none needs new manufacturing beyond Bicholim.</a:t>
            </a:r>
            <a:endParaRPr lang="en-US" sz="1050" dirty="0"/>
          </a:p>
        </p:txBody>
      </p:sp>
      <p:sp>
        <p:nvSpPr>
          <p:cNvPr id="20" name="Text 17"/>
          <p:cNvSpPr txBox="1"/>
          <p:nvPr/>
        </p:nvSpPr>
        <p:spPr>
          <a:xfrm>
            <a:off x="502920" y="6473952"/>
            <a:ext cx="9692640" cy="310896"/>
          </a:xfrm>
          <a:prstGeom prst="rect">
            <a:avLst/>
          </a:prstGeom>
          <a:noFill/>
          <a:ln/>
        </p:spPr>
        <p:txBody>
          <a:bodyPr wrap="square" lIns="0" tIns="0" rIns="0" bIns="0" rtlCol="0" anchor="t"/>
          <a:lstStyle/>
          <a:p>
            <a:pPr indent="0" marL="0">
              <a:lnSpc>
                <a:spcPct val="100000"/>
              </a:lnSpc>
              <a:buNone/>
            </a:pPr>
            <a:r>
              <a:rPr lang="en-US" sz="800" dirty="0">
                <a:solidFill>
                  <a:srgbClr val="8A959E"/>
                </a:solidFill>
                <a:latin typeface="Calibri" pitchFamily="34" charset="0"/>
                <a:ea typeface="Calibri" pitchFamily="34" charset="-122"/>
                <a:cs typeface="Calibri" pitchFamily="34" charset="-120"/>
              </a:rPr>
              <a:t>Sources: CPCB 2021 (operational 26,869 vs installed 31,841 MLD; 20,235 MLD utilised); CGWA 2020 recycled-water mandate; IISc MoU (ANI, Feb 2026); Boson Whitewater WaaS benchmark (Zerodha Rainmatter). Scores: team analysis, matrix p.9.</a:t>
            </a:r>
            <a:endParaRPr lang="en-US" sz="800" dirty="0"/>
          </a:p>
        </p:txBody>
      </p:sp>
      <p:sp>
        <p:nvSpPr>
          <p:cNvPr id="21" name="Text 18"/>
          <p:cNvSpPr txBox="1"/>
          <p:nvPr/>
        </p:nvSpPr>
        <p:spPr>
          <a:xfrm>
            <a:off x="10378440" y="6510528"/>
            <a:ext cx="1325880" cy="237744"/>
          </a:xfrm>
          <a:prstGeom prst="rect">
            <a:avLst/>
          </a:prstGeom>
          <a:noFill/>
          <a:ln/>
        </p:spPr>
        <p:txBody>
          <a:bodyPr wrap="square" lIns="0" tIns="0" rIns="0" bIns="0" rtlCol="0" anchor="ctr"/>
          <a:lstStyle/>
          <a:p>
            <a:pPr algn="r" indent="0" marL="0">
              <a:buNone/>
            </a:pPr>
            <a:r>
              <a:rPr lang="en-US" sz="800" dirty="0">
                <a:solidFill>
                  <a:srgbClr val="8A959E"/>
                </a:solidFill>
                <a:latin typeface="Calibri" pitchFamily="34" charset="0"/>
                <a:ea typeface="Calibri" pitchFamily="34" charset="-122"/>
                <a:cs typeface="Calibri" pitchFamily="34" charset="-120"/>
              </a:rPr>
              <a:t>Team Wookies</a:t>
            </a:r>
            <a:pPr algn="r" indent="0" marL="0">
              <a:buNone/>
            </a:pPr>
            <a:r>
              <a:rPr lang="en-US" sz="900" b="1" dirty="0">
                <a:solidFill>
                  <a:srgbClr val="5D6A75"/>
                </a:solidFill>
                <a:latin typeface="Calibri" pitchFamily="34" charset="0"/>
                <a:ea typeface="Calibri" pitchFamily="34" charset="-122"/>
                <a:cs typeface="Calibri" pitchFamily="34" charset="-120"/>
              </a:rPr>
              <a:t>   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83112" cy="256032"/>
          </a:xfrm>
          <a:prstGeom prst="rect">
            <a:avLst/>
          </a:prstGeom>
          <a:noFill/>
          <a:ln/>
        </p:spPr>
        <p:txBody>
          <a:bodyPr wrap="square" lIns="0" tIns="0" rIns="0" bIns="0" rtlCol="0" anchor="ctr"/>
          <a:lstStyle/>
          <a:p>
            <a:pPr indent="0" marL="0">
              <a:buNone/>
            </a:pPr>
            <a:r>
              <a:rPr lang="en-US" sz="1050" b="1" spc="200" kern="0" dirty="0">
                <a:solidFill>
                  <a:srgbClr val="0E7C7B"/>
                </a:solidFill>
                <a:latin typeface="Calibri" pitchFamily="34" charset="0"/>
                <a:ea typeface="Calibri" pitchFamily="34" charset="-122"/>
                <a:cs typeface="Calibri" pitchFamily="34" charset="-120"/>
              </a:rPr>
              <a:t>SUPPORTING MATERIAL</a:t>
            </a:r>
            <a:endParaRPr lang="en-US" sz="1050" dirty="0"/>
          </a:p>
        </p:txBody>
      </p:sp>
      <p:sp>
        <p:nvSpPr>
          <p:cNvPr id="3" name="Text 1"/>
          <p:cNvSpPr txBox="1"/>
          <p:nvPr/>
        </p:nvSpPr>
        <p:spPr>
          <a:xfrm>
            <a:off x="502920" y="512064"/>
            <a:ext cx="11183112" cy="457200"/>
          </a:xfrm>
          <a:prstGeom prst="rect">
            <a:avLst/>
          </a:prstGeom>
          <a:noFill/>
          <a:ln/>
        </p:spPr>
        <p:txBody>
          <a:bodyPr wrap="square" lIns="0" tIns="0" rIns="0" bIns="0" rtlCol="0" anchor="ctr"/>
          <a:lstStyle/>
          <a:p>
            <a:pPr indent="0" marL="0">
              <a:lnSpc>
                <a:spcPct val="102000"/>
              </a:lnSpc>
              <a:buNone/>
            </a:pPr>
            <a:r>
              <a:rPr lang="en-US" sz="2000" b="1" dirty="0">
                <a:solidFill>
                  <a:srgbClr val="0B2E4F"/>
                </a:solidFill>
                <a:latin typeface="Calibri" pitchFamily="34" charset="0"/>
                <a:ea typeface="Calibri" pitchFamily="34" charset="-122"/>
                <a:cs typeface="Calibri" pitchFamily="34" charset="-120"/>
              </a:rPr>
              <a:t>References and methodology</a:t>
            </a:r>
            <a:endParaRPr lang="en-US" sz="2000" dirty="0"/>
          </a:p>
        </p:txBody>
      </p:sp>
      <p:sp>
        <p:nvSpPr>
          <p:cNvPr id="4" name="Text 2"/>
          <p:cNvSpPr txBox="1"/>
          <p:nvPr/>
        </p:nvSpPr>
        <p:spPr>
          <a:xfrm>
            <a:off x="502920" y="1060704"/>
            <a:ext cx="5440680" cy="5394960"/>
          </a:xfrm>
          <a:prstGeom prst="rect">
            <a:avLst/>
          </a:prstGeom>
          <a:noFill/>
          <a:ln/>
        </p:spPr>
        <p:txBody>
          <a:bodyPr wrap="square" lIns="0" tIns="0" rIns="0" bIns="0" rtlCol="0" anchor="t"/>
          <a:lstStyle/>
          <a:p>
            <a:pPr indent="0" marL="0">
              <a:lnSpc>
                <a:spcPct val="112000"/>
              </a:lnSpc>
              <a:buNone/>
            </a:pPr>
            <a:r>
              <a:rPr lang="en-US" sz="880" b="1" dirty="0">
                <a:solidFill>
                  <a:srgbClr val="0E7C7B"/>
                </a:solidFill>
                <a:latin typeface="Calibri" pitchFamily="34" charset="0"/>
                <a:ea typeface="Calibri" pitchFamily="34" charset="-122"/>
                <a:cs typeface="Calibri" pitchFamily="34" charset="-120"/>
              </a:rPr>
              <a:t>CASE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BGCC Case Consilium 2026 Round 2, EP Biocomposites Ltd problem statement, BITS Pilani Goa (all slides). Company FY26 financials, price ranges, IISc MoU and Unkal Nullah reference are cited from this document.
</a:t>
            </a:r>
            <a:pPr indent="0" marL="0">
              <a:lnSpc>
                <a:spcPct val="112000"/>
              </a:lnSpc>
              <a:buNone/>
            </a:pPr>
            <a:r>
              <a:rPr lang="en-US" sz="880" b="1" dirty="0">
                <a:solidFill>
                  <a:srgbClr val="0E7C7B"/>
                </a:solidFill>
                <a:latin typeface="Calibri" pitchFamily="34" charset="0"/>
                <a:ea typeface="Calibri" pitchFamily="34" charset="-122"/>
                <a:cs typeface="Calibri" pitchFamily="34" charset="-120"/>
              </a:rPr>
              <a:t>EPBL &amp; GROUP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EPBL website, product pages: epbiocomposites.com/bio-digester-toilet-manufacturer-in-goa/; /sewage-and-effluent-treatment-plant-manufacturer-in-goa/ (acc. Sep 2026), slides 3-5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EPBL IPO details &amp; pre-IPO financials: chittorgarh.com/ipo/ep-biocomposites-ipo/1286/ (2022), slides 2,5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ONGC 100-KLD MBR STP order ₹72.27 L: equitybulls.com/category.php?id=340437 (Dec 2023), slides 3,4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IISc Bengaluru MoU: aninews.in/news/business/ep-biocomposites-strengthens-technology-capabilities... (Feb 2026), slides 2,7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EPBL incorporation, Bicholim: zaubacorp.com/EP-BIOCOMPOSITES-LIMITED-U28900GA2020PLC014240, slide 5
</a:t>
            </a:r>
            <a:pPr indent="0" marL="0">
              <a:lnSpc>
                <a:spcPct val="112000"/>
              </a:lnSpc>
              <a:buNone/>
            </a:pPr>
            <a:r>
              <a:rPr lang="en-US" sz="880" b="1" dirty="0">
                <a:solidFill>
                  <a:srgbClr val="0E7C7B"/>
                </a:solidFill>
                <a:latin typeface="Calibri" pitchFamily="34" charset="0"/>
                <a:ea typeface="Calibri" pitchFamily="34" charset="-122"/>
                <a:cs typeface="Calibri" pitchFamily="34" charset="-120"/>
              </a:rPr>
              <a:t>GOVERNMENT &amp; REGULATORY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CPCB, National Inventory of Sewage Treatment Plants, Mar 2021: cpcb.gov.in (report id 1228); state gap for Goa via navhindtimes.in (Oct 2021), slides 2,4,6,7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Bio-medical Waste Management Rules 2016 (amended 2018), &gt;10-bed ETP mandate: cpcb.gov.in / MoEFCC gazette, slides 3,4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Karnataka apartment STP rules &amp; 2024 revision: deccanherald.com/india/karnataka/karnataka-government-relaxes-rules-stp-not-must-for-apartments-with-less-than-120-units-2933606 (2024), slides 3,4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EIA Notification 2006 item 8(a) ≥20,000 sqm: lexology.com/library/detail.aspx?g=8b0e2b16 (2025 review), slides 3,4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NGT OA 593/2017 order 28.08.2019 (100% treatment): greentribunal.gov.in, slide 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CGWA groundwater guidelines, 24 Sep 2020 (recycled-water mandate): cgwa-noc.gov.in via thesustainabilitycloud.com/blog/cgwa-guidelines/, slides 4,7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CSR: ₹34,908.75 cr FY24 total; health &amp; sanitation ~₹8,739 cr: csr.gov.in via indiacsr.in (2024) and proteantech.in, slide 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Census of India 2011: urban households on septic tanks 38.2%: censusindia.gov.in (HL-08 analysis), slide 4
</a:t>
            </a:r>
            <a:endParaRPr lang="en-US" sz="880" dirty="0"/>
          </a:p>
        </p:txBody>
      </p:sp>
      <p:sp>
        <p:nvSpPr>
          <p:cNvPr id="5" name="Text 3"/>
          <p:cNvSpPr txBox="1"/>
          <p:nvPr/>
        </p:nvSpPr>
        <p:spPr>
          <a:xfrm>
            <a:off x="6126480" y="1060704"/>
            <a:ext cx="3977640" cy="5394960"/>
          </a:xfrm>
          <a:prstGeom prst="rect">
            <a:avLst/>
          </a:prstGeom>
          <a:noFill/>
          <a:ln/>
        </p:spPr>
        <p:txBody>
          <a:bodyPr wrap="square" lIns="0" tIns="0" rIns="0" bIns="0" rtlCol="0" anchor="t"/>
          <a:lstStyle/>
          <a:p>
            <a:pPr indent="0" marL="0">
              <a:lnSpc>
                <a:spcPct val="112000"/>
              </a:lnSpc>
              <a:buNone/>
            </a:pPr>
            <a:r>
              <a:rPr lang="en-US" sz="880" b="1" dirty="0">
                <a:solidFill>
                  <a:srgbClr val="0E7C7B"/>
                </a:solidFill>
                <a:latin typeface="Calibri" pitchFamily="34" charset="0"/>
                <a:ea typeface="Calibri" pitchFamily="34" charset="-122"/>
                <a:cs typeface="Calibri" pitchFamily="34" charset="-120"/>
              </a:rPr>
              <a:t>MARKET &amp; DEMAND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Goa tourist arrivals 2024 (10.41 mn): goa-tourism.com/news/goa-records-robust-21-percent-growth-in-tourism..., slides 3,4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Goa registered accommodation ~9,000 units (2024): Goa DoT via traveltrendstoday.in, slides 4,9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HVS ANAROCK India Hospitality Overview 2024 (Tier-2 28% + Tier-3/4 46% of new room signings): hvs.com/article/10158, slides 4,9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MahaRERA 50,162 registered projects: constructionworld.in (2025), slides 4,9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K-RERA ~5,672 &amp; Goa RERA ~1,250 projects (portal counts, secondary): 99acres.com/rera-registered-projects-in-karnataka-ffid; ...-in-goa-ffid, slides 4,9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India wastewater treatment market USD 10.4 bn 2025: imarcgroup.com/india-wastewater-treatment-market; plants market USD 1.33 bn 2024: techsciresearch.com (report 4514), slide 4
</a:t>
            </a:r>
            <a:pPr indent="0" marL="0">
              <a:lnSpc>
                <a:spcPct val="112000"/>
              </a:lnSpc>
              <a:buNone/>
            </a:pPr>
            <a:r>
              <a:rPr lang="en-US" sz="880" b="1" dirty="0">
                <a:solidFill>
                  <a:srgbClr val="0E7C7B"/>
                </a:solidFill>
                <a:latin typeface="Calibri" pitchFamily="34" charset="0"/>
                <a:ea typeface="Calibri" pitchFamily="34" charset="-122"/>
                <a:cs typeface="Calibri" pitchFamily="34" charset="-120"/>
              </a:rPr>
              <a:t>COMPETITORS &amp; PRICING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Daiki Axis India (Johkasou; Tumakuru plant ₹200 cr): daikiaxis.in; biltraxmedia.com/daiki-axis-to-invest-200-inr-crore..., slides 4,6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Ion Exchange INDION packaged STPs: ionexchangeglobal.com; Thermax FabX/BioCask: thermaxglobal.com, slide 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Banka BioLoo financials: screener.in/company/BANKA/consolidated/, slide 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SUSBIO ECOTREAT, from ₹35k/KLD: susbio.in; susbio.in/stp-plant-cost-per-kld-in-india-2026/, slides 4,6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Netsol Water / Kelvin (NCR): netsolwater.com/service-locations.php; kelvinindia.in, slide 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CDD Society DEWATS: cddindia.org; Boson Whitewater WaaS: zerodha.com/z-connect/rainmatter/introducing-boson-whitewater, slides 4,7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Packaged-STP &amp; AMC price benchmarks: studiomatrx.org/guides/stp-cost-per-kld-india; teamonebiotech.com (O&amp;M costs 2026), slides 3,4,9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DRDO bio-digester ToT licensees (49 firms, 2012): indiatvnews.com/news/india/drdo-licensing-eco-toilets-private-companies-16612.html, slide 4
</a:t>
            </a:r>
            <a:pPr indent="0" marL="0">
              <a:lnSpc>
                <a:spcPct val="112000"/>
              </a:lnSpc>
              <a:buNone/>
            </a:pPr>
            <a:r>
              <a:rPr lang="en-US" sz="730" dirty="0">
                <a:solidFill>
                  <a:srgbClr val="26313B"/>
                </a:solidFill>
                <a:latin typeface="Calibri" pitchFamily="34" charset="0"/>
                <a:ea typeface="Calibri" pitchFamily="34" charset="-122"/>
                <a:cs typeface="Calibri" pitchFamily="34" charset="-120"/>
              </a:rPr>
              <a:t>All URLs accessed 10 Sep 2026. Secondary sources are marked; where a figure exists only in the problem statement, the deck cites the problem statement.
</a:t>
            </a:r>
            <a:endParaRPr lang="en-US" sz="880" dirty="0"/>
          </a:p>
        </p:txBody>
      </p:sp>
      <p:sp>
        <p:nvSpPr>
          <p:cNvPr id="6" name="Shape 4"/>
          <p:cNvSpPr/>
          <p:nvPr/>
        </p:nvSpPr>
        <p:spPr>
          <a:xfrm>
            <a:off x="10241280" y="1060704"/>
            <a:ext cx="1444752" cy="5394960"/>
          </a:xfrm>
          <a:prstGeom prst="roundRect">
            <a:avLst>
              <a:gd name="adj" fmla="val 3797"/>
            </a:avLst>
          </a:prstGeom>
          <a:solidFill>
            <a:srgbClr val="E7F2F1"/>
          </a:solidFill>
          <a:ln/>
        </p:spPr>
      </p:sp>
      <p:sp>
        <p:nvSpPr>
          <p:cNvPr id="7" name="Text 5"/>
          <p:cNvSpPr txBox="1"/>
          <p:nvPr/>
        </p:nvSpPr>
        <p:spPr>
          <a:xfrm>
            <a:off x="10332720" y="1133856"/>
            <a:ext cx="1261872" cy="5212080"/>
          </a:xfrm>
          <a:prstGeom prst="rect">
            <a:avLst/>
          </a:prstGeom>
          <a:noFill/>
          <a:ln/>
        </p:spPr>
        <p:txBody>
          <a:bodyPr wrap="square" lIns="0" tIns="0" rIns="0" bIns="0" rtlCol="0" anchor="t"/>
          <a:lstStyle/>
          <a:p>
            <a:pPr indent="0" marL="0">
              <a:lnSpc>
                <a:spcPct val="105000"/>
              </a:lnSpc>
              <a:buNone/>
            </a:pPr>
            <a:r>
              <a:rPr lang="en-US" sz="850" b="1" dirty="0">
                <a:solidFill>
                  <a:srgbClr val="0E7C7B"/>
                </a:solidFill>
                <a:latin typeface="Calibri" pitchFamily="34" charset="0"/>
                <a:ea typeface="Calibri" pitchFamily="34" charset="-122"/>
                <a:cs typeface="Calibri" pitchFamily="34" charset="-120"/>
              </a:rPr>
              <a:t>METHODOLOGY
</a:t>
            </a:r>
            <a:pPr indent="0" marL="0">
              <a:lnSpc>
                <a:spcPct val="105000"/>
              </a:lnSpc>
              <a:buNone/>
            </a:pPr>
            <a:r>
              <a:rPr lang="en-US" sz="700" dirty="0">
                <a:solidFill>
                  <a:srgbClr val="26313B"/>
                </a:solidFill>
                <a:latin typeface="Calibri" pitchFamily="34" charset="0"/>
                <a:ea typeface="Calibri" pitchFamily="34" charset="-122"/>
                <a:cs typeface="Calibri" pitchFamily="34" charset="-120"/>
              </a:rPr>
              <a:t>
Sizing: bottom-up per segment per state: units x %lacking x fit x conversion x ticket. No top-down market-report allocation.
</a:t>
            </a:r>
            <a:pPr indent="0" marL="0">
              <a:lnSpc>
                <a:spcPct val="105000"/>
              </a:lnSpc>
              <a:buNone/>
            </a:pPr>
            <a:r>
              <a:rPr lang="en-US" sz="700" dirty="0">
                <a:solidFill>
                  <a:srgbClr val="26313B"/>
                </a:solidFill>
                <a:latin typeface="Calibri" pitchFamily="34" charset="0"/>
                <a:ea typeface="Calibri" pitchFamily="34" charset="-122"/>
                <a:cs typeface="Calibri" pitchFamily="34" charset="-120"/>
              </a:rPr>
              <a:t>
Scenarios: conversion, trigger-share and win-rate flexed; conservative = lowest defensible, upside = still capacity-bound.
</a:t>
            </a:r>
            <a:pPr indent="0" marL="0">
              <a:lnSpc>
                <a:spcPct val="105000"/>
              </a:lnSpc>
              <a:buNone/>
            </a:pPr>
            <a:r>
              <a:rPr lang="en-US" sz="700" dirty="0">
                <a:solidFill>
                  <a:srgbClr val="26313B"/>
                </a:solidFill>
                <a:latin typeface="Calibri" pitchFamily="34" charset="0"/>
                <a:ea typeface="Calibri" pitchFamily="34" charset="-122"/>
                <a:cs typeface="Calibri" pitchFamily="34" charset="-120"/>
              </a:rPr>
              <a:t>
Scoring: segmentation 10 factors / portfolio 7 criteria, weights shown on slides 3 and 7; scores 1-5, evidence-based.
</a:t>
            </a:r>
            <a:pPr indent="0" marL="0">
              <a:lnSpc>
                <a:spcPct val="105000"/>
              </a:lnSpc>
              <a:buNone/>
            </a:pPr>
            <a:endParaRPr lang="en-US" sz="850" dirty="0"/>
          </a:p>
          <a:p>
            <a:pPr indent="0" marL="0">
              <a:lnSpc>
                <a:spcPct val="105000"/>
              </a:lnSpc>
              <a:buNone/>
            </a:pPr>
            <a:r>
              <a:rPr lang="en-US" sz="700" dirty="0">
                <a:solidFill>
                  <a:srgbClr val="26313B"/>
                </a:solidFill>
                <a:latin typeface="Calibri" pitchFamily="34" charset="0"/>
                <a:ea typeface="Calibri" pitchFamily="34" charset="-122"/>
                <a:cs typeface="Calibri" pitchFamily="34" charset="-120"/>
              </a:rPr>
              <a:t>Rounding: ₹cr to 1 decimal; estimates labelled; no false precision.</a:t>
            </a:r>
            <a:endParaRPr lang="en-US" sz="850" dirty="0"/>
          </a:p>
        </p:txBody>
      </p:sp>
      <p:sp>
        <p:nvSpPr>
          <p:cNvPr id="8" name="Text 6"/>
          <p:cNvSpPr txBox="1"/>
          <p:nvPr/>
        </p:nvSpPr>
        <p:spPr>
          <a:xfrm>
            <a:off x="10378440" y="6510528"/>
            <a:ext cx="1325880" cy="237744"/>
          </a:xfrm>
          <a:prstGeom prst="rect">
            <a:avLst/>
          </a:prstGeom>
          <a:noFill/>
          <a:ln/>
        </p:spPr>
        <p:txBody>
          <a:bodyPr wrap="square" lIns="0" tIns="0" rIns="0" bIns="0" rtlCol="0" anchor="ctr"/>
          <a:lstStyle/>
          <a:p>
            <a:pPr algn="r" indent="0" marL="0">
              <a:buNone/>
            </a:pPr>
            <a:r>
              <a:rPr lang="en-US" sz="800" dirty="0">
                <a:solidFill>
                  <a:srgbClr val="8A959E"/>
                </a:solidFill>
                <a:latin typeface="Calibri" pitchFamily="34" charset="0"/>
                <a:ea typeface="Calibri" pitchFamily="34" charset="-122"/>
                <a:cs typeface="Calibri" pitchFamily="34" charset="-120"/>
              </a:rPr>
              <a:t>Team Wookies</a:t>
            </a:r>
            <a:pPr algn="r" indent="0" marL="0">
              <a:buNone/>
            </a:pPr>
            <a:r>
              <a:rPr lang="en-US" sz="900" b="1" dirty="0">
                <a:solidFill>
                  <a:srgbClr val="5D6A75"/>
                </a:solidFill>
                <a:latin typeface="Calibri" pitchFamily="34" charset="0"/>
                <a:ea typeface="Calibri" pitchFamily="34" charset="-122"/>
                <a:cs typeface="Calibri" pitchFamily="34" charset="-120"/>
              </a:rPr>
              <a:t>   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83112" cy="256032"/>
          </a:xfrm>
          <a:prstGeom prst="rect">
            <a:avLst/>
          </a:prstGeom>
          <a:noFill/>
          <a:ln/>
        </p:spPr>
        <p:txBody>
          <a:bodyPr wrap="square" lIns="0" tIns="0" rIns="0" bIns="0" rtlCol="0" anchor="ctr"/>
          <a:lstStyle/>
          <a:p>
            <a:pPr indent="0" marL="0">
              <a:buNone/>
            </a:pPr>
            <a:r>
              <a:rPr lang="en-US" sz="1050" b="1" spc="200" kern="0" dirty="0">
                <a:solidFill>
                  <a:srgbClr val="0E7C7B"/>
                </a:solidFill>
                <a:latin typeface="Calibri" pitchFamily="34" charset="0"/>
                <a:ea typeface="Calibri" pitchFamily="34" charset="-122"/>
                <a:cs typeface="Calibri" pitchFamily="34" charset="-120"/>
              </a:rPr>
              <a:t>SUPPORTING MATERIAL</a:t>
            </a:r>
            <a:endParaRPr lang="en-US" sz="1050" dirty="0"/>
          </a:p>
        </p:txBody>
      </p:sp>
      <p:sp>
        <p:nvSpPr>
          <p:cNvPr id="3" name="Text 1"/>
          <p:cNvSpPr txBox="1"/>
          <p:nvPr/>
        </p:nvSpPr>
        <p:spPr>
          <a:xfrm>
            <a:off x="502920" y="512064"/>
            <a:ext cx="11183112" cy="457200"/>
          </a:xfrm>
          <a:prstGeom prst="rect">
            <a:avLst/>
          </a:prstGeom>
          <a:noFill/>
          <a:ln/>
        </p:spPr>
        <p:txBody>
          <a:bodyPr wrap="square" lIns="0" tIns="0" rIns="0" bIns="0" rtlCol="0" anchor="ctr"/>
          <a:lstStyle/>
          <a:p>
            <a:pPr indent="0" marL="0">
              <a:lnSpc>
                <a:spcPct val="102000"/>
              </a:lnSpc>
              <a:buNone/>
            </a:pPr>
            <a:r>
              <a:rPr lang="en-US" sz="2000" b="1" dirty="0">
                <a:solidFill>
                  <a:srgbClr val="0B2E4F"/>
                </a:solidFill>
                <a:latin typeface="Calibri" pitchFamily="34" charset="0"/>
                <a:ea typeface="Calibri" pitchFamily="34" charset="-122"/>
                <a:cs typeface="Calibri" pitchFamily="34" charset="-120"/>
              </a:rPr>
              <a:t>Glossary, assumptions and calculation backup</a:t>
            </a:r>
            <a:endParaRPr lang="en-US" sz="2000" dirty="0"/>
          </a:p>
        </p:txBody>
      </p:sp>
      <p:sp>
        <p:nvSpPr>
          <p:cNvPr id="4" name="Text 2"/>
          <p:cNvSpPr txBox="1"/>
          <p:nvPr/>
        </p:nvSpPr>
        <p:spPr>
          <a:xfrm>
            <a:off x="502920" y="1060704"/>
            <a:ext cx="3108960"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Glossary</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3246120" cy="914400"/>
        </p:xfrm>
        <a:graphic>
          <a:graphicData uri="http://schemas.openxmlformats.org/drawingml/2006/table">
            <a:tbl>
              <a:tblPr/>
              <a:tblGrid>
                <a:gridCol w="960120"/>
                <a:gridCol w="2286000"/>
              </a:tblGrid>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STP / ETP</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Sewage / Effluent Treatment Plant</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KLD / MLD</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Kilo / Million Litres per Day</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MBBR</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Moving Bed Biofilm Reactor</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SBR</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Sequencing Batch Reactor</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MBR</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Membrane Bioreactor</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DEWATS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Decentralised Wastewater Treatment Systems (nature-based)</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FRP</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Fibre-Reinforced Plastic</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O&amp;M / AMC</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Operation &amp; Maintenance / Annual Maintenance Contract</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TAM/SAM/SOM</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Total / Serviceable Addressable / Obtainable Market</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DSO</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Days Sales Outstanding (receivable days)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ToT</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Transfer of Technology (DRDO licence)</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EC / OC</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Environmental Clearance / Occupancy Certificate</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CTE / CTO</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Consent to Establish / Operate (pollution boards)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BMW Rules</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Bio-medical Waste Management Rules, 2016</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CGWA</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Central Ground Water Authority</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720" b="1" dirty="0">
                          <a:solidFill>
                            <a:srgbClr val="0B2E4F"/>
                          </a:solidFill>
                          <a:latin typeface="Calibri" pitchFamily="34" charset="0"/>
                          <a:ea typeface="Calibri" pitchFamily="34" charset="-122"/>
                          <a:cs typeface="Calibri" pitchFamily="34" charset="-120"/>
                        </a:rPr>
                        <a:t>WaaS / BOOT</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2F5F7"/>
                    </a:solidFill>
                  </a:tcPr>
                </a:tc>
                <a:tc>
                  <a:txBody>
                    <a:bodyPr/>
                    <a:lstStyle/>
                    <a:p>
                      <a:pPr algn="l" indent="0" marL="0">
                        <a:buNone/>
                      </a:pPr>
                      <a:r>
                        <a:rPr lang="en-US" sz="720" dirty="0">
                          <a:solidFill>
                            <a:srgbClr val="26313B"/>
                          </a:solidFill>
                          <a:latin typeface="Calibri" pitchFamily="34" charset="0"/>
                          <a:ea typeface="Calibri" pitchFamily="34" charset="-122"/>
                          <a:cs typeface="Calibri" pitchFamily="34" charset="-120"/>
                        </a:rPr>
                        <a:t>Water-as-a-Service / Build-Own-Operate-Transfer</a:t>
                      </a:r>
                      <a:endParaRPr lang="en-US" sz="720" dirty="0">
                        <a:latin typeface="Calibri" charset="0"/>
                        <a:ea typeface="Calibri" charset="0"/>
                        <a:cs typeface="Calibri" charset="0"/>
                      </a:endParaRPr>
                    </a:p>
                  </a:txBody>
                  <a:tcPr marL="45720" marR="45720" marT="32004" marB="32004" anchor="t">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bl>
          </a:graphicData>
        </a:graphic>
      </p:graphicFrame>
      <p:sp>
        <p:nvSpPr>
          <p:cNvPr id="6" name="Text 3"/>
          <p:cNvSpPr txBox="1"/>
          <p:nvPr/>
        </p:nvSpPr>
        <p:spPr>
          <a:xfrm>
            <a:off x="3977640" y="1060704"/>
            <a:ext cx="7708392" cy="237744"/>
          </a:xfrm>
          <a:prstGeom prst="rect">
            <a:avLst/>
          </a:prstGeom>
          <a:noFill/>
          <a:ln/>
        </p:spPr>
        <p:txBody>
          <a:bodyPr wrap="square" lIns="0" tIns="0" rIns="0" bIns="0" rtlCol="0" anchor="ctr"/>
          <a:lstStyle/>
          <a:p>
            <a:pPr indent="0" marL="0">
              <a:buNone/>
            </a:pPr>
            <a:r>
              <a:rPr lang="en-US" sz="1100" b="1" spc="50" kern="0" dirty="0">
                <a:solidFill>
                  <a:srgbClr val="0B2E4F"/>
                </a:solidFill>
                <a:latin typeface="Calibri" pitchFamily="34" charset="0"/>
                <a:ea typeface="Calibri" pitchFamily="34" charset="-122"/>
                <a:cs typeface="Calibri" pitchFamily="34" charset="-120"/>
              </a:rPr>
              <a:t>TAM build (annual, ₹cr): eligible units x %lacking x fit x conversion x avg ticket</a:t>
            </a:r>
            <a:endParaRPr lang="en-US" sz="11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3977640" y="1298448"/>
          <a:ext cx="7708392" cy="914400"/>
        </p:xfrm>
        <a:graphic>
          <a:graphicData uri="http://schemas.openxmlformats.org/drawingml/2006/table">
            <a:tbl>
              <a:tblPr/>
              <a:tblGrid>
                <a:gridCol w="1417320"/>
                <a:gridCol w="2560320"/>
                <a:gridCol w="566928"/>
                <a:gridCol w="566928"/>
                <a:gridCol w="658368"/>
                <a:gridCol w="658368"/>
                <a:gridCol w="594360"/>
                <a:gridCol w="685800"/>
              </a:tblGrid>
              <a:tr h="0">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Segment</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Eligible units (basis)</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 lack</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Fit</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Conv./yr</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Ticket ₹L</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Proj./yr</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₹cr/yr</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Hospitality (≥20 keys)</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4,000 stock (Goa DoT ~9,000 units; HVS Tier-2/3) + 110 new/yr</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55%</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60%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8% + new</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24-28</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166</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42.3</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Residential developers</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517 STP-trigger launches/yr (RERA run-rates x Tier-2/3 x trigger share)</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n/a</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60%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flow</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48</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310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148.9</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Housing societies (retrofit)</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900 with failing/aged STPs</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100%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60%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12%</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14</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65</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9.1</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Hospitals &gt;10 beds</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5,500 private HCFs (BMW Rules base)</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50%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50%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6%</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16</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82</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13.2</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Education &amp; CSR campuses</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3,000 residential campuses</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55%</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45%</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5%</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14</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37</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5.2</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MSME industrial (compact ETP)</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2,600 consented units, simple effluents</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45%</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40%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7%</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40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33</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13.1</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Commercial &amp; mixed-use</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1,200 properties</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50%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50%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7%</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35</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21</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7.4</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Homes (bio-digester)</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220,000 new unsewered Tier-2/3 homes/yr</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n/a</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2.5% adopt</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flow</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0.55</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5,500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30.3</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Homestays &amp; small hospitality</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3,500 stock</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60%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50%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8%</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2.2</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84</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1.8</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b="1" dirty="0">
                          <a:solidFill>
                            <a:srgbClr val="26313B"/>
                          </a:solidFill>
                          <a:latin typeface="Calibri" pitchFamily="34" charset="0"/>
                          <a:ea typeface="Calibri" pitchFamily="34" charset="-122"/>
                          <a:cs typeface="Calibri" pitchFamily="34" charset="-120"/>
                        </a:rPr>
                        <a:t>TOTAL TAM</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c>
                  <a:txBody>
                    <a:bodyPr/>
                    <a:lstStyle/>
                    <a:p>
                      <a:pPr algn="ctr" indent="0" marL="0">
                        <a:buNone/>
                      </a:pP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c>
                  <a:txBody>
                    <a:bodyPr/>
                    <a:lstStyle/>
                    <a:p>
                      <a:pPr algn="ctr" indent="0" marL="0">
                        <a:buNone/>
                      </a:pP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c>
                  <a:txBody>
                    <a:bodyPr/>
                    <a:lstStyle/>
                    <a:p>
                      <a:pPr algn="ctr" indent="0" marL="0">
                        <a:buNone/>
                      </a:pP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c>
                  <a:txBody>
                    <a:bodyPr/>
                    <a:lstStyle/>
                    <a:p>
                      <a:pPr algn="ctr" indent="0" marL="0">
                        <a:buNone/>
                      </a:pP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c>
                  <a:txBody>
                    <a:bodyPr/>
                    <a:lstStyle/>
                    <a:p>
                      <a:pPr algn="ctr" indent="0" marL="0">
                        <a:buNone/>
                      </a:pP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c>
                  <a:txBody>
                    <a:bodyPr/>
                    <a:lstStyle/>
                    <a:p>
                      <a:pPr algn="ctr" indent="0" marL="0">
                        <a:buNone/>
                      </a:pPr>
                      <a:r>
                        <a:rPr lang="en-US" sz="690" b="1" dirty="0">
                          <a:solidFill>
                            <a:srgbClr val="26313B"/>
                          </a:solidFill>
                          <a:latin typeface="Calibri" pitchFamily="34" charset="0"/>
                          <a:ea typeface="Calibri" pitchFamily="34" charset="-122"/>
                          <a:cs typeface="Calibri" pitchFamily="34" charset="-120"/>
                        </a:rPr>
                        <a:t>~6,300</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c>
                  <a:txBody>
                    <a:bodyPr/>
                    <a:lstStyle/>
                    <a:p>
                      <a:pPr algn="ctr" indent="0" marL="0">
                        <a:buNone/>
                      </a:pPr>
                      <a:r>
                        <a:rPr lang="en-US" sz="690" b="1" dirty="0">
                          <a:solidFill>
                            <a:srgbClr val="26313B"/>
                          </a:solidFill>
                          <a:latin typeface="Calibri" pitchFamily="34" charset="0"/>
                          <a:ea typeface="Calibri" pitchFamily="34" charset="-122"/>
                          <a:cs typeface="Calibri" pitchFamily="34" charset="-120"/>
                        </a:rPr>
                        <a:t>271.2</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r>
            </a:tbl>
          </a:graphicData>
        </a:graphic>
      </p:graphicFrame>
      <p:sp>
        <p:nvSpPr>
          <p:cNvPr id="8" name="Text 4"/>
          <p:cNvSpPr txBox="1"/>
          <p:nvPr/>
        </p:nvSpPr>
        <p:spPr>
          <a:xfrm>
            <a:off x="3977640" y="4078224"/>
            <a:ext cx="3657600" cy="237744"/>
          </a:xfrm>
          <a:prstGeom prst="rect">
            <a:avLst/>
          </a:prstGeom>
          <a:noFill/>
          <a:ln/>
        </p:spPr>
        <p:txBody>
          <a:bodyPr wrap="square" lIns="0" tIns="0" rIns="0" bIns="0" rtlCol="0" anchor="ctr"/>
          <a:lstStyle/>
          <a:p>
            <a:pPr indent="0" marL="0">
              <a:buNone/>
            </a:pPr>
            <a:r>
              <a:rPr lang="en-US" sz="1050" b="1" spc="50" kern="0" dirty="0">
                <a:solidFill>
                  <a:srgbClr val="0B2E4F"/>
                </a:solidFill>
                <a:latin typeface="Calibri" pitchFamily="34" charset="0"/>
                <a:ea typeface="Calibri" pitchFamily="34" charset="-122"/>
                <a:cs typeface="Calibri" pitchFamily="34" charset="-120"/>
              </a:rPr>
              <a:t>SOM bridge, base case (₹cr)</a:t>
            </a:r>
            <a:endParaRPr lang="en-US" sz="1050" dirty="0"/>
          </a:p>
        </p:txBody>
      </p:sp>
      <p:graphicFrame>
        <p:nvGraphicFramePr>
          <p:cNvPr id="28" name="Table 2"/>
          <p:cNvGraphicFramePr>
            <a:graphicFrameLocks noGrp="1"/>
          </p:cNvGraphicFramePr>
          <p:nvPr>
            <p:extLst>
              <p:ext uri="{D42A27DB-BD31-4B8C-83A1-F6EECF244321}">
                <p14:modId xmlns:p14="http://schemas.microsoft.com/office/powerpoint/2010/main" val="1579011935"/>
              </p:ext>
            </p:extLst>
          </p:nvPr>
        </p:nvGraphicFramePr>
        <p:xfrm>
          <a:off x="3977640" y="4297680"/>
          <a:ext cx="3291840" cy="914400"/>
        </p:xfrm>
        <a:graphic>
          <a:graphicData uri="http://schemas.openxmlformats.org/drawingml/2006/table">
            <a:tbl>
              <a:tblPr/>
              <a:tblGrid>
                <a:gridCol w="1508760"/>
                <a:gridCol w="594360"/>
                <a:gridCol w="594360"/>
                <a:gridCol w="594360"/>
              </a:tblGrid>
              <a:tr h="0">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₹cr</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FY27</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FY28</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710" b="1" dirty="0">
                          <a:solidFill>
                            <a:srgbClr val="FFFFFF"/>
                          </a:solidFill>
                          <a:latin typeface="Calibri" pitchFamily="34" charset="0"/>
                          <a:ea typeface="Calibri" pitchFamily="34" charset="-122"/>
                          <a:cs typeface="Calibri" pitchFamily="34" charset="-120"/>
                        </a:rPr>
                        <a:t>FY29</a:t>
                      </a:r>
                      <a:endParaRPr lang="en-US" sz="71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Existing base (+5%/yr)</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12.3</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12.9</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13.5</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dirty="0">
                          <a:solidFill>
                            <a:srgbClr val="26313B"/>
                          </a:solidFill>
                          <a:latin typeface="Calibri" pitchFamily="34" charset="0"/>
                          <a:ea typeface="Calibri" pitchFamily="34" charset="-122"/>
                          <a:cs typeface="Calibri" pitchFamily="34" charset="-120"/>
                        </a:rPr>
                        <a:t>New private-market</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2.4</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6.4</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dirty="0">
                          <a:solidFill>
                            <a:srgbClr val="26313B"/>
                          </a:solidFill>
                          <a:latin typeface="Calibri" pitchFamily="34" charset="0"/>
                          <a:ea typeface="Calibri" pitchFamily="34" charset="-122"/>
                          <a:cs typeface="Calibri" pitchFamily="34" charset="-120"/>
                        </a:rPr>
                        <a:t>11.9</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90" b="1" dirty="0">
                          <a:solidFill>
                            <a:srgbClr val="26313B"/>
                          </a:solidFill>
                          <a:latin typeface="Calibri" pitchFamily="34" charset="0"/>
                          <a:ea typeface="Calibri" pitchFamily="34" charset="-122"/>
                          <a:cs typeface="Calibri" pitchFamily="34" charset="-120"/>
                        </a:rPr>
                        <a:t>Total revenue</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b="1" dirty="0">
                          <a:solidFill>
                            <a:srgbClr val="26313B"/>
                          </a:solidFill>
                          <a:latin typeface="Calibri" pitchFamily="34" charset="0"/>
                          <a:ea typeface="Calibri" pitchFamily="34" charset="-122"/>
                          <a:cs typeface="Calibri" pitchFamily="34" charset="-120"/>
                        </a:rPr>
                        <a:t>14.7</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b="1" dirty="0">
                          <a:solidFill>
                            <a:srgbClr val="26313B"/>
                          </a:solidFill>
                          <a:latin typeface="Calibri" pitchFamily="34" charset="0"/>
                          <a:ea typeface="Calibri" pitchFamily="34" charset="-122"/>
                          <a:cs typeface="Calibri" pitchFamily="34" charset="-120"/>
                        </a:rPr>
                        <a:t>19.3</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90" b="1" dirty="0">
                          <a:solidFill>
                            <a:srgbClr val="26313B"/>
                          </a:solidFill>
                          <a:latin typeface="Calibri" pitchFamily="34" charset="0"/>
                          <a:ea typeface="Calibri" pitchFamily="34" charset="-122"/>
                          <a:cs typeface="Calibri" pitchFamily="34" charset="-120"/>
                        </a:rPr>
                        <a:t>25.4</a:t>
                      </a:r>
                      <a:endParaRPr lang="en-US" sz="69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bl>
          </a:graphicData>
        </a:graphic>
      </p:graphicFrame>
      <p:sp>
        <p:nvSpPr>
          <p:cNvPr id="10" name="Text 5"/>
          <p:cNvSpPr txBox="1"/>
          <p:nvPr/>
        </p:nvSpPr>
        <p:spPr>
          <a:xfrm>
            <a:off x="7452360" y="4297680"/>
            <a:ext cx="4233672" cy="960120"/>
          </a:xfrm>
          <a:prstGeom prst="rect">
            <a:avLst/>
          </a:prstGeom>
          <a:noFill/>
          <a:ln/>
        </p:spPr>
        <p:txBody>
          <a:bodyPr wrap="square" lIns="0" tIns="0" rIns="0" bIns="0" rtlCol="0" anchor="t"/>
          <a:lstStyle/>
          <a:p>
            <a:pPr indent="0" marL="0">
              <a:lnSpc>
                <a:spcPct val="106000"/>
              </a:lnSpc>
              <a:buNone/>
            </a:pPr>
            <a:r>
              <a:rPr lang="en-US" sz="750" b="1" dirty="0">
                <a:solidFill>
                  <a:srgbClr val="0B2E4F"/>
                </a:solidFill>
                <a:latin typeface="Calibri" pitchFamily="34" charset="0"/>
                <a:ea typeface="Calibri" pitchFamily="34" charset="-122"/>
                <a:cs typeface="Calibri" pitchFamily="34" charset="-120"/>
              </a:rPr>
              <a:t>FY29 new-business mix: </a:t>
            </a:r>
            <a:pPr indent="0" marL="0">
              <a:lnSpc>
                <a:spcPct val="106000"/>
              </a:lnSpc>
              <a:buNone/>
            </a:pPr>
            <a:r>
              <a:rPr lang="en-US" sz="750" dirty="0">
                <a:solidFill>
                  <a:srgbClr val="26313B"/>
                </a:solidFill>
                <a:latin typeface="Calibri" pitchFamily="34" charset="0"/>
                <a:ea typeface="Calibri" pitchFamily="34" charset="-122"/>
                <a:cs typeface="Calibri" pitchFamily="34" charset="-120"/>
              </a:rPr>
              <a:t>26 STP/ETP projects (avg ₹32 L) ₹8.3 cr + 8 retrofits ₹1.0 cr + ~230 bio-digesters ₹1.8 cr + AMC/monitoring/O&amp;M ₹0.8 cr = ₹11.9 cr. </a:t>
            </a:r>
            <a:pPr indent="0" marL="0">
              <a:lnSpc>
                <a:spcPct val="106000"/>
              </a:lnSpc>
              <a:buNone/>
            </a:pPr>
            <a:r>
              <a:rPr lang="en-US" sz="750" b="1" dirty="0">
                <a:solidFill>
                  <a:srgbClr val="0B2E4F"/>
                </a:solidFill>
                <a:latin typeface="Calibri" pitchFamily="34" charset="0"/>
                <a:ea typeface="Calibri" pitchFamily="34" charset="-122"/>
                <a:cs typeface="Calibri" pitchFamily="34" charset="-120"/>
              </a:rPr>
              <a:t>Working capital: </a:t>
            </a:r>
            <a:pPr indent="0" marL="0">
              <a:lnSpc>
                <a:spcPct val="106000"/>
              </a:lnSpc>
              <a:buNone/>
            </a:pPr>
            <a:r>
              <a:rPr lang="en-US" sz="750" dirty="0">
                <a:solidFill>
                  <a:srgbClr val="26313B"/>
                </a:solidFill>
                <a:latin typeface="Calibri" pitchFamily="34" charset="0"/>
                <a:ea typeface="Calibri" pitchFamily="34" charset="-122"/>
                <a:cs typeface="Calibri" pitchFamily="34" charset="-120"/>
              </a:rPr>
              <a:t>receivables at 75 DSO = ₹5.2 cr against net worth &gt;₹12 cr plus IPO working capital; ₹6.2 cr phase investment from internal accruals. </a:t>
            </a:r>
            <a:pPr indent="0" marL="0">
              <a:lnSpc>
                <a:spcPct val="106000"/>
              </a:lnSpc>
              <a:buNone/>
            </a:pPr>
            <a:r>
              <a:rPr lang="en-US" sz="750" b="1" dirty="0">
                <a:solidFill>
                  <a:srgbClr val="0B2E4F"/>
                </a:solidFill>
                <a:latin typeface="Calibri" pitchFamily="34" charset="0"/>
                <a:ea typeface="Calibri" pitchFamily="34" charset="-122"/>
                <a:cs typeface="Calibri" pitchFamily="34" charset="-120"/>
              </a:rPr>
              <a:t>Segment scores (wtd): </a:t>
            </a:r>
            <a:pPr indent="0" marL="0">
              <a:lnSpc>
                <a:spcPct val="106000"/>
              </a:lnSpc>
              <a:buNone/>
            </a:pPr>
            <a:r>
              <a:rPr lang="en-US" sz="750" dirty="0">
                <a:solidFill>
                  <a:srgbClr val="26313B"/>
                </a:solidFill>
                <a:latin typeface="Calibri" pitchFamily="34" charset="0"/>
                <a:ea typeface="Calibri" pitchFamily="34" charset="-122"/>
                <a:cs typeface="Calibri" pitchFamily="34" charset="-120"/>
              </a:rPr>
              <a:t>hoteliers 4.50, developers 3.80, hospitals 3.75, homeowners 3.45, societies 3.20, MSME 3.20, schools &amp; CSR 3.05, commercial 3.05.</a:t>
            </a:r>
            <a:endParaRPr lang="en-US" sz="750" dirty="0"/>
          </a:p>
        </p:txBody>
      </p:sp>
      <p:sp>
        <p:nvSpPr>
          <p:cNvPr id="11" name="Text 6"/>
          <p:cNvSpPr txBox="1"/>
          <p:nvPr/>
        </p:nvSpPr>
        <p:spPr>
          <a:xfrm>
            <a:off x="3977640" y="5138928"/>
            <a:ext cx="7680960" cy="237744"/>
          </a:xfrm>
          <a:prstGeom prst="rect">
            <a:avLst/>
          </a:prstGeom>
          <a:noFill/>
          <a:ln/>
        </p:spPr>
        <p:txBody>
          <a:bodyPr wrap="square" lIns="0" tIns="0" rIns="0" bIns="0" rtlCol="0" anchor="ctr"/>
          <a:lstStyle/>
          <a:p>
            <a:pPr indent="0" marL="0">
              <a:buNone/>
            </a:pPr>
            <a:r>
              <a:rPr lang="en-US" sz="1050" b="1" spc="50" kern="0" dirty="0">
                <a:solidFill>
                  <a:srgbClr val="0B2E4F"/>
                </a:solidFill>
                <a:latin typeface="Calibri" pitchFamily="34" charset="0"/>
                <a:ea typeface="Calibri" pitchFamily="34" charset="-122"/>
                <a:cs typeface="Calibri" pitchFamily="34" charset="-120"/>
              </a:rPr>
              <a:t>Adjacency scoring, top 5 of 10 options (capital &amp; complexity scored inverse: 5 = low)</a:t>
            </a:r>
            <a:endParaRPr lang="en-US" sz="1050" dirty="0"/>
          </a:p>
        </p:txBody>
      </p:sp>
      <p:graphicFrame>
        <p:nvGraphicFramePr>
          <p:cNvPr id="37" name="Table 3"/>
          <p:cNvGraphicFramePr>
            <a:graphicFrameLocks noGrp="1"/>
          </p:cNvGraphicFramePr>
          <p:nvPr>
            <p:extLst>
              <p:ext uri="{D42A27DB-BD31-4B8C-83A1-F6EECF244321}">
                <p14:modId xmlns:p14="http://schemas.microsoft.com/office/powerpoint/2010/main" val="1579011935"/>
              </p:ext>
            </p:extLst>
          </p:nvPr>
        </p:nvGraphicFramePr>
        <p:xfrm>
          <a:off x="3977640" y="5376672"/>
          <a:ext cx="6126480" cy="914400"/>
        </p:xfrm>
        <a:graphic>
          <a:graphicData uri="http://schemas.openxmlformats.org/drawingml/2006/table">
            <a:tbl>
              <a:tblPr/>
              <a:tblGrid>
                <a:gridCol w="1737360"/>
                <a:gridCol w="548640"/>
                <a:gridCol w="548640"/>
                <a:gridCol w="548640"/>
                <a:gridCol w="548640"/>
                <a:gridCol w="502920"/>
                <a:gridCol w="502920"/>
                <a:gridCol w="502920"/>
                <a:gridCol w="685800"/>
              </a:tblGrid>
              <a:tr h="0">
                <a:tc>
                  <a:txBody>
                    <a:bodyPr/>
                    <a:lstStyle/>
                    <a:p>
                      <a:pPr algn="ctr" indent="0" marL="0">
                        <a:buNone/>
                      </a:pPr>
                      <a:r>
                        <a:rPr lang="en-US" sz="680" b="1" dirty="0">
                          <a:solidFill>
                            <a:srgbClr val="FFFFFF"/>
                          </a:solidFill>
                          <a:latin typeface="Calibri" pitchFamily="34" charset="0"/>
                          <a:ea typeface="Calibri" pitchFamily="34" charset="-122"/>
                          <a:cs typeface="Calibri" pitchFamily="34" charset="-120"/>
                        </a:rPr>
                        <a:t>Option</a:t>
                      </a:r>
                      <a:endParaRPr lang="en-US" sz="6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680" b="1" dirty="0">
                          <a:solidFill>
                            <a:srgbClr val="FFFFFF"/>
                          </a:solidFill>
                          <a:latin typeface="Calibri" pitchFamily="34" charset="0"/>
                          <a:ea typeface="Calibri" pitchFamily="34" charset="-122"/>
                          <a:cs typeface="Calibri" pitchFamily="34" charset="-120"/>
                        </a:rPr>
                        <a:t>Dem 20</a:t>
                      </a:r>
                      <a:endParaRPr lang="en-US" sz="6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680" b="1" dirty="0">
                          <a:solidFill>
                            <a:srgbClr val="FFFFFF"/>
                          </a:solidFill>
                          <a:latin typeface="Calibri" pitchFamily="34" charset="0"/>
                          <a:ea typeface="Calibri" pitchFamily="34" charset="-122"/>
                          <a:cs typeface="Calibri" pitchFamily="34" charset="-120"/>
                        </a:rPr>
                        <a:t>Syn 20</a:t>
                      </a:r>
                      <a:endParaRPr lang="en-US" sz="6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680" b="1" dirty="0">
                          <a:solidFill>
                            <a:srgbClr val="FFFFFF"/>
                          </a:solidFill>
                          <a:latin typeface="Calibri" pitchFamily="34" charset="0"/>
                          <a:ea typeface="Calibri" pitchFamily="34" charset="-122"/>
                          <a:cs typeface="Calibri" pitchFamily="34" charset="-120"/>
                        </a:rPr>
                        <a:t>Cap 15</a:t>
                      </a:r>
                      <a:endParaRPr lang="en-US" sz="6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680" b="1" dirty="0">
                          <a:solidFill>
                            <a:srgbClr val="FFFFFF"/>
                          </a:solidFill>
                          <a:latin typeface="Calibri" pitchFamily="34" charset="0"/>
                          <a:ea typeface="Calibri" pitchFamily="34" charset="-122"/>
                          <a:cs typeface="Calibri" pitchFamily="34" charset="-120"/>
                        </a:rPr>
                        <a:t>Mar 15</a:t>
                      </a:r>
                      <a:endParaRPr lang="en-US" sz="6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680" b="1" dirty="0">
                          <a:solidFill>
                            <a:srgbClr val="FFFFFF"/>
                          </a:solidFill>
                          <a:latin typeface="Calibri" pitchFamily="34" charset="0"/>
                          <a:ea typeface="Calibri" pitchFamily="34" charset="-122"/>
                          <a:cs typeface="Calibri" pitchFamily="34" charset="-120"/>
                        </a:rPr>
                        <a:t>Op 10</a:t>
                      </a:r>
                      <a:endParaRPr lang="en-US" sz="6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680" b="1" dirty="0">
                          <a:solidFill>
                            <a:srgbClr val="FFFFFF"/>
                          </a:solidFill>
                          <a:latin typeface="Calibri" pitchFamily="34" charset="0"/>
                          <a:ea typeface="Calibri" pitchFamily="34" charset="-122"/>
                          <a:cs typeface="Calibri" pitchFamily="34" charset="-120"/>
                        </a:rPr>
                        <a:t>TTM 10</a:t>
                      </a:r>
                      <a:endParaRPr lang="en-US" sz="6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680" b="1" dirty="0">
                          <a:solidFill>
                            <a:srgbClr val="FFFFFF"/>
                          </a:solidFill>
                          <a:latin typeface="Calibri" pitchFamily="34" charset="0"/>
                          <a:ea typeface="Calibri" pitchFamily="34" charset="-122"/>
                          <a:cs typeface="Calibri" pitchFamily="34" charset="-120"/>
                        </a:rPr>
                        <a:t>Rec 10</a:t>
                      </a:r>
                      <a:endParaRPr lang="en-US" sz="6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c>
                  <a:txBody>
                    <a:bodyPr/>
                    <a:lstStyle/>
                    <a:p>
                      <a:pPr algn="ctr" indent="0" marL="0">
                        <a:buNone/>
                      </a:pPr>
                      <a:r>
                        <a:rPr lang="en-US" sz="680" b="1" dirty="0">
                          <a:solidFill>
                            <a:srgbClr val="FFFFFF"/>
                          </a:solidFill>
                          <a:latin typeface="Calibri" pitchFamily="34" charset="0"/>
                          <a:ea typeface="Calibri" pitchFamily="34" charset="-122"/>
                          <a:cs typeface="Calibri" pitchFamily="34" charset="-120"/>
                        </a:rPr>
                        <a:t>Wtd</a:t>
                      </a:r>
                      <a:endParaRPr lang="en-US" sz="68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0B2E4F"/>
                    </a:solidFill>
                  </a:tcPr>
                </a:tc>
              </a:tr>
              <a:tr h="0">
                <a:tc>
                  <a:txBody>
                    <a:bodyPr/>
                    <a:lstStyle/>
                    <a:p>
                      <a:pPr algn="l" indent="0" marL="0">
                        <a:buNone/>
                      </a:pPr>
                      <a:r>
                        <a:rPr lang="en-US" sz="670" dirty="0">
                          <a:solidFill>
                            <a:srgbClr val="26313B"/>
                          </a:solidFill>
                          <a:latin typeface="Calibri" pitchFamily="34" charset="0"/>
                          <a:ea typeface="Calibri" pitchFamily="34" charset="-122"/>
                          <a:cs typeface="Calibri" pitchFamily="34" charset="-120"/>
                        </a:rPr>
                        <a:t>STP retrofit + O&amp;M takeover</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3</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b="1" dirty="0">
                          <a:solidFill>
                            <a:srgbClr val="26313B"/>
                          </a:solidFill>
                          <a:latin typeface="Calibri" pitchFamily="34" charset="0"/>
                          <a:ea typeface="Calibri" pitchFamily="34" charset="-122"/>
                          <a:cs typeface="Calibri" pitchFamily="34" charset="-120"/>
                        </a:rPr>
                        <a:t>4.65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r>
              <a:tr h="0">
                <a:tc>
                  <a:txBody>
                    <a:bodyPr/>
                    <a:lstStyle/>
                    <a:p>
                      <a:pPr algn="l" indent="0" marL="0">
                        <a:buNone/>
                      </a:pPr>
                      <a:r>
                        <a:rPr lang="en-US" sz="670" dirty="0">
                          <a:solidFill>
                            <a:srgbClr val="26313B"/>
                          </a:solidFill>
                          <a:latin typeface="Calibri" pitchFamily="34" charset="0"/>
                          <a:ea typeface="Calibri" pitchFamily="34" charset="-122"/>
                          <a:cs typeface="Calibri" pitchFamily="34" charset="-120"/>
                        </a:rPr>
                        <a:t>IoT monitoring &amp; dashboards</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b="1" dirty="0">
                          <a:solidFill>
                            <a:srgbClr val="26313B"/>
                          </a:solidFill>
                          <a:latin typeface="Calibri" pitchFamily="34" charset="0"/>
                          <a:ea typeface="Calibri" pitchFamily="34" charset="-122"/>
                          <a:cs typeface="Calibri" pitchFamily="34" charset="-120"/>
                        </a:rPr>
                        <a:t>4.55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r>
              <a:tr h="0">
                <a:tc>
                  <a:txBody>
                    <a:bodyPr/>
                    <a:lstStyle/>
                    <a:p>
                      <a:pPr algn="l" indent="0" marL="0">
                        <a:buNone/>
                      </a:pPr>
                      <a:r>
                        <a:rPr lang="en-US" sz="670" dirty="0">
                          <a:solidFill>
                            <a:srgbClr val="26313B"/>
                          </a:solidFill>
                          <a:latin typeface="Calibri" pitchFamily="34" charset="0"/>
                          <a:ea typeface="Calibri" pitchFamily="34" charset="-122"/>
                          <a:cs typeface="Calibri" pitchFamily="34" charset="-120"/>
                        </a:rPr>
                        <a:t>Water-reuse module (tertiary)</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3</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b="1" dirty="0">
                          <a:solidFill>
                            <a:srgbClr val="26313B"/>
                          </a:solidFill>
                          <a:latin typeface="Calibri" pitchFamily="34" charset="0"/>
                          <a:ea typeface="Calibri" pitchFamily="34" charset="-122"/>
                          <a:cs typeface="Calibri" pitchFamily="34" charset="-120"/>
                        </a:rPr>
                        <a:t>4.30</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solidFill>
                      <a:srgbClr val="FBF1DE"/>
                    </a:solidFill>
                  </a:tcPr>
                </a:tc>
              </a:tr>
              <a:tr h="0">
                <a:tc>
                  <a:txBody>
                    <a:bodyPr/>
                    <a:lstStyle/>
                    <a:p>
                      <a:pPr algn="l" indent="0" marL="0">
                        <a:buNone/>
                      </a:pPr>
                      <a:r>
                        <a:rPr lang="en-US" sz="670" dirty="0">
                          <a:solidFill>
                            <a:srgbClr val="26313B"/>
                          </a:solidFill>
                          <a:latin typeface="Calibri" pitchFamily="34" charset="0"/>
                          <a:ea typeface="Calibri" pitchFamily="34" charset="-122"/>
                          <a:cs typeface="Calibri" pitchFamily="34" charset="-120"/>
                        </a:rPr>
                        <a:t>Greywater recycling</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3</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3</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3</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3.55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r h="0">
                <a:tc>
                  <a:txBody>
                    <a:bodyPr/>
                    <a:lstStyle/>
                    <a:p>
                      <a:pPr algn="l" indent="0" marL="0">
                        <a:buNone/>
                      </a:pPr>
                      <a:r>
                        <a:rPr lang="en-US" sz="670" dirty="0">
                          <a:solidFill>
                            <a:srgbClr val="26313B"/>
                          </a:solidFill>
                          <a:latin typeface="Calibri" pitchFamily="34" charset="0"/>
                          <a:ea typeface="Calibri" pitchFamily="34" charset="-122"/>
                          <a:cs typeface="Calibri" pitchFamily="34" charset="-120"/>
                        </a:rPr>
                        <a:t>Advanced disinfection</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3</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3</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4</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3</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c>
                  <a:txBody>
                    <a:bodyPr/>
                    <a:lstStyle/>
                    <a:p>
                      <a:pPr algn="ctr" indent="0" marL="0">
                        <a:buNone/>
                      </a:pPr>
                      <a:r>
                        <a:rPr lang="en-US" sz="670" dirty="0">
                          <a:solidFill>
                            <a:srgbClr val="26313B"/>
                          </a:solidFill>
                          <a:latin typeface="Calibri" pitchFamily="34" charset="0"/>
                          <a:ea typeface="Calibri" pitchFamily="34" charset="-122"/>
                          <a:cs typeface="Calibri" pitchFamily="34" charset="-120"/>
                        </a:rPr>
                        <a:t>3.55</a:t>
                      </a:r>
                      <a:endParaRPr lang="en-US" sz="670" dirty="0">
                        <a:latin typeface="Calibri" charset="0"/>
                        <a:ea typeface="Calibri" charset="0"/>
                        <a:cs typeface="Calibri" charset="0"/>
                      </a:endParaRPr>
                    </a:p>
                  </a:txBody>
                  <a:tcPr marL="45720" marR="45720" marT="32004" marB="32004" anchor="ctr">
                    <a:lnL w="6350" cap="flat" cmpd="sng" algn="ctr">
                      <a:solidFill>
                        <a:srgbClr val="C9D3DA"/>
                      </a:solidFill>
                      <a:prstDash val="solid"/>
                      <a:round/>
                      <a:headEnd type="none" w="med" len="med"/>
                      <a:tailEnd type="none" w="med" len="med"/>
                    </a:lnL>
                    <a:lnR w="6350" cap="flat" cmpd="sng" algn="ctr">
                      <a:solidFill>
                        <a:srgbClr val="C9D3DA"/>
                      </a:solidFill>
                      <a:prstDash val="solid"/>
                      <a:round/>
                      <a:headEnd type="none" w="med" len="med"/>
                      <a:tailEnd type="none" w="med" len="med"/>
                    </a:lnR>
                    <a:lnT w="6350" cap="flat" cmpd="sng" algn="ctr">
                      <a:solidFill>
                        <a:srgbClr val="C9D3DA"/>
                      </a:solidFill>
                      <a:prstDash val="solid"/>
                      <a:round/>
                      <a:headEnd type="none" w="med" len="med"/>
                      <a:tailEnd type="none" w="med" len="med"/>
                    </a:lnT>
                    <a:lnB w="6350" cap="flat" cmpd="sng" algn="ctr">
                      <a:solidFill>
                        <a:srgbClr val="C9D3DA"/>
                      </a:solidFill>
                      <a:prstDash val="solid"/>
                      <a:round/>
                      <a:headEnd type="none" w="med" len="med"/>
                      <a:tailEnd type="none" w="med" len="med"/>
                    </a:lnB>
                  </a:tcPr>
                </a:tc>
              </a:tr>
            </a:tbl>
          </a:graphicData>
        </a:graphic>
      </p:graphicFrame>
      <p:sp>
        <p:nvSpPr>
          <p:cNvPr id="13" name="Text 7"/>
          <p:cNvSpPr txBox="1"/>
          <p:nvPr/>
        </p:nvSpPr>
        <p:spPr>
          <a:xfrm>
            <a:off x="502920" y="6473952"/>
            <a:ext cx="9692640" cy="310896"/>
          </a:xfrm>
          <a:prstGeom prst="rect">
            <a:avLst/>
          </a:prstGeom>
          <a:noFill/>
          <a:ln/>
        </p:spPr>
        <p:txBody>
          <a:bodyPr wrap="square" lIns="0" tIns="0" rIns="0" bIns="0" rtlCol="0" anchor="t"/>
          <a:lstStyle/>
          <a:p>
            <a:pPr indent="0" marL="0">
              <a:lnSpc>
                <a:spcPct val="100000"/>
              </a:lnSpc>
              <a:buNone/>
            </a:pPr>
            <a:r>
              <a:rPr lang="en-US" sz="800" dirty="0">
                <a:solidFill>
                  <a:srgbClr val="8A959E"/>
                </a:solidFill>
                <a:latin typeface="Calibri" pitchFamily="34" charset="0"/>
                <a:ea typeface="Calibri" pitchFamily="34" charset="-122"/>
                <a:cs typeface="Calibri" pitchFamily="34" charset="-120"/>
              </a:rPr>
              <a:t>All FY27-29 figures are team estimates; stock counts marked 'est.' are transparent proxies built from the sources on p.8 (RERA portals, Goa DoT, HVS-ANAROCK, BMW Rules registers).</a:t>
            </a:r>
            <a:endParaRPr lang="en-US" sz="800" dirty="0"/>
          </a:p>
        </p:txBody>
      </p:sp>
      <p:sp>
        <p:nvSpPr>
          <p:cNvPr id="14" name="Text 8"/>
          <p:cNvSpPr txBox="1"/>
          <p:nvPr/>
        </p:nvSpPr>
        <p:spPr>
          <a:xfrm>
            <a:off x="10378440" y="6510528"/>
            <a:ext cx="1325880" cy="237744"/>
          </a:xfrm>
          <a:prstGeom prst="rect">
            <a:avLst/>
          </a:prstGeom>
          <a:noFill/>
          <a:ln/>
        </p:spPr>
        <p:txBody>
          <a:bodyPr wrap="square" lIns="0" tIns="0" rIns="0" bIns="0" rtlCol="0" anchor="ctr"/>
          <a:lstStyle/>
          <a:p>
            <a:pPr algn="r" indent="0" marL="0">
              <a:buNone/>
            </a:pPr>
            <a:r>
              <a:rPr lang="en-US" sz="800" dirty="0">
                <a:solidFill>
                  <a:srgbClr val="8A959E"/>
                </a:solidFill>
                <a:latin typeface="Calibri" pitchFamily="34" charset="0"/>
                <a:ea typeface="Calibri" pitchFamily="34" charset="-122"/>
                <a:cs typeface="Calibri" pitchFamily="34" charset="-120"/>
              </a:rPr>
              <a:t>Team Wookies</a:t>
            </a:r>
            <a:pPr algn="r" indent="0" marL="0">
              <a:buNone/>
            </a:pPr>
            <a:r>
              <a:rPr lang="en-US" sz="900" b="1" dirty="0">
                <a:solidFill>
                  <a:srgbClr val="5D6A75"/>
                </a:solidFill>
                <a:latin typeface="Calibri" pitchFamily="34" charset="0"/>
                <a:ea typeface="Calibri" pitchFamily="34" charset="-122"/>
                <a:cs typeface="Calibri" pitchFamily="34" charset="-120"/>
              </a:rPr>
              <a:t>   09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Consilium 2026 - EP Biocomposites Limited</dc:title>
  <dc:subject>PptxGenJS Presentation</dc:subject>
  <dc:creator>Team Wookies</dc:creator>
  <cp:lastModifiedBy>Team Wookies</cp:lastModifiedBy>
  <cp:revision>1</cp:revision>
  <dcterms:created xsi:type="dcterms:W3CDTF">2026-09-10T04:54:36Z</dcterms:created>
  <dcterms:modified xsi:type="dcterms:W3CDTF">2026-09-10T04:54:36Z</dcterms:modified>
</cp:coreProperties>
</file>