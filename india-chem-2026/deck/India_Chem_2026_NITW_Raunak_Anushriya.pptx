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Payback (months)</c:v>
                </c:pt>
              </c:strCache>
            </c:strRef>
          </c:tx>
          <c:spPr>
            <a:solidFill>
              <a:srgbClr val="F59E0B"/>
            </a:solidFill>
            <a:effectLst/>
          </c:spPr>
          <c:invertIfNegative val="0"/>
          <c:dLbls>
            <c:numFmt formatCode="#,##0" sourceLinked="0"/>
            <c:txPr>
              <a:bodyPr/>
              <a:lstStyle/>
              <a:p>
                <a:pPr>
                  <a:defRPr b="0" i="0" strike="noStrike" sz="1000" u="none">
                    <a:solidFill>
                      <a:srgbClr val="12212F"/>
                    </a:solidFill>
                    <a:latin typeface="Arial"/>
                  </a:defRPr>
                </a:pPr>
              </a:p>
            </c:txPr>
            <c:showLegendKey val="0"/>
            <c:showVal val="1"/>
            <c:showCatName val="0"/>
            <c:showSerName val="0"/>
            <c:showPercent val="0"/>
            <c:showBubbleSize val="0"/>
            <c:showLeaderLines val="0"/>
          </c:dLbls>
          <c:cat>
            <c:multiLvlStrRef>
              <c:f>Sheet1!$A$2:$A$7</c:f>
              <c:multiLvlStrCache>
                <c:ptCount val="6"/>
                <c:lvl>
                  <c:pt idx="0">
                    <c:v>Downside stack: 20% cut + CapEx +30%</c:v>
                  </c:pt>
                  <c:pt idx="1">
                    <c:v>Downtime cut only 20%</c:v>
                  </c:pt>
                  <c:pt idx="2">
                    <c:v>Lost margin 1/3 lower</c:v>
                  </c:pt>
                  <c:pt idx="3">
                    <c:v>CapEx +30%</c:v>
                  </c:pt>
                  <c:pt idx="4">
                    <c:v>Base case (35% cut)</c:v>
                  </c:pt>
                  <c:pt idx="5">
                    <c:v>DOE top of band (45% cut)</c:v>
                  </c:pt>
                </c:lvl>
              </c:multiLvlStrCache>
            </c:multiLvlStrRef>
          </c:cat>
          <c:val>
            <c:numRef>
              <c:f>Sheet1!$B$2:$B$7</c:f>
              <c:numCache>
                <c:formatCode>General</c:formatCode>
                <c:ptCount val="6"/>
                <c:pt idx="0">
                  <c:v>23.6</c:v>
                </c:pt>
                <c:pt idx="1">
                  <c:v>18.1</c:v>
                </c:pt>
                <c:pt idx="2">
                  <c:v>15.7</c:v>
                </c:pt>
                <c:pt idx="3">
                  <c:v>14</c:v>
                </c:pt>
                <c:pt idx="4">
                  <c:v>10.7</c:v>
                </c:pt>
                <c:pt idx="5">
                  <c:v>8.4</c:v>
                </c:pt>
              </c:numCache>
            </c:numRef>
          </c:val>
        </c:ser>
        <c:dLbls>
          <c:numFmt formatCode="#,##0" sourceLinked="0"/>
          <c:txPr>
            <a:bodyPr/>
            <a:lstStyle/>
            <a:p>
              <a:pPr>
                <a:defRPr b="0" i="0" strike="noStrike" sz="1000" u="none">
                  <a:solidFill>
                    <a:srgbClr val="12212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2212F"/>
                </a:solidFill>
                <a:latin typeface="Arial"/>
              </a:defRPr>
            </a:pPr>
            <a:endParaRPr lang="en-US"/>
          </a:p>
        </c:txPr>
        <c:crossAx val="2094734552"/>
        <c:crosses val="autoZero"/>
        <c:auto val="1"/>
        <c:lblAlgn val="ctr"/>
        <c:noMultiLvlLbl val="1"/>
      </c:catAx>
      <c:valAx>
        <c:axId val="2094734552"/>
        <c:scaling>
          <c:orientation val="minMax"/>
          <c:max val="26"/>
          <c:min val="0"/>
        </c:scaling>
        <c:delete val="0"/>
        <c:axPos val="b"/>
        <c:majorGridlines>
          <c:spPr>
            <a:ln w="6350" cap="flat">
              <a:solidFill>
                <a:srgbClr val="D9E2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B78"/>
                </a:solidFill>
                <a:latin typeface="Arial"/>
              </a:defRPr>
            </a:pPr>
            <a:endParaRPr lang="en-US"/>
          </a:p>
        </c:txPr>
        <c:crossAx val="2094734554"/>
        <c:crosses val="autoZero"/>
        <c:crossBetween val="between"/>
        <c:majorUnit val="6"/>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Raunak Jain, mechanical engineering, and Anushriya Bhattacharya, chemical engineering, from NIT Warangal. Our proposal is NAADI — the Sanskrit word for pulse — a predictive-maintenance stack for the pumps that keep a chemical plant alive. The one-line thesis: continuous vibration monitoring with interpretable machine learning on a plant's 25 worst pumps costs about 37 lakh rupees, pays back in roughly eleven months, and unlike proprietary cloud offerings, leaves the data and the models with the plant. The 35 to 45 percent downtime-reduction range is the US Department of Energy's published band for functioning predictive-maintenance programmes — not our invention. Everything you will see is either sourced, or computed by us in code we can hand you.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 case is deliberately narrow: not 'the chemical industry', but the 25 worst centrifugal pumps in one mid-size speciality-chemicals plant. Using our assumption register — 500 crore revenue, 8,000 hours — each hour down costs about 1.9 lakh in contribution margin. Sixty hours of pump-caused outage plus twelve repairs a year is roughly 1.4 crore of annual exposure. These are labelled estimates; phase zero of the pilot replaces them with the plant's own 24-month history. The root cause is structural: the classic reliability-centred-maintenance finding is that 89 percent of failure modes show no fixed wear-out age, so calendar-based maintenance is blind to them. Bearings and seals — which dominate pump failures — degrade over weeks. That window is our opportunity. [~70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five realistic approaches on the six criteria that actually decide adoption, with detection lead time and MSME scalability weighted highest. Reactive and calendar-based maintenance fail on lead time — that is the current Indian default. Monthly offline rounds help but leave four-week blind windows and depend on scarce analysts. Global best practice — continuous OEM cloud monitoring — is technically excellent but scores poorly for India: high per-point cost, subscriptions, and the plant's own condition data locked in a vendor silo. So the gap is not a sensing gap or an algorithm gap; it is an architecture-and-affordability gap. That analysis gives us five design principles — continuous, interpretable, open, retrofit-friendly, human-in-loop — and those principles, not a product preference, define NAADI. [~70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four layers, and we are explicit about what is ours and what is not. Sensing is commodity and proven — Ex-certified wireless accelerometers that magnet-mount during normal operation. The edge layer computes sixteen interpretable condition indicators, and ISO 20816 velocity zones give usable alarm limits from day one, before any learning. The learning layer is our contribution: an anomaly tier per pump, plus a fault-type classifier whose honest, leakage-free benchmark results we show next slide. The act layer keeps a human in the loop — every alert becomes a drafted work order that the reliability engineer accepts or rejects, and those decisions retrain the system. Three differences we will defend: openly validated metrics, plant-owned data, and a cost architecture — about one and a half lakh per pump — that a cluster of MSMEs can realistically share. [~75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work technically? A defect in a bearing race strikes the rolling elements at a defect-specific frequency — energy moves into characteristic bands and the waveform becomes impulsive. Sixteen classical indicators capture that, and a random forest classifies it. We did not take anyone's word for this: we trained the prototype ourselves on Case Western's public bearing benchmark. Under the strictest split — whole recordings held out, and an entire motor-load condition never seen in training — fault-versus-healthy separation is perfect on this benchmark, and fault-type accuracy is 97.9 percent. One honesty point: most student projects quote random window splits, which leak near-identical windows into the test set. We refuse to. And the limits are on the slide, not hidden: a test rig is not a plant, which is why our pilot success threshold is seventy percent early detection, not ninety-seven. [~75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is a six-month pilot designed around one principle: earn trust before touching anyone's maintenance schedule. Phase zero builds the baseline from the plant's own CMMS history and freezes the success criteria jointly with the plant — so the pass bar is agreed before we install anything. Installation is a month: wireless magnet-mount sensors fitted during routine access, no shutdown, with hazardous-area permits handled properly. Then the crucial part: three months of shadow mode. Alerts are logged and adjudicated weekly against what maintenance actually finds — but nobody acts on them. The system earns its precision statistics in the open. The month-six gate is numeric: seventy percent early detection, under two false alerts per pump-month, every alert becoming a work order within a day. Pass, and it goes live and scales. Fail, and we publish the post-mortem. Either way the plant keeps the data. [~75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economics are shown as the calculation, not just the answer. Every hour of avoided downtime is worth about 1.9 lakh in contribution margin. Applying the Department of Energy's published effectiveness ranges at the conservative end — 35 percent downtime reduction, 10 percent repair savings — the annual benefit is about 47 lakh against 6 lakh of operating cost. Against 37 lakh of CapEx, that is an eleven-month payback and roughly 1.1 crore of five-year NPV at a twelve percent discount rate. We stress-tested it: if the programme only achieves 20 percent reduction — below DOE's band — or CapEx overruns 30 percent, payback stays under 24 months. Both together: still under two years. Environmentally, fewer seal blow-outs mean fewer releases, and the same data stream exposes cavitation and off-best-efficiency operation for energy savings. The risk we respect most is false alarms killing operator trust — that is exactly why the pilot runs in shadow mode with a hard false-alert gate. [~75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what is already proven, and what is not. Proven, with sources: the DOE effectiveness band, the reliability-engineering failure logic, a standards pathway — and our own prototype's detection numbers on a public benchmark, reproducible from code we publish. Not yet proven, and we have said so on every slide: real-plant lead times, false-alarm rates, and Indian cost points. That is precisely what the six-month pilot measures. The roadmap after the pilot: plant-wide coverage in a year, and by month 24 a shared-service model for MSME chemical clusters, aligned with the SAMARTH Udyog Industry 4.0 centres — because a cluster sharing one edge stack is how this reaches plants that could never buy an OEM cloud contract. Our ask is one pilot partner: 25 pumps, their maintenance history, six months of access. We bring everything else, and the plant keeps the data and the models, with results published either way. One line to remember: listen to the machines before they stop the plant — 37 lakh, eleven-month payback, and the plant keeps the brains. Thank you. [~75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F"/>
        </a:solidFill>
      </p:bgPr>
    </p:bg>
    <p:spTree>
      <p:nvGrpSpPr>
        <p:cNvPr id="1" name=""/>
        <p:cNvGrpSpPr/>
        <p:nvPr/>
      </p:nvGrpSpPr>
      <p:grpSpPr>
        <a:xfrm>
          <a:off x="0" y="0"/>
          <a:ext cx="0" cy="0"/>
          <a:chOff x="0" y="0"/>
          <a:chExt cx="0" cy="0"/>
        </a:xfrm>
      </p:grpSpPr>
      <p:sp>
        <p:nvSpPr>
          <p:cNvPr id="2" name="Text 0"/>
          <p:cNvSpPr txBox="1"/>
          <p:nvPr/>
        </p:nvSpPr>
        <p:spPr>
          <a:xfrm>
            <a:off x="502920" y="502920"/>
            <a:ext cx="7315200"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Arial" pitchFamily="34" charset="0"/>
                <a:ea typeface="Arial" pitchFamily="34" charset="-122"/>
                <a:cs typeface="Arial" pitchFamily="34" charset="-120"/>
              </a:rPr>
              <a:t>INDIA CHEM 2026 · YOUTH INNOVATION CHALLENGE</a:t>
            </a:r>
            <a:endParaRPr lang="en-US" sz="1200" dirty="0"/>
          </a:p>
        </p:txBody>
      </p:sp>
      <p:sp>
        <p:nvSpPr>
          <p:cNvPr id="3" name="Text 1"/>
          <p:cNvSpPr txBox="1"/>
          <p:nvPr/>
        </p:nvSpPr>
        <p:spPr>
          <a:xfrm>
            <a:off x="502920" y="1051560"/>
            <a:ext cx="7315200" cy="91440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NAADI</a:t>
            </a:r>
            <a:pPr indent="0" marL="0">
              <a:buNone/>
            </a:pPr>
            <a:r>
              <a:rPr lang="en-US" sz="2000" dirty="0">
                <a:solidFill>
                  <a:srgbClr val="087E8B"/>
                </a:solidFill>
                <a:latin typeface="Arial" pitchFamily="34" charset="0"/>
                <a:ea typeface="Arial" pitchFamily="34" charset="-122"/>
                <a:cs typeface="Arial" pitchFamily="34" charset="-120"/>
              </a:rPr>
              <a:t>  — listening to the pulse of the plant</a:t>
            </a:r>
            <a:endParaRPr lang="en-US" sz="5400" dirty="0"/>
          </a:p>
        </p:txBody>
      </p:sp>
      <p:sp>
        <p:nvSpPr>
          <p:cNvPr id="4" name="Text 2"/>
          <p:cNvSpPr txBox="1"/>
          <p:nvPr/>
        </p:nvSpPr>
        <p:spPr>
          <a:xfrm>
            <a:off x="502920" y="2057400"/>
            <a:ext cx="6949440" cy="1005840"/>
          </a:xfrm>
          <a:prstGeom prst="rect">
            <a:avLst/>
          </a:prstGeom>
          <a:noFill/>
          <a:ln/>
        </p:spPr>
        <p:txBody>
          <a:bodyPr wrap="square" lIns="0" tIns="0" rIns="0" bIns="0" rtlCol="0" anchor="t"/>
          <a:lstStyle/>
          <a:p>
            <a:pPr indent="0" marL="0">
              <a:lnSpc>
                <a:spcPct val="112000"/>
              </a:lnSpc>
              <a:buNone/>
            </a:pPr>
            <a:r>
              <a:rPr lang="en-US" sz="2100" dirty="0">
                <a:solidFill>
                  <a:srgbClr val="FFFFFF"/>
                </a:solidFill>
                <a:latin typeface="Arial" pitchFamily="34" charset="0"/>
                <a:ea typeface="Arial" pitchFamily="34" charset="-122"/>
                <a:cs typeface="Arial" pitchFamily="34" charset="-120"/>
              </a:rPr>
              <a:t>Cut unplanned pump downtime </a:t>
            </a:r>
            <a:pPr indent="0" marL="0">
              <a:lnSpc>
                <a:spcPct val="112000"/>
              </a:lnSpc>
              <a:buNone/>
            </a:pPr>
            <a:r>
              <a:rPr lang="en-US" sz="2100" b="1" dirty="0">
                <a:solidFill>
                  <a:srgbClr val="F7B84B"/>
                </a:solidFill>
                <a:latin typeface="Arial" pitchFamily="34" charset="0"/>
                <a:ea typeface="Arial" pitchFamily="34" charset="-122"/>
                <a:cs typeface="Arial" pitchFamily="34" charset="-120"/>
              </a:rPr>
              <a:t>35–45%</a:t>
            </a:r>
            <a:pPr indent="0" marL="0">
              <a:lnSpc>
                <a:spcPct val="112000"/>
              </a:lnSpc>
              <a:buNone/>
            </a:pPr>
            <a:r>
              <a:rPr lang="en-US" sz="2100" dirty="0">
                <a:solidFill>
                  <a:srgbClr val="FFFFFF"/>
                </a:solidFill>
                <a:latin typeface="Arial" pitchFamily="34" charset="0"/>
                <a:ea typeface="Arial" pitchFamily="34" charset="-122"/>
                <a:cs typeface="Arial" pitchFamily="34" charset="-120"/>
              </a:rPr>
              <a:t> in Indian chemical plants with a vendor-neutral, plant-owned vibration-intelligence stack.</a:t>
            </a:r>
            <a:endParaRPr lang="en-US" sz="2100" dirty="0"/>
          </a:p>
        </p:txBody>
      </p:sp>
      <p:sp>
        <p:nvSpPr>
          <p:cNvPr id="5" name="Text 3"/>
          <p:cNvSpPr txBox="1"/>
          <p:nvPr/>
        </p:nvSpPr>
        <p:spPr>
          <a:xfrm>
            <a:off x="502920" y="3154680"/>
            <a:ext cx="6675120" cy="868680"/>
          </a:xfrm>
          <a:prstGeom prst="rect">
            <a:avLst/>
          </a:prstGeom>
          <a:noFill/>
          <a:ln/>
        </p:spPr>
        <p:txBody>
          <a:bodyPr wrap="square" lIns="0" tIns="0" rIns="0" bIns="0" rtlCol="0" anchor="t"/>
          <a:lstStyle/>
          <a:p>
            <a:pPr indent="0" marL="0">
              <a:lnSpc>
                <a:spcPct val="115000"/>
              </a:lnSpc>
              <a:buNone/>
            </a:pPr>
            <a:r>
              <a:rPr lang="en-US" sz="1500" dirty="0">
                <a:solidFill>
                  <a:srgbClr val="C9D6DE"/>
                </a:solidFill>
                <a:latin typeface="Arial" pitchFamily="34" charset="0"/>
                <a:ea typeface="Arial" pitchFamily="34" charset="-122"/>
                <a:cs typeface="Arial" pitchFamily="34" charset="-120"/>
              </a:rPr>
              <a:t>Continuous vibration sensing and interpretable machine learning on 25 bad-actor pumps: ~₹37 lakh to install, ~11-month payback, prototype already validated on a public bearing benchmark.</a:t>
            </a:r>
            <a:endParaRPr lang="en-US" sz="1500" dirty="0"/>
          </a:p>
        </p:txBody>
      </p:sp>
      <p:sp>
        <p:nvSpPr>
          <p:cNvPr id="6" name="Shape 4"/>
          <p:cNvSpPr/>
          <p:nvPr/>
        </p:nvSpPr>
        <p:spPr>
          <a:xfrm>
            <a:off x="502920" y="4224528"/>
            <a:ext cx="6675120" cy="658368"/>
          </a:xfrm>
          <a:prstGeom prst="roundRect">
            <a:avLst>
              <a:gd name="adj" fmla="val 8333"/>
            </a:avLst>
          </a:prstGeom>
          <a:solidFill>
            <a:srgbClr val="1B3242"/>
          </a:solidFill>
          <a:ln w="12700">
            <a:solidFill>
              <a:srgbClr val="2E4A5C"/>
            </a:solidFill>
            <a:prstDash val="solid"/>
          </a:ln>
        </p:spPr>
      </p:sp>
      <p:sp>
        <p:nvSpPr>
          <p:cNvPr id="7" name="Text 5"/>
          <p:cNvSpPr txBox="1"/>
          <p:nvPr/>
        </p:nvSpPr>
        <p:spPr>
          <a:xfrm>
            <a:off x="667512" y="4279392"/>
            <a:ext cx="6400800" cy="566928"/>
          </a:xfrm>
          <a:prstGeom prst="rect">
            <a:avLst/>
          </a:prstGeom>
          <a:noFill/>
          <a:ln/>
        </p:spPr>
        <p:txBody>
          <a:bodyPr wrap="square" lIns="0" tIns="0" rIns="0" bIns="0" rtlCol="0" anchor="ctr"/>
          <a:lstStyle/>
          <a:p>
            <a:pPr indent="0" marL="0">
              <a:lnSpc>
                <a:spcPct val="105000"/>
              </a:lnSpc>
              <a:buNone/>
            </a:pPr>
            <a:r>
              <a:rPr lang="en-US" sz="1250" b="1" dirty="0">
                <a:solidFill>
                  <a:srgbClr val="087E8B"/>
                </a:solidFill>
                <a:latin typeface="Arial" pitchFamily="34" charset="0"/>
                <a:ea typeface="Arial" pitchFamily="34" charset="-122"/>
                <a:cs typeface="Arial" pitchFamily="34" charset="-120"/>
              </a:rPr>
              <a:t>Problem statement (Annexure): </a:t>
            </a:r>
            <a:pPr indent="0" marL="0">
              <a:lnSpc>
                <a:spcPct val="105000"/>
              </a:lnSpc>
              <a:buNone/>
            </a:pPr>
            <a:r>
              <a:rPr lang="en-US" sz="1250" dirty="0">
                <a:solidFill>
                  <a:srgbClr val="C9D6DE"/>
                </a:solidFill>
                <a:latin typeface="Arial" pitchFamily="34" charset="0"/>
                <a:ea typeface="Arial" pitchFamily="34" charset="-122"/>
                <a:cs typeface="Arial" pitchFamily="34" charset="-120"/>
              </a:rPr>
              <a:t>AI-driven predictive maintenance to improve asset reliability and maintenance efficiency in the chemicals &amp; petrochemicals sector.</a:t>
            </a:r>
            <a:endParaRPr lang="en-US" sz="1250" dirty="0"/>
          </a:p>
        </p:txBody>
      </p:sp>
      <p:sp>
        <p:nvSpPr>
          <p:cNvPr id="8" name="Text 6"/>
          <p:cNvSpPr txBox="1"/>
          <p:nvPr/>
        </p:nvSpPr>
        <p:spPr>
          <a:xfrm>
            <a:off x="502920" y="5138928"/>
            <a:ext cx="4937760" cy="1371600"/>
          </a:xfrm>
          <a:prstGeom prst="rect">
            <a:avLst/>
          </a:prstGeom>
          <a:noFill/>
          <a:ln/>
        </p:spPr>
        <p:txBody>
          <a:bodyPr wrap="square" lIns="0" tIns="0" rIns="0" bIns="0" rtlCol="0" anchor="t"/>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Raunak Jain</a:t>
            </a:r>
            <a:endParaRPr lang="en-US" sz="1300" dirty="0"/>
          </a:p>
          <a:p>
            <a:pPr indent="0" marL="0">
              <a:lnSpc>
                <a:spcPct val="105000"/>
              </a:lnSpc>
              <a:buNone/>
            </a:pPr>
            <a:r>
              <a:rPr lang="en-US" sz="1300" dirty="0">
                <a:solidFill>
                  <a:srgbClr val="8FA6B3"/>
                </a:solidFill>
                <a:latin typeface="Arial" pitchFamily="34" charset="0"/>
                <a:ea typeface="Arial" pitchFamily="34" charset="-122"/>
                <a:cs typeface="Arial" pitchFamily="34" charset="-120"/>
              </a:rPr>
              <a:t>B.Tech Mechanical Engineering</a:t>
            </a:r>
            <a:endParaRPr lang="en-US" sz="1300" dirty="0"/>
          </a:p>
          <a:p>
            <a:pPr indent="0" marL="0">
              <a:lnSpc>
                <a:spcPct val="105000"/>
              </a:lnSpc>
              <a:buNone/>
            </a:pPr>
            <a:endParaRPr lang="en-US" sz="1300" dirty="0"/>
          </a:p>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Anushriya Bhattacharya</a:t>
            </a:r>
            <a:endParaRPr lang="en-US" sz="1300" dirty="0"/>
          </a:p>
          <a:p>
            <a:pPr indent="0" marL="0">
              <a:lnSpc>
                <a:spcPct val="105000"/>
              </a:lnSpc>
              <a:buNone/>
            </a:pPr>
            <a:r>
              <a:rPr lang="en-US" sz="1300" dirty="0">
                <a:solidFill>
                  <a:srgbClr val="8FA6B3"/>
                </a:solidFill>
                <a:latin typeface="Arial" pitchFamily="34" charset="0"/>
                <a:ea typeface="Arial" pitchFamily="34" charset="-122"/>
                <a:cs typeface="Arial" pitchFamily="34" charset="-120"/>
              </a:rPr>
              <a:t>B.Tech Chemical Engineering</a:t>
            </a:r>
            <a:endParaRPr lang="en-US" sz="1300" dirty="0"/>
          </a:p>
          <a:p>
            <a:pPr indent="0" marL="0">
              <a:lnSpc>
                <a:spcPct val="105000"/>
              </a:lnSpc>
              <a:buNone/>
            </a:pPr>
            <a:endParaRPr lang="en-US" sz="1300" dirty="0"/>
          </a:p>
          <a:p>
            <a:pPr indent="0" marL="0">
              <a:lnSpc>
                <a:spcPct val="105000"/>
              </a:lnSpc>
              <a:buNone/>
            </a:pPr>
            <a:r>
              <a:rPr lang="en-US" sz="1300" b="1" dirty="0">
                <a:solidFill>
                  <a:srgbClr val="087E8B"/>
                </a:solidFill>
                <a:latin typeface="Arial" pitchFamily="34" charset="0"/>
                <a:ea typeface="Arial" pitchFamily="34" charset="-122"/>
                <a:cs typeface="Arial" pitchFamily="34" charset="-120"/>
              </a:rPr>
              <a:t>National Institute of Technology Warangal</a:t>
            </a:r>
            <a:endParaRPr lang="en-US" sz="1300" dirty="0"/>
          </a:p>
        </p:txBody>
      </p:sp>
      <p:sp>
        <p:nvSpPr>
          <p:cNvPr id="9" name="Shape 7"/>
          <p:cNvSpPr/>
          <p:nvPr/>
        </p:nvSpPr>
        <p:spPr>
          <a:xfrm>
            <a:off x="7955280" y="914400"/>
            <a:ext cx="3657600" cy="4846320"/>
          </a:xfrm>
          <a:prstGeom prst="roundRect">
            <a:avLst>
              <a:gd name="adj" fmla="val 2000"/>
            </a:avLst>
          </a:prstGeom>
          <a:solidFill>
            <a:srgbClr val="182C3B"/>
          </a:solidFill>
          <a:ln w="12700">
            <a:solidFill>
              <a:srgbClr val="2E4A5C"/>
            </a:solidFill>
            <a:prstDash val="solid"/>
          </a:ln>
        </p:spPr>
      </p:sp>
      <p:sp>
        <p:nvSpPr>
          <p:cNvPr id="10" name="Shape 8"/>
          <p:cNvSpPr/>
          <p:nvPr/>
        </p:nvSpPr>
        <p:spPr>
          <a:xfrm>
            <a:off x="8458200" y="1417320"/>
            <a:ext cx="1051560" cy="1051560"/>
          </a:xfrm>
          <a:prstGeom prst="ellipse">
            <a:avLst/>
          </a:prstGeom>
          <a:solidFill>
            <a:srgbClr val="223D50"/>
          </a:solidFill>
          <a:ln w="25400">
            <a:solidFill>
              <a:srgbClr val="087E8B"/>
            </a:solidFill>
            <a:prstDash val="solid"/>
          </a:ln>
        </p:spPr>
      </p:sp>
      <p:sp>
        <p:nvSpPr>
          <p:cNvPr id="11" name="Shape 9"/>
          <p:cNvSpPr/>
          <p:nvPr/>
        </p:nvSpPr>
        <p:spPr>
          <a:xfrm>
            <a:off x="8805672" y="1764792"/>
            <a:ext cx="356616" cy="356616"/>
          </a:xfrm>
          <a:prstGeom prst="ellipse">
            <a:avLst/>
          </a:prstGeom>
          <a:solidFill>
            <a:srgbClr val="087E8B"/>
          </a:solidFill>
          <a:ln/>
        </p:spPr>
      </p:sp>
      <p:sp>
        <p:nvSpPr>
          <p:cNvPr id="12" name="Shape 10"/>
          <p:cNvSpPr/>
          <p:nvPr/>
        </p:nvSpPr>
        <p:spPr>
          <a:xfrm>
            <a:off x="9509760" y="1783080"/>
            <a:ext cx="1371600" cy="329184"/>
          </a:xfrm>
          <a:prstGeom prst="rect">
            <a:avLst/>
          </a:prstGeom>
          <a:solidFill>
            <a:srgbClr val="223D50"/>
          </a:solidFill>
          <a:ln w="19050">
            <a:solidFill>
              <a:srgbClr val="087E8B"/>
            </a:solidFill>
            <a:prstDash val="solid"/>
          </a:ln>
        </p:spPr>
      </p:sp>
      <p:sp>
        <p:nvSpPr>
          <p:cNvPr id="13" name="Shape 11"/>
          <p:cNvSpPr/>
          <p:nvPr/>
        </p:nvSpPr>
        <p:spPr>
          <a:xfrm>
            <a:off x="10881360" y="1572768"/>
            <a:ext cx="502920" cy="749808"/>
          </a:xfrm>
          <a:prstGeom prst="rect">
            <a:avLst/>
          </a:prstGeom>
          <a:solidFill>
            <a:srgbClr val="223D50"/>
          </a:solidFill>
          <a:ln w="19050">
            <a:solidFill>
              <a:srgbClr val="087E8B"/>
            </a:solidFill>
            <a:prstDash val="solid"/>
          </a:ln>
        </p:spPr>
      </p:sp>
      <p:sp>
        <p:nvSpPr>
          <p:cNvPr id="14" name="Shape 12"/>
          <p:cNvSpPr/>
          <p:nvPr/>
        </p:nvSpPr>
        <p:spPr>
          <a:xfrm>
            <a:off x="9436608" y="1536192"/>
            <a:ext cx="201168" cy="201168"/>
          </a:xfrm>
          <a:prstGeom prst="ellipse">
            <a:avLst/>
          </a:prstGeom>
          <a:solidFill>
            <a:srgbClr val="F59E0B"/>
          </a:solidFill>
          <a:ln/>
        </p:spPr>
      </p:sp>
      <p:sp>
        <p:nvSpPr>
          <p:cNvPr id="15" name="Text 13"/>
          <p:cNvSpPr txBox="1"/>
          <p:nvPr/>
        </p:nvSpPr>
        <p:spPr>
          <a:xfrm>
            <a:off x="9692640" y="1389888"/>
            <a:ext cx="1737360" cy="274320"/>
          </a:xfrm>
          <a:prstGeom prst="rect">
            <a:avLst/>
          </a:prstGeom>
          <a:noFill/>
          <a:ln/>
        </p:spPr>
        <p:txBody>
          <a:bodyPr wrap="square" lIns="0" tIns="0" rIns="0" bIns="0" rtlCol="0" anchor="ctr"/>
          <a:lstStyle/>
          <a:p>
            <a:pPr indent="0" marL="0">
              <a:buNone/>
            </a:pPr>
            <a:r>
              <a:rPr lang="en-US" sz="950" dirty="0">
                <a:solidFill>
                  <a:srgbClr val="8FA6B3"/>
                </a:solidFill>
                <a:latin typeface="Arial" pitchFamily="34" charset="0"/>
                <a:ea typeface="Arial" pitchFamily="34" charset="-122"/>
                <a:cs typeface="Arial" pitchFamily="34" charset="-120"/>
              </a:rPr>
              <a:t>wireless vibration sensor</a:t>
            </a:r>
            <a:endParaRPr lang="en-US" sz="950" dirty="0"/>
          </a:p>
        </p:txBody>
      </p:sp>
      <p:sp>
        <p:nvSpPr>
          <p:cNvPr id="16" name="Shape 14"/>
          <p:cNvSpPr/>
          <p:nvPr/>
        </p:nvSpPr>
        <p:spPr>
          <a:xfrm>
            <a:off x="8458200" y="3063240"/>
            <a:ext cx="283464" cy="164592"/>
          </a:xfrm>
          <a:prstGeom prst="line">
            <a:avLst/>
          </a:prstGeom>
          <a:noFill/>
          <a:ln w="28575">
            <a:solidFill>
              <a:srgbClr val="2E9D66"/>
            </a:solidFill>
            <a:prstDash val="solid"/>
          </a:ln>
        </p:spPr>
      </p:sp>
      <p:sp>
        <p:nvSpPr>
          <p:cNvPr id="17" name="Shape 15"/>
          <p:cNvSpPr/>
          <p:nvPr/>
        </p:nvSpPr>
        <p:spPr>
          <a:xfrm flipV="1">
            <a:off x="8741664" y="2807208"/>
            <a:ext cx="283464" cy="420624"/>
          </a:xfrm>
          <a:prstGeom prst="line">
            <a:avLst/>
          </a:prstGeom>
          <a:noFill/>
          <a:ln w="28575">
            <a:solidFill>
              <a:srgbClr val="2E9D66"/>
            </a:solidFill>
            <a:prstDash val="solid"/>
          </a:ln>
        </p:spPr>
      </p:sp>
      <p:sp>
        <p:nvSpPr>
          <p:cNvPr id="18" name="Shape 16"/>
          <p:cNvSpPr/>
          <p:nvPr/>
        </p:nvSpPr>
        <p:spPr>
          <a:xfrm>
            <a:off x="9025128" y="2807208"/>
            <a:ext cx="283464" cy="603504"/>
          </a:xfrm>
          <a:prstGeom prst="line">
            <a:avLst/>
          </a:prstGeom>
          <a:noFill/>
          <a:ln w="28575">
            <a:solidFill>
              <a:srgbClr val="2E9D66"/>
            </a:solidFill>
            <a:prstDash val="solid"/>
          </a:ln>
        </p:spPr>
      </p:sp>
      <p:sp>
        <p:nvSpPr>
          <p:cNvPr id="19" name="Shape 17"/>
          <p:cNvSpPr/>
          <p:nvPr/>
        </p:nvSpPr>
        <p:spPr>
          <a:xfrm flipV="1">
            <a:off x="9308592" y="2606040"/>
            <a:ext cx="283464" cy="804672"/>
          </a:xfrm>
          <a:prstGeom prst="line">
            <a:avLst/>
          </a:prstGeom>
          <a:noFill/>
          <a:ln w="28575">
            <a:solidFill>
              <a:srgbClr val="2E9D66"/>
            </a:solidFill>
            <a:prstDash val="solid"/>
          </a:ln>
        </p:spPr>
      </p:sp>
      <p:sp>
        <p:nvSpPr>
          <p:cNvPr id="20" name="Shape 18"/>
          <p:cNvSpPr/>
          <p:nvPr/>
        </p:nvSpPr>
        <p:spPr>
          <a:xfrm>
            <a:off x="9592056" y="2606040"/>
            <a:ext cx="283464" cy="960120"/>
          </a:xfrm>
          <a:prstGeom prst="line">
            <a:avLst/>
          </a:prstGeom>
          <a:noFill/>
          <a:ln w="28575">
            <a:solidFill>
              <a:srgbClr val="2E9D66"/>
            </a:solidFill>
            <a:prstDash val="solid"/>
          </a:ln>
        </p:spPr>
      </p:sp>
      <p:sp>
        <p:nvSpPr>
          <p:cNvPr id="21" name="Shape 19"/>
          <p:cNvSpPr/>
          <p:nvPr/>
        </p:nvSpPr>
        <p:spPr>
          <a:xfrm flipV="1">
            <a:off x="9875520" y="2880360"/>
            <a:ext cx="283464" cy="685800"/>
          </a:xfrm>
          <a:prstGeom prst="line">
            <a:avLst/>
          </a:prstGeom>
          <a:noFill/>
          <a:ln w="28575">
            <a:solidFill>
              <a:srgbClr val="2E9D66"/>
            </a:solidFill>
            <a:prstDash val="solid"/>
          </a:ln>
        </p:spPr>
      </p:sp>
      <p:sp>
        <p:nvSpPr>
          <p:cNvPr id="22" name="Shape 20"/>
          <p:cNvSpPr/>
          <p:nvPr/>
        </p:nvSpPr>
        <p:spPr>
          <a:xfrm>
            <a:off x="10158984" y="2880360"/>
            <a:ext cx="283464" cy="457200"/>
          </a:xfrm>
          <a:prstGeom prst="line">
            <a:avLst/>
          </a:prstGeom>
          <a:noFill/>
          <a:ln w="28575">
            <a:solidFill>
              <a:srgbClr val="2E9D66"/>
            </a:solidFill>
            <a:prstDash val="solid"/>
          </a:ln>
        </p:spPr>
      </p:sp>
      <p:sp>
        <p:nvSpPr>
          <p:cNvPr id="23" name="Shape 21"/>
          <p:cNvSpPr/>
          <p:nvPr/>
        </p:nvSpPr>
        <p:spPr>
          <a:xfrm flipV="1">
            <a:off x="10442448" y="2743200"/>
            <a:ext cx="283464" cy="594360"/>
          </a:xfrm>
          <a:prstGeom prst="line">
            <a:avLst/>
          </a:prstGeom>
          <a:noFill/>
          <a:ln w="28575">
            <a:solidFill>
              <a:srgbClr val="2E9D66"/>
            </a:solidFill>
            <a:prstDash val="solid"/>
          </a:ln>
        </p:spPr>
      </p:sp>
      <p:sp>
        <p:nvSpPr>
          <p:cNvPr id="24" name="Shape 22"/>
          <p:cNvSpPr/>
          <p:nvPr/>
        </p:nvSpPr>
        <p:spPr>
          <a:xfrm>
            <a:off x="10725912" y="2743200"/>
            <a:ext cx="283464" cy="457200"/>
          </a:xfrm>
          <a:prstGeom prst="line">
            <a:avLst/>
          </a:prstGeom>
          <a:noFill/>
          <a:ln w="28575">
            <a:solidFill>
              <a:srgbClr val="2E9D66"/>
            </a:solidFill>
            <a:prstDash val="solid"/>
          </a:ln>
        </p:spPr>
      </p:sp>
      <p:sp>
        <p:nvSpPr>
          <p:cNvPr id="25" name="Text 23"/>
          <p:cNvSpPr txBox="1"/>
          <p:nvPr/>
        </p:nvSpPr>
        <p:spPr>
          <a:xfrm>
            <a:off x="8458200" y="3703320"/>
            <a:ext cx="2926080" cy="274320"/>
          </a:xfrm>
          <a:prstGeom prst="rect">
            <a:avLst/>
          </a:prstGeom>
          <a:noFill/>
          <a:ln/>
        </p:spPr>
        <p:txBody>
          <a:bodyPr wrap="square" lIns="0" tIns="0" rIns="0" bIns="0" rtlCol="0" anchor="ctr"/>
          <a:lstStyle/>
          <a:p>
            <a:pPr indent="0" marL="0">
              <a:buNone/>
            </a:pPr>
            <a:r>
              <a:rPr lang="en-US" sz="950" dirty="0">
                <a:solidFill>
                  <a:srgbClr val="8FA6B3"/>
                </a:solidFill>
                <a:latin typeface="Arial" pitchFamily="34" charset="0"/>
                <a:ea typeface="Arial" pitchFamily="34" charset="-122"/>
                <a:cs typeface="Arial" pitchFamily="34" charset="-120"/>
              </a:rPr>
              <a:t>vibration signature → 16 interpretable features</a:t>
            </a:r>
            <a:endParaRPr lang="en-US" sz="950" dirty="0"/>
          </a:p>
        </p:txBody>
      </p:sp>
      <p:sp>
        <p:nvSpPr>
          <p:cNvPr id="26" name="Shape 24"/>
          <p:cNvSpPr/>
          <p:nvPr/>
        </p:nvSpPr>
        <p:spPr>
          <a:xfrm>
            <a:off x="9738360" y="4069080"/>
            <a:ext cx="0" cy="384048"/>
          </a:xfrm>
          <a:prstGeom prst="line">
            <a:avLst/>
          </a:prstGeom>
          <a:noFill/>
          <a:ln w="19050">
            <a:solidFill>
              <a:srgbClr val="5A6B78"/>
            </a:solidFill>
            <a:prstDash val="solid"/>
            <a:tailEnd type="triangle"/>
          </a:ln>
        </p:spPr>
      </p:sp>
      <p:sp>
        <p:nvSpPr>
          <p:cNvPr id="27" name="Shape 25"/>
          <p:cNvSpPr/>
          <p:nvPr/>
        </p:nvSpPr>
        <p:spPr>
          <a:xfrm>
            <a:off x="8458200" y="4526280"/>
            <a:ext cx="2651760" cy="777240"/>
          </a:xfrm>
          <a:prstGeom prst="roundRect">
            <a:avLst>
              <a:gd name="adj" fmla="val 7059"/>
            </a:avLst>
          </a:prstGeom>
          <a:solidFill>
            <a:srgbClr val="223D50"/>
          </a:solidFill>
          <a:ln w="19050">
            <a:solidFill>
              <a:srgbClr val="2E9D66"/>
            </a:solidFill>
            <a:prstDash val="solid"/>
          </a:ln>
        </p:spPr>
      </p:sp>
      <p:sp>
        <p:nvSpPr>
          <p:cNvPr id="28" name="Text 26"/>
          <p:cNvSpPr txBox="1"/>
          <p:nvPr/>
        </p:nvSpPr>
        <p:spPr>
          <a:xfrm>
            <a:off x="8613648" y="4590288"/>
            <a:ext cx="2377440" cy="658368"/>
          </a:xfrm>
          <a:prstGeom prst="rect">
            <a:avLst/>
          </a:prstGeom>
          <a:noFill/>
          <a:ln/>
        </p:spPr>
        <p:txBody>
          <a:bodyPr wrap="square" lIns="0" tIns="0" rIns="0" bIns="0" rtlCol="0" anchor="ctr"/>
          <a:lstStyle/>
          <a:p>
            <a:pPr indent="0" marL="0">
              <a:lnSpc>
                <a:spcPct val="105000"/>
              </a:lnSpc>
              <a:buNone/>
            </a:pPr>
            <a:r>
              <a:rPr lang="en-US" sz="1150" dirty="0">
                <a:solidFill>
                  <a:srgbClr val="C9D6DE"/>
                </a:solidFill>
                <a:latin typeface="Arial" pitchFamily="34" charset="0"/>
                <a:ea typeface="Arial" pitchFamily="34" charset="-122"/>
                <a:cs typeface="Arial" pitchFamily="34" charset="-120"/>
              </a:rPr>
              <a:t>14 days early warning → </a:t>
            </a:r>
            <a:pPr indent="0" marL="0">
              <a:lnSpc>
                <a:spcPct val="105000"/>
              </a:lnSpc>
              <a:buNone/>
            </a:pPr>
            <a:r>
              <a:rPr lang="en-US" sz="1150" b="1" dirty="0">
                <a:solidFill>
                  <a:srgbClr val="2E9D66"/>
                </a:solidFill>
                <a:latin typeface="Arial" pitchFamily="34" charset="0"/>
                <a:ea typeface="Arial" pitchFamily="34" charset="-122"/>
                <a:cs typeface="Arial" pitchFamily="34" charset="-120"/>
              </a:rPr>
              <a:t>planned work order</a:t>
            </a:r>
            <a:endParaRPr lang="en-US" sz="1150" dirty="0"/>
          </a:p>
        </p:txBody>
      </p:sp>
      <p:sp>
        <p:nvSpPr>
          <p:cNvPr id="29" name="Text 27"/>
          <p:cNvSpPr txBox="1"/>
          <p:nvPr/>
        </p:nvSpPr>
        <p:spPr>
          <a:xfrm>
            <a:off x="502920" y="6620256"/>
            <a:ext cx="8229600" cy="182880"/>
          </a:xfrm>
          <a:prstGeom prst="rect">
            <a:avLst/>
          </a:prstGeom>
          <a:noFill/>
          <a:ln/>
        </p:spPr>
        <p:txBody>
          <a:bodyPr wrap="square" lIns="0" tIns="0" rIns="0" bIns="0" rtlCol="0" anchor="ctr"/>
          <a:lstStyle/>
          <a:p>
            <a:pPr indent="0" marL="0">
              <a:buNone/>
            </a:pPr>
            <a:r>
              <a:rPr lang="en-US" sz="850" dirty="0">
                <a:solidFill>
                  <a:srgbClr val="8FA6B3"/>
                </a:solidFill>
                <a:latin typeface="Arial" pitchFamily="34" charset="0"/>
                <a:ea typeface="Arial" pitchFamily="34" charset="-122"/>
                <a:cs typeface="Arial" pitchFamily="34" charset="-120"/>
              </a:rPr>
              <a:t>Final round: Bombay Exhibition Centre, Mumbai · 24 October 2026</a:t>
            </a:r>
            <a:endParaRPr lang="en-US" sz="850" dirty="0"/>
          </a:p>
        </p:txBody>
      </p:sp>
      <p:sp>
        <p:nvSpPr>
          <p:cNvPr id="30" name="Text 28"/>
          <p:cNvSpPr txBox="1"/>
          <p:nvPr/>
        </p:nvSpPr>
        <p:spPr>
          <a:xfrm>
            <a:off x="10774375" y="6620256"/>
            <a:ext cx="914400" cy="182880"/>
          </a:xfrm>
          <a:prstGeom prst="rect">
            <a:avLst/>
          </a:prstGeom>
          <a:noFill/>
          <a:ln/>
        </p:spPr>
        <p:txBody>
          <a:bodyPr wrap="square" lIns="0" tIns="0" rIns="0" bIns="0" rtlCol="0" anchor="ctr"/>
          <a:lstStyle/>
          <a:p>
            <a:pPr algn="r" indent="0" marL="0">
              <a:buNone/>
            </a:pPr>
            <a:r>
              <a:rPr lang="en-US" sz="850" dirty="0">
                <a:solidFill>
                  <a:srgbClr val="8FA6B3"/>
                </a:solidFill>
                <a:latin typeface="Arial" pitchFamily="34" charset="0"/>
                <a:ea typeface="Arial" pitchFamily="34" charset="-122"/>
                <a:cs typeface="Arial" pitchFamily="34" charset="-120"/>
              </a:rPr>
              <a:t>01 / 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09728"/>
            <a:ext cx="11185855" cy="182880"/>
          </a:xfrm>
          <a:prstGeom prst="rect">
            <a:avLst/>
          </a:prstGeom>
          <a:noFill/>
          <a:ln/>
        </p:spPr>
        <p:txBody>
          <a:bodyPr wrap="square" lIns="0" tIns="0" rIns="0" bIns="0" rtlCol="0" anchor="ctr"/>
          <a:lstStyle/>
          <a:p>
            <a:pPr indent="0" marL="0">
              <a:buNone/>
            </a:pPr>
            <a:r>
              <a:rPr lang="en-US" sz="1050" b="1" spc="200" kern="0" dirty="0">
                <a:solidFill>
                  <a:srgbClr val="087E8B"/>
                </a:solidFill>
                <a:latin typeface="Arial" pitchFamily="34" charset="0"/>
                <a:ea typeface="Arial" pitchFamily="34" charset="-122"/>
                <a:cs typeface="Arial" pitchFamily="34" charset="-120"/>
              </a:rPr>
              <a:t>EXISTING SCENARIO · THE QUANTIFIED PROBLEM</a:t>
            </a:r>
            <a:endParaRPr lang="en-US" sz="1050" dirty="0"/>
          </a:p>
        </p:txBody>
      </p:sp>
      <p:sp>
        <p:nvSpPr>
          <p:cNvPr id="3" name="Text 1"/>
          <p:cNvSpPr txBox="1"/>
          <p:nvPr/>
        </p:nvSpPr>
        <p:spPr>
          <a:xfrm>
            <a:off x="502920" y="292608"/>
            <a:ext cx="11185855" cy="1051560"/>
          </a:xfrm>
          <a:prstGeom prst="rect">
            <a:avLst/>
          </a:prstGeom>
          <a:noFill/>
          <a:ln/>
        </p:spPr>
        <p:txBody>
          <a:bodyPr wrap="square" lIns="0" tIns="0" rIns="0" bIns="0" rtlCol="0" anchor="t"/>
          <a:lstStyle/>
          <a:p>
            <a:pPr indent="0" marL="0">
              <a:lnSpc>
                <a:spcPct val="104000"/>
              </a:lnSpc>
              <a:buNone/>
            </a:pPr>
            <a:r>
              <a:rPr lang="en-US" sz="2400" b="1" dirty="0">
                <a:solidFill>
                  <a:srgbClr val="12212F"/>
                </a:solidFill>
                <a:latin typeface="Arial" pitchFamily="34" charset="0"/>
                <a:ea typeface="Arial" pitchFamily="34" charset="-122"/>
                <a:cs typeface="Arial" pitchFamily="34" charset="-120"/>
              </a:rPr>
              <a:t>Twenty-five bad-actor pumps expose a mid-size plant to </a:t>
            </a:r>
            <a:pPr indent="0" marL="0">
              <a:lnSpc>
                <a:spcPct val="104000"/>
              </a:lnSpc>
              <a:buNone/>
            </a:pPr>
            <a:r>
              <a:rPr lang="en-US" sz="2400" b="1" dirty="0">
                <a:solidFill>
                  <a:srgbClr val="087E8B"/>
                </a:solidFill>
                <a:latin typeface="Arial" pitchFamily="34" charset="0"/>
                <a:ea typeface="Arial" pitchFamily="34" charset="-122"/>
                <a:cs typeface="Arial" pitchFamily="34" charset="-120"/>
              </a:rPr>
              <a:t>~₹1.4 crore a year</a:t>
            </a:r>
            <a:pPr indent="0" marL="0">
              <a:lnSpc>
                <a:spcPct val="104000"/>
              </a:lnSpc>
              <a:buNone/>
            </a:pPr>
            <a:r>
              <a:rPr lang="en-US" sz="2400" b="1" dirty="0">
                <a:solidFill>
                  <a:srgbClr val="12212F"/>
                </a:solidFill>
                <a:latin typeface="Arial" pitchFamily="34" charset="0"/>
                <a:ea typeface="Arial" pitchFamily="34" charset="-122"/>
                <a:cs typeface="Arial" pitchFamily="34" charset="-120"/>
              </a:rPr>
              <a:t> because maintenance runs on the calendar, not on machine condition</a:t>
            </a:r>
            <a:endParaRPr lang="en-US" sz="2400" dirty="0"/>
          </a:p>
        </p:txBody>
      </p:sp>
      <p:sp>
        <p:nvSpPr>
          <p:cNvPr id="4" name="Shape 2"/>
          <p:cNvSpPr/>
          <p:nvPr/>
        </p:nvSpPr>
        <p:spPr>
          <a:xfrm>
            <a:off x="502920" y="1481328"/>
            <a:ext cx="2659304" cy="960120"/>
          </a:xfrm>
          <a:prstGeom prst="roundRect">
            <a:avLst>
              <a:gd name="adj" fmla="val 5238"/>
            </a:avLst>
          </a:prstGeom>
          <a:solidFill>
            <a:srgbClr val="F4F7F8"/>
          </a:solidFill>
          <a:ln w="12700">
            <a:solidFill>
              <a:srgbClr val="D9E2E7"/>
            </a:solidFill>
            <a:prstDash val="solid"/>
          </a:ln>
        </p:spPr>
      </p:sp>
      <p:sp>
        <p:nvSpPr>
          <p:cNvPr id="5" name="Text 3"/>
          <p:cNvSpPr txBox="1"/>
          <p:nvPr/>
        </p:nvSpPr>
        <p:spPr>
          <a:xfrm>
            <a:off x="640080" y="1572768"/>
            <a:ext cx="2384984" cy="365760"/>
          </a:xfrm>
          <a:prstGeom prst="rect">
            <a:avLst/>
          </a:prstGeom>
          <a:noFill/>
          <a:ln/>
        </p:spPr>
        <p:txBody>
          <a:bodyPr wrap="square" lIns="0" tIns="0" rIns="0" bIns="0" rtlCol="0" anchor="ctr"/>
          <a:lstStyle/>
          <a:p>
            <a:pPr indent="0" marL="0">
              <a:buNone/>
            </a:pPr>
            <a:r>
              <a:rPr lang="en-US" sz="2100" b="1" dirty="0">
                <a:solidFill>
                  <a:srgbClr val="087E8B"/>
                </a:solidFill>
                <a:latin typeface="Arial" pitchFamily="34" charset="0"/>
                <a:ea typeface="Arial" pitchFamily="34" charset="-122"/>
                <a:cs typeface="Arial" pitchFamily="34" charset="-120"/>
              </a:rPr>
              <a:t>60 h/yr</a:t>
            </a:r>
            <a:endParaRPr lang="en-US" sz="2100" dirty="0"/>
          </a:p>
        </p:txBody>
      </p:sp>
      <p:sp>
        <p:nvSpPr>
          <p:cNvPr id="6" name="Text 4"/>
          <p:cNvSpPr txBox="1"/>
          <p:nvPr/>
        </p:nvSpPr>
        <p:spPr>
          <a:xfrm>
            <a:off x="640080" y="1938528"/>
            <a:ext cx="2384984" cy="457200"/>
          </a:xfrm>
          <a:prstGeom prst="rect">
            <a:avLst/>
          </a:prstGeom>
          <a:noFill/>
          <a:ln/>
        </p:spPr>
        <p:txBody>
          <a:bodyPr wrap="square" lIns="0" tIns="0" rIns="0" bIns="0" rtlCol="0" anchor="ctr"/>
          <a:lstStyle/>
          <a:p>
            <a:pPr indent="0" marL="0">
              <a:lnSpc>
                <a:spcPct val="100000"/>
              </a:lnSpc>
              <a:buNone/>
            </a:pPr>
            <a:r>
              <a:rPr lang="en-US" sz="1050" dirty="0">
                <a:solidFill>
                  <a:srgbClr val="5A6B78"/>
                </a:solidFill>
                <a:latin typeface="Arial" pitchFamily="34" charset="0"/>
                <a:ea typeface="Arial" pitchFamily="34" charset="-122"/>
                <a:cs typeface="Arial" pitchFamily="34" charset="-120"/>
              </a:rPr>
              <a:t>unplanned outage caused by these pumps (est.)</a:t>
            </a:r>
            <a:endParaRPr lang="en-US" sz="1050" dirty="0"/>
          </a:p>
        </p:txBody>
      </p:sp>
      <p:sp>
        <p:nvSpPr>
          <p:cNvPr id="7" name="Shape 5"/>
          <p:cNvSpPr/>
          <p:nvPr/>
        </p:nvSpPr>
        <p:spPr>
          <a:xfrm>
            <a:off x="3299384" y="1481328"/>
            <a:ext cx="2659304" cy="960120"/>
          </a:xfrm>
          <a:prstGeom prst="roundRect">
            <a:avLst>
              <a:gd name="adj" fmla="val 5238"/>
            </a:avLst>
          </a:prstGeom>
          <a:solidFill>
            <a:srgbClr val="F4F7F8"/>
          </a:solidFill>
          <a:ln w="12700">
            <a:solidFill>
              <a:srgbClr val="D9E2E7"/>
            </a:solidFill>
            <a:prstDash val="solid"/>
          </a:ln>
        </p:spPr>
      </p:sp>
      <p:sp>
        <p:nvSpPr>
          <p:cNvPr id="8" name="Text 6"/>
          <p:cNvSpPr txBox="1"/>
          <p:nvPr/>
        </p:nvSpPr>
        <p:spPr>
          <a:xfrm>
            <a:off x="3436544" y="1572768"/>
            <a:ext cx="2384984" cy="365760"/>
          </a:xfrm>
          <a:prstGeom prst="rect">
            <a:avLst/>
          </a:prstGeom>
          <a:noFill/>
          <a:ln/>
        </p:spPr>
        <p:txBody>
          <a:bodyPr wrap="square" lIns="0" tIns="0" rIns="0" bIns="0" rtlCol="0" anchor="ctr"/>
          <a:lstStyle/>
          <a:p>
            <a:pPr indent="0" marL="0">
              <a:buNone/>
            </a:pPr>
            <a:r>
              <a:rPr lang="en-US" sz="2100" b="1" dirty="0">
                <a:solidFill>
                  <a:srgbClr val="087E8B"/>
                </a:solidFill>
                <a:latin typeface="Arial" pitchFamily="34" charset="0"/>
                <a:ea typeface="Arial" pitchFamily="34" charset="-122"/>
                <a:cs typeface="Arial" pitchFamily="34" charset="-120"/>
              </a:rPr>
              <a:t>₹1.9 lakh/h</a:t>
            </a:r>
            <a:endParaRPr lang="en-US" sz="2100" dirty="0"/>
          </a:p>
        </p:txBody>
      </p:sp>
      <p:sp>
        <p:nvSpPr>
          <p:cNvPr id="9" name="Text 7"/>
          <p:cNvSpPr txBox="1"/>
          <p:nvPr/>
        </p:nvSpPr>
        <p:spPr>
          <a:xfrm>
            <a:off x="3436544" y="1938528"/>
            <a:ext cx="2384984" cy="457200"/>
          </a:xfrm>
          <a:prstGeom prst="rect">
            <a:avLst/>
          </a:prstGeom>
          <a:noFill/>
          <a:ln/>
        </p:spPr>
        <p:txBody>
          <a:bodyPr wrap="square" lIns="0" tIns="0" rIns="0" bIns="0" rtlCol="0" anchor="ctr"/>
          <a:lstStyle/>
          <a:p>
            <a:pPr indent="0" marL="0">
              <a:lnSpc>
                <a:spcPct val="100000"/>
              </a:lnSpc>
              <a:buNone/>
            </a:pPr>
            <a:r>
              <a:rPr lang="en-US" sz="1050" dirty="0">
                <a:solidFill>
                  <a:srgbClr val="5A6B78"/>
                </a:solidFill>
                <a:latin typeface="Arial" pitchFamily="34" charset="0"/>
                <a:ea typeface="Arial" pitchFamily="34" charset="-122"/>
                <a:cs typeface="Arial" pitchFamily="34" charset="-120"/>
              </a:rPr>
              <a:t>contribution margin lost while down (est.)</a:t>
            </a:r>
            <a:endParaRPr lang="en-US" sz="1050" dirty="0"/>
          </a:p>
        </p:txBody>
      </p:sp>
      <p:sp>
        <p:nvSpPr>
          <p:cNvPr id="10" name="Shape 8"/>
          <p:cNvSpPr/>
          <p:nvPr/>
        </p:nvSpPr>
        <p:spPr>
          <a:xfrm>
            <a:off x="6095848" y="1481328"/>
            <a:ext cx="2659304" cy="960120"/>
          </a:xfrm>
          <a:prstGeom prst="roundRect">
            <a:avLst>
              <a:gd name="adj" fmla="val 5238"/>
            </a:avLst>
          </a:prstGeom>
          <a:solidFill>
            <a:srgbClr val="F4F7F8"/>
          </a:solidFill>
          <a:ln w="12700">
            <a:solidFill>
              <a:srgbClr val="D9E2E7"/>
            </a:solidFill>
            <a:prstDash val="solid"/>
          </a:ln>
        </p:spPr>
      </p:sp>
      <p:sp>
        <p:nvSpPr>
          <p:cNvPr id="11" name="Text 9"/>
          <p:cNvSpPr txBox="1"/>
          <p:nvPr/>
        </p:nvSpPr>
        <p:spPr>
          <a:xfrm>
            <a:off x="6233008" y="1572768"/>
            <a:ext cx="2384984" cy="365760"/>
          </a:xfrm>
          <a:prstGeom prst="rect">
            <a:avLst/>
          </a:prstGeom>
          <a:noFill/>
          <a:ln/>
        </p:spPr>
        <p:txBody>
          <a:bodyPr wrap="square" lIns="0" tIns="0" rIns="0" bIns="0" rtlCol="0" anchor="ctr"/>
          <a:lstStyle/>
          <a:p>
            <a:pPr indent="0" marL="0">
              <a:buNone/>
            </a:pPr>
            <a:r>
              <a:rPr lang="en-US" sz="2100" b="1" dirty="0">
                <a:solidFill>
                  <a:srgbClr val="087E8B"/>
                </a:solidFill>
                <a:latin typeface="Arial" pitchFamily="34" charset="0"/>
                <a:ea typeface="Arial" pitchFamily="34" charset="-122"/>
                <a:cs typeface="Arial" pitchFamily="34" charset="-120"/>
              </a:rPr>
              <a:t>12 /yr</a:t>
            </a:r>
            <a:endParaRPr lang="en-US" sz="2100" dirty="0"/>
          </a:p>
        </p:txBody>
      </p:sp>
      <p:sp>
        <p:nvSpPr>
          <p:cNvPr id="12" name="Text 10"/>
          <p:cNvSpPr txBox="1"/>
          <p:nvPr/>
        </p:nvSpPr>
        <p:spPr>
          <a:xfrm>
            <a:off x="6233008" y="1938528"/>
            <a:ext cx="2384984" cy="457200"/>
          </a:xfrm>
          <a:prstGeom prst="rect">
            <a:avLst/>
          </a:prstGeom>
          <a:noFill/>
          <a:ln/>
        </p:spPr>
        <p:txBody>
          <a:bodyPr wrap="square" lIns="0" tIns="0" rIns="0" bIns="0" rtlCol="0" anchor="ctr"/>
          <a:lstStyle/>
          <a:p>
            <a:pPr indent="0" marL="0">
              <a:lnSpc>
                <a:spcPct val="100000"/>
              </a:lnSpc>
              <a:buNone/>
            </a:pPr>
            <a:r>
              <a:rPr lang="en-US" sz="1050" dirty="0">
                <a:solidFill>
                  <a:srgbClr val="5A6B78"/>
                </a:solidFill>
                <a:latin typeface="Arial" pitchFamily="34" charset="0"/>
                <a:ea typeface="Arial" pitchFamily="34" charset="-122"/>
                <a:cs typeface="Arial" pitchFamily="34" charset="-120"/>
              </a:rPr>
              <a:t>repair events across the 25 pumps (est.)</a:t>
            </a:r>
            <a:endParaRPr lang="en-US" sz="1050" dirty="0"/>
          </a:p>
        </p:txBody>
      </p:sp>
      <p:sp>
        <p:nvSpPr>
          <p:cNvPr id="13" name="Shape 11"/>
          <p:cNvSpPr/>
          <p:nvPr/>
        </p:nvSpPr>
        <p:spPr>
          <a:xfrm>
            <a:off x="8892311" y="1481328"/>
            <a:ext cx="2659304" cy="960120"/>
          </a:xfrm>
          <a:prstGeom prst="roundRect">
            <a:avLst>
              <a:gd name="adj" fmla="val 5238"/>
            </a:avLst>
          </a:prstGeom>
          <a:solidFill>
            <a:srgbClr val="F4F7F8"/>
          </a:solidFill>
          <a:ln w="12700">
            <a:solidFill>
              <a:srgbClr val="D9E2E7"/>
            </a:solidFill>
            <a:prstDash val="solid"/>
          </a:ln>
        </p:spPr>
      </p:sp>
      <p:sp>
        <p:nvSpPr>
          <p:cNvPr id="14" name="Text 12"/>
          <p:cNvSpPr txBox="1"/>
          <p:nvPr/>
        </p:nvSpPr>
        <p:spPr>
          <a:xfrm>
            <a:off x="9029471" y="1572768"/>
            <a:ext cx="2384984" cy="365760"/>
          </a:xfrm>
          <a:prstGeom prst="rect">
            <a:avLst/>
          </a:prstGeom>
          <a:noFill/>
          <a:ln/>
        </p:spPr>
        <p:txBody>
          <a:bodyPr wrap="square" lIns="0" tIns="0" rIns="0" bIns="0" rtlCol="0" anchor="ctr"/>
          <a:lstStyle/>
          <a:p>
            <a:pPr indent="0" marL="0">
              <a:buNone/>
            </a:pPr>
            <a:r>
              <a:rPr lang="en-US" sz="2100" b="1" dirty="0">
                <a:solidFill>
                  <a:srgbClr val="087E8B"/>
                </a:solidFill>
                <a:latin typeface="Arial" pitchFamily="34" charset="0"/>
                <a:ea typeface="Arial" pitchFamily="34" charset="-122"/>
                <a:cs typeface="Arial" pitchFamily="34" charset="-120"/>
              </a:rPr>
              <a:t>~₹1.4 Cr</a:t>
            </a:r>
            <a:endParaRPr lang="en-US" sz="2100" dirty="0"/>
          </a:p>
        </p:txBody>
      </p:sp>
      <p:sp>
        <p:nvSpPr>
          <p:cNvPr id="15" name="Text 13"/>
          <p:cNvSpPr txBox="1"/>
          <p:nvPr/>
        </p:nvSpPr>
        <p:spPr>
          <a:xfrm>
            <a:off x="9029471" y="1938528"/>
            <a:ext cx="2384984" cy="457200"/>
          </a:xfrm>
          <a:prstGeom prst="rect">
            <a:avLst/>
          </a:prstGeom>
          <a:noFill/>
          <a:ln/>
        </p:spPr>
        <p:txBody>
          <a:bodyPr wrap="square" lIns="0" tIns="0" rIns="0" bIns="0" rtlCol="0" anchor="ctr"/>
          <a:lstStyle/>
          <a:p>
            <a:pPr indent="0" marL="0">
              <a:lnSpc>
                <a:spcPct val="100000"/>
              </a:lnSpc>
              <a:buNone/>
            </a:pPr>
            <a:r>
              <a:rPr lang="en-US" sz="1050" dirty="0">
                <a:solidFill>
                  <a:srgbClr val="5A6B78"/>
                </a:solidFill>
                <a:latin typeface="Arial" pitchFamily="34" charset="0"/>
                <a:ea typeface="Arial" pitchFamily="34" charset="-122"/>
                <a:cs typeface="Arial" pitchFamily="34" charset="-120"/>
              </a:rPr>
              <a:t>annual exposure: lost margin + repairs (est.)</a:t>
            </a:r>
            <a:endParaRPr lang="en-US" sz="1050" dirty="0"/>
          </a:p>
        </p:txBody>
      </p:sp>
      <p:sp>
        <p:nvSpPr>
          <p:cNvPr id="16" name="Shape 14"/>
          <p:cNvSpPr/>
          <p:nvPr/>
        </p:nvSpPr>
        <p:spPr>
          <a:xfrm>
            <a:off x="502920" y="2670048"/>
            <a:ext cx="5394960" cy="2331720"/>
          </a:xfrm>
          <a:prstGeom prst="roundRect">
            <a:avLst>
              <a:gd name="adj" fmla="val 2157"/>
            </a:avLst>
          </a:prstGeom>
          <a:solidFill>
            <a:srgbClr val="FFFFFF"/>
          </a:solidFill>
          <a:ln w="12700">
            <a:solidFill>
              <a:srgbClr val="D9E2E7"/>
            </a:solidFill>
            <a:prstDash val="solid"/>
          </a:ln>
        </p:spPr>
      </p:sp>
      <p:sp>
        <p:nvSpPr>
          <p:cNvPr id="17" name="Text 15"/>
          <p:cNvSpPr txBox="1"/>
          <p:nvPr/>
        </p:nvSpPr>
        <p:spPr>
          <a:xfrm>
            <a:off x="704088" y="2816352"/>
            <a:ext cx="4937760" cy="237744"/>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USE CASE &amp; SYSTEM BOUNDARY</a:t>
            </a:r>
            <a:endParaRPr lang="en-US" sz="1250" dirty="0"/>
          </a:p>
        </p:txBody>
      </p:sp>
      <p:sp>
        <p:nvSpPr>
          <p:cNvPr id="18" name="Text 16"/>
          <p:cNvSpPr txBox="1"/>
          <p:nvPr/>
        </p:nvSpPr>
        <p:spPr>
          <a:xfrm>
            <a:off x="704088" y="3127248"/>
            <a:ext cx="5029200" cy="1783080"/>
          </a:xfrm>
          <a:prstGeom prst="rect">
            <a:avLst/>
          </a:prstGeom>
          <a:noFill/>
          <a:ln/>
        </p:spPr>
        <p:txBody>
          <a:bodyPr wrap="square" lIns="0" tIns="0" rIns="0" bIns="0" rtlCol="0" anchor="t"/>
          <a:lstStyle/>
          <a:p>
            <a:pPr marL="127000" indent="-127000">
              <a:lnSpc>
                <a:spcPct val="106000"/>
              </a:lnSpc>
              <a:spcAft>
                <a:spcPts val="600"/>
              </a:spcAft>
              <a:buSzPct val="100000"/>
              <a:buChar char="•"/>
            </a:pPr>
            <a:r>
              <a:rPr lang="en-US" sz="1350" dirty="0">
                <a:solidFill>
                  <a:srgbClr val="12212F"/>
                </a:solidFill>
                <a:latin typeface="Arial" pitchFamily="34" charset="0"/>
                <a:ea typeface="Arial" pitchFamily="34" charset="-122"/>
                <a:cs typeface="Arial" pitchFamily="34" charset="-120"/>
              </a:rPr>
              <a:t>Representative mid-size speciality-chemicals plant: ₹500 Cr revenue, 8,000 operating h/yr, ~200 pumps.</a:t>
            </a:r>
            <a:endParaRPr lang="en-US" sz="1350" dirty="0"/>
          </a:p>
          <a:p>
            <a:pPr marL="127000" indent="-127000">
              <a:lnSpc>
                <a:spcPct val="106000"/>
              </a:lnSpc>
              <a:spcAft>
                <a:spcPts val="600"/>
              </a:spcAft>
              <a:buSzPct val="100000"/>
              <a:buChar char="•"/>
            </a:pPr>
            <a:r>
              <a:rPr lang="en-US" sz="1350" dirty="0">
                <a:solidFill>
                  <a:srgbClr val="12212F"/>
                </a:solidFill>
                <a:latin typeface="Arial" pitchFamily="34" charset="0"/>
                <a:ea typeface="Arial" pitchFamily="34" charset="-122"/>
                <a:cs typeface="Arial" pitchFamily="34" charset="-120"/>
              </a:rPr>
              <a:t>Boundary: the 25 critical API 610-class centrifugal pumps in continuous service whose trip stops production.</a:t>
            </a:r>
            <a:endParaRPr lang="en-US" sz="1350" dirty="0"/>
          </a:p>
          <a:p>
            <a:pPr marL="127000" indent="-127000">
              <a:lnSpc>
                <a:spcPct val="106000"/>
              </a:lnSpc>
              <a:spcAft>
                <a:spcPts val="600"/>
              </a:spcAft>
              <a:buSzPct val="100000"/>
              <a:buChar char="•"/>
            </a:pPr>
            <a:r>
              <a:rPr lang="en-US" sz="1350" dirty="0">
                <a:solidFill>
                  <a:srgbClr val="12212F"/>
                </a:solidFill>
                <a:latin typeface="Arial" pitchFamily="34" charset="0"/>
                <a:ea typeface="Arial" pitchFamily="34" charset="-122"/>
                <a:cs typeface="Arial" pitchFamily="34" charset="-120"/>
              </a:rPr>
              <a:t>Practice today: calendar-based preventive maintenance plus breakdown response; no continuous condition data.</a:t>
            </a:r>
            <a:endParaRPr lang="en-US" sz="1350" dirty="0"/>
          </a:p>
        </p:txBody>
      </p:sp>
      <p:sp>
        <p:nvSpPr>
          <p:cNvPr id="19" name="Shape 17"/>
          <p:cNvSpPr/>
          <p:nvPr/>
        </p:nvSpPr>
        <p:spPr>
          <a:xfrm>
            <a:off x="6126480" y="2670048"/>
            <a:ext cx="5559552" cy="2331720"/>
          </a:xfrm>
          <a:prstGeom prst="roundRect">
            <a:avLst>
              <a:gd name="adj" fmla="val 2157"/>
            </a:avLst>
          </a:prstGeom>
          <a:solidFill>
            <a:srgbClr val="FFFFFF"/>
          </a:solidFill>
          <a:ln w="12700">
            <a:solidFill>
              <a:srgbClr val="D9E2E7"/>
            </a:solidFill>
            <a:prstDash val="solid"/>
          </a:ln>
        </p:spPr>
      </p:sp>
      <p:sp>
        <p:nvSpPr>
          <p:cNvPr id="20" name="Text 18"/>
          <p:cNvSpPr txBox="1"/>
          <p:nvPr/>
        </p:nvSpPr>
        <p:spPr>
          <a:xfrm>
            <a:off x="6327648" y="2816352"/>
            <a:ext cx="5120640" cy="237744"/>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WHY IT FAILS — ROOT CAUSES</a:t>
            </a:r>
            <a:endParaRPr lang="en-US" sz="1250" dirty="0"/>
          </a:p>
        </p:txBody>
      </p:sp>
      <p:sp>
        <p:nvSpPr>
          <p:cNvPr id="21" name="Text 19"/>
          <p:cNvSpPr txBox="1"/>
          <p:nvPr/>
        </p:nvSpPr>
        <p:spPr>
          <a:xfrm>
            <a:off x="6327648" y="3127248"/>
            <a:ext cx="5166360" cy="1783080"/>
          </a:xfrm>
          <a:prstGeom prst="rect">
            <a:avLst/>
          </a:prstGeom>
          <a:noFill/>
          <a:ln/>
        </p:spPr>
        <p:txBody>
          <a:bodyPr wrap="square" lIns="0" tIns="0" rIns="0" bIns="0" rtlCol="0" anchor="t"/>
          <a:lstStyle/>
          <a:p>
            <a:pPr marL="127000" indent="-127000">
              <a:lnSpc>
                <a:spcPct val="106000"/>
              </a:lnSpc>
              <a:spcAft>
                <a:spcPts val="600"/>
              </a:spcAft>
              <a:buSzPct val="100000"/>
              <a:buChar char="•"/>
            </a:pPr>
            <a:r>
              <a:rPr lang="en-US" sz="1350" dirty="0">
                <a:solidFill>
                  <a:srgbClr val="12212F"/>
                </a:solidFill>
                <a:latin typeface="Arial" pitchFamily="34" charset="0"/>
                <a:ea typeface="Arial" pitchFamily="34" charset="-122"/>
                <a:cs typeface="Arial" pitchFamily="34" charset="-120"/>
              </a:rPr>
              <a:t>Failures strike at random: the foundational RCM study found 89% of failure modes have no wear-out age — fixed-interval PM cannot anticipate them [4].</a:t>
            </a:r>
            <a:endParaRPr lang="en-US" sz="1350" dirty="0"/>
          </a:p>
          <a:p>
            <a:pPr marL="127000" indent="-127000">
              <a:lnSpc>
                <a:spcPct val="106000"/>
              </a:lnSpc>
              <a:spcAft>
                <a:spcPts val="600"/>
              </a:spcAft>
              <a:buSzPct val="100000"/>
              <a:buChar char="•"/>
            </a:pPr>
            <a:r>
              <a:rPr lang="en-US" sz="1350" dirty="0">
                <a:solidFill>
                  <a:srgbClr val="12212F"/>
                </a:solidFill>
                <a:latin typeface="Arial" pitchFamily="34" charset="0"/>
                <a:ea typeface="Arial" pitchFamily="34" charset="-122"/>
                <a:cs typeface="Arial" pitchFamily="34" charset="-120"/>
              </a:rPr>
              <a:t>Bearing and seal degradation dominates pump failures [5], and develops over days-to-weeks — invisible between monthly rounds.</a:t>
            </a:r>
            <a:endParaRPr lang="en-US" sz="1350" dirty="0"/>
          </a:p>
          <a:p>
            <a:pPr marL="127000" indent="-127000">
              <a:lnSpc>
                <a:spcPct val="106000"/>
              </a:lnSpc>
              <a:spcAft>
                <a:spcPts val="600"/>
              </a:spcAft>
              <a:buSzPct val="100000"/>
              <a:buChar char="•"/>
            </a:pPr>
            <a:r>
              <a:rPr lang="en-US" sz="1350" dirty="0">
                <a:solidFill>
                  <a:srgbClr val="12212F"/>
                </a:solidFill>
                <a:latin typeface="Arial" pitchFamily="34" charset="0"/>
                <a:ea typeface="Arial" pitchFamily="34" charset="-122"/>
                <a:cs typeface="Arial" pitchFamily="34" charset="-120"/>
              </a:rPr>
              <a:t>Repair only after functional failure → secondary damage, emergency spares, multi-hour restarts.</a:t>
            </a:r>
            <a:endParaRPr lang="en-US" sz="1350" dirty="0"/>
          </a:p>
        </p:txBody>
      </p:sp>
      <p:sp>
        <p:nvSpPr>
          <p:cNvPr id="22" name="Shape 20"/>
          <p:cNvSpPr/>
          <p:nvPr/>
        </p:nvSpPr>
        <p:spPr>
          <a:xfrm>
            <a:off x="502920" y="5193792"/>
            <a:ext cx="11185855" cy="868680"/>
          </a:xfrm>
          <a:prstGeom prst="roundRect">
            <a:avLst>
              <a:gd name="adj" fmla="val 5789"/>
            </a:avLst>
          </a:prstGeom>
          <a:solidFill>
            <a:srgbClr val="12212F"/>
          </a:solidFill>
          <a:ln/>
        </p:spPr>
      </p:sp>
      <p:sp>
        <p:nvSpPr>
          <p:cNvPr id="23" name="Text 21"/>
          <p:cNvSpPr txBox="1"/>
          <p:nvPr/>
        </p:nvSpPr>
        <p:spPr>
          <a:xfrm>
            <a:off x="731520" y="5285232"/>
            <a:ext cx="10728655" cy="685800"/>
          </a:xfrm>
          <a:prstGeom prst="rect">
            <a:avLst/>
          </a:prstGeom>
          <a:noFill/>
          <a:ln/>
        </p:spPr>
        <p:txBody>
          <a:bodyPr wrap="square" lIns="0" tIns="0" rIns="0" bIns="0" rtlCol="0" anchor="ctr"/>
          <a:lstStyle/>
          <a:p>
            <a:pPr indent="0" marL="0">
              <a:lnSpc>
                <a:spcPct val="108000"/>
              </a:lnSpc>
              <a:buNone/>
            </a:pPr>
            <a:r>
              <a:rPr lang="en-US" sz="1450" b="1" dirty="0">
                <a:solidFill>
                  <a:srgbClr val="F7B84B"/>
                </a:solidFill>
                <a:latin typeface="Arial" pitchFamily="34" charset="0"/>
                <a:ea typeface="Arial" pitchFamily="34" charset="-122"/>
                <a:cs typeface="Arial" pitchFamily="34" charset="-120"/>
              </a:rPr>
              <a:t>The problem we solve: </a:t>
            </a:r>
            <a:pPr indent="0" marL="0">
              <a:lnSpc>
                <a:spcPct val="108000"/>
              </a:lnSpc>
              <a:buNone/>
            </a:pPr>
            <a:r>
              <a:rPr lang="en-US" sz="1450" dirty="0">
                <a:solidFill>
                  <a:srgbClr val="FFFFFF"/>
                </a:solidFill>
                <a:latin typeface="Arial" pitchFamily="34" charset="0"/>
                <a:ea typeface="Arial" pitchFamily="34" charset="-122"/>
                <a:cs typeface="Arial" pitchFamily="34" charset="-120"/>
              </a:rPr>
              <a:t>detect developing faults on these 25 pumps at least two weeks before functional failure, and convert every detection into a planned work order — without replacing any existing plant system.</a:t>
            </a:r>
            <a:endParaRPr lang="en-US" sz="1450" dirty="0"/>
          </a:p>
        </p:txBody>
      </p:sp>
      <p:sp>
        <p:nvSpPr>
          <p:cNvPr id="24" name="Text 22"/>
          <p:cNvSpPr txBox="1"/>
          <p:nvPr/>
        </p:nvSpPr>
        <p:spPr>
          <a:xfrm>
            <a:off x="502920" y="6419088"/>
            <a:ext cx="11185855" cy="201168"/>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Sources: [4] Nowlan &amp; Heap, Reliability-Centered Maintenance, U.S. DoD report AD-A066579, 1978. [5] McKee et al., A review of major centrifugal pump failure modes, ICOMS, 2011. Plant figures: team estimates for a representative plant (assumption register), to be replaced by pilot-plant history.</a:t>
            </a:r>
            <a:endParaRPr lang="en-US" sz="850" dirty="0"/>
          </a:p>
        </p:txBody>
      </p:sp>
      <p:sp>
        <p:nvSpPr>
          <p:cNvPr id="25" name="Text 23"/>
          <p:cNvSpPr txBox="1"/>
          <p:nvPr/>
        </p:nvSpPr>
        <p:spPr>
          <a:xfrm>
            <a:off x="502920" y="6620256"/>
            <a:ext cx="8686800" cy="182880"/>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India Chem 2026 · Youth Innovation Challenge — NIT Warangal · Raunak Jain &amp; Anushriya Bhattacharya</a:t>
            </a:r>
            <a:endParaRPr lang="en-US" sz="850" dirty="0"/>
          </a:p>
        </p:txBody>
      </p:sp>
      <p:sp>
        <p:nvSpPr>
          <p:cNvPr id="26" name="Text 24"/>
          <p:cNvSpPr txBox="1"/>
          <p:nvPr/>
        </p:nvSpPr>
        <p:spPr>
          <a:xfrm>
            <a:off x="10774375" y="6620256"/>
            <a:ext cx="914400" cy="182880"/>
          </a:xfrm>
          <a:prstGeom prst="rect">
            <a:avLst/>
          </a:prstGeom>
          <a:noFill/>
          <a:ln/>
        </p:spPr>
        <p:txBody>
          <a:bodyPr wrap="square" lIns="0" tIns="0" rIns="0" bIns="0" rtlCol="0" anchor="ctr"/>
          <a:lstStyle/>
          <a:p>
            <a:pPr algn="r" indent="0" marL="0">
              <a:buNone/>
            </a:pPr>
            <a:r>
              <a:rPr lang="en-US" sz="850" dirty="0">
                <a:solidFill>
                  <a:srgbClr val="5A6B78"/>
                </a:solidFill>
                <a:latin typeface="Arial" pitchFamily="34" charset="0"/>
                <a:ea typeface="Arial" pitchFamily="34" charset="-122"/>
                <a:cs typeface="Arial" pitchFamily="34" charset="-120"/>
              </a:rPr>
              <a:t>02 / 08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09728"/>
            <a:ext cx="11185855" cy="182880"/>
          </a:xfrm>
          <a:prstGeom prst="rect">
            <a:avLst/>
          </a:prstGeom>
          <a:noFill/>
          <a:ln/>
        </p:spPr>
        <p:txBody>
          <a:bodyPr wrap="square" lIns="0" tIns="0" rIns="0" bIns="0" rtlCol="0" anchor="ctr"/>
          <a:lstStyle/>
          <a:p>
            <a:pPr indent="0" marL="0">
              <a:buNone/>
            </a:pPr>
            <a:r>
              <a:rPr lang="en-US" sz="1050" b="1" spc="200" kern="0" dirty="0">
                <a:solidFill>
                  <a:srgbClr val="087E8B"/>
                </a:solidFill>
                <a:latin typeface="Arial" pitchFamily="34" charset="0"/>
                <a:ea typeface="Arial" pitchFamily="34" charset="-122"/>
                <a:cs typeface="Arial" pitchFamily="34" charset="-120"/>
              </a:rPr>
              <a:t>EXISTING APPROACHES · GLOBAL BEST PRACTICE · THE GAP</a:t>
            </a:r>
            <a:endParaRPr lang="en-US" sz="1050" dirty="0"/>
          </a:p>
        </p:txBody>
      </p:sp>
      <p:sp>
        <p:nvSpPr>
          <p:cNvPr id="3" name="Text 1"/>
          <p:cNvSpPr txBox="1"/>
          <p:nvPr/>
        </p:nvSpPr>
        <p:spPr>
          <a:xfrm>
            <a:off x="502920" y="292608"/>
            <a:ext cx="11185855" cy="1005840"/>
          </a:xfrm>
          <a:prstGeom prst="rect">
            <a:avLst/>
          </a:prstGeom>
          <a:noFill/>
          <a:ln/>
        </p:spPr>
        <p:txBody>
          <a:bodyPr wrap="square" lIns="0" tIns="0" rIns="0" bIns="0" rtlCol="0" anchor="t"/>
          <a:lstStyle/>
          <a:p>
            <a:pPr indent="0" marL="0">
              <a:lnSpc>
                <a:spcPct val="104000"/>
              </a:lnSpc>
              <a:buNone/>
            </a:pPr>
            <a:r>
              <a:rPr lang="en-US" sz="2400" b="1" dirty="0">
                <a:solidFill>
                  <a:srgbClr val="12212F"/>
                </a:solidFill>
                <a:latin typeface="Arial" pitchFamily="34" charset="0"/>
                <a:ea typeface="Arial" pitchFamily="34" charset="-122"/>
                <a:cs typeface="Arial" pitchFamily="34" charset="-120"/>
              </a:rPr>
              <a:t>Continuous monitoring is proven worldwide — but OEM cloud lock-in prices out mid-size Indian plants: the gap is an </a:t>
            </a:r>
            <a:pPr indent="0" marL="0">
              <a:lnSpc>
                <a:spcPct val="104000"/>
              </a:lnSpc>
              <a:buNone/>
            </a:pPr>
            <a:r>
              <a:rPr lang="en-US" sz="2400" b="1" dirty="0">
                <a:solidFill>
                  <a:srgbClr val="087E8B"/>
                </a:solidFill>
                <a:latin typeface="Arial" pitchFamily="34" charset="0"/>
                <a:ea typeface="Arial" pitchFamily="34" charset="-122"/>
                <a:cs typeface="Arial" pitchFamily="34" charset="-120"/>
              </a:rPr>
              <a:t>open, plant-owned stack</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5855" cy="914400"/>
        </p:xfrm>
        <a:graphic>
          <a:graphicData uri="http://schemas.openxmlformats.org/drawingml/2006/table">
            <a:tbl>
              <a:tblPr/>
              <a:tblGrid>
                <a:gridCol w="2377440"/>
                <a:gridCol w="1600200"/>
                <a:gridCol w="1920240"/>
                <a:gridCol w="1234440"/>
                <a:gridCol w="1188720"/>
                <a:gridCol w="1051560"/>
                <a:gridCol w="1417320"/>
                <a:gridCol w="640080"/>
              </a:tblGrid>
              <a:tr h="365760">
                <a:tc>
                  <a:txBody>
                    <a:bodyPr/>
                    <a:lstStyle/>
                    <a:p>
                      <a:pPr indent="0" marL="0">
                        <a:buNone/>
                      </a:pPr>
                      <a:r>
                        <a:rPr lang="en-US" sz="1100" b="1" dirty="0">
                          <a:solidFill>
                            <a:srgbClr val="FFFFFF"/>
                          </a:solidFill>
                          <a:latin typeface="Arial" pitchFamily="34" charset="0"/>
                          <a:ea typeface="Arial" pitchFamily="34" charset="-122"/>
                          <a:cs typeface="Arial" pitchFamily="34" charset="-120"/>
                        </a:rPr>
                        <a:t>Approach</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12212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Detection lead time (30)</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12212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Total cost of ownership (20)</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12212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Skill dependence (10)</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12212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Data ownership (10)</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12212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Retrofit ease (10)</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12212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MSME scalability (20)</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12212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Score /5</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12212F"/>
                    </a:solidFill>
                  </a:tcPr>
                </a:tc>
              </a:tr>
              <a:tr h="365760">
                <a:tc>
                  <a:txBody>
                    <a:bodyPr/>
                    <a:lstStyle/>
                    <a:p>
                      <a:pPr indent="0" marL="0">
                        <a:buNone/>
                      </a:pPr>
                      <a:r>
                        <a:rPr lang="en-US" sz="1100" dirty="0">
                          <a:solidFill>
                            <a:srgbClr val="12212F"/>
                          </a:solidFill>
                          <a:latin typeface="Arial" pitchFamily="34" charset="0"/>
                          <a:ea typeface="Arial" pitchFamily="34" charset="-122"/>
                          <a:cs typeface="Arial" pitchFamily="34" charset="-120"/>
                        </a:rPr>
                        <a:t>Reactive (run-to-failure)</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Poor — downtime pays</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Poor</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2.3</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12F"/>
                          </a:solidFill>
                          <a:latin typeface="Arial" pitchFamily="34" charset="0"/>
                          <a:ea typeface="Arial" pitchFamily="34" charset="-122"/>
                          <a:cs typeface="Arial" pitchFamily="34" charset="-120"/>
                        </a:rPr>
                        <a:t>Calendar preventive (Indian default)</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None for random faults</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12F"/>
                          </a:solidFill>
                          <a:latin typeface="Arial" pitchFamily="34" charset="0"/>
                          <a:ea typeface="Arial" pitchFamily="34" charset="-122"/>
                          <a:cs typeface="Arial" pitchFamily="34" charset="-120"/>
                        </a:rPr>
                        <a:t>Monthly offline vibration rounds</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 route interval</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High (analyst)</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Plant</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Good</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Poor</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2.9</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2212F"/>
                          </a:solidFill>
                          <a:latin typeface="Arial" pitchFamily="34" charset="0"/>
                          <a:ea typeface="Arial" pitchFamily="34" charset="-122"/>
                          <a:cs typeface="Arial" pitchFamily="34" charset="-120"/>
                        </a:rPr>
                        <a:t>OEM / proprietary cloud monitoring</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Days–weeks</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High (per-point + subscription)</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Vendor silo</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Poor</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dirty="0">
                          <a:solidFill>
                            <a:srgbClr val="12212F"/>
                          </a:solidFill>
                          <a:latin typeface="Arial" pitchFamily="34" charset="0"/>
                          <a:ea typeface="Arial" pitchFamily="34" charset="-122"/>
                          <a:cs typeface="Arial" pitchFamily="34" charset="-120"/>
                        </a:rPr>
                        <a:t>2.9</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E9D66"/>
                          </a:solidFill>
                          <a:latin typeface="Arial" pitchFamily="34" charset="0"/>
                          <a:ea typeface="Arial" pitchFamily="34" charset="-122"/>
                          <a:cs typeface="Arial" pitchFamily="34" charset="-120"/>
                        </a:rPr>
                        <a:t>Open edge stack (proposed)</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b="1" dirty="0">
                          <a:solidFill>
                            <a:srgbClr val="12212F"/>
                          </a:solidFill>
                          <a:latin typeface="Arial" pitchFamily="34" charset="0"/>
                          <a:ea typeface="Arial" pitchFamily="34" charset="-122"/>
                          <a:cs typeface="Arial" pitchFamily="34" charset="-120"/>
                        </a:rPr>
                        <a:t>Days–weeks</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b="1" dirty="0">
                          <a:solidFill>
                            <a:srgbClr val="12212F"/>
                          </a:solidFill>
                          <a:latin typeface="Arial" pitchFamily="34" charset="0"/>
                          <a:ea typeface="Arial" pitchFamily="34" charset="-122"/>
                          <a:cs typeface="Arial" pitchFamily="34" charset="-120"/>
                        </a:rPr>
                        <a:t>Low–medium</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b="1" dirty="0">
                          <a:solidFill>
                            <a:srgbClr val="12212F"/>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b="1" dirty="0">
                          <a:solidFill>
                            <a:srgbClr val="2E9D66"/>
                          </a:solidFill>
                          <a:latin typeface="Arial" pitchFamily="34" charset="0"/>
                          <a:ea typeface="Arial" pitchFamily="34" charset="-122"/>
                          <a:cs typeface="Arial" pitchFamily="34" charset="-120"/>
                        </a:rPr>
                        <a:t>Plant-owned</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b="1" dirty="0">
                          <a:solidFill>
                            <a:srgbClr val="12212F"/>
                          </a:solidFill>
                          <a:latin typeface="Arial" pitchFamily="34" charset="0"/>
                          <a:ea typeface="Arial" pitchFamily="34" charset="-122"/>
                          <a:cs typeface="Arial" pitchFamily="34" charset="-120"/>
                        </a:rPr>
                        <a:t>Good</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b="1" dirty="0">
                          <a:solidFill>
                            <a:srgbClr val="12212F"/>
                          </a:solidFill>
                          <a:latin typeface="Arial" pitchFamily="34" charset="0"/>
                          <a:ea typeface="Arial" pitchFamily="34" charset="-122"/>
                          <a:cs typeface="Arial" pitchFamily="34" charset="-120"/>
                        </a:rPr>
                        <a:t>Good — shared clusters</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100" b="1" dirty="0">
                          <a:solidFill>
                            <a:srgbClr val="2E9D66"/>
                          </a:solidFill>
                          <a:latin typeface="Arial" pitchFamily="34" charset="0"/>
                          <a:ea typeface="Arial" pitchFamily="34" charset="-122"/>
                          <a:cs typeface="Arial" pitchFamily="34" charset="-120"/>
                        </a:rPr>
                        <a:t>4.3</a:t>
                      </a:r>
                      <a:endParaRPr lang="en-US" sz="1100" dirty="0">
                        <a:latin typeface="Arial" charset="0"/>
                        <a:ea typeface="Arial" charset="0"/>
                        <a:cs typeface="Arial" charset="0"/>
                      </a:endParaRPr>
                    </a:p>
                  </a:txBody>
                  <a:tcPr marL="54864" marR="54864" marT="54864" marB="54864"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 y="4041648"/>
            <a:ext cx="11185855" cy="228600"/>
          </a:xfrm>
          <a:prstGeom prst="rect">
            <a:avLst/>
          </a:prstGeom>
          <a:noFill/>
          <a:ln/>
        </p:spPr>
        <p:txBody>
          <a:bodyPr wrap="square" lIns="0" tIns="0" rIns="0" bIns="0" rtlCol="0" anchor="ctr"/>
          <a:lstStyle/>
          <a:p>
            <a:pPr indent="0" marL="0">
              <a:buNone/>
            </a:pPr>
            <a:r>
              <a:rPr lang="en-US" sz="950" i="1" dirty="0">
                <a:solidFill>
                  <a:srgbClr val="5A6B78"/>
                </a:solidFill>
                <a:latin typeface="Arial" pitchFamily="34" charset="0"/>
                <a:ea typeface="Arial" pitchFamily="34" charset="-122"/>
                <a:cs typeface="Arial" pitchFamily="34" charset="-120"/>
              </a:rPr>
              <a:t>Weights in brackets (sum 100); scores 1–5 are team judgment from the sourced characteristics of each approach — full scoring note in our research log.</a:t>
            </a:r>
            <a:endParaRPr lang="en-US" sz="950" dirty="0"/>
          </a:p>
        </p:txBody>
      </p:sp>
      <p:sp>
        <p:nvSpPr>
          <p:cNvPr id="6" name="Shape 3"/>
          <p:cNvSpPr/>
          <p:nvPr/>
        </p:nvSpPr>
        <p:spPr>
          <a:xfrm>
            <a:off x="502920" y="4434840"/>
            <a:ext cx="11185855" cy="1554480"/>
          </a:xfrm>
          <a:prstGeom prst="roundRect">
            <a:avLst>
              <a:gd name="adj" fmla="val 3235"/>
            </a:avLst>
          </a:prstGeom>
          <a:solidFill>
            <a:srgbClr val="F4F7F8"/>
          </a:solidFill>
          <a:ln w="12700">
            <a:solidFill>
              <a:srgbClr val="D9E2E7"/>
            </a:solidFill>
            <a:prstDash val="solid"/>
          </a:ln>
        </p:spPr>
      </p:sp>
      <p:sp>
        <p:nvSpPr>
          <p:cNvPr id="7" name="Text 4"/>
          <p:cNvSpPr txBox="1"/>
          <p:nvPr/>
        </p:nvSpPr>
        <p:spPr>
          <a:xfrm>
            <a:off x="704088" y="4572000"/>
            <a:ext cx="7315200" cy="237744"/>
          </a:xfrm>
          <a:prstGeom prst="rect">
            <a:avLst/>
          </a:prstGeom>
          <a:noFill/>
          <a:ln/>
        </p:spPr>
        <p:txBody>
          <a:bodyPr wrap="square" lIns="0" tIns="0" rIns="0" bIns="0" rtlCol="0" anchor="ctr"/>
          <a:lstStyle/>
          <a:p>
            <a:pPr indent="0" marL="0">
              <a:buNone/>
            </a:pPr>
            <a:r>
              <a:rPr lang="en-US" sz="1250" b="1" dirty="0">
                <a:solidFill>
                  <a:srgbClr val="2E9D66"/>
                </a:solidFill>
                <a:latin typeface="Arial" pitchFamily="34" charset="0"/>
                <a:ea typeface="Arial" pitchFamily="34" charset="-122"/>
                <a:cs typeface="Arial" pitchFamily="34" charset="-120"/>
              </a:rPr>
              <a:t>FIVE DESIGN PRINCIPLES THIS ANALYSIS FIXES</a:t>
            </a:r>
            <a:endParaRPr lang="en-US" sz="1250" dirty="0"/>
          </a:p>
        </p:txBody>
      </p:sp>
      <p:sp>
        <p:nvSpPr>
          <p:cNvPr id="8" name="Text 5"/>
          <p:cNvSpPr txBox="1"/>
          <p:nvPr/>
        </p:nvSpPr>
        <p:spPr>
          <a:xfrm>
            <a:off x="704088" y="4864608"/>
            <a:ext cx="10728655" cy="1051560"/>
          </a:xfrm>
          <a:prstGeom prst="rect">
            <a:avLst/>
          </a:prstGeom>
          <a:noFill/>
          <a:ln/>
        </p:spPr>
        <p:txBody>
          <a:bodyPr wrap="square" lIns="0" tIns="0" rIns="0" bIns="0" rtlCol="0" anchor="t"/>
          <a:lstStyle/>
          <a:p>
            <a:pPr marL="127000" indent="-127000">
              <a:lnSpc>
                <a:spcPct val="106000"/>
              </a:lnSpc>
              <a:spcAft>
                <a:spcPts val="300"/>
              </a:spcAft>
              <a:buSzPct val="100000"/>
              <a:buChar char="•"/>
            </a:pPr>
            <a:r>
              <a:rPr lang="en-US" sz="1250" dirty="0">
                <a:solidFill>
                  <a:srgbClr val="12212F"/>
                </a:solidFill>
                <a:latin typeface="Arial" pitchFamily="34" charset="0"/>
                <a:ea typeface="Arial" pitchFamily="34" charset="-122"/>
                <a:cs typeface="Arial" pitchFamily="34" charset="-120"/>
              </a:rPr>
              <a:t>Continuous, not periodic — no month-long blind windows</a:t>
            </a:r>
            <a:endParaRPr lang="en-US" sz="1250" dirty="0"/>
          </a:p>
          <a:p>
            <a:pPr marL="127000" indent="-127000">
              <a:lnSpc>
                <a:spcPct val="106000"/>
              </a:lnSpc>
              <a:spcAft>
                <a:spcPts val="300"/>
              </a:spcAft>
              <a:buSzPct val="100000"/>
              <a:buChar char="•"/>
            </a:pPr>
            <a:r>
              <a:rPr lang="en-US" sz="1250" dirty="0">
                <a:solidFill>
                  <a:srgbClr val="12212F"/>
                </a:solidFill>
                <a:latin typeface="Arial" pitchFamily="34" charset="0"/>
                <a:ea typeface="Arial" pitchFamily="34" charset="-122"/>
                <a:cs typeface="Arial" pitchFamily="34" charset="-120"/>
              </a:rPr>
              <a:t>Interpretable features a reliability engineer can audit — no black box</a:t>
            </a:r>
            <a:endParaRPr lang="en-US" sz="1250" dirty="0"/>
          </a:p>
          <a:p>
            <a:pPr marL="127000" indent="-127000">
              <a:lnSpc>
                <a:spcPct val="106000"/>
              </a:lnSpc>
              <a:spcAft>
                <a:spcPts val="300"/>
              </a:spcAft>
              <a:buSzPct val="100000"/>
              <a:buChar char="•"/>
            </a:pPr>
            <a:r>
              <a:rPr lang="en-US" sz="1250" dirty="0">
                <a:solidFill>
                  <a:srgbClr val="12212F"/>
                </a:solidFill>
                <a:latin typeface="Arial" pitchFamily="34" charset="0"/>
                <a:ea typeface="Arial" pitchFamily="34" charset="-122"/>
                <a:cs typeface="Arial" pitchFamily="34" charset="-120"/>
              </a:rPr>
              <a:t>Open protocols (OPC UA) and plant-owned data — no vendor silo</a:t>
            </a:r>
            <a:endParaRPr lang="en-US" sz="1250" dirty="0"/>
          </a:p>
        </p:txBody>
      </p:sp>
      <p:sp>
        <p:nvSpPr>
          <p:cNvPr id="9" name="Text 6"/>
          <p:cNvSpPr txBox="1"/>
          <p:nvPr/>
        </p:nvSpPr>
        <p:spPr>
          <a:xfrm>
            <a:off x="6446520" y="4864608"/>
            <a:ext cx="5150815" cy="1051560"/>
          </a:xfrm>
          <a:prstGeom prst="rect">
            <a:avLst/>
          </a:prstGeom>
          <a:noFill/>
          <a:ln/>
        </p:spPr>
        <p:txBody>
          <a:bodyPr wrap="square" lIns="0" tIns="0" rIns="0" bIns="0" rtlCol="0" anchor="t"/>
          <a:lstStyle/>
          <a:p>
            <a:pPr marL="127000" indent="-127000">
              <a:lnSpc>
                <a:spcPct val="106000"/>
              </a:lnSpc>
              <a:spcAft>
                <a:spcPts val="300"/>
              </a:spcAft>
              <a:buSzPct val="100000"/>
              <a:buChar char="•"/>
            </a:pPr>
            <a:r>
              <a:rPr lang="en-US" sz="1250" dirty="0">
                <a:solidFill>
                  <a:srgbClr val="12212F"/>
                </a:solidFill>
                <a:latin typeface="Arial" pitchFamily="34" charset="0"/>
                <a:ea typeface="Arial" pitchFamily="34" charset="-122"/>
                <a:cs typeface="Arial" pitchFamily="34" charset="-120"/>
              </a:rPr>
              <a:t>Ex-certified wireless retrofit — no shutdown, no cabling</a:t>
            </a:r>
            <a:endParaRPr lang="en-US" sz="1250" dirty="0"/>
          </a:p>
          <a:p>
            <a:pPr marL="127000" indent="-127000">
              <a:lnSpc>
                <a:spcPct val="106000"/>
              </a:lnSpc>
              <a:spcAft>
                <a:spcPts val="300"/>
              </a:spcAft>
              <a:buSzPct val="100000"/>
              <a:buChar char="•"/>
            </a:pPr>
            <a:r>
              <a:rPr lang="en-US" sz="1250" dirty="0">
                <a:solidFill>
                  <a:srgbClr val="12212F"/>
                </a:solidFill>
                <a:latin typeface="Arial" pitchFamily="34" charset="0"/>
                <a:ea typeface="Arial" pitchFamily="34" charset="-122"/>
                <a:cs typeface="Arial" pitchFamily="34" charset="-120"/>
              </a:rPr>
              <a:t>Human-in-loop: every alert becomes a CMMS work order, never an automatic action</a:t>
            </a:r>
            <a:endParaRPr lang="en-US" sz="1250" dirty="0"/>
          </a:p>
        </p:txBody>
      </p:sp>
      <p:sp>
        <p:nvSpPr>
          <p:cNvPr id="10" name="Text 7"/>
          <p:cNvSpPr txBox="1"/>
          <p:nvPr/>
        </p:nvSpPr>
        <p:spPr>
          <a:xfrm>
            <a:off x="502920" y="6419088"/>
            <a:ext cx="11185855" cy="201168"/>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Sources: [3] US DOE FEMP, O&amp;M Best Practices Guide R3.0, 2010 (PdM effectiveness ranges). [7] ISO 17359:2018, ISO 13374-1:2003 (condition-monitoring practice). Approach characteristics: vendor/product-class documentation reviewed in research log; scores are team judgment.</a:t>
            </a:r>
            <a:endParaRPr lang="en-US" sz="850" dirty="0"/>
          </a:p>
        </p:txBody>
      </p:sp>
      <p:sp>
        <p:nvSpPr>
          <p:cNvPr id="11" name="Text 8"/>
          <p:cNvSpPr txBox="1"/>
          <p:nvPr/>
        </p:nvSpPr>
        <p:spPr>
          <a:xfrm>
            <a:off x="502920" y="6620256"/>
            <a:ext cx="8686800" cy="182880"/>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India Chem 2026 · Youth Innovation Challenge — NIT Warangal · Raunak Jain &amp; Anushriya Bhattacharya</a:t>
            </a:r>
            <a:endParaRPr lang="en-US" sz="850" dirty="0"/>
          </a:p>
        </p:txBody>
      </p:sp>
      <p:sp>
        <p:nvSpPr>
          <p:cNvPr id="12" name="Text 9"/>
          <p:cNvSpPr txBox="1"/>
          <p:nvPr/>
        </p:nvSpPr>
        <p:spPr>
          <a:xfrm>
            <a:off x="10774375" y="6620256"/>
            <a:ext cx="914400" cy="182880"/>
          </a:xfrm>
          <a:prstGeom prst="rect">
            <a:avLst/>
          </a:prstGeom>
          <a:noFill/>
          <a:ln/>
        </p:spPr>
        <p:txBody>
          <a:bodyPr wrap="square" lIns="0" tIns="0" rIns="0" bIns="0" rtlCol="0" anchor="ctr"/>
          <a:lstStyle/>
          <a:p>
            <a:pPr algn="r" indent="0" marL="0">
              <a:buNone/>
            </a:pPr>
            <a:r>
              <a:rPr lang="en-US" sz="850" dirty="0">
                <a:solidFill>
                  <a:srgbClr val="5A6B78"/>
                </a:solidFill>
                <a:latin typeface="Arial" pitchFamily="34" charset="0"/>
                <a:ea typeface="Arial" pitchFamily="34" charset="-122"/>
                <a:cs typeface="Arial" pitchFamily="34" charset="-120"/>
              </a:rPr>
              <a:t>03 / 08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09728"/>
            <a:ext cx="11185855" cy="182880"/>
          </a:xfrm>
          <a:prstGeom prst="rect">
            <a:avLst/>
          </a:prstGeom>
          <a:noFill/>
          <a:ln/>
        </p:spPr>
        <p:txBody>
          <a:bodyPr wrap="square" lIns="0" tIns="0" rIns="0" bIns="0" rtlCol="0" anchor="ctr"/>
          <a:lstStyle/>
          <a:p>
            <a:pPr indent="0" marL="0">
              <a:buNone/>
            </a:pPr>
            <a:r>
              <a:rPr lang="en-US" sz="1050" b="1" spc="200" kern="0" dirty="0">
                <a:solidFill>
                  <a:srgbClr val="2E9D66"/>
                </a:solidFill>
                <a:latin typeface="Arial" pitchFamily="34" charset="0"/>
                <a:ea typeface="Arial" pitchFamily="34" charset="-122"/>
                <a:cs typeface="Arial" pitchFamily="34" charset="-120"/>
              </a:rPr>
              <a:t>PROPOSED SOLUTION</a:t>
            </a:r>
            <a:endParaRPr lang="en-US" sz="1050" dirty="0"/>
          </a:p>
        </p:txBody>
      </p:sp>
      <p:sp>
        <p:nvSpPr>
          <p:cNvPr id="3" name="Text 1"/>
          <p:cNvSpPr txBox="1"/>
          <p:nvPr/>
        </p:nvSpPr>
        <p:spPr>
          <a:xfrm>
            <a:off x="502920" y="292608"/>
            <a:ext cx="11185855" cy="777240"/>
          </a:xfrm>
          <a:prstGeom prst="rect">
            <a:avLst/>
          </a:prstGeom>
          <a:noFill/>
          <a:ln/>
        </p:spPr>
        <p:txBody>
          <a:bodyPr wrap="square" lIns="0" tIns="0" rIns="0" bIns="0" rtlCol="0" anchor="t"/>
          <a:lstStyle/>
          <a:p>
            <a:pPr indent="0" marL="0">
              <a:lnSpc>
                <a:spcPct val="104000"/>
              </a:lnSpc>
              <a:buNone/>
            </a:pPr>
            <a:r>
              <a:rPr lang="en-US" sz="2400" b="1" dirty="0">
                <a:solidFill>
                  <a:srgbClr val="12212F"/>
                </a:solidFill>
                <a:latin typeface="Arial" pitchFamily="34" charset="0"/>
                <a:ea typeface="Arial" pitchFamily="34" charset="-122"/>
                <a:cs typeface="Arial" pitchFamily="34" charset="-120"/>
              </a:rPr>
              <a:t>NAADI is a four-layer retrofit: </a:t>
            </a:r>
            <a:pPr indent="0" marL="0">
              <a:lnSpc>
                <a:spcPct val="104000"/>
              </a:lnSpc>
              <a:buNone/>
            </a:pPr>
            <a:r>
              <a:rPr lang="en-US" sz="2400" b="1" dirty="0">
                <a:solidFill>
                  <a:srgbClr val="2E9D66"/>
                </a:solidFill>
                <a:latin typeface="Arial" pitchFamily="34" charset="0"/>
                <a:ea typeface="Arial" pitchFamily="34" charset="-122"/>
                <a:cs typeface="Arial" pitchFamily="34" charset="-120"/>
              </a:rPr>
              <a:t>sense → edge → learn → act</a:t>
            </a:r>
            <a:pPr indent="0" marL="0">
              <a:lnSpc>
                <a:spcPct val="104000"/>
              </a:lnSpc>
              <a:buNone/>
            </a:pPr>
            <a:r>
              <a:rPr lang="en-US" sz="2400" b="1" dirty="0">
                <a:solidFill>
                  <a:srgbClr val="12212F"/>
                </a:solidFill>
                <a:latin typeface="Arial" pitchFamily="34" charset="0"/>
                <a:ea typeface="Arial" pitchFamily="34" charset="-122"/>
                <a:cs typeface="Arial" pitchFamily="34" charset="-120"/>
              </a:rPr>
              <a:t>, closing the loop from bearing vibration to a planned CMMS work order</a:t>
            </a:r>
            <a:endParaRPr lang="en-US" sz="2400" dirty="0"/>
          </a:p>
        </p:txBody>
      </p:sp>
      <p:sp>
        <p:nvSpPr>
          <p:cNvPr id="4" name="Shape 2"/>
          <p:cNvSpPr/>
          <p:nvPr/>
        </p:nvSpPr>
        <p:spPr>
          <a:xfrm>
            <a:off x="502920" y="1600200"/>
            <a:ext cx="2519858" cy="2834640"/>
          </a:xfrm>
          <a:prstGeom prst="roundRect">
            <a:avLst>
              <a:gd name="adj" fmla="val 1996"/>
            </a:avLst>
          </a:prstGeom>
          <a:solidFill>
            <a:srgbClr val="FFFFFF"/>
          </a:solidFill>
          <a:ln w="12700">
            <a:solidFill>
              <a:srgbClr val="D9E2E7"/>
            </a:solidFill>
            <a:prstDash val="solid"/>
          </a:ln>
        </p:spPr>
      </p:sp>
      <p:sp>
        <p:nvSpPr>
          <p:cNvPr id="5" name="Text 3"/>
          <p:cNvSpPr txBox="1"/>
          <p:nvPr/>
        </p:nvSpPr>
        <p:spPr>
          <a:xfrm>
            <a:off x="630936" y="1709928"/>
            <a:ext cx="2263826"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1 · SENSE</a:t>
            </a:r>
            <a:endParaRPr lang="en-US" sz="1300" dirty="0"/>
          </a:p>
        </p:txBody>
      </p:sp>
      <p:sp>
        <p:nvSpPr>
          <p:cNvPr id="6" name="Text 4"/>
          <p:cNvSpPr txBox="1"/>
          <p:nvPr/>
        </p:nvSpPr>
        <p:spPr>
          <a:xfrm>
            <a:off x="630936" y="1965960"/>
            <a:ext cx="2263826" cy="182880"/>
          </a:xfrm>
          <a:prstGeom prst="rect">
            <a:avLst/>
          </a:prstGeom>
          <a:noFill/>
          <a:ln/>
        </p:spPr>
        <p:txBody>
          <a:bodyPr wrap="square" lIns="0" tIns="0" rIns="0" bIns="0" rtlCol="0" anchor="ctr"/>
          <a:lstStyle/>
          <a:p>
            <a:pPr indent="0" marL="0">
              <a:buNone/>
            </a:pPr>
            <a:r>
              <a:rPr lang="en-US" sz="900" b="1" spc="100" kern="0" dirty="0">
                <a:solidFill>
                  <a:srgbClr val="5A6B78"/>
                </a:solidFill>
                <a:latin typeface="Arial" pitchFamily="34" charset="0"/>
                <a:ea typeface="Arial" pitchFamily="34" charset="-122"/>
                <a:cs typeface="Arial" pitchFamily="34" charset="-120"/>
              </a:rPr>
              <a:t>proven</a:t>
            </a:r>
            <a:endParaRPr lang="en-US" sz="900" dirty="0"/>
          </a:p>
        </p:txBody>
      </p:sp>
      <p:sp>
        <p:nvSpPr>
          <p:cNvPr id="7" name="Text 5"/>
          <p:cNvSpPr txBox="1"/>
          <p:nvPr/>
        </p:nvSpPr>
        <p:spPr>
          <a:xfrm>
            <a:off x="630936" y="2221992"/>
            <a:ext cx="2263826" cy="2103120"/>
          </a:xfrm>
          <a:prstGeom prst="rect">
            <a:avLst/>
          </a:prstGeom>
          <a:noFill/>
          <a:ln/>
        </p:spPr>
        <p:txBody>
          <a:bodyPr wrap="square" lIns="0" tIns="0" rIns="0" bIns="0" rtlCol="0" anchor="t"/>
          <a:lstStyle/>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Wireless tri-axial vibration + temperature sensor on each bearing housing (DE + NDE)</a:t>
            </a:r>
            <a:endParaRPr lang="en-US" sz="1100" dirty="0"/>
          </a:p>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Ex/intrinsically-safe certified for hazardous areas (PESO-approved for India)</a:t>
            </a:r>
            <a:endParaRPr lang="en-US" sz="1100" dirty="0"/>
          </a:p>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Magnet-mount: installed in normal operation, no cabling, no shutdown</a:t>
            </a:r>
            <a:endParaRPr lang="en-US" sz="1100" dirty="0"/>
          </a:p>
        </p:txBody>
      </p:sp>
      <p:sp>
        <p:nvSpPr>
          <p:cNvPr id="8" name="Shape 6"/>
          <p:cNvSpPr/>
          <p:nvPr/>
        </p:nvSpPr>
        <p:spPr>
          <a:xfrm>
            <a:off x="3036494" y="3017520"/>
            <a:ext cx="173736" cy="0"/>
          </a:xfrm>
          <a:prstGeom prst="line">
            <a:avLst/>
          </a:prstGeom>
          <a:noFill/>
          <a:ln w="31750">
            <a:solidFill>
              <a:srgbClr val="2E9D66"/>
            </a:solidFill>
            <a:prstDash val="solid"/>
            <a:tailEnd type="triangle"/>
          </a:ln>
        </p:spPr>
      </p:sp>
      <p:sp>
        <p:nvSpPr>
          <p:cNvPr id="9" name="Shape 7"/>
          <p:cNvSpPr/>
          <p:nvPr/>
        </p:nvSpPr>
        <p:spPr>
          <a:xfrm>
            <a:off x="3223946" y="1600200"/>
            <a:ext cx="2519858" cy="2834640"/>
          </a:xfrm>
          <a:prstGeom prst="roundRect">
            <a:avLst>
              <a:gd name="adj" fmla="val 1996"/>
            </a:avLst>
          </a:prstGeom>
          <a:solidFill>
            <a:srgbClr val="FFFFFF"/>
          </a:solidFill>
          <a:ln w="12700">
            <a:solidFill>
              <a:srgbClr val="D9E2E7"/>
            </a:solidFill>
            <a:prstDash val="solid"/>
          </a:ln>
        </p:spPr>
      </p:sp>
      <p:sp>
        <p:nvSpPr>
          <p:cNvPr id="10" name="Text 8"/>
          <p:cNvSpPr txBox="1"/>
          <p:nvPr/>
        </p:nvSpPr>
        <p:spPr>
          <a:xfrm>
            <a:off x="3351962" y="1709928"/>
            <a:ext cx="2263826"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2 · EDGE</a:t>
            </a:r>
            <a:endParaRPr lang="en-US" sz="1300" dirty="0"/>
          </a:p>
        </p:txBody>
      </p:sp>
      <p:sp>
        <p:nvSpPr>
          <p:cNvPr id="11" name="Text 9"/>
          <p:cNvSpPr txBox="1"/>
          <p:nvPr/>
        </p:nvSpPr>
        <p:spPr>
          <a:xfrm>
            <a:off x="3351962" y="1965960"/>
            <a:ext cx="2263826" cy="182880"/>
          </a:xfrm>
          <a:prstGeom prst="rect">
            <a:avLst/>
          </a:prstGeom>
          <a:noFill/>
          <a:ln/>
        </p:spPr>
        <p:txBody>
          <a:bodyPr wrap="square" lIns="0" tIns="0" rIns="0" bIns="0" rtlCol="0" anchor="ctr"/>
          <a:lstStyle/>
          <a:p>
            <a:pPr indent="0" marL="0">
              <a:buNone/>
            </a:pPr>
            <a:r>
              <a:rPr lang="en-US" sz="900" b="1" spc="100" kern="0" dirty="0">
                <a:solidFill>
                  <a:srgbClr val="087E8B"/>
                </a:solidFill>
                <a:latin typeface="Arial" pitchFamily="34" charset="0"/>
                <a:ea typeface="Arial" pitchFamily="34" charset="-122"/>
                <a:cs typeface="Arial" pitchFamily="34" charset="-120"/>
              </a:rPr>
              <a:t>adapted</a:t>
            </a:r>
            <a:endParaRPr lang="en-US" sz="900" dirty="0"/>
          </a:p>
        </p:txBody>
      </p:sp>
      <p:sp>
        <p:nvSpPr>
          <p:cNvPr id="12" name="Text 10"/>
          <p:cNvSpPr txBox="1"/>
          <p:nvPr/>
        </p:nvSpPr>
        <p:spPr>
          <a:xfrm>
            <a:off x="3351962" y="2221992"/>
            <a:ext cx="2263826" cy="2103120"/>
          </a:xfrm>
          <a:prstGeom prst="rect">
            <a:avLst/>
          </a:prstGeom>
          <a:noFill/>
          <a:ln/>
        </p:spPr>
        <p:txBody>
          <a:bodyPr wrap="square" lIns="0" tIns="0" rIns="0" bIns="0" rtlCol="0" anchor="t"/>
          <a:lstStyle/>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Gateway per plant area; vibration snapshot every 10 min, temperature every 1 min</a:t>
            </a:r>
            <a:endParaRPr lang="en-US" sz="1100" dirty="0"/>
          </a:p>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Extracts 16 interpretable features per window (RMS, kurtosis, crest, band energies) per ISO 13374 [7]</a:t>
            </a:r>
            <a:endParaRPr lang="en-US" sz="1100" dirty="0"/>
          </a:p>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ISO 20816-3 velocity zones give day-one alarm limits before any data accumulates [7]</a:t>
            </a:r>
            <a:endParaRPr lang="en-US" sz="1100" dirty="0"/>
          </a:p>
        </p:txBody>
      </p:sp>
      <p:sp>
        <p:nvSpPr>
          <p:cNvPr id="13" name="Shape 11"/>
          <p:cNvSpPr/>
          <p:nvPr/>
        </p:nvSpPr>
        <p:spPr>
          <a:xfrm>
            <a:off x="5757520" y="3017520"/>
            <a:ext cx="173736" cy="0"/>
          </a:xfrm>
          <a:prstGeom prst="line">
            <a:avLst/>
          </a:prstGeom>
          <a:noFill/>
          <a:ln w="31750">
            <a:solidFill>
              <a:srgbClr val="2E9D66"/>
            </a:solidFill>
            <a:prstDash val="solid"/>
            <a:tailEnd type="triangle"/>
          </a:ln>
        </p:spPr>
      </p:sp>
      <p:sp>
        <p:nvSpPr>
          <p:cNvPr id="14" name="Shape 12"/>
          <p:cNvSpPr/>
          <p:nvPr/>
        </p:nvSpPr>
        <p:spPr>
          <a:xfrm>
            <a:off x="5944972" y="1600200"/>
            <a:ext cx="2519858" cy="2834640"/>
          </a:xfrm>
          <a:prstGeom prst="roundRect">
            <a:avLst>
              <a:gd name="adj" fmla="val 1996"/>
            </a:avLst>
          </a:prstGeom>
          <a:solidFill>
            <a:srgbClr val="F0F7F3"/>
          </a:solidFill>
          <a:ln w="12700">
            <a:solidFill>
              <a:srgbClr val="D9E2E7"/>
            </a:solidFill>
            <a:prstDash val="solid"/>
          </a:ln>
        </p:spPr>
      </p:sp>
      <p:sp>
        <p:nvSpPr>
          <p:cNvPr id="15" name="Text 13"/>
          <p:cNvSpPr txBox="1"/>
          <p:nvPr/>
        </p:nvSpPr>
        <p:spPr>
          <a:xfrm>
            <a:off x="6072988" y="1709928"/>
            <a:ext cx="2263826"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3 · LEARN</a:t>
            </a:r>
            <a:endParaRPr lang="en-US" sz="1300" dirty="0"/>
          </a:p>
        </p:txBody>
      </p:sp>
      <p:sp>
        <p:nvSpPr>
          <p:cNvPr id="16" name="Text 14"/>
          <p:cNvSpPr txBox="1"/>
          <p:nvPr/>
        </p:nvSpPr>
        <p:spPr>
          <a:xfrm>
            <a:off x="6072988" y="1965960"/>
            <a:ext cx="2263826" cy="182880"/>
          </a:xfrm>
          <a:prstGeom prst="rect">
            <a:avLst/>
          </a:prstGeom>
          <a:noFill/>
          <a:ln/>
        </p:spPr>
        <p:txBody>
          <a:bodyPr wrap="square" lIns="0" tIns="0" rIns="0" bIns="0" rtlCol="0" anchor="ctr"/>
          <a:lstStyle/>
          <a:p>
            <a:pPr indent="0" marL="0">
              <a:buNone/>
            </a:pPr>
            <a:r>
              <a:rPr lang="en-US" sz="900" b="1" spc="100" kern="0" dirty="0">
                <a:solidFill>
                  <a:srgbClr val="2E9D66"/>
                </a:solidFill>
                <a:latin typeface="Arial" pitchFamily="34" charset="0"/>
                <a:ea typeface="Arial" pitchFamily="34" charset="-122"/>
                <a:cs typeface="Arial" pitchFamily="34" charset="-120"/>
              </a:rPr>
              <a:t>new for this context</a:t>
            </a:r>
            <a:endParaRPr lang="en-US" sz="900" dirty="0"/>
          </a:p>
        </p:txBody>
      </p:sp>
      <p:sp>
        <p:nvSpPr>
          <p:cNvPr id="17" name="Text 15"/>
          <p:cNvSpPr txBox="1"/>
          <p:nvPr/>
        </p:nvSpPr>
        <p:spPr>
          <a:xfrm>
            <a:off x="6072988" y="2221992"/>
            <a:ext cx="2263826" cy="2103120"/>
          </a:xfrm>
          <a:prstGeom prst="rect">
            <a:avLst/>
          </a:prstGeom>
          <a:noFill/>
          <a:ln/>
        </p:spPr>
        <p:txBody>
          <a:bodyPr wrap="square" lIns="0" tIns="0" rIns="0" bIns="0" rtlCol="0" anchor="t"/>
          <a:lstStyle/>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Tier 1: per-pump anomaly score against its own healthy baseline</a:t>
            </a:r>
            <a:endParaRPr lang="en-US" sz="1100" dirty="0"/>
          </a:p>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Tier 2: fault-type classifier (bearing race / rolling-element / imbalance signatures) — our prototype: 97.9% on unseen load [6]</a:t>
            </a:r>
            <a:endParaRPr lang="en-US" sz="1100" dirty="0"/>
          </a:p>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Retrained from confirmed maintenance findings — the loop learns the plant</a:t>
            </a:r>
            <a:endParaRPr lang="en-US" sz="1100" dirty="0"/>
          </a:p>
        </p:txBody>
      </p:sp>
      <p:sp>
        <p:nvSpPr>
          <p:cNvPr id="18" name="Shape 16"/>
          <p:cNvSpPr/>
          <p:nvPr/>
        </p:nvSpPr>
        <p:spPr>
          <a:xfrm>
            <a:off x="8478545" y="3017520"/>
            <a:ext cx="173736" cy="0"/>
          </a:xfrm>
          <a:prstGeom prst="line">
            <a:avLst/>
          </a:prstGeom>
          <a:noFill/>
          <a:ln w="31750">
            <a:solidFill>
              <a:srgbClr val="2E9D66"/>
            </a:solidFill>
            <a:prstDash val="solid"/>
            <a:tailEnd type="triangle"/>
          </a:ln>
        </p:spPr>
      </p:sp>
      <p:sp>
        <p:nvSpPr>
          <p:cNvPr id="19" name="Shape 17"/>
          <p:cNvSpPr/>
          <p:nvPr/>
        </p:nvSpPr>
        <p:spPr>
          <a:xfrm>
            <a:off x="8665997" y="1600200"/>
            <a:ext cx="2519858" cy="2834640"/>
          </a:xfrm>
          <a:prstGeom prst="roundRect">
            <a:avLst>
              <a:gd name="adj" fmla="val 1996"/>
            </a:avLst>
          </a:prstGeom>
          <a:solidFill>
            <a:srgbClr val="FFFFFF"/>
          </a:solidFill>
          <a:ln w="12700">
            <a:solidFill>
              <a:srgbClr val="D9E2E7"/>
            </a:solidFill>
            <a:prstDash val="solid"/>
          </a:ln>
        </p:spPr>
      </p:sp>
      <p:sp>
        <p:nvSpPr>
          <p:cNvPr id="20" name="Text 18"/>
          <p:cNvSpPr txBox="1"/>
          <p:nvPr/>
        </p:nvSpPr>
        <p:spPr>
          <a:xfrm>
            <a:off x="8794013" y="1709928"/>
            <a:ext cx="2263826"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4 · ACT</a:t>
            </a:r>
            <a:endParaRPr lang="en-US" sz="1300" dirty="0"/>
          </a:p>
        </p:txBody>
      </p:sp>
      <p:sp>
        <p:nvSpPr>
          <p:cNvPr id="21" name="Text 19"/>
          <p:cNvSpPr txBox="1"/>
          <p:nvPr/>
        </p:nvSpPr>
        <p:spPr>
          <a:xfrm>
            <a:off x="8794013" y="1965960"/>
            <a:ext cx="2263826" cy="182880"/>
          </a:xfrm>
          <a:prstGeom prst="rect">
            <a:avLst/>
          </a:prstGeom>
          <a:noFill/>
          <a:ln/>
        </p:spPr>
        <p:txBody>
          <a:bodyPr wrap="square" lIns="0" tIns="0" rIns="0" bIns="0" rtlCol="0" anchor="ctr"/>
          <a:lstStyle/>
          <a:p>
            <a:pPr indent="0" marL="0">
              <a:buNone/>
            </a:pPr>
            <a:r>
              <a:rPr lang="en-US" sz="900" b="1" spc="100" kern="0" dirty="0">
                <a:solidFill>
                  <a:srgbClr val="087E8B"/>
                </a:solidFill>
                <a:latin typeface="Arial" pitchFamily="34" charset="0"/>
                <a:ea typeface="Arial" pitchFamily="34" charset="-122"/>
                <a:cs typeface="Arial" pitchFamily="34" charset="-120"/>
              </a:rPr>
              <a:t>adapted</a:t>
            </a:r>
            <a:endParaRPr lang="en-US" sz="900" dirty="0"/>
          </a:p>
        </p:txBody>
      </p:sp>
      <p:sp>
        <p:nvSpPr>
          <p:cNvPr id="22" name="Text 20"/>
          <p:cNvSpPr txBox="1"/>
          <p:nvPr/>
        </p:nvSpPr>
        <p:spPr>
          <a:xfrm>
            <a:off x="8794013" y="2221992"/>
            <a:ext cx="2263826" cy="2103120"/>
          </a:xfrm>
          <a:prstGeom prst="rect">
            <a:avLst/>
          </a:prstGeom>
          <a:noFill/>
          <a:ln/>
        </p:spPr>
        <p:txBody>
          <a:bodyPr wrap="square" lIns="0" tIns="0" rIns="0" bIns="0" rtlCol="0" anchor="t"/>
          <a:lstStyle/>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Alert → auto-drafted CMMS work order with evidence plot attached</a:t>
            </a:r>
            <a:endParaRPr lang="en-US" sz="1100" dirty="0"/>
          </a:p>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Reliability engineer validates — human decides, always</a:t>
            </a:r>
            <a:endParaRPr lang="en-US" sz="1100" dirty="0"/>
          </a:p>
          <a:p>
            <a:pPr marL="127000" indent="-127000">
              <a:lnSpc>
                <a:spcPct val="106000"/>
              </a:lnSpc>
              <a:spcAft>
                <a:spcPts val="500"/>
              </a:spcAft>
              <a:buSzPct val="100000"/>
              <a:buChar char="•"/>
            </a:pPr>
            <a:r>
              <a:rPr lang="en-US" sz="1100" dirty="0">
                <a:solidFill>
                  <a:srgbClr val="12212F"/>
                </a:solidFill>
                <a:latin typeface="Arial" pitchFamily="34" charset="0"/>
                <a:ea typeface="Arial" pitchFamily="34" charset="-122"/>
                <a:cs typeface="Arial" pitchFamily="34" charset="-120"/>
              </a:rPr>
              <a:t>Weekly review: alert precision tracked as a plant KPI, not a vendor claim</a:t>
            </a:r>
            <a:endParaRPr lang="en-US" sz="1100" dirty="0"/>
          </a:p>
        </p:txBody>
      </p:sp>
      <p:sp>
        <p:nvSpPr>
          <p:cNvPr id="23" name="Shape 21"/>
          <p:cNvSpPr/>
          <p:nvPr/>
        </p:nvSpPr>
        <p:spPr>
          <a:xfrm>
            <a:off x="1600200" y="4562856"/>
            <a:ext cx="8991295" cy="0"/>
          </a:xfrm>
          <a:prstGeom prst="line">
            <a:avLst/>
          </a:prstGeom>
          <a:noFill/>
          <a:ln w="19050">
            <a:solidFill>
              <a:srgbClr val="5A6B78"/>
            </a:solidFill>
            <a:prstDash val="dash"/>
            <a:headEnd type="triangle"/>
          </a:ln>
        </p:spPr>
      </p:sp>
      <p:sp>
        <p:nvSpPr>
          <p:cNvPr id="24" name="Text 22"/>
          <p:cNvSpPr txBox="1"/>
          <p:nvPr/>
        </p:nvSpPr>
        <p:spPr>
          <a:xfrm>
            <a:off x="1600200" y="4617720"/>
            <a:ext cx="8991295" cy="201168"/>
          </a:xfrm>
          <a:prstGeom prst="rect">
            <a:avLst/>
          </a:prstGeom>
          <a:noFill/>
          <a:ln/>
        </p:spPr>
        <p:txBody>
          <a:bodyPr wrap="square" lIns="0" tIns="0" rIns="0" bIns="0" rtlCol="0" anchor="ctr"/>
          <a:lstStyle/>
          <a:p>
            <a:pPr algn="ctr" indent="0" marL="0">
              <a:buNone/>
            </a:pPr>
            <a:r>
              <a:rPr lang="en-US" sz="1000" i="1" dirty="0">
                <a:solidFill>
                  <a:srgbClr val="5A6B78"/>
                </a:solidFill>
                <a:latin typeface="Arial" pitchFamily="34" charset="0"/>
                <a:ea typeface="Arial" pitchFamily="34" charset="-122"/>
                <a:cs typeface="Arial" pitchFamily="34" charset="-120"/>
              </a:rPr>
              <a:t>feedback: confirmed findings retrain the models and tighten alarm limits</a:t>
            </a:r>
            <a:endParaRPr lang="en-US" sz="1000" dirty="0"/>
          </a:p>
        </p:txBody>
      </p:sp>
      <p:sp>
        <p:nvSpPr>
          <p:cNvPr id="25" name="Shape 23"/>
          <p:cNvSpPr/>
          <p:nvPr/>
        </p:nvSpPr>
        <p:spPr>
          <a:xfrm>
            <a:off x="502920" y="5029200"/>
            <a:ext cx="11185855" cy="1078992"/>
          </a:xfrm>
          <a:prstGeom prst="roundRect">
            <a:avLst>
              <a:gd name="adj" fmla="val 4661"/>
            </a:avLst>
          </a:prstGeom>
          <a:solidFill>
            <a:srgbClr val="F4F7F8"/>
          </a:solidFill>
          <a:ln w="12700">
            <a:solidFill>
              <a:srgbClr val="D9E2E7"/>
            </a:solidFill>
            <a:prstDash val="solid"/>
          </a:ln>
        </p:spPr>
      </p:sp>
      <p:sp>
        <p:nvSpPr>
          <p:cNvPr id="26" name="Text 24"/>
          <p:cNvSpPr txBox="1"/>
          <p:nvPr/>
        </p:nvSpPr>
        <p:spPr>
          <a:xfrm>
            <a:off x="704088" y="5138928"/>
            <a:ext cx="5486400" cy="237744"/>
          </a:xfrm>
          <a:prstGeom prst="rect">
            <a:avLst/>
          </a:prstGeom>
          <a:noFill/>
          <a:ln/>
        </p:spPr>
        <p:txBody>
          <a:bodyPr wrap="square" lIns="0" tIns="0" rIns="0" bIns="0" rtlCol="0" anchor="ctr"/>
          <a:lstStyle/>
          <a:p>
            <a:pPr indent="0" marL="0">
              <a:buNone/>
            </a:pPr>
            <a:r>
              <a:rPr lang="en-US" sz="1250" b="1" dirty="0">
                <a:solidFill>
                  <a:srgbClr val="2E9D66"/>
                </a:solidFill>
                <a:latin typeface="Arial" pitchFamily="34" charset="0"/>
                <a:ea typeface="Arial" pitchFamily="34" charset="-122"/>
                <a:cs typeface="Arial" pitchFamily="34" charset="-120"/>
              </a:rPr>
              <a:t>WHY THIS IS DIFFERENT — THREE DEFENSIBLE POINTS</a:t>
            </a:r>
            <a:endParaRPr lang="en-US" sz="1250" dirty="0"/>
          </a:p>
        </p:txBody>
      </p:sp>
      <p:sp>
        <p:nvSpPr>
          <p:cNvPr id="27" name="Text 25"/>
          <p:cNvSpPr txBox="1"/>
          <p:nvPr/>
        </p:nvSpPr>
        <p:spPr>
          <a:xfrm>
            <a:off x="704088" y="5394960"/>
            <a:ext cx="10728655" cy="640080"/>
          </a:xfrm>
          <a:prstGeom prst="rect">
            <a:avLst/>
          </a:prstGeom>
          <a:noFill/>
          <a:ln/>
        </p:spPr>
        <p:txBody>
          <a:bodyPr wrap="square" lIns="0" tIns="0" rIns="0" bIns="0" rtlCol="0" anchor="t"/>
          <a:lstStyle/>
          <a:p>
            <a:pPr indent="0" marL="0">
              <a:lnSpc>
                <a:spcPct val="110000"/>
              </a:lnSpc>
              <a:buNone/>
            </a:pPr>
            <a:r>
              <a:rPr lang="en-US" sz="1250" b="1" dirty="0">
                <a:solidFill>
                  <a:srgbClr val="12212F"/>
                </a:solidFill>
                <a:latin typeface="Arial" pitchFamily="34" charset="0"/>
                <a:ea typeface="Arial" pitchFamily="34" charset="-122"/>
                <a:cs typeface="Arial" pitchFamily="34" charset="-120"/>
              </a:rPr>
              <a:t>Openly validated: </a:t>
            </a:r>
            <a:pPr indent="0" marL="0">
              <a:lnSpc>
                <a:spcPct val="110000"/>
              </a:lnSpc>
              <a:buNone/>
            </a:pPr>
            <a:r>
              <a:rPr lang="en-US" sz="1250" dirty="0">
                <a:solidFill>
                  <a:srgbClr val="12212F"/>
                </a:solidFill>
                <a:latin typeface="Arial" pitchFamily="34" charset="0"/>
                <a:ea typeface="Arial" pitchFamily="34" charset="-122"/>
                <a:cs typeface="Arial" pitchFamily="34" charset="-120"/>
              </a:rPr>
              <a:t>detection metrics published from a public benchmark with reproducible code — judge the evidence, not a brochure [6].   </a:t>
            </a:r>
            <a:pPr indent="0" marL="0">
              <a:lnSpc>
                <a:spcPct val="110000"/>
              </a:lnSpc>
              <a:buNone/>
            </a:pPr>
            <a:r>
              <a:rPr lang="en-US" sz="1250" b="1" dirty="0">
                <a:solidFill>
                  <a:srgbClr val="12212F"/>
                </a:solidFill>
                <a:latin typeface="Arial" pitchFamily="34" charset="0"/>
                <a:ea typeface="Arial" pitchFamily="34" charset="-122"/>
                <a:cs typeface="Arial" pitchFamily="34" charset="-120"/>
              </a:rPr>
              <a:t>Plant-owned: </a:t>
            </a:r>
            <a:pPr indent="0" marL="0">
              <a:lnSpc>
                <a:spcPct val="110000"/>
              </a:lnSpc>
              <a:buNone/>
            </a:pPr>
            <a:r>
              <a:rPr lang="en-US" sz="1250" dirty="0">
                <a:solidFill>
                  <a:srgbClr val="12212F"/>
                </a:solidFill>
                <a:latin typeface="Arial" pitchFamily="34" charset="0"/>
                <a:ea typeface="Arial" pitchFamily="34" charset="-122"/>
                <a:cs typeface="Arial" pitchFamily="34" charset="-120"/>
              </a:rPr>
              <a:t>open protocols, models and data stay with the plant — no subscription lock-in.   </a:t>
            </a:r>
            <a:pPr indent="0" marL="0">
              <a:lnSpc>
                <a:spcPct val="110000"/>
              </a:lnSpc>
              <a:buNone/>
            </a:pPr>
            <a:r>
              <a:rPr lang="en-US" sz="1250" b="1" dirty="0">
                <a:solidFill>
                  <a:srgbClr val="12212F"/>
                </a:solidFill>
                <a:latin typeface="Arial" pitchFamily="34" charset="0"/>
                <a:ea typeface="Arial" pitchFamily="34" charset="-122"/>
                <a:cs typeface="Arial" pitchFamily="34" charset="-120"/>
              </a:rPr>
              <a:t>Priced for India: </a:t>
            </a:r>
            <a:pPr indent="0" marL="0">
              <a:lnSpc>
                <a:spcPct val="110000"/>
              </a:lnSpc>
              <a:buNone/>
            </a:pPr>
            <a:r>
              <a:rPr lang="en-US" sz="1250" dirty="0">
                <a:solidFill>
                  <a:srgbClr val="12212F"/>
                </a:solidFill>
                <a:latin typeface="Arial" pitchFamily="34" charset="0"/>
                <a:ea typeface="Arial" pitchFamily="34" charset="-122"/>
                <a:cs typeface="Arial" pitchFamily="34" charset="-120"/>
              </a:rPr>
              <a:t>~₹1.5 lakh per pump all-in (est.), an architecture MSME clusters can share.</a:t>
            </a:r>
            <a:endParaRPr lang="en-US" sz="1250" dirty="0"/>
          </a:p>
        </p:txBody>
      </p:sp>
      <p:sp>
        <p:nvSpPr>
          <p:cNvPr id="28" name="Text 26"/>
          <p:cNvSpPr txBox="1"/>
          <p:nvPr/>
        </p:nvSpPr>
        <p:spPr>
          <a:xfrm>
            <a:off x="502920" y="6419088"/>
            <a:ext cx="11185855" cy="201168"/>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Sources: [6] Prototype trained on CWRU Bearing Data Center public dataset — engineering.case.edu/bearingdatacenter (metrics: slide 5). [7] ISO 20816-3:2022; ISO 13374-1:2003. Layer tags: grey = established practice, teal = adapted to this context, green = new contribution. Cost/pump: team estimate.</a:t>
            </a:r>
            <a:endParaRPr lang="en-US" sz="850" dirty="0"/>
          </a:p>
        </p:txBody>
      </p:sp>
      <p:sp>
        <p:nvSpPr>
          <p:cNvPr id="29" name="Text 27"/>
          <p:cNvSpPr txBox="1"/>
          <p:nvPr/>
        </p:nvSpPr>
        <p:spPr>
          <a:xfrm>
            <a:off x="502920" y="6620256"/>
            <a:ext cx="8686800" cy="182880"/>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India Chem 2026 · Youth Innovation Challenge — NIT Warangal · Raunak Jain &amp; Anushriya Bhattacharya</a:t>
            </a:r>
            <a:endParaRPr lang="en-US" sz="850" dirty="0"/>
          </a:p>
        </p:txBody>
      </p:sp>
      <p:sp>
        <p:nvSpPr>
          <p:cNvPr id="30" name="Text 28"/>
          <p:cNvSpPr txBox="1"/>
          <p:nvPr/>
        </p:nvSpPr>
        <p:spPr>
          <a:xfrm>
            <a:off x="10774375" y="6620256"/>
            <a:ext cx="914400" cy="182880"/>
          </a:xfrm>
          <a:prstGeom prst="rect">
            <a:avLst/>
          </a:prstGeom>
          <a:noFill/>
          <a:ln/>
        </p:spPr>
        <p:txBody>
          <a:bodyPr wrap="square" lIns="0" tIns="0" rIns="0" bIns="0" rtlCol="0" anchor="ctr"/>
          <a:lstStyle/>
          <a:p>
            <a:pPr algn="r" indent="0" marL="0">
              <a:buNone/>
            </a:pPr>
            <a:r>
              <a:rPr lang="en-US" sz="850" dirty="0">
                <a:solidFill>
                  <a:srgbClr val="5A6B78"/>
                </a:solidFill>
                <a:latin typeface="Arial" pitchFamily="34" charset="0"/>
                <a:ea typeface="Arial" pitchFamily="34" charset="-122"/>
                <a:cs typeface="Arial" pitchFamily="34" charset="-120"/>
              </a:rPr>
              <a:t>04 / 08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09728"/>
            <a:ext cx="11185855" cy="182880"/>
          </a:xfrm>
          <a:prstGeom prst="rect">
            <a:avLst/>
          </a:prstGeom>
          <a:noFill/>
          <a:ln/>
        </p:spPr>
        <p:txBody>
          <a:bodyPr wrap="square" lIns="0" tIns="0" rIns="0" bIns="0" rtlCol="0" anchor="ctr"/>
          <a:lstStyle/>
          <a:p>
            <a:pPr indent="0" marL="0">
              <a:buNone/>
            </a:pPr>
            <a:r>
              <a:rPr lang="en-US" sz="1050" b="1" spc="200" kern="0" dirty="0">
                <a:solidFill>
                  <a:srgbClr val="087E8B"/>
                </a:solidFill>
                <a:latin typeface="Arial" pitchFamily="34" charset="0"/>
                <a:ea typeface="Arial" pitchFamily="34" charset="-122"/>
                <a:cs typeface="Arial" pitchFamily="34" charset="-120"/>
              </a:rPr>
              <a:t>TECHNICAL FEASIBILITY</a:t>
            </a:r>
            <a:endParaRPr lang="en-US" sz="1050" dirty="0"/>
          </a:p>
        </p:txBody>
      </p:sp>
      <p:sp>
        <p:nvSpPr>
          <p:cNvPr id="3" name="Text 1"/>
          <p:cNvSpPr txBox="1"/>
          <p:nvPr/>
        </p:nvSpPr>
        <p:spPr>
          <a:xfrm>
            <a:off x="502920" y="292608"/>
            <a:ext cx="11185855" cy="1005840"/>
          </a:xfrm>
          <a:prstGeom prst="rect">
            <a:avLst/>
          </a:prstGeom>
          <a:noFill/>
          <a:ln/>
        </p:spPr>
        <p:txBody>
          <a:bodyPr wrap="square" lIns="0" tIns="0" rIns="0" bIns="0" rtlCol="0" anchor="t"/>
          <a:lstStyle/>
          <a:p>
            <a:pPr indent="0" marL="0">
              <a:lnSpc>
                <a:spcPct val="104000"/>
              </a:lnSpc>
              <a:buNone/>
            </a:pPr>
            <a:r>
              <a:rPr lang="en-US" sz="2400" b="1" dirty="0">
                <a:solidFill>
                  <a:srgbClr val="12212F"/>
                </a:solidFill>
                <a:latin typeface="Arial" pitchFamily="34" charset="0"/>
                <a:ea typeface="Arial" pitchFamily="34" charset="-122"/>
                <a:cs typeface="Arial" pitchFamily="34" charset="-120"/>
              </a:rPr>
              <a:t>A prototype we trained on the public CWRU benchmark separates faulty from healthy bearings with </a:t>
            </a:r>
            <a:pPr indent="0" marL="0">
              <a:lnSpc>
                <a:spcPct val="104000"/>
              </a:lnSpc>
              <a:buNone/>
            </a:pPr>
            <a:r>
              <a:rPr lang="en-US" sz="2400" b="1" dirty="0">
                <a:solidFill>
                  <a:srgbClr val="087E8B"/>
                </a:solidFill>
                <a:latin typeface="Arial" pitchFamily="34" charset="0"/>
                <a:ea typeface="Arial" pitchFamily="34" charset="-122"/>
                <a:cs typeface="Arial" pitchFamily="34" charset="-120"/>
              </a:rPr>
              <a:t>zero false alarms</a:t>
            </a:r>
            <a:pPr indent="0" marL="0">
              <a:lnSpc>
                <a:spcPct val="104000"/>
              </a:lnSpc>
              <a:buNone/>
            </a:pPr>
            <a:r>
              <a:rPr lang="en-US" sz="2400" b="1" dirty="0">
                <a:solidFill>
                  <a:srgbClr val="12212F"/>
                </a:solidFill>
                <a:latin typeface="Arial" pitchFamily="34" charset="0"/>
                <a:ea typeface="Arial" pitchFamily="34" charset="-122"/>
                <a:cs typeface="Arial" pitchFamily="34" charset="-120"/>
              </a:rPr>
              <a:t> — under leakage-free evaluation on an unseen load</a:t>
            </a:r>
            <a:endParaRPr lang="en-US" sz="2400" dirty="0"/>
          </a:p>
        </p:txBody>
      </p:sp>
      <p:sp>
        <p:nvSpPr>
          <p:cNvPr id="4" name="Shape 2"/>
          <p:cNvSpPr/>
          <p:nvPr/>
        </p:nvSpPr>
        <p:spPr>
          <a:xfrm>
            <a:off x="502920" y="1554480"/>
            <a:ext cx="5257800" cy="2743200"/>
          </a:xfrm>
          <a:prstGeom prst="roundRect">
            <a:avLst>
              <a:gd name="adj" fmla="val 1833"/>
            </a:avLst>
          </a:prstGeom>
          <a:solidFill>
            <a:srgbClr val="FFFFFF"/>
          </a:solidFill>
          <a:ln w="12700">
            <a:solidFill>
              <a:srgbClr val="D9E2E7"/>
            </a:solidFill>
            <a:prstDash val="solid"/>
          </a:ln>
        </p:spPr>
      </p:sp>
      <p:sp>
        <p:nvSpPr>
          <p:cNvPr id="5" name="Text 3"/>
          <p:cNvSpPr txBox="1"/>
          <p:nvPr/>
        </p:nvSpPr>
        <p:spPr>
          <a:xfrm>
            <a:off x="704088" y="1691640"/>
            <a:ext cx="4846320" cy="237744"/>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MECHANISM — WHY VIBRATION WORKS</a:t>
            </a:r>
            <a:endParaRPr lang="en-US" sz="1250" dirty="0"/>
          </a:p>
        </p:txBody>
      </p:sp>
      <p:sp>
        <p:nvSpPr>
          <p:cNvPr id="6" name="Text 4"/>
          <p:cNvSpPr txBox="1"/>
          <p:nvPr/>
        </p:nvSpPr>
        <p:spPr>
          <a:xfrm>
            <a:off x="704088" y="1993392"/>
            <a:ext cx="4892040" cy="1463040"/>
          </a:xfrm>
          <a:prstGeom prst="rect">
            <a:avLst/>
          </a:prstGeom>
          <a:noFill/>
          <a:ln/>
        </p:spPr>
        <p:txBody>
          <a:bodyPr wrap="square" lIns="0" tIns="0" rIns="0" bIns="0" rtlCol="0" anchor="t"/>
          <a:lstStyle/>
          <a:p>
            <a:pPr marL="127000" indent="-127000">
              <a:lnSpc>
                <a:spcPct val="106000"/>
              </a:lnSpc>
              <a:spcAft>
                <a:spcPts val="500"/>
              </a:spcAft>
              <a:buSzPct val="100000"/>
              <a:buChar char="•"/>
            </a:pPr>
            <a:r>
              <a:rPr lang="en-US" sz="1250" dirty="0">
                <a:solidFill>
                  <a:srgbClr val="12212F"/>
                </a:solidFill>
                <a:latin typeface="Arial" pitchFamily="34" charset="0"/>
                <a:ea typeface="Arial" pitchFamily="34" charset="-122"/>
                <a:cs typeface="Arial" pitchFamily="34" charset="-120"/>
              </a:rPr>
              <a:t>A spalling bearing race strikes every rolling element at a defect-specific frequency; energy shifts into characteristic bands and the signal turns impulsive (kurtosis, crest factor rise).</a:t>
            </a:r>
            <a:endParaRPr lang="en-US" sz="1250" dirty="0"/>
          </a:p>
          <a:p>
            <a:pPr marL="127000" indent="-127000">
              <a:lnSpc>
                <a:spcPct val="106000"/>
              </a:lnSpc>
              <a:spcAft>
                <a:spcPts val="500"/>
              </a:spcAft>
              <a:buSzPct val="100000"/>
              <a:buChar char="•"/>
            </a:pPr>
            <a:r>
              <a:rPr lang="en-US" sz="1250" dirty="0">
                <a:solidFill>
                  <a:srgbClr val="12212F"/>
                </a:solidFill>
                <a:latin typeface="Arial" pitchFamily="34" charset="0"/>
                <a:ea typeface="Arial" pitchFamily="34" charset="-122"/>
                <a:cs typeface="Arial" pitchFamily="34" charset="-120"/>
              </a:rPr>
              <a:t>16 classical indicators per 0.17 s window — every input auditable by a vibration analyst; a random forest maps them to fault classes.</a:t>
            </a:r>
            <a:endParaRPr lang="en-US" sz="1250" dirty="0"/>
          </a:p>
        </p:txBody>
      </p:sp>
      <p:sp>
        <p:nvSpPr>
          <p:cNvPr id="7" name="Shape 5"/>
          <p:cNvSpPr/>
          <p:nvPr/>
        </p:nvSpPr>
        <p:spPr>
          <a:xfrm>
            <a:off x="704088" y="3520440"/>
            <a:ext cx="4846320" cy="658368"/>
          </a:xfrm>
          <a:prstGeom prst="roundRect">
            <a:avLst>
              <a:gd name="adj" fmla="val 6944"/>
            </a:avLst>
          </a:prstGeom>
          <a:solidFill>
            <a:srgbClr val="FDF3E1"/>
          </a:solidFill>
          <a:ln w="12700">
            <a:solidFill>
              <a:srgbClr val="F59E0B"/>
            </a:solidFill>
            <a:prstDash val="solid"/>
          </a:ln>
        </p:spPr>
      </p:sp>
      <p:sp>
        <p:nvSpPr>
          <p:cNvPr id="8" name="Text 6"/>
          <p:cNvSpPr txBox="1"/>
          <p:nvPr/>
        </p:nvSpPr>
        <p:spPr>
          <a:xfrm>
            <a:off x="832104" y="3584448"/>
            <a:ext cx="4617720" cy="548640"/>
          </a:xfrm>
          <a:prstGeom prst="rect">
            <a:avLst/>
          </a:prstGeom>
          <a:noFill/>
          <a:ln/>
        </p:spPr>
        <p:txBody>
          <a:bodyPr wrap="square" lIns="0" tIns="0" rIns="0" bIns="0" rtlCol="0" anchor="ctr"/>
          <a:lstStyle/>
          <a:p>
            <a:pPr indent="0" marL="0">
              <a:lnSpc>
                <a:spcPct val="103000"/>
              </a:lnSpc>
              <a:buNone/>
            </a:pPr>
            <a:r>
              <a:rPr lang="en-US" sz="1150" b="1" dirty="0">
                <a:solidFill>
                  <a:srgbClr val="B45309"/>
                </a:solidFill>
                <a:latin typeface="Arial" pitchFamily="34" charset="0"/>
                <a:ea typeface="Arial" pitchFamily="34" charset="-122"/>
                <a:cs typeface="Arial" pitchFamily="34" charset="-120"/>
              </a:rPr>
              <a:t>Evaluation honesty: </a:t>
            </a:r>
            <a:pPr indent="0" marL="0">
              <a:lnSpc>
                <a:spcPct val="103000"/>
              </a:lnSpc>
              <a:buNone/>
            </a:pPr>
            <a:r>
              <a:rPr lang="en-US" sz="1150" dirty="0">
                <a:solidFill>
                  <a:srgbClr val="12212F"/>
                </a:solidFill>
                <a:latin typeface="Arial" pitchFamily="34" charset="0"/>
                <a:ea typeface="Arial" pitchFamily="34" charset="-122"/>
                <a:cs typeface="Arial" pitchFamily="34" charset="-120"/>
              </a:rPr>
              <a:t>no random window splits (they leak near-duplicates). We hold out whole recordings and an entire unseen 3 hp load condition.</a:t>
            </a:r>
            <a:endParaRPr lang="en-US" sz="1150" dirty="0"/>
          </a:p>
        </p:txBody>
      </p:sp>
      <p:sp>
        <p:nvSpPr>
          <p:cNvPr id="9" name="Shape 7"/>
          <p:cNvSpPr/>
          <p:nvPr/>
        </p:nvSpPr>
        <p:spPr>
          <a:xfrm>
            <a:off x="5989320" y="1554480"/>
            <a:ext cx="5696712" cy="2743200"/>
          </a:xfrm>
          <a:prstGeom prst="roundRect">
            <a:avLst>
              <a:gd name="adj" fmla="val 1833"/>
            </a:avLst>
          </a:prstGeom>
          <a:solidFill>
            <a:srgbClr val="FFFFFF"/>
          </a:solidFill>
          <a:ln w="12700">
            <a:solidFill>
              <a:srgbClr val="D9E2E7"/>
            </a:solidFill>
            <a:prstDash val="solid"/>
          </a:ln>
        </p:spPr>
      </p:sp>
      <p:sp>
        <p:nvSpPr>
          <p:cNvPr id="10" name="Text 8"/>
          <p:cNvSpPr txBox="1"/>
          <p:nvPr/>
        </p:nvSpPr>
        <p:spPr>
          <a:xfrm>
            <a:off x="6190488" y="1691640"/>
            <a:ext cx="5303520" cy="237744"/>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PROTOTYPE RESULTS — CWRU BENCHMARK [6]</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90488" y="1938528"/>
          <a:ext cx="5303520" cy="914400"/>
        </p:xfrm>
        <a:graphic>
          <a:graphicData uri="http://schemas.openxmlformats.org/drawingml/2006/table">
            <a:tbl>
              <a:tblPr/>
              <a:tblGrid>
                <a:gridCol w="2514600"/>
                <a:gridCol w="1143000"/>
                <a:gridCol w="1645920"/>
              </a:tblGrid>
              <a:tr h="292608">
                <a:tc>
                  <a:txBody>
                    <a:bodyPr/>
                    <a:lstStyle/>
                    <a:p>
                      <a:pPr indent="0" marL="0">
                        <a:buNone/>
                      </a:pPr>
                      <a:r>
                        <a:rPr lang="en-US" sz="1050" b="1" dirty="0">
                          <a:solidFill>
                            <a:srgbClr val="12212F"/>
                          </a:solidFill>
                          <a:latin typeface="Arial" pitchFamily="34" charset="0"/>
                          <a:ea typeface="Arial" pitchFamily="34" charset="-122"/>
                          <a:cs typeface="Arial" pitchFamily="34" charset="-120"/>
                        </a:rPr>
                        <a:t>Metric (test = unseen 3 hp load)</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4F7F8"/>
                    </a:solidFill>
                  </a:tcPr>
                </a:tc>
                <a:tc>
                  <a:txBody>
                    <a:bodyPr/>
                    <a:lstStyle/>
                    <a:p>
                      <a:pPr indent="0" marL="0">
                        <a:buNone/>
                      </a:pPr>
                      <a:r>
                        <a:rPr lang="en-US" sz="1050" b="1" dirty="0">
                          <a:solidFill>
                            <a:srgbClr val="12212F"/>
                          </a:solidFill>
                          <a:latin typeface="Arial" pitchFamily="34" charset="0"/>
                          <a:ea typeface="Arial" pitchFamily="34" charset="-122"/>
                          <a:cs typeface="Arial" pitchFamily="34" charset="-120"/>
                        </a:rPr>
                        <a:t>Result</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4F7F8"/>
                    </a:solidFill>
                  </a:tcPr>
                </a:tc>
                <a:tc>
                  <a:txBody>
                    <a:bodyPr/>
                    <a:lstStyle/>
                    <a:p>
                      <a:pPr indent="0" marL="0">
                        <a:buNone/>
                      </a:pPr>
                      <a:r>
                        <a:rPr lang="en-US" sz="1050" b="1" dirty="0">
                          <a:solidFill>
                            <a:srgbClr val="12212F"/>
                          </a:solidFill>
                          <a:latin typeface="Arial" pitchFamily="34" charset="0"/>
                          <a:ea typeface="Arial" pitchFamily="34" charset="-122"/>
                          <a:cs typeface="Arial" pitchFamily="34" charset="-120"/>
                        </a:rPr>
                        <a:t>Protocol</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4F7F8"/>
                    </a:solidFill>
                  </a:tcPr>
                </a:tc>
              </a:tr>
              <a:tr h="292608">
                <a:tc>
                  <a:txBody>
                    <a:bodyPr/>
                    <a:lstStyle/>
                    <a:p>
                      <a:pPr indent="0" marL="0">
                        <a:buNone/>
                      </a:pPr>
                      <a:r>
                        <a:rPr lang="en-US" sz="1050" dirty="0">
                          <a:solidFill>
                            <a:srgbClr val="12212F"/>
                          </a:solidFill>
                          <a:latin typeface="Arial" pitchFamily="34" charset="0"/>
                          <a:ea typeface="Arial" pitchFamily="34" charset="-122"/>
                          <a:cs typeface="Arial" pitchFamily="34" charset="-120"/>
                        </a:rPr>
                        <a:t>Fault vs healthy — precision / recall</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b="1" dirty="0">
                          <a:solidFill>
                            <a:srgbClr val="2E9D66"/>
                          </a:solidFill>
                          <a:latin typeface="Arial" pitchFamily="34" charset="0"/>
                          <a:ea typeface="Arial" pitchFamily="34" charset="-122"/>
                          <a:cs typeface="Arial" pitchFamily="34" charset="-120"/>
                        </a:rPr>
                        <a:t>100% / 100%</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dirty="0">
                          <a:solidFill>
                            <a:srgbClr val="12212F"/>
                          </a:solidFill>
                          <a:latin typeface="Arial" pitchFamily="34" charset="0"/>
                          <a:ea typeface="Arial" pitchFamily="34" charset="-122"/>
                          <a:cs typeface="Arial" pitchFamily="34" charset="-120"/>
                        </a:rPr>
                        <a:t>1,123 windows</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r>
              <a:tr h="292608">
                <a:tc>
                  <a:txBody>
                    <a:bodyPr/>
                    <a:lstStyle/>
                    <a:p>
                      <a:pPr indent="0" marL="0">
                        <a:buNone/>
                      </a:pPr>
                      <a:r>
                        <a:rPr lang="en-US" sz="1050" dirty="0">
                          <a:solidFill>
                            <a:srgbClr val="12212F"/>
                          </a:solidFill>
                          <a:latin typeface="Arial" pitchFamily="34" charset="0"/>
                          <a:ea typeface="Arial" pitchFamily="34" charset="-122"/>
                          <a:cs typeface="Arial" pitchFamily="34" charset="-120"/>
                        </a:rPr>
                        <a:t>Healthy windows misflagged</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b="1" dirty="0">
                          <a:solidFill>
                            <a:srgbClr val="2E9D66"/>
                          </a:solidFill>
                          <a:latin typeface="Arial" pitchFamily="34" charset="0"/>
                          <a:ea typeface="Arial" pitchFamily="34" charset="-122"/>
                          <a:cs typeface="Arial" pitchFamily="34" charset="-120"/>
                        </a:rPr>
                        <a:t>0 of 237</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dirty="0">
                          <a:solidFill>
                            <a:srgbClr val="12212F"/>
                          </a:solidFill>
                          <a:latin typeface="Arial" pitchFamily="34" charset="0"/>
                          <a:ea typeface="Arial" pitchFamily="34" charset="-122"/>
                          <a:cs typeface="Arial" pitchFamily="34" charset="-120"/>
                        </a:rPr>
                        <a:t>false-alarm proxy</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r>
              <a:tr h="292608">
                <a:tc>
                  <a:txBody>
                    <a:bodyPr/>
                    <a:lstStyle/>
                    <a:p>
                      <a:pPr indent="0" marL="0">
                        <a:buNone/>
                      </a:pPr>
                      <a:r>
                        <a:rPr lang="en-US" sz="1050" dirty="0">
                          <a:solidFill>
                            <a:srgbClr val="12212F"/>
                          </a:solidFill>
                          <a:latin typeface="Arial" pitchFamily="34" charset="0"/>
                          <a:ea typeface="Arial" pitchFamily="34" charset="-122"/>
                          <a:cs typeface="Arial" pitchFamily="34" charset="-120"/>
                        </a:rPr>
                        <a:t>4-class fault-type accuracy</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b="1" dirty="0">
                          <a:solidFill>
                            <a:srgbClr val="12212F"/>
                          </a:solidFill>
                          <a:latin typeface="Arial" pitchFamily="34" charset="0"/>
                          <a:ea typeface="Arial" pitchFamily="34" charset="-122"/>
                          <a:cs typeface="Arial" pitchFamily="34" charset="-120"/>
                        </a:rPr>
                        <a:t>97.9%</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dirty="0">
                          <a:solidFill>
                            <a:srgbClr val="12212F"/>
                          </a:solidFill>
                          <a:latin typeface="Arial" pitchFamily="34" charset="0"/>
                          <a:ea typeface="Arial" pitchFamily="34" charset="-122"/>
                          <a:cs typeface="Arial" pitchFamily="34" charset="-120"/>
                        </a:rPr>
                        <a:t>fault-type mixups only</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r>
              <a:tr h="292608">
                <a:tc>
                  <a:txBody>
                    <a:bodyPr/>
                    <a:lstStyle/>
                    <a:p>
                      <a:pPr indent="0" marL="0">
                        <a:buNone/>
                      </a:pPr>
                      <a:r>
                        <a:rPr lang="en-US" sz="1050" dirty="0">
                          <a:solidFill>
                            <a:srgbClr val="12212F"/>
                          </a:solidFill>
                          <a:latin typeface="Arial" pitchFamily="34" charset="0"/>
                          <a:ea typeface="Arial" pitchFamily="34" charset="-122"/>
                          <a:cs typeface="Arial" pitchFamily="34" charset="-120"/>
                        </a:rPr>
                        <a:t>Grouped 5-fold CV (by recording)</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b="1" dirty="0">
                          <a:solidFill>
                            <a:srgbClr val="12212F"/>
                          </a:solidFill>
                          <a:latin typeface="Arial" pitchFamily="34" charset="0"/>
                          <a:ea typeface="Arial" pitchFamily="34" charset="-122"/>
                          <a:cs typeface="Arial" pitchFamily="34" charset="-120"/>
                        </a:rPr>
                        <a:t>98.9%</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dirty="0">
                          <a:solidFill>
                            <a:srgbClr val="12212F"/>
                          </a:solidFill>
                          <a:latin typeface="Arial" pitchFamily="34" charset="0"/>
                          <a:ea typeface="Arial" pitchFamily="34" charset="-122"/>
                          <a:cs typeface="Arial" pitchFamily="34" charset="-120"/>
                        </a:rPr>
                        <a:t>no recording crosses folds</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r>
              <a:tr h="292608">
                <a:tc>
                  <a:txBody>
                    <a:bodyPr/>
                    <a:lstStyle/>
                    <a:p>
                      <a:pPr indent="0" marL="0">
                        <a:buNone/>
                      </a:pPr>
                      <a:r>
                        <a:rPr lang="en-US" sz="1050" dirty="0">
                          <a:solidFill>
                            <a:srgbClr val="12212F"/>
                          </a:solidFill>
                          <a:latin typeface="Arial" pitchFamily="34" charset="0"/>
                          <a:ea typeface="Arial" pitchFamily="34" charset="-122"/>
                          <a:cs typeface="Arial" pitchFamily="34" charset="-120"/>
                        </a:rPr>
                        <a:t>Logistic baseline (same features)</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dirty="0">
                          <a:solidFill>
                            <a:srgbClr val="12212F"/>
                          </a:solidFill>
                          <a:latin typeface="Arial" pitchFamily="34" charset="0"/>
                          <a:ea typeface="Arial" pitchFamily="34" charset="-122"/>
                          <a:cs typeface="Arial" pitchFamily="34" charset="-120"/>
                        </a:rPr>
                        <a:t>97.2%</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c>
                  <a:txBody>
                    <a:bodyPr/>
                    <a:lstStyle/>
                    <a:p>
                      <a:pPr indent="0" marL="0">
                        <a:buNone/>
                      </a:pPr>
                      <a:r>
                        <a:rPr lang="en-US" sz="1050" dirty="0">
                          <a:solidFill>
                            <a:srgbClr val="12212F"/>
                          </a:solidFill>
                          <a:latin typeface="Arial" pitchFamily="34" charset="0"/>
                          <a:ea typeface="Arial" pitchFamily="34" charset="-122"/>
                          <a:cs typeface="Arial" pitchFamily="34" charset="-120"/>
                        </a:rPr>
                        <a:t>features carry the signal</a:t>
                      </a:r>
                      <a:endParaRPr lang="en-US" sz="1050" dirty="0">
                        <a:latin typeface="Arial" charset="0"/>
                        <a:ea typeface="Arial" charset="0"/>
                        <a:cs typeface="Arial" charset="0"/>
                      </a:endParaRPr>
                    </a:p>
                  </a:txBody>
                  <a:tcPr marL="41148" marR="41148" marT="41148" marB="41148"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tcPr>
                </a:tc>
              </a:tr>
            </a:tbl>
          </a:graphicData>
        </a:graphic>
      </p:graphicFrame>
      <p:sp>
        <p:nvSpPr>
          <p:cNvPr id="12" name="Text 9"/>
          <p:cNvSpPr txBox="1"/>
          <p:nvPr/>
        </p:nvSpPr>
        <p:spPr>
          <a:xfrm>
            <a:off x="6190488" y="4059936"/>
            <a:ext cx="5303520" cy="182880"/>
          </a:xfrm>
          <a:prstGeom prst="rect">
            <a:avLst/>
          </a:prstGeom>
          <a:noFill/>
          <a:ln/>
        </p:spPr>
        <p:txBody>
          <a:bodyPr wrap="square" lIns="0" tIns="0" rIns="0" bIns="0" rtlCol="0" anchor="ctr"/>
          <a:lstStyle/>
          <a:p>
            <a:pPr indent="0" marL="0">
              <a:buNone/>
            </a:pPr>
            <a:r>
              <a:rPr lang="en-US" sz="850" i="1" dirty="0">
                <a:solidFill>
                  <a:srgbClr val="5A6B78"/>
                </a:solidFill>
                <a:latin typeface="Arial" pitchFamily="34" charset="0"/>
                <a:ea typeface="Arial" pitchFamily="34" charset="-122"/>
                <a:cs typeface="Arial" pitchFamily="34" charset="-120"/>
              </a:rPr>
              <a:t>64 recordings → 4,367 windows · 12 kHz drive-end accel. · code + metrics in our open repository</a:t>
            </a:r>
            <a:endParaRPr lang="en-US" sz="850" dirty="0"/>
          </a:p>
        </p:txBody>
      </p:sp>
      <p:sp>
        <p:nvSpPr>
          <p:cNvPr id="13" name="Shape 10"/>
          <p:cNvSpPr/>
          <p:nvPr/>
        </p:nvSpPr>
        <p:spPr>
          <a:xfrm>
            <a:off x="502920" y="4526280"/>
            <a:ext cx="5257800" cy="1600200"/>
          </a:xfrm>
          <a:prstGeom prst="roundRect">
            <a:avLst>
              <a:gd name="adj" fmla="val 3143"/>
            </a:avLst>
          </a:prstGeom>
          <a:solidFill>
            <a:srgbClr val="FFFFFF"/>
          </a:solidFill>
          <a:ln w="12700">
            <a:solidFill>
              <a:srgbClr val="D9E2E7"/>
            </a:solidFill>
            <a:prstDash val="solid"/>
          </a:ln>
        </p:spPr>
      </p:sp>
      <p:sp>
        <p:nvSpPr>
          <p:cNvPr id="14" name="Text 11"/>
          <p:cNvSpPr txBox="1"/>
          <p:nvPr/>
        </p:nvSpPr>
        <p:spPr>
          <a:xfrm>
            <a:off x="704088" y="4645152"/>
            <a:ext cx="4846320" cy="237744"/>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READINESS &amp; INTEGRATION</a:t>
            </a:r>
            <a:endParaRPr lang="en-US" sz="1250" dirty="0"/>
          </a:p>
        </p:txBody>
      </p:sp>
      <p:sp>
        <p:nvSpPr>
          <p:cNvPr id="15" name="Text 12"/>
          <p:cNvSpPr txBox="1"/>
          <p:nvPr/>
        </p:nvSpPr>
        <p:spPr>
          <a:xfrm>
            <a:off x="704088" y="4919472"/>
            <a:ext cx="4892040" cy="1143000"/>
          </a:xfrm>
          <a:prstGeom prst="rect">
            <a:avLst/>
          </a:prstGeom>
          <a:noFill/>
          <a:ln/>
        </p:spPr>
        <p:txBody>
          <a:bodyPr wrap="square" lIns="0" tIns="0" rIns="0" bIns="0" rtlCol="0" anchor="t"/>
          <a:lstStyle/>
          <a:p>
            <a:pPr marL="127000" indent="-127000">
              <a:lnSpc>
                <a:spcPct val="106000"/>
              </a:lnSpc>
              <a:spcAft>
                <a:spcPts val="400"/>
              </a:spcAft>
              <a:buSzPct val="100000"/>
              <a:buChar char="•"/>
            </a:pPr>
            <a:r>
              <a:rPr lang="en-US" sz="1200" dirty="0">
                <a:solidFill>
                  <a:srgbClr val="12212F"/>
                </a:solidFill>
                <a:latin typeface="Arial" pitchFamily="34" charset="0"/>
                <a:ea typeface="Arial" pitchFamily="34" charset="-122"/>
                <a:cs typeface="Arial" pitchFamily="34" charset="-120"/>
              </a:rPr>
              <a:t>Sensors, gateways, OPC UA, CMMS APIs: mature industrial products (TRL 9); the integrated NAADI workflow is TRL 6–7 — exactly what the pilot derisks.</a:t>
            </a:r>
            <a:endParaRPr lang="en-US" sz="1200" dirty="0"/>
          </a:p>
          <a:p>
            <a:pPr marL="127000" indent="-127000">
              <a:lnSpc>
                <a:spcPct val="106000"/>
              </a:lnSpc>
              <a:spcAft>
                <a:spcPts val="400"/>
              </a:spcAft>
              <a:buSzPct val="100000"/>
              <a:buChar char="•"/>
            </a:pPr>
            <a:r>
              <a:rPr lang="en-US" sz="1200" dirty="0">
                <a:solidFill>
                  <a:srgbClr val="12212F"/>
                </a:solidFill>
                <a:latin typeface="Arial" pitchFamily="34" charset="0"/>
                <a:ea typeface="Arial" pitchFamily="34" charset="-122"/>
                <a:cs typeface="Arial" pitchFamily="34" charset="-120"/>
              </a:rPr>
              <a:t>Alarm limits from ISO 20816-3 zones on day one; learning takes over as data accumulates [7].</a:t>
            </a:r>
            <a:endParaRPr lang="en-US" sz="1200" dirty="0"/>
          </a:p>
        </p:txBody>
      </p:sp>
      <p:sp>
        <p:nvSpPr>
          <p:cNvPr id="16" name="Shape 13"/>
          <p:cNvSpPr/>
          <p:nvPr/>
        </p:nvSpPr>
        <p:spPr>
          <a:xfrm>
            <a:off x="5989320" y="4526280"/>
            <a:ext cx="5696712" cy="1600200"/>
          </a:xfrm>
          <a:prstGeom prst="roundRect">
            <a:avLst>
              <a:gd name="adj" fmla="val 3143"/>
            </a:avLst>
          </a:prstGeom>
          <a:solidFill>
            <a:srgbClr val="FDF3E1"/>
          </a:solidFill>
          <a:ln w="12700">
            <a:solidFill>
              <a:srgbClr val="F59E0B"/>
            </a:solidFill>
            <a:prstDash val="solid"/>
          </a:ln>
        </p:spPr>
      </p:sp>
      <p:sp>
        <p:nvSpPr>
          <p:cNvPr id="17" name="Text 14"/>
          <p:cNvSpPr txBox="1"/>
          <p:nvPr/>
        </p:nvSpPr>
        <p:spPr>
          <a:xfrm>
            <a:off x="6190488" y="4645152"/>
            <a:ext cx="5303520" cy="237744"/>
          </a:xfrm>
          <a:prstGeom prst="rect">
            <a:avLst/>
          </a:prstGeom>
          <a:noFill/>
          <a:ln/>
        </p:spPr>
        <p:txBody>
          <a:bodyPr wrap="square" lIns="0" tIns="0" rIns="0" bIns="0" rtlCol="0" anchor="ctr"/>
          <a:lstStyle/>
          <a:p>
            <a:pPr indent="0" marL="0">
              <a:buNone/>
            </a:pPr>
            <a:r>
              <a:rPr lang="en-US" sz="1250" b="1" dirty="0">
                <a:solidFill>
                  <a:srgbClr val="B45309"/>
                </a:solidFill>
                <a:latin typeface="Arial" pitchFamily="34" charset="0"/>
                <a:ea typeface="Arial" pitchFamily="34" charset="-122"/>
                <a:cs typeface="Arial" pitchFamily="34" charset="-120"/>
              </a:rPr>
              <a:t>LIMITS WE ARE NOT HIDING</a:t>
            </a:r>
            <a:endParaRPr lang="en-US" sz="1250" dirty="0"/>
          </a:p>
        </p:txBody>
      </p:sp>
      <p:sp>
        <p:nvSpPr>
          <p:cNvPr id="18" name="Text 15"/>
          <p:cNvSpPr txBox="1"/>
          <p:nvPr/>
        </p:nvSpPr>
        <p:spPr>
          <a:xfrm>
            <a:off x="6190488" y="4919472"/>
            <a:ext cx="5303520" cy="1143000"/>
          </a:xfrm>
          <a:prstGeom prst="rect">
            <a:avLst/>
          </a:prstGeom>
          <a:noFill/>
          <a:ln/>
        </p:spPr>
        <p:txBody>
          <a:bodyPr wrap="square" lIns="0" tIns="0" rIns="0" bIns="0" rtlCol="0" anchor="t"/>
          <a:lstStyle/>
          <a:p>
            <a:pPr marL="127000" indent="-127000">
              <a:lnSpc>
                <a:spcPct val="106000"/>
              </a:lnSpc>
              <a:spcAft>
                <a:spcPts val="400"/>
              </a:spcAft>
              <a:buSzPct val="100000"/>
              <a:buChar char="•"/>
            </a:pPr>
            <a:r>
              <a:rPr lang="en-US" sz="1200" dirty="0">
                <a:solidFill>
                  <a:srgbClr val="12212F"/>
                </a:solidFill>
                <a:latin typeface="Arial" pitchFamily="34" charset="0"/>
                <a:ea typeface="Arial" pitchFamily="34" charset="-122"/>
                <a:cs typeface="Arial" pitchFamily="34" charset="-120"/>
              </a:rPr>
              <a:t>CWRU is a clean test rig with seeded faults — plant noise, variable speed and real degradations will cut performance; the pilot KPI is set at ≥70% detection, not 97%.</a:t>
            </a:r>
            <a:endParaRPr lang="en-US" sz="1200" dirty="0"/>
          </a:p>
          <a:p>
            <a:pPr marL="127000" indent="-127000">
              <a:lnSpc>
                <a:spcPct val="106000"/>
              </a:lnSpc>
              <a:spcAft>
                <a:spcPts val="400"/>
              </a:spcAft>
              <a:buSzPct val="100000"/>
              <a:buChar char="•"/>
            </a:pPr>
            <a:r>
              <a:rPr lang="en-US" sz="1200" dirty="0">
                <a:solidFill>
                  <a:srgbClr val="12212F"/>
                </a:solidFill>
                <a:latin typeface="Arial" pitchFamily="34" charset="0"/>
                <a:ea typeface="Arial" pitchFamily="34" charset="-122"/>
                <a:cs typeface="Arial" pitchFamily="34" charset="-120"/>
              </a:rPr>
              <a:t>Real failure examples are scarce at first → anomaly-first strategy; MEMS sensors trade bandwidth vs piezo — chosen for cost, validated in Phase 2.</a:t>
            </a:r>
            <a:endParaRPr lang="en-US" sz="1200" dirty="0"/>
          </a:p>
        </p:txBody>
      </p:sp>
      <p:sp>
        <p:nvSpPr>
          <p:cNvPr id="19" name="Text 16"/>
          <p:cNvSpPr txBox="1"/>
          <p:nvPr/>
        </p:nvSpPr>
        <p:spPr>
          <a:xfrm>
            <a:off x="502920" y="6419088"/>
            <a:ext cx="11185855" cy="201168"/>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Sources: [6] CWRU Bearing Data Center seeded-fault dataset, engineering.case.edu/bearingdatacenter; metrics computed by the team's code (open repository — train_fault_model.py). [7] ISO 20816-3:2022; ISO 13374-1:2003.</a:t>
            </a:r>
            <a:endParaRPr lang="en-US" sz="850" dirty="0"/>
          </a:p>
        </p:txBody>
      </p:sp>
      <p:sp>
        <p:nvSpPr>
          <p:cNvPr id="20" name="Text 17"/>
          <p:cNvSpPr txBox="1"/>
          <p:nvPr/>
        </p:nvSpPr>
        <p:spPr>
          <a:xfrm>
            <a:off x="502920" y="6620256"/>
            <a:ext cx="8686800" cy="182880"/>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India Chem 2026 · Youth Innovation Challenge — NIT Warangal · Raunak Jain &amp; Anushriya Bhattacharya</a:t>
            </a:r>
            <a:endParaRPr lang="en-US" sz="850" dirty="0"/>
          </a:p>
        </p:txBody>
      </p:sp>
      <p:sp>
        <p:nvSpPr>
          <p:cNvPr id="21" name="Text 18"/>
          <p:cNvSpPr txBox="1"/>
          <p:nvPr/>
        </p:nvSpPr>
        <p:spPr>
          <a:xfrm>
            <a:off x="10774375" y="6620256"/>
            <a:ext cx="914400" cy="182880"/>
          </a:xfrm>
          <a:prstGeom prst="rect">
            <a:avLst/>
          </a:prstGeom>
          <a:noFill/>
          <a:ln/>
        </p:spPr>
        <p:txBody>
          <a:bodyPr wrap="square" lIns="0" tIns="0" rIns="0" bIns="0" rtlCol="0" anchor="ctr"/>
          <a:lstStyle/>
          <a:p>
            <a:pPr algn="r" indent="0" marL="0">
              <a:buNone/>
            </a:pPr>
            <a:r>
              <a:rPr lang="en-US" sz="850" dirty="0">
                <a:solidFill>
                  <a:srgbClr val="5A6B78"/>
                </a:solidFill>
                <a:latin typeface="Arial" pitchFamily="34" charset="0"/>
                <a:ea typeface="Arial" pitchFamily="34" charset="-122"/>
                <a:cs typeface="Arial" pitchFamily="34" charset="-120"/>
              </a:rPr>
              <a:t>05 / 08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09728"/>
            <a:ext cx="11185855" cy="182880"/>
          </a:xfrm>
          <a:prstGeom prst="rect">
            <a:avLst/>
          </a:prstGeom>
          <a:noFill/>
          <a:ln/>
        </p:spPr>
        <p:txBody>
          <a:bodyPr wrap="square" lIns="0" tIns="0" rIns="0" bIns="0" rtlCol="0" anchor="ctr"/>
          <a:lstStyle/>
          <a:p>
            <a:pPr indent="0" marL="0">
              <a:buNone/>
            </a:pPr>
            <a:r>
              <a:rPr lang="en-US" sz="1050" b="1" spc="200" kern="0" dirty="0">
                <a:solidFill>
                  <a:srgbClr val="2E9D66"/>
                </a:solidFill>
                <a:latin typeface="Arial" pitchFamily="34" charset="0"/>
                <a:ea typeface="Arial" pitchFamily="34" charset="-122"/>
                <a:cs typeface="Arial" pitchFamily="34" charset="-120"/>
              </a:rPr>
              <a:t>METHODOLOGY FOR EXECUTION · PILOT DESIGN</a:t>
            </a:r>
            <a:endParaRPr lang="en-US" sz="1050" dirty="0"/>
          </a:p>
        </p:txBody>
      </p:sp>
      <p:sp>
        <p:nvSpPr>
          <p:cNvPr id="3" name="Text 1"/>
          <p:cNvSpPr txBox="1"/>
          <p:nvPr/>
        </p:nvSpPr>
        <p:spPr>
          <a:xfrm>
            <a:off x="502920" y="292608"/>
            <a:ext cx="11185855" cy="731520"/>
          </a:xfrm>
          <a:prstGeom prst="rect">
            <a:avLst/>
          </a:prstGeom>
          <a:noFill/>
          <a:ln/>
        </p:spPr>
        <p:txBody>
          <a:bodyPr wrap="square" lIns="0" tIns="0" rIns="0" bIns="0" rtlCol="0" anchor="t"/>
          <a:lstStyle/>
          <a:p>
            <a:pPr indent="0" marL="0">
              <a:lnSpc>
                <a:spcPct val="104000"/>
              </a:lnSpc>
              <a:buNone/>
            </a:pPr>
            <a:r>
              <a:rPr lang="en-US" sz="2400" b="1" dirty="0">
                <a:solidFill>
                  <a:srgbClr val="12212F"/>
                </a:solidFill>
                <a:latin typeface="Arial" pitchFamily="34" charset="0"/>
                <a:ea typeface="Arial" pitchFamily="34" charset="-122"/>
                <a:cs typeface="Arial" pitchFamily="34" charset="-120"/>
              </a:rPr>
              <a:t>A six-month, </a:t>
            </a:r>
            <a:pPr indent="0" marL="0">
              <a:lnSpc>
                <a:spcPct val="104000"/>
              </a:lnSpc>
              <a:buNone/>
            </a:pPr>
            <a:r>
              <a:rPr lang="en-US" sz="2400" b="1" dirty="0">
                <a:solidFill>
                  <a:srgbClr val="2E9D66"/>
                </a:solidFill>
                <a:latin typeface="Arial" pitchFamily="34" charset="0"/>
                <a:ea typeface="Arial" pitchFamily="34" charset="-122"/>
                <a:cs typeface="Arial" pitchFamily="34" charset="-120"/>
              </a:rPr>
              <a:t>shadow-mode pilot</a:t>
            </a:r>
            <a:pPr indent="0" marL="0">
              <a:lnSpc>
                <a:spcPct val="104000"/>
              </a:lnSpc>
              <a:buNone/>
            </a:pPr>
            <a:r>
              <a:rPr lang="en-US" sz="2400" b="1" dirty="0">
                <a:solidFill>
                  <a:srgbClr val="12212F"/>
                </a:solidFill>
                <a:latin typeface="Arial" pitchFamily="34" charset="0"/>
                <a:ea typeface="Arial" pitchFamily="34" charset="-122"/>
                <a:cs typeface="Arial" pitchFamily="34" charset="-120"/>
              </a:rPr>
              <a:t> on 25 pumps proves the value before a single maintenance decision depends on it</a:t>
            </a:r>
            <a:endParaRPr lang="en-US" sz="2400" dirty="0"/>
          </a:p>
        </p:txBody>
      </p:sp>
      <p:sp>
        <p:nvSpPr>
          <p:cNvPr id="4" name="Shape 2"/>
          <p:cNvSpPr/>
          <p:nvPr/>
        </p:nvSpPr>
        <p:spPr>
          <a:xfrm>
            <a:off x="502920" y="1463040"/>
            <a:ext cx="2105497" cy="2286000"/>
          </a:xfrm>
          <a:prstGeom prst="roundRect">
            <a:avLst>
              <a:gd name="adj" fmla="val 2389"/>
            </a:avLst>
          </a:prstGeom>
          <a:solidFill>
            <a:srgbClr val="FFFFFF"/>
          </a:solidFill>
          <a:ln w="12700">
            <a:solidFill>
              <a:srgbClr val="D9E2E7"/>
            </a:solidFill>
            <a:prstDash val="solid"/>
          </a:ln>
        </p:spPr>
      </p:sp>
      <p:sp>
        <p:nvSpPr>
          <p:cNvPr id="5" name="Text 3"/>
          <p:cNvSpPr txBox="1"/>
          <p:nvPr/>
        </p:nvSpPr>
        <p:spPr>
          <a:xfrm>
            <a:off x="612648" y="1572768"/>
            <a:ext cx="1886041" cy="201168"/>
          </a:xfrm>
          <a:prstGeom prst="rect">
            <a:avLst/>
          </a:prstGeom>
          <a:noFill/>
          <a:ln/>
        </p:spPr>
        <p:txBody>
          <a:bodyPr wrap="square" lIns="0" tIns="0" rIns="0" bIns="0" rtlCol="0" anchor="ctr"/>
          <a:lstStyle/>
          <a:p>
            <a:pPr indent="0" marL="0">
              <a:buNone/>
            </a:pPr>
            <a:r>
              <a:rPr lang="en-US" sz="1000" b="1" dirty="0">
                <a:solidFill>
                  <a:srgbClr val="2E9D66"/>
                </a:solidFill>
                <a:latin typeface="Arial" pitchFamily="34" charset="0"/>
                <a:ea typeface="Arial" pitchFamily="34" charset="-122"/>
                <a:cs typeface="Arial" pitchFamily="34" charset="-120"/>
              </a:rPr>
              <a:t>P0 · M0–1</a:t>
            </a:r>
            <a:endParaRPr lang="en-US" sz="1000" dirty="0"/>
          </a:p>
        </p:txBody>
      </p:sp>
      <p:sp>
        <p:nvSpPr>
          <p:cNvPr id="6" name="Text 4"/>
          <p:cNvSpPr txBox="1"/>
          <p:nvPr/>
        </p:nvSpPr>
        <p:spPr>
          <a:xfrm>
            <a:off x="612648" y="1783080"/>
            <a:ext cx="1886041"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Baseline</a:t>
            </a:r>
            <a:endParaRPr lang="en-US" sz="1300" dirty="0"/>
          </a:p>
        </p:txBody>
      </p:sp>
      <p:sp>
        <p:nvSpPr>
          <p:cNvPr id="7" name="Text 5"/>
          <p:cNvSpPr txBox="1"/>
          <p:nvPr/>
        </p:nvSpPr>
        <p:spPr>
          <a:xfrm>
            <a:off x="612648" y="2066544"/>
            <a:ext cx="1886041" cy="1600200"/>
          </a:xfrm>
          <a:prstGeom prst="rect">
            <a:avLst/>
          </a:prstGeom>
          <a:noFill/>
          <a:ln/>
        </p:spPr>
        <p:txBody>
          <a:bodyPr wrap="square" lIns="0" tIns="0" rIns="0" bIns="0" rtlCol="0" anchor="t"/>
          <a:lstStyle/>
          <a:p>
            <a:pPr indent="0" marL="0">
              <a:lnSpc>
                <a:spcPct val="105000"/>
              </a:lnSpc>
              <a:buNone/>
            </a:pPr>
            <a:r>
              <a:rPr lang="en-US" sz="1050" dirty="0">
                <a:solidFill>
                  <a:srgbClr val="12212F"/>
                </a:solidFill>
                <a:latin typeface="Arial" pitchFamily="34" charset="0"/>
                <a:ea typeface="Arial" pitchFamily="34" charset="-122"/>
                <a:cs typeface="Arial" pitchFamily="34" charset="-120"/>
              </a:rPr>
              <a:t>24-month downtime &amp; repair history from CMMS; criticality ranking (ISO 14224 [7]); freeze success criteria with plant</a:t>
            </a:r>
            <a:endParaRPr lang="en-US" sz="1050" dirty="0"/>
          </a:p>
        </p:txBody>
      </p:sp>
      <p:sp>
        <p:nvSpPr>
          <p:cNvPr id="8" name="Shape 6"/>
          <p:cNvSpPr/>
          <p:nvPr/>
        </p:nvSpPr>
        <p:spPr>
          <a:xfrm>
            <a:off x="2617561" y="2606040"/>
            <a:ext cx="146304" cy="0"/>
          </a:xfrm>
          <a:prstGeom prst="line">
            <a:avLst/>
          </a:prstGeom>
          <a:noFill/>
          <a:ln w="25400">
            <a:solidFill>
              <a:srgbClr val="2E9D66"/>
            </a:solidFill>
            <a:prstDash val="solid"/>
            <a:tailEnd type="triangle"/>
          </a:ln>
        </p:spPr>
      </p:sp>
      <p:sp>
        <p:nvSpPr>
          <p:cNvPr id="9" name="Shape 7"/>
          <p:cNvSpPr/>
          <p:nvPr/>
        </p:nvSpPr>
        <p:spPr>
          <a:xfrm>
            <a:off x="2773009" y="1463040"/>
            <a:ext cx="2105497" cy="2286000"/>
          </a:xfrm>
          <a:prstGeom prst="roundRect">
            <a:avLst>
              <a:gd name="adj" fmla="val 2389"/>
            </a:avLst>
          </a:prstGeom>
          <a:solidFill>
            <a:srgbClr val="FFFFFF"/>
          </a:solidFill>
          <a:ln w="12700">
            <a:solidFill>
              <a:srgbClr val="D9E2E7"/>
            </a:solidFill>
            <a:prstDash val="solid"/>
          </a:ln>
        </p:spPr>
      </p:sp>
      <p:sp>
        <p:nvSpPr>
          <p:cNvPr id="10" name="Text 8"/>
          <p:cNvSpPr txBox="1"/>
          <p:nvPr/>
        </p:nvSpPr>
        <p:spPr>
          <a:xfrm>
            <a:off x="2882737" y="1572768"/>
            <a:ext cx="1886041" cy="201168"/>
          </a:xfrm>
          <a:prstGeom prst="rect">
            <a:avLst/>
          </a:prstGeom>
          <a:noFill/>
          <a:ln/>
        </p:spPr>
        <p:txBody>
          <a:bodyPr wrap="square" lIns="0" tIns="0" rIns="0" bIns="0" rtlCol="0" anchor="ctr"/>
          <a:lstStyle/>
          <a:p>
            <a:pPr indent="0" marL="0">
              <a:buNone/>
            </a:pPr>
            <a:r>
              <a:rPr lang="en-US" sz="1000" b="1" dirty="0">
                <a:solidFill>
                  <a:srgbClr val="2E9D66"/>
                </a:solidFill>
                <a:latin typeface="Arial" pitchFamily="34" charset="0"/>
                <a:ea typeface="Arial" pitchFamily="34" charset="-122"/>
                <a:cs typeface="Arial" pitchFamily="34" charset="-120"/>
              </a:rPr>
              <a:t>P1 · M2</a:t>
            </a:r>
            <a:endParaRPr lang="en-US" sz="1000" dirty="0"/>
          </a:p>
        </p:txBody>
      </p:sp>
      <p:sp>
        <p:nvSpPr>
          <p:cNvPr id="11" name="Text 9"/>
          <p:cNvSpPr txBox="1"/>
          <p:nvPr/>
        </p:nvSpPr>
        <p:spPr>
          <a:xfrm>
            <a:off x="2882737" y="1783080"/>
            <a:ext cx="1886041"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Install &amp; integrate</a:t>
            </a:r>
            <a:endParaRPr lang="en-US" sz="1300" dirty="0"/>
          </a:p>
        </p:txBody>
      </p:sp>
      <p:sp>
        <p:nvSpPr>
          <p:cNvPr id="12" name="Text 10"/>
          <p:cNvSpPr txBox="1"/>
          <p:nvPr/>
        </p:nvSpPr>
        <p:spPr>
          <a:xfrm>
            <a:off x="2882737" y="2066544"/>
            <a:ext cx="1886041" cy="1600200"/>
          </a:xfrm>
          <a:prstGeom prst="rect">
            <a:avLst/>
          </a:prstGeom>
          <a:noFill/>
          <a:ln/>
        </p:spPr>
        <p:txBody>
          <a:bodyPr wrap="square" lIns="0" tIns="0" rIns="0" bIns="0" rtlCol="0" anchor="t"/>
          <a:lstStyle/>
          <a:p>
            <a:pPr indent="0" marL="0">
              <a:lnSpc>
                <a:spcPct val="105000"/>
              </a:lnSpc>
              <a:buNone/>
            </a:pPr>
            <a:r>
              <a:rPr lang="en-US" sz="1050" dirty="0">
                <a:solidFill>
                  <a:srgbClr val="12212F"/>
                </a:solidFill>
                <a:latin typeface="Arial" pitchFamily="34" charset="0"/>
                <a:ea typeface="Arial" pitchFamily="34" charset="-122"/>
                <a:cs typeface="Arial" pitchFamily="34" charset="-120"/>
              </a:rPr>
              <a:t>50 sensor points + 5 gateways, magnet-mount in normal operation; historian link via OPC UA; hot-work &amp; Ex permits</a:t>
            </a:r>
            <a:endParaRPr lang="en-US" sz="1050" dirty="0"/>
          </a:p>
        </p:txBody>
      </p:sp>
      <p:sp>
        <p:nvSpPr>
          <p:cNvPr id="13" name="Shape 11"/>
          <p:cNvSpPr/>
          <p:nvPr/>
        </p:nvSpPr>
        <p:spPr>
          <a:xfrm>
            <a:off x="4887651" y="2606040"/>
            <a:ext cx="146304" cy="0"/>
          </a:xfrm>
          <a:prstGeom prst="line">
            <a:avLst/>
          </a:prstGeom>
          <a:noFill/>
          <a:ln w="25400">
            <a:solidFill>
              <a:srgbClr val="2E9D66"/>
            </a:solidFill>
            <a:prstDash val="solid"/>
            <a:tailEnd type="triangle"/>
          </a:ln>
        </p:spPr>
      </p:sp>
      <p:sp>
        <p:nvSpPr>
          <p:cNvPr id="14" name="Shape 12"/>
          <p:cNvSpPr/>
          <p:nvPr/>
        </p:nvSpPr>
        <p:spPr>
          <a:xfrm>
            <a:off x="5043099" y="1463040"/>
            <a:ext cx="2105497" cy="2286000"/>
          </a:xfrm>
          <a:prstGeom prst="roundRect">
            <a:avLst>
              <a:gd name="adj" fmla="val 2389"/>
            </a:avLst>
          </a:prstGeom>
          <a:solidFill>
            <a:srgbClr val="FFFFFF"/>
          </a:solidFill>
          <a:ln w="12700">
            <a:solidFill>
              <a:srgbClr val="D9E2E7"/>
            </a:solidFill>
            <a:prstDash val="solid"/>
          </a:ln>
        </p:spPr>
      </p:sp>
      <p:sp>
        <p:nvSpPr>
          <p:cNvPr id="15" name="Text 13"/>
          <p:cNvSpPr txBox="1"/>
          <p:nvPr/>
        </p:nvSpPr>
        <p:spPr>
          <a:xfrm>
            <a:off x="5152827" y="1572768"/>
            <a:ext cx="1886041" cy="201168"/>
          </a:xfrm>
          <a:prstGeom prst="rect">
            <a:avLst/>
          </a:prstGeom>
          <a:noFill/>
          <a:ln/>
        </p:spPr>
        <p:txBody>
          <a:bodyPr wrap="square" lIns="0" tIns="0" rIns="0" bIns="0" rtlCol="0" anchor="ctr"/>
          <a:lstStyle/>
          <a:p>
            <a:pPr indent="0" marL="0">
              <a:buNone/>
            </a:pPr>
            <a:r>
              <a:rPr lang="en-US" sz="1000" b="1" dirty="0">
                <a:solidFill>
                  <a:srgbClr val="2E9D66"/>
                </a:solidFill>
                <a:latin typeface="Arial" pitchFamily="34" charset="0"/>
                <a:ea typeface="Arial" pitchFamily="34" charset="-122"/>
                <a:cs typeface="Arial" pitchFamily="34" charset="-120"/>
              </a:rPr>
              <a:t>P2 · M3</a:t>
            </a:r>
            <a:endParaRPr lang="en-US" sz="1000" dirty="0"/>
          </a:p>
        </p:txBody>
      </p:sp>
      <p:sp>
        <p:nvSpPr>
          <p:cNvPr id="16" name="Text 14"/>
          <p:cNvSpPr txBox="1"/>
          <p:nvPr/>
        </p:nvSpPr>
        <p:spPr>
          <a:xfrm>
            <a:off x="5152827" y="1783080"/>
            <a:ext cx="1886041"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Commission</a:t>
            </a:r>
            <a:endParaRPr lang="en-US" sz="1300" dirty="0"/>
          </a:p>
        </p:txBody>
      </p:sp>
      <p:sp>
        <p:nvSpPr>
          <p:cNvPr id="17" name="Text 15"/>
          <p:cNvSpPr txBox="1"/>
          <p:nvPr/>
        </p:nvSpPr>
        <p:spPr>
          <a:xfrm>
            <a:off x="5152827" y="2066544"/>
            <a:ext cx="1886041" cy="1600200"/>
          </a:xfrm>
          <a:prstGeom prst="rect">
            <a:avLst/>
          </a:prstGeom>
          <a:noFill/>
          <a:ln/>
        </p:spPr>
        <p:txBody>
          <a:bodyPr wrap="square" lIns="0" tIns="0" rIns="0" bIns="0" rtlCol="0" anchor="t"/>
          <a:lstStyle/>
          <a:p>
            <a:pPr indent="0" marL="0">
              <a:lnSpc>
                <a:spcPct val="105000"/>
              </a:lnSpc>
              <a:buNone/>
            </a:pPr>
            <a:r>
              <a:rPr lang="en-US" sz="1050" dirty="0">
                <a:solidFill>
                  <a:srgbClr val="12212F"/>
                </a:solidFill>
                <a:latin typeface="Arial" pitchFamily="34" charset="0"/>
                <a:ea typeface="Arial" pitchFamily="34" charset="-122"/>
                <a:cs typeface="Arial" pitchFamily="34" charset="-120"/>
              </a:rPr>
              <a:t>Per-pump healthy baselines; ISO 20816-3 alarm zones live; dashboards + CMMS work-order flow tested</a:t>
            </a:r>
            <a:endParaRPr lang="en-US" sz="1050" dirty="0"/>
          </a:p>
        </p:txBody>
      </p:sp>
      <p:sp>
        <p:nvSpPr>
          <p:cNvPr id="18" name="Shape 16"/>
          <p:cNvSpPr/>
          <p:nvPr/>
        </p:nvSpPr>
        <p:spPr>
          <a:xfrm>
            <a:off x="7157740" y="2606040"/>
            <a:ext cx="146304" cy="0"/>
          </a:xfrm>
          <a:prstGeom prst="line">
            <a:avLst/>
          </a:prstGeom>
          <a:noFill/>
          <a:ln w="25400">
            <a:solidFill>
              <a:srgbClr val="2E9D66"/>
            </a:solidFill>
            <a:prstDash val="solid"/>
            <a:tailEnd type="triangle"/>
          </a:ln>
        </p:spPr>
      </p:sp>
      <p:sp>
        <p:nvSpPr>
          <p:cNvPr id="19" name="Shape 17"/>
          <p:cNvSpPr/>
          <p:nvPr/>
        </p:nvSpPr>
        <p:spPr>
          <a:xfrm>
            <a:off x="7313188" y="1463040"/>
            <a:ext cx="2105497" cy="2286000"/>
          </a:xfrm>
          <a:prstGeom prst="roundRect">
            <a:avLst>
              <a:gd name="adj" fmla="val 2389"/>
            </a:avLst>
          </a:prstGeom>
          <a:solidFill>
            <a:srgbClr val="FFFFFF"/>
          </a:solidFill>
          <a:ln w="12700">
            <a:solidFill>
              <a:srgbClr val="D9E2E7"/>
            </a:solidFill>
            <a:prstDash val="solid"/>
          </a:ln>
        </p:spPr>
      </p:sp>
      <p:sp>
        <p:nvSpPr>
          <p:cNvPr id="20" name="Text 18"/>
          <p:cNvSpPr txBox="1"/>
          <p:nvPr/>
        </p:nvSpPr>
        <p:spPr>
          <a:xfrm>
            <a:off x="7422916" y="1572768"/>
            <a:ext cx="1886041" cy="201168"/>
          </a:xfrm>
          <a:prstGeom prst="rect">
            <a:avLst/>
          </a:prstGeom>
          <a:noFill/>
          <a:ln/>
        </p:spPr>
        <p:txBody>
          <a:bodyPr wrap="square" lIns="0" tIns="0" rIns="0" bIns="0" rtlCol="0" anchor="ctr"/>
          <a:lstStyle/>
          <a:p>
            <a:pPr indent="0" marL="0">
              <a:buNone/>
            </a:pPr>
            <a:r>
              <a:rPr lang="en-US" sz="1000" b="1" dirty="0">
                <a:solidFill>
                  <a:srgbClr val="2E9D66"/>
                </a:solidFill>
                <a:latin typeface="Arial" pitchFamily="34" charset="0"/>
                <a:ea typeface="Arial" pitchFamily="34" charset="-122"/>
                <a:cs typeface="Arial" pitchFamily="34" charset="-120"/>
              </a:rPr>
              <a:t>P3 · M3–6</a:t>
            </a:r>
            <a:endParaRPr lang="en-US" sz="1000" dirty="0"/>
          </a:p>
        </p:txBody>
      </p:sp>
      <p:sp>
        <p:nvSpPr>
          <p:cNvPr id="21" name="Text 19"/>
          <p:cNvSpPr txBox="1"/>
          <p:nvPr/>
        </p:nvSpPr>
        <p:spPr>
          <a:xfrm>
            <a:off x="7422916" y="1783080"/>
            <a:ext cx="1886041"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Shadow mode</a:t>
            </a:r>
            <a:endParaRPr lang="en-US" sz="1300" dirty="0"/>
          </a:p>
        </p:txBody>
      </p:sp>
      <p:sp>
        <p:nvSpPr>
          <p:cNvPr id="22" name="Text 20"/>
          <p:cNvSpPr txBox="1"/>
          <p:nvPr/>
        </p:nvSpPr>
        <p:spPr>
          <a:xfrm>
            <a:off x="7422916" y="2066544"/>
            <a:ext cx="1886041" cy="1600200"/>
          </a:xfrm>
          <a:prstGeom prst="rect">
            <a:avLst/>
          </a:prstGeom>
          <a:noFill/>
          <a:ln/>
        </p:spPr>
        <p:txBody>
          <a:bodyPr wrap="square" lIns="0" tIns="0" rIns="0" bIns="0" rtlCol="0" anchor="t"/>
          <a:lstStyle/>
          <a:p>
            <a:pPr indent="0" marL="0">
              <a:lnSpc>
                <a:spcPct val="105000"/>
              </a:lnSpc>
              <a:buNone/>
            </a:pPr>
            <a:r>
              <a:rPr lang="en-US" sz="1050" dirty="0">
                <a:solidFill>
                  <a:srgbClr val="12212F"/>
                </a:solidFill>
                <a:latin typeface="Arial" pitchFamily="34" charset="0"/>
                <a:ea typeface="Arial" pitchFamily="34" charset="-122"/>
                <a:cs typeface="Arial" pitchFamily="34" charset="-120"/>
              </a:rPr>
              <a:t>Alerts logged, not acted on; every alert adjudicated weekly against actual maintenance findings</a:t>
            </a:r>
            <a:endParaRPr lang="en-US" sz="1050" dirty="0"/>
          </a:p>
        </p:txBody>
      </p:sp>
      <p:sp>
        <p:nvSpPr>
          <p:cNvPr id="23" name="Shape 21"/>
          <p:cNvSpPr/>
          <p:nvPr/>
        </p:nvSpPr>
        <p:spPr>
          <a:xfrm>
            <a:off x="9427830" y="2606040"/>
            <a:ext cx="146304" cy="0"/>
          </a:xfrm>
          <a:prstGeom prst="line">
            <a:avLst/>
          </a:prstGeom>
          <a:noFill/>
          <a:ln w="25400">
            <a:solidFill>
              <a:srgbClr val="2E9D66"/>
            </a:solidFill>
            <a:prstDash val="solid"/>
            <a:tailEnd type="triangle"/>
          </a:ln>
        </p:spPr>
      </p:sp>
      <p:sp>
        <p:nvSpPr>
          <p:cNvPr id="24" name="Shape 22"/>
          <p:cNvSpPr/>
          <p:nvPr/>
        </p:nvSpPr>
        <p:spPr>
          <a:xfrm>
            <a:off x="9583278" y="1463040"/>
            <a:ext cx="2105497" cy="2286000"/>
          </a:xfrm>
          <a:prstGeom prst="roundRect">
            <a:avLst>
              <a:gd name="adj" fmla="val 2389"/>
            </a:avLst>
          </a:prstGeom>
          <a:solidFill>
            <a:srgbClr val="F0F7F3"/>
          </a:solidFill>
          <a:ln w="12700">
            <a:solidFill>
              <a:srgbClr val="D9E2E7"/>
            </a:solidFill>
            <a:prstDash val="solid"/>
          </a:ln>
        </p:spPr>
      </p:sp>
      <p:sp>
        <p:nvSpPr>
          <p:cNvPr id="25" name="Text 23"/>
          <p:cNvSpPr txBox="1"/>
          <p:nvPr/>
        </p:nvSpPr>
        <p:spPr>
          <a:xfrm>
            <a:off x="9693006" y="1572768"/>
            <a:ext cx="1886041" cy="201168"/>
          </a:xfrm>
          <a:prstGeom prst="rect">
            <a:avLst/>
          </a:prstGeom>
          <a:noFill/>
          <a:ln/>
        </p:spPr>
        <p:txBody>
          <a:bodyPr wrap="square" lIns="0" tIns="0" rIns="0" bIns="0" rtlCol="0" anchor="ctr"/>
          <a:lstStyle/>
          <a:p>
            <a:pPr indent="0" marL="0">
              <a:buNone/>
            </a:pPr>
            <a:r>
              <a:rPr lang="en-US" sz="1000" b="1" dirty="0">
                <a:solidFill>
                  <a:srgbClr val="2E9D66"/>
                </a:solidFill>
                <a:latin typeface="Arial" pitchFamily="34" charset="0"/>
                <a:ea typeface="Arial" pitchFamily="34" charset="-122"/>
                <a:cs typeface="Arial" pitchFamily="34" charset="-120"/>
              </a:rPr>
              <a:t>P4 · M6</a:t>
            </a:r>
            <a:endParaRPr lang="en-US" sz="1000" dirty="0"/>
          </a:p>
        </p:txBody>
      </p:sp>
      <p:sp>
        <p:nvSpPr>
          <p:cNvPr id="26" name="Text 24"/>
          <p:cNvSpPr txBox="1"/>
          <p:nvPr/>
        </p:nvSpPr>
        <p:spPr>
          <a:xfrm>
            <a:off x="9693006" y="1783080"/>
            <a:ext cx="1886041" cy="237744"/>
          </a:xfrm>
          <a:prstGeom prst="rect">
            <a:avLst/>
          </a:prstGeom>
          <a:noFill/>
          <a:ln/>
        </p:spPr>
        <p:txBody>
          <a:bodyPr wrap="square" lIns="0" tIns="0" rIns="0" bIns="0" rtlCol="0" anchor="ctr"/>
          <a:lstStyle/>
          <a:p>
            <a:pPr indent="0" marL="0">
              <a:buNone/>
            </a:pPr>
            <a:r>
              <a:rPr lang="en-US" sz="1300" b="1" dirty="0">
                <a:solidFill>
                  <a:srgbClr val="12212F"/>
                </a:solidFill>
                <a:latin typeface="Arial" pitchFamily="34" charset="0"/>
                <a:ea typeface="Arial" pitchFamily="34" charset="-122"/>
                <a:cs typeface="Arial" pitchFamily="34" charset="-120"/>
              </a:rPr>
              <a:t>Go / No-Go gate</a:t>
            </a:r>
            <a:endParaRPr lang="en-US" sz="1300" dirty="0"/>
          </a:p>
        </p:txBody>
      </p:sp>
      <p:sp>
        <p:nvSpPr>
          <p:cNvPr id="27" name="Text 25"/>
          <p:cNvSpPr txBox="1"/>
          <p:nvPr/>
        </p:nvSpPr>
        <p:spPr>
          <a:xfrm>
            <a:off x="9693006" y="2066544"/>
            <a:ext cx="1886041" cy="1600200"/>
          </a:xfrm>
          <a:prstGeom prst="rect">
            <a:avLst/>
          </a:prstGeom>
          <a:noFill/>
          <a:ln/>
        </p:spPr>
        <p:txBody>
          <a:bodyPr wrap="square" lIns="0" tIns="0" rIns="0" bIns="0" rtlCol="0" anchor="t"/>
          <a:lstStyle/>
          <a:p>
            <a:pPr indent="0" marL="0">
              <a:lnSpc>
                <a:spcPct val="105000"/>
              </a:lnSpc>
              <a:buNone/>
            </a:pPr>
            <a:r>
              <a:rPr lang="en-US" sz="1050" dirty="0">
                <a:solidFill>
                  <a:srgbClr val="12212F"/>
                </a:solidFill>
                <a:latin typeface="Arial" pitchFamily="34" charset="0"/>
                <a:ea typeface="Arial" pitchFamily="34" charset="-122"/>
                <a:cs typeface="Arial" pitchFamily="34" charset="-120"/>
              </a:rPr>
              <a:t>KPIs met → alerts go live &amp; scale plan; missed → root-cause review with published post-mortem</a:t>
            </a:r>
            <a:endParaRPr lang="en-US" sz="1050" dirty="0"/>
          </a:p>
        </p:txBody>
      </p:sp>
      <p:sp>
        <p:nvSpPr>
          <p:cNvPr id="28" name="Shape 26"/>
          <p:cNvSpPr/>
          <p:nvPr/>
        </p:nvSpPr>
        <p:spPr>
          <a:xfrm>
            <a:off x="502920" y="3931920"/>
            <a:ext cx="6035040" cy="2148840"/>
          </a:xfrm>
          <a:prstGeom prst="roundRect">
            <a:avLst>
              <a:gd name="adj" fmla="val 2340"/>
            </a:avLst>
          </a:prstGeom>
          <a:solidFill>
            <a:srgbClr val="F4F7F8"/>
          </a:solidFill>
          <a:ln w="12700">
            <a:solidFill>
              <a:srgbClr val="D9E2E7"/>
            </a:solidFill>
            <a:prstDash val="solid"/>
          </a:ln>
        </p:spPr>
      </p:sp>
      <p:sp>
        <p:nvSpPr>
          <p:cNvPr id="29" name="Text 27"/>
          <p:cNvSpPr txBox="1"/>
          <p:nvPr/>
        </p:nvSpPr>
        <p:spPr>
          <a:xfrm>
            <a:off x="704088" y="4059936"/>
            <a:ext cx="5486400" cy="237744"/>
          </a:xfrm>
          <a:prstGeom prst="rect">
            <a:avLst/>
          </a:prstGeom>
          <a:noFill/>
          <a:ln/>
        </p:spPr>
        <p:txBody>
          <a:bodyPr wrap="square" lIns="0" tIns="0" rIns="0" bIns="0" rtlCol="0" anchor="ctr"/>
          <a:lstStyle/>
          <a:p>
            <a:pPr indent="0" marL="0">
              <a:buNone/>
            </a:pPr>
            <a:r>
              <a:rPr lang="en-US" sz="1250" b="1" dirty="0">
                <a:solidFill>
                  <a:srgbClr val="2E9D66"/>
                </a:solidFill>
                <a:latin typeface="Arial" pitchFamily="34" charset="0"/>
                <a:ea typeface="Arial" pitchFamily="34" charset="-122"/>
                <a:cs typeface="Arial" pitchFamily="34" charset="-120"/>
              </a:rPr>
              <a:t>GO / NO-GO KPIs — MEASURED, NOT CLAIMED</a:t>
            </a:r>
            <a:endParaRPr lang="en-US" sz="1250" dirty="0"/>
          </a:p>
        </p:txBody>
      </p:sp>
      <p:sp>
        <p:nvSpPr>
          <p:cNvPr id="30" name="Text 28"/>
          <p:cNvSpPr txBox="1"/>
          <p:nvPr/>
        </p:nvSpPr>
        <p:spPr>
          <a:xfrm>
            <a:off x="704088" y="4352544"/>
            <a:ext cx="5669280" cy="1645920"/>
          </a:xfrm>
          <a:prstGeom prst="rect">
            <a:avLst/>
          </a:prstGeom>
          <a:noFill/>
          <a:ln/>
        </p:spPr>
        <p:txBody>
          <a:bodyPr wrap="square" lIns="0" tIns="0" rIns="0" bIns="0" rtlCol="0" anchor="t"/>
          <a:lstStyle/>
          <a:p>
            <a:pPr marL="127000" indent="-127000">
              <a:lnSpc>
                <a:spcPct val="106000"/>
              </a:lnSpc>
              <a:spcAft>
                <a:spcPts val="400"/>
              </a:spcAft>
              <a:buSzPct val="100000"/>
              <a:buChar char="•"/>
            </a:pPr>
            <a:r>
              <a:rPr lang="en-US" sz="1250" dirty="0">
                <a:solidFill>
                  <a:srgbClr val="12212F"/>
                </a:solidFill>
                <a:latin typeface="Arial" pitchFamily="34" charset="0"/>
                <a:ea typeface="Arial" pitchFamily="34" charset="-122"/>
                <a:cs typeface="Arial" pitchFamily="34" charset="-120"/>
              </a:rPr>
              <a:t>≥ 70% of confirmed developing faults flagged ≥ 14 days before functional failure</a:t>
            </a:r>
            <a:endParaRPr lang="en-US" sz="1250" dirty="0"/>
          </a:p>
          <a:p>
            <a:pPr marL="127000" indent="-127000">
              <a:lnSpc>
                <a:spcPct val="106000"/>
              </a:lnSpc>
              <a:spcAft>
                <a:spcPts val="400"/>
              </a:spcAft>
              <a:buSzPct val="100000"/>
              <a:buChar char="•"/>
            </a:pPr>
            <a:r>
              <a:rPr lang="en-US" sz="1250" dirty="0">
                <a:solidFill>
                  <a:srgbClr val="12212F"/>
                </a:solidFill>
                <a:latin typeface="Arial" pitchFamily="34" charset="0"/>
                <a:ea typeface="Arial" pitchFamily="34" charset="-122"/>
                <a:cs typeface="Arial" pitchFamily="34" charset="-120"/>
              </a:rPr>
              <a:t>≤ 2 false alerts per pump per month by month 6 (trust guardrail)</a:t>
            </a:r>
            <a:endParaRPr lang="en-US" sz="1250" dirty="0"/>
          </a:p>
          <a:p>
            <a:pPr marL="127000" indent="-127000">
              <a:lnSpc>
                <a:spcPct val="106000"/>
              </a:lnSpc>
              <a:spcAft>
                <a:spcPts val="400"/>
              </a:spcAft>
              <a:buSzPct val="100000"/>
              <a:buChar char="•"/>
            </a:pPr>
            <a:r>
              <a:rPr lang="en-US" sz="1250" dirty="0">
                <a:solidFill>
                  <a:srgbClr val="12212F"/>
                </a:solidFill>
                <a:latin typeface="Arial" pitchFamily="34" charset="0"/>
                <a:ea typeface="Arial" pitchFamily="34" charset="-122"/>
                <a:cs typeface="Arial" pitchFamily="34" charset="-120"/>
              </a:rPr>
              <a:t>100% of validated alerts become CMMS work orders within 24 h</a:t>
            </a:r>
            <a:endParaRPr lang="en-US" sz="1250" dirty="0"/>
          </a:p>
          <a:p>
            <a:pPr marL="127000" indent="-127000">
              <a:lnSpc>
                <a:spcPct val="106000"/>
              </a:lnSpc>
              <a:spcAft>
                <a:spcPts val="400"/>
              </a:spcAft>
              <a:buSzPct val="100000"/>
              <a:buChar char="•"/>
            </a:pPr>
            <a:r>
              <a:rPr lang="en-US" sz="1250" dirty="0">
                <a:solidFill>
                  <a:srgbClr val="12212F"/>
                </a:solidFill>
                <a:latin typeface="Arial" pitchFamily="34" charset="0"/>
                <a:ea typeface="Arial" pitchFamily="34" charset="-122"/>
                <a:cs typeface="Arial" pitchFamily="34" charset="-120"/>
              </a:rPr>
              <a:t>≥ 95% sensor data availability; baseline dataset handed to plant in open formats</a:t>
            </a:r>
            <a:endParaRPr lang="en-US" sz="1250" dirty="0"/>
          </a:p>
        </p:txBody>
      </p:sp>
      <p:sp>
        <p:nvSpPr>
          <p:cNvPr id="31" name="Shape 29"/>
          <p:cNvSpPr/>
          <p:nvPr/>
        </p:nvSpPr>
        <p:spPr>
          <a:xfrm>
            <a:off x="6766560" y="3931920"/>
            <a:ext cx="4919472" cy="2148840"/>
          </a:xfrm>
          <a:prstGeom prst="roundRect">
            <a:avLst>
              <a:gd name="adj" fmla="val 2340"/>
            </a:avLst>
          </a:prstGeom>
          <a:solidFill>
            <a:srgbClr val="FFFFFF"/>
          </a:solidFill>
          <a:ln w="12700">
            <a:solidFill>
              <a:srgbClr val="D9E2E7"/>
            </a:solidFill>
            <a:prstDash val="solid"/>
          </a:ln>
        </p:spPr>
      </p:sp>
      <p:sp>
        <p:nvSpPr>
          <p:cNvPr id="32" name="Text 30"/>
          <p:cNvSpPr txBox="1"/>
          <p:nvPr/>
        </p:nvSpPr>
        <p:spPr>
          <a:xfrm>
            <a:off x="6967728" y="4059936"/>
            <a:ext cx="4572000" cy="237744"/>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OWNERS, DATA &amp; DISRUPTION</a:t>
            </a:r>
            <a:endParaRPr lang="en-US" sz="1250" dirty="0"/>
          </a:p>
        </p:txBody>
      </p:sp>
      <p:sp>
        <p:nvSpPr>
          <p:cNvPr id="33" name="Text 31"/>
          <p:cNvSpPr txBox="1"/>
          <p:nvPr/>
        </p:nvSpPr>
        <p:spPr>
          <a:xfrm>
            <a:off x="6967728" y="4352544"/>
            <a:ext cx="4526280" cy="1645920"/>
          </a:xfrm>
          <a:prstGeom prst="rect">
            <a:avLst/>
          </a:prstGeom>
          <a:noFill/>
          <a:ln/>
        </p:spPr>
        <p:txBody>
          <a:bodyPr wrap="square" lIns="0" tIns="0" rIns="0" bIns="0" rtlCol="0" anchor="t"/>
          <a:lstStyle/>
          <a:p>
            <a:pPr marL="127000" indent="-127000">
              <a:lnSpc>
                <a:spcPct val="106000"/>
              </a:lnSpc>
              <a:spcAft>
                <a:spcPts val="400"/>
              </a:spcAft>
              <a:buSzPct val="100000"/>
              <a:buChar char="•"/>
            </a:pPr>
            <a:r>
              <a:rPr lang="en-US" sz="1200" dirty="0">
                <a:solidFill>
                  <a:srgbClr val="12212F"/>
                </a:solidFill>
                <a:latin typeface="Arial" pitchFamily="34" charset="0"/>
                <a:ea typeface="Arial" pitchFamily="34" charset="-122"/>
                <a:cs typeface="Arial" pitchFamily="34" charset="-120"/>
              </a:rPr>
              <a:t>Owners: plant reliability engineer (validation) · instrumentation team (install) · CMMS admin (workflow) · our team (features, models, dashboards)</a:t>
            </a:r>
            <a:endParaRPr lang="en-US" sz="1200" dirty="0"/>
          </a:p>
          <a:p>
            <a:pPr marL="127000" indent="-127000">
              <a:lnSpc>
                <a:spcPct val="106000"/>
              </a:lnSpc>
              <a:spcAft>
                <a:spcPts val="400"/>
              </a:spcAft>
              <a:buSzPct val="100000"/>
              <a:buChar char="•"/>
            </a:pPr>
            <a:r>
              <a:rPr lang="en-US" sz="1200" dirty="0">
                <a:solidFill>
                  <a:srgbClr val="12212F"/>
                </a:solidFill>
                <a:latin typeface="Arial" pitchFamily="34" charset="0"/>
                <a:ea typeface="Arial" pitchFamily="34" charset="-122"/>
                <a:cs typeface="Arial" pitchFamily="34" charset="-120"/>
              </a:rPr>
              <a:t>Monitoring: vibration every 10 min, temperature every 1 min, model scoring hourly, review weekly</a:t>
            </a:r>
            <a:endParaRPr lang="en-US" sz="1200" dirty="0"/>
          </a:p>
          <a:p>
            <a:pPr marL="127000" indent="-127000">
              <a:lnSpc>
                <a:spcPct val="106000"/>
              </a:lnSpc>
              <a:spcAft>
                <a:spcPts val="400"/>
              </a:spcAft>
              <a:buSzPct val="100000"/>
              <a:buChar char="•"/>
            </a:pPr>
            <a:r>
              <a:rPr lang="en-US" sz="1200" dirty="0">
                <a:solidFill>
                  <a:srgbClr val="12212F"/>
                </a:solidFill>
                <a:latin typeface="Arial" pitchFamily="34" charset="0"/>
                <a:ea typeface="Arial" pitchFamily="34" charset="-122"/>
                <a:cs typeface="Arial" pitchFamily="34" charset="-120"/>
              </a:rPr>
              <a:t>Zero production disruption: wireless magnet-mount fitting during routine access; shadow mode means no maintenance decision changes until the gate</a:t>
            </a:r>
            <a:endParaRPr lang="en-US" sz="1200" dirty="0"/>
          </a:p>
        </p:txBody>
      </p:sp>
      <p:sp>
        <p:nvSpPr>
          <p:cNvPr id="34" name="Text 32"/>
          <p:cNvSpPr txBox="1"/>
          <p:nvPr/>
        </p:nvSpPr>
        <p:spPr>
          <a:xfrm>
            <a:off x="502920" y="6419088"/>
            <a:ext cx="11185855" cy="201168"/>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Sources: [7] ISO 14224:2016 (criticality &amp; reliability-data taxonomy); ISO 20816-3:2022. Pilot design: team proposal — decision gates and KPI thresholds to be frozen with the host plant in P0.</a:t>
            </a:r>
            <a:endParaRPr lang="en-US" sz="850" dirty="0"/>
          </a:p>
        </p:txBody>
      </p:sp>
      <p:sp>
        <p:nvSpPr>
          <p:cNvPr id="35" name="Text 33"/>
          <p:cNvSpPr txBox="1"/>
          <p:nvPr/>
        </p:nvSpPr>
        <p:spPr>
          <a:xfrm>
            <a:off x="502920" y="6620256"/>
            <a:ext cx="8686800" cy="182880"/>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India Chem 2026 · Youth Innovation Challenge — NIT Warangal · Raunak Jain &amp; Anushriya Bhattacharya</a:t>
            </a:r>
            <a:endParaRPr lang="en-US" sz="850" dirty="0"/>
          </a:p>
        </p:txBody>
      </p:sp>
      <p:sp>
        <p:nvSpPr>
          <p:cNvPr id="36" name="Text 34"/>
          <p:cNvSpPr txBox="1"/>
          <p:nvPr/>
        </p:nvSpPr>
        <p:spPr>
          <a:xfrm>
            <a:off x="10774375" y="6620256"/>
            <a:ext cx="914400" cy="182880"/>
          </a:xfrm>
          <a:prstGeom prst="rect">
            <a:avLst/>
          </a:prstGeom>
          <a:noFill/>
          <a:ln/>
        </p:spPr>
        <p:txBody>
          <a:bodyPr wrap="square" lIns="0" tIns="0" rIns="0" bIns="0" rtlCol="0" anchor="ctr"/>
          <a:lstStyle/>
          <a:p>
            <a:pPr algn="r" indent="0" marL="0">
              <a:buNone/>
            </a:pPr>
            <a:r>
              <a:rPr lang="en-US" sz="850" dirty="0">
                <a:solidFill>
                  <a:srgbClr val="5A6B78"/>
                </a:solidFill>
                <a:latin typeface="Arial" pitchFamily="34" charset="0"/>
                <a:ea typeface="Arial" pitchFamily="34" charset="-122"/>
                <a:cs typeface="Arial" pitchFamily="34" charset="-120"/>
              </a:rPr>
              <a:t>06 / 08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09728"/>
            <a:ext cx="11185855" cy="182880"/>
          </a:xfrm>
          <a:prstGeom prst="rect">
            <a:avLst/>
          </a:prstGeom>
          <a:noFill/>
          <a:ln/>
        </p:spPr>
        <p:txBody>
          <a:bodyPr wrap="square" lIns="0" tIns="0" rIns="0" bIns="0" rtlCol="0" anchor="ctr"/>
          <a:lstStyle/>
          <a:p>
            <a:pPr indent="0" marL="0">
              <a:buNone/>
            </a:pPr>
            <a:r>
              <a:rPr lang="en-US" sz="1050" b="1" spc="200" kern="0" dirty="0">
                <a:solidFill>
                  <a:srgbClr val="B45309"/>
                </a:solidFill>
                <a:latin typeface="Arial" pitchFamily="34" charset="0"/>
                <a:ea typeface="Arial" pitchFamily="34" charset="-122"/>
                <a:cs typeface="Arial" pitchFamily="34" charset="-120"/>
              </a:rPr>
              <a:t>ECONOMIC · ENVIRONMENTAL · RISK FEASIBILITY</a:t>
            </a:r>
            <a:endParaRPr lang="en-US" sz="1050" dirty="0"/>
          </a:p>
        </p:txBody>
      </p:sp>
      <p:sp>
        <p:nvSpPr>
          <p:cNvPr id="3" name="Text 1"/>
          <p:cNvSpPr txBox="1"/>
          <p:nvPr/>
        </p:nvSpPr>
        <p:spPr>
          <a:xfrm>
            <a:off x="502920" y="292608"/>
            <a:ext cx="11185855" cy="731520"/>
          </a:xfrm>
          <a:prstGeom prst="rect">
            <a:avLst/>
          </a:prstGeom>
          <a:noFill/>
          <a:ln/>
        </p:spPr>
        <p:txBody>
          <a:bodyPr wrap="square" lIns="0" tIns="0" rIns="0" bIns="0" rtlCol="0" anchor="t"/>
          <a:lstStyle/>
          <a:p>
            <a:pPr indent="0" marL="0">
              <a:lnSpc>
                <a:spcPct val="104000"/>
              </a:lnSpc>
              <a:buNone/>
            </a:pPr>
            <a:r>
              <a:rPr lang="en-US" sz="2400" b="1" dirty="0">
                <a:solidFill>
                  <a:srgbClr val="12212F"/>
                </a:solidFill>
                <a:latin typeface="Arial" pitchFamily="34" charset="0"/>
                <a:ea typeface="Arial" pitchFamily="34" charset="-122"/>
                <a:cs typeface="Arial" pitchFamily="34" charset="-120"/>
              </a:rPr>
              <a:t>₹37 lakh installed, ~₹41 lakh net benefit a year: </a:t>
            </a:r>
            <a:pPr indent="0" marL="0">
              <a:lnSpc>
                <a:spcPct val="104000"/>
              </a:lnSpc>
              <a:buNone/>
            </a:pPr>
            <a:r>
              <a:rPr lang="en-US" sz="2400" b="1" dirty="0">
                <a:solidFill>
                  <a:srgbClr val="B45309"/>
                </a:solidFill>
                <a:latin typeface="Arial" pitchFamily="34" charset="0"/>
                <a:ea typeface="Arial" pitchFamily="34" charset="-122"/>
                <a:cs typeface="Arial" pitchFamily="34" charset="-120"/>
              </a:rPr>
              <a:t>payback in about 11 months</a:t>
            </a:r>
            <a:pPr indent="0" marL="0">
              <a:lnSpc>
                <a:spcPct val="104000"/>
              </a:lnSpc>
              <a:buNone/>
            </a:pPr>
            <a:r>
              <a:rPr lang="en-US" sz="2400" b="1" dirty="0">
                <a:solidFill>
                  <a:srgbClr val="12212F"/>
                </a:solidFill>
                <a:latin typeface="Arial" pitchFamily="34" charset="0"/>
                <a:ea typeface="Arial" pitchFamily="34" charset="-122"/>
                <a:cs typeface="Arial" pitchFamily="34" charset="-120"/>
              </a:rPr>
              <a:t>, and under 24 months even in the stacked downside</a:t>
            </a:r>
            <a:endParaRPr lang="en-US" sz="2400" dirty="0"/>
          </a:p>
        </p:txBody>
      </p:sp>
      <p:sp>
        <p:nvSpPr>
          <p:cNvPr id="4" name="Shape 2"/>
          <p:cNvSpPr/>
          <p:nvPr/>
        </p:nvSpPr>
        <p:spPr>
          <a:xfrm>
            <a:off x="502920" y="1463040"/>
            <a:ext cx="5394960" cy="3017520"/>
          </a:xfrm>
          <a:prstGeom prst="roundRect">
            <a:avLst>
              <a:gd name="adj" fmla="val 1667"/>
            </a:avLst>
          </a:prstGeom>
          <a:solidFill>
            <a:srgbClr val="FFFFFF"/>
          </a:solidFill>
          <a:ln w="12700">
            <a:solidFill>
              <a:srgbClr val="D9E2E7"/>
            </a:solidFill>
            <a:prstDash val="solid"/>
          </a:ln>
        </p:spPr>
      </p:sp>
      <p:sp>
        <p:nvSpPr>
          <p:cNvPr id="5" name="Text 3"/>
          <p:cNvSpPr txBox="1"/>
          <p:nvPr/>
        </p:nvSpPr>
        <p:spPr>
          <a:xfrm>
            <a:off x="704088" y="1591056"/>
            <a:ext cx="4937760" cy="237744"/>
          </a:xfrm>
          <a:prstGeom prst="rect">
            <a:avLst/>
          </a:prstGeom>
          <a:noFill/>
          <a:ln/>
        </p:spPr>
        <p:txBody>
          <a:bodyPr wrap="square" lIns="0" tIns="0" rIns="0" bIns="0" rtlCol="0" anchor="ctr"/>
          <a:lstStyle/>
          <a:p>
            <a:pPr indent="0" marL="0">
              <a:buNone/>
            </a:pPr>
            <a:r>
              <a:rPr lang="en-US" sz="1250" b="1" dirty="0">
                <a:solidFill>
                  <a:srgbClr val="B45309"/>
                </a:solidFill>
                <a:latin typeface="Arial" pitchFamily="34" charset="0"/>
                <a:ea typeface="Arial" pitchFamily="34" charset="-122"/>
                <a:cs typeface="Arial" pitchFamily="34" charset="-120"/>
              </a:rPr>
              <a:t>THE CALCULATION, NOT JUST THE ANSWER</a:t>
            </a:r>
            <a:endParaRPr lang="en-US" sz="1250" dirty="0"/>
          </a:p>
        </p:txBody>
      </p:sp>
      <p:sp>
        <p:nvSpPr>
          <p:cNvPr id="6" name="Text 4"/>
          <p:cNvSpPr txBox="1"/>
          <p:nvPr/>
        </p:nvSpPr>
        <p:spPr>
          <a:xfrm>
            <a:off x="704088" y="1883664"/>
            <a:ext cx="5029200" cy="1783080"/>
          </a:xfrm>
          <a:prstGeom prst="rect">
            <a:avLst/>
          </a:prstGeom>
          <a:noFill/>
          <a:ln/>
        </p:spPr>
        <p:txBody>
          <a:bodyPr wrap="square" lIns="0" tIns="0" rIns="0" bIns="0" rtlCol="0" anchor="t"/>
          <a:lstStyle/>
          <a:p>
            <a:pPr indent="0" marL="0">
              <a:lnSpc>
                <a:spcPct val="118000"/>
              </a:lnSpc>
              <a:buNone/>
            </a:pPr>
            <a:r>
              <a:rPr lang="en-US" sz="1150" dirty="0">
                <a:solidFill>
                  <a:srgbClr val="12212F"/>
                </a:solidFill>
                <a:latin typeface="Courier New" pitchFamily="34" charset="0"/>
                <a:ea typeface="Courier New" pitchFamily="34" charset="-122"/>
                <a:cs typeface="Courier New" pitchFamily="34" charset="-120"/>
              </a:rPr>
              <a:t>Lost margin  = ₹500Cr × 30% ÷ 8,000h = ₹1.9 L/h
</a:t>
            </a:r>
            <a:pPr indent="0" marL="0">
              <a:lnSpc>
                <a:spcPct val="118000"/>
              </a:lnSpc>
              <a:buNone/>
            </a:pPr>
            <a:r>
              <a:rPr lang="en-US" sz="1150" dirty="0">
                <a:solidFill>
                  <a:srgbClr val="12212F"/>
                </a:solidFill>
                <a:latin typeface="Courier New" pitchFamily="34" charset="0"/>
                <a:ea typeface="Courier New" pitchFamily="34" charset="-122"/>
                <a:cs typeface="Courier New" pitchFamily="34" charset="-120"/>
              </a:rPr>
              <a:t>Downtime cut = 60h × 35% [3] × 1.9   = ₹39.4 L
</a:t>
            </a:r>
            <a:pPr indent="0" marL="0">
              <a:lnSpc>
                <a:spcPct val="118000"/>
              </a:lnSpc>
              <a:buNone/>
            </a:pPr>
            <a:r>
              <a:rPr lang="en-US" sz="1150" dirty="0">
                <a:solidFill>
                  <a:srgbClr val="12212F"/>
                </a:solidFill>
                <a:latin typeface="Courier New" pitchFamily="34" charset="0"/>
                <a:ea typeface="Courier New" pitchFamily="34" charset="-122"/>
                <a:cs typeface="Courier New" pitchFamily="34" charset="-120"/>
              </a:rPr>
              <a:t>Repair save  = 12 × ₹2.5L × 10% [3] = ₹ 3.0 L
</a:t>
            </a:r>
            <a:pPr indent="0" marL="0">
              <a:lnSpc>
                <a:spcPct val="118000"/>
              </a:lnSpc>
              <a:buNone/>
            </a:pPr>
            <a:r>
              <a:rPr lang="en-US" sz="1150" dirty="0">
                <a:solidFill>
                  <a:srgbClr val="12212F"/>
                </a:solidFill>
                <a:latin typeface="Courier New" pitchFamily="34" charset="0"/>
                <a:ea typeface="Courier New" pitchFamily="34" charset="-122"/>
                <a:cs typeface="Courier New" pitchFamily="34" charset="-120"/>
              </a:rPr>
              <a:t>Catastrophic avoided = 2 × ₹2.5L    = ₹ 5.0 L
</a:t>
            </a:r>
            <a:pPr indent="0" marL="0">
              <a:lnSpc>
                <a:spcPct val="118000"/>
              </a:lnSpc>
              <a:buNone/>
            </a:pPr>
            <a:r>
              <a:rPr lang="en-US" sz="1150" b="1" dirty="0">
                <a:solidFill>
                  <a:srgbClr val="12212F"/>
                </a:solidFill>
                <a:latin typeface="Courier New" pitchFamily="34" charset="0"/>
                <a:ea typeface="Courier New" pitchFamily="34" charset="-122"/>
                <a:cs typeface="Courier New" pitchFamily="34" charset="-120"/>
              </a:rPr>
              <a:t>Benefit ₹47.4L − OpEx ₹6L            = ₹41.4 L/yr
</a:t>
            </a:r>
            <a:pPr indent="0" marL="0">
              <a:lnSpc>
                <a:spcPct val="118000"/>
              </a:lnSpc>
              <a:buNone/>
            </a:pPr>
            <a:r>
              <a:rPr lang="en-US" sz="1150" b="1" dirty="0">
                <a:solidFill>
                  <a:srgbClr val="12212F"/>
                </a:solidFill>
                <a:latin typeface="Courier New" pitchFamily="34" charset="0"/>
                <a:ea typeface="Courier New" pitchFamily="34" charset="-122"/>
                <a:cs typeface="Courier New" pitchFamily="34" charset="-120"/>
              </a:rPr>
              <a:t>CapEx ₹37L ÷ 41.4 × 12              ≈ 11 months
</a:t>
            </a:r>
            <a:pPr indent="0" marL="0">
              <a:lnSpc>
                <a:spcPct val="118000"/>
              </a:lnSpc>
              <a:buNone/>
            </a:pPr>
            <a:r>
              <a:rPr lang="en-US" sz="1150" dirty="0">
                <a:solidFill>
                  <a:srgbClr val="12212F"/>
                </a:solidFill>
                <a:latin typeface="Courier New" pitchFamily="34" charset="0"/>
                <a:ea typeface="Courier New" pitchFamily="34" charset="-122"/>
                <a:cs typeface="Courier New" pitchFamily="34" charset="-120"/>
              </a:rPr>
              <a:t>5-yr NPV @12% ≈ ₹1.1 Cr  ·  ₹0.64L per avoided hour</a:t>
            </a:r>
            <a:endParaRPr lang="en-US" sz="1150" dirty="0"/>
          </a:p>
        </p:txBody>
      </p:sp>
      <p:sp>
        <p:nvSpPr>
          <p:cNvPr id="7" name="Text 5"/>
          <p:cNvSpPr txBox="1"/>
          <p:nvPr/>
        </p:nvSpPr>
        <p:spPr>
          <a:xfrm>
            <a:off x="704088" y="3749040"/>
            <a:ext cx="5029200" cy="658368"/>
          </a:xfrm>
          <a:prstGeom prst="rect">
            <a:avLst/>
          </a:prstGeom>
          <a:noFill/>
          <a:ln/>
        </p:spPr>
        <p:txBody>
          <a:bodyPr wrap="square" lIns="0" tIns="0" rIns="0" bIns="0" rtlCol="0" anchor="ctr"/>
          <a:lstStyle/>
          <a:p>
            <a:pPr indent="0" marL="0">
              <a:lnSpc>
                <a:spcPct val="105000"/>
              </a:lnSpc>
              <a:buNone/>
            </a:pPr>
            <a:r>
              <a:rPr lang="en-US" sz="1000" i="1" dirty="0">
                <a:solidFill>
                  <a:srgbClr val="5A6B78"/>
                </a:solidFill>
                <a:latin typeface="Arial" pitchFamily="34" charset="0"/>
                <a:ea typeface="Arial" pitchFamily="34" charset="-122"/>
                <a:cs typeface="Arial" pitchFamily="34" charset="-120"/>
              </a:rPr>
              <a:t>CapEx: 50 Ex-rated sensor points (₹17.5 L) + 5 gateways (₹7.5 L) + integration (₹10 L) + training (₹2 L). DOE FEMP ranges applied at the low end [3]; plant figures are labelled estimates — full live-formula workbook in our repository.</a:t>
            </a:r>
            <a:endParaRPr lang="en-US" sz="1000" dirty="0"/>
          </a:p>
        </p:txBody>
      </p:sp>
      <p:sp>
        <p:nvSpPr>
          <p:cNvPr id="8" name="Shape 6"/>
          <p:cNvSpPr/>
          <p:nvPr/>
        </p:nvSpPr>
        <p:spPr>
          <a:xfrm>
            <a:off x="6126480" y="1463040"/>
            <a:ext cx="5559552" cy="3017520"/>
          </a:xfrm>
          <a:prstGeom prst="roundRect">
            <a:avLst>
              <a:gd name="adj" fmla="val 1667"/>
            </a:avLst>
          </a:prstGeom>
          <a:solidFill>
            <a:srgbClr val="FFFFFF"/>
          </a:solidFill>
          <a:ln w="12700">
            <a:solidFill>
              <a:srgbClr val="D9E2E7"/>
            </a:solidFill>
            <a:prstDash val="solid"/>
          </a:ln>
        </p:spPr>
      </p:sp>
      <p:sp>
        <p:nvSpPr>
          <p:cNvPr id="9" name="Text 7"/>
          <p:cNvSpPr txBox="1"/>
          <p:nvPr/>
        </p:nvSpPr>
        <p:spPr>
          <a:xfrm>
            <a:off x="6327648" y="1591056"/>
            <a:ext cx="5120640" cy="237744"/>
          </a:xfrm>
          <a:prstGeom prst="rect">
            <a:avLst/>
          </a:prstGeom>
          <a:noFill/>
          <a:ln/>
        </p:spPr>
        <p:txBody>
          <a:bodyPr wrap="square" lIns="0" tIns="0" rIns="0" bIns="0" rtlCol="0" anchor="ctr"/>
          <a:lstStyle/>
          <a:p>
            <a:pPr indent="0" marL="0">
              <a:buNone/>
            </a:pPr>
            <a:r>
              <a:rPr lang="en-US" sz="1250" b="1" dirty="0">
                <a:solidFill>
                  <a:srgbClr val="B45309"/>
                </a:solidFill>
                <a:latin typeface="Arial" pitchFamily="34" charset="0"/>
                <a:ea typeface="Arial" pitchFamily="34" charset="-122"/>
                <a:cs typeface="Arial" pitchFamily="34" charset="-120"/>
              </a:rPr>
              <a:t>SENSITIVITY — PAYBACK IN MONTHS</a:t>
            </a:r>
            <a:endParaRPr lang="en-US" sz="1250" dirty="0"/>
          </a:p>
        </p:txBody>
      </p:sp>
      <p:graphicFrame>
        <p:nvGraphicFramePr>
          <p:cNvPr id="10" name="Chart 0" descr=""/>
          <p:cNvGraphicFramePr/>
          <p:nvPr/>
        </p:nvGraphicFramePr>
        <p:xfrm>
          <a:off x="6281928" y="1874520"/>
          <a:ext cx="5257800" cy="24688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502920" y="4590288"/>
            <a:ext cx="5394960" cy="1481328"/>
          </a:xfrm>
          <a:prstGeom prst="roundRect">
            <a:avLst>
              <a:gd name="adj" fmla="val 3395"/>
            </a:avLst>
          </a:prstGeom>
          <a:solidFill>
            <a:srgbClr val="FFFFFF"/>
          </a:solidFill>
          <a:ln w="12700">
            <a:solidFill>
              <a:srgbClr val="D9E2E7"/>
            </a:solidFill>
            <a:prstDash val="solid"/>
          </a:ln>
        </p:spPr>
      </p:sp>
      <p:sp>
        <p:nvSpPr>
          <p:cNvPr id="12" name="Text 9"/>
          <p:cNvSpPr txBox="1"/>
          <p:nvPr/>
        </p:nvSpPr>
        <p:spPr>
          <a:xfrm>
            <a:off x="704088" y="4700016"/>
            <a:ext cx="4937760" cy="237744"/>
          </a:xfrm>
          <a:prstGeom prst="rect">
            <a:avLst/>
          </a:prstGeom>
          <a:noFill/>
          <a:ln/>
        </p:spPr>
        <p:txBody>
          <a:bodyPr wrap="square" lIns="0" tIns="0" rIns="0" bIns="0" rtlCol="0" anchor="ctr"/>
          <a:lstStyle/>
          <a:p>
            <a:pPr indent="0" marL="0">
              <a:buNone/>
            </a:pPr>
            <a:r>
              <a:rPr lang="en-US" sz="1250" b="1" dirty="0">
                <a:solidFill>
                  <a:srgbClr val="2E9D66"/>
                </a:solidFill>
                <a:latin typeface="Arial" pitchFamily="34" charset="0"/>
                <a:ea typeface="Arial" pitchFamily="34" charset="-122"/>
                <a:cs typeface="Arial" pitchFamily="34" charset="-120"/>
              </a:rPr>
              <a:t>ENVIRONMENT &amp; SAFETY GAINS</a:t>
            </a:r>
            <a:endParaRPr lang="en-US" sz="1250" dirty="0"/>
          </a:p>
        </p:txBody>
      </p:sp>
      <p:sp>
        <p:nvSpPr>
          <p:cNvPr id="13" name="Text 10"/>
          <p:cNvSpPr txBox="1"/>
          <p:nvPr/>
        </p:nvSpPr>
        <p:spPr>
          <a:xfrm>
            <a:off x="704088" y="4974336"/>
            <a:ext cx="5029200" cy="1005840"/>
          </a:xfrm>
          <a:prstGeom prst="rect">
            <a:avLst/>
          </a:prstGeom>
          <a:noFill/>
          <a:ln/>
        </p:spPr>
        <p:txBody>
          <a:bodyPr wrap="square" lIns="0" tIns="0" rIns="0" bIns="0" rtlCol="0" anchor="t"/>
          <a:lstStyle/>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Seal failures are a leading release path [5]: early detection means fewer leak events, spills and emergency flaring/venting.</a:t>
            </a:r>
            <a:endParaRPr lang="en-US" sz="1150" dirty="0"/>
          </a:p>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Pumping ≈ 20% of world electric-motor demand [10]: the same condition data flags cavitation and off-BEP running for energy fixes.</a:t>
            </a:r>
            <a:endParaRPr lang="en-US" sz="1150" dirty="0"/>
          </a:p>
        </p:txBody>
      </p:sp>
      <p:sp>
        <p:nvSpPr>
          <p:cNvPr id="14" name="Shape 11"/>
          <p:cNvSpPr/>
          <p:nvPr/>
        </p:nvSpPr>
        <p:spPr>
          <a:xfrm>
            <a:off x="6126480" y="4590288"/>
            <a:ext cx="5559552" cy="1481328"/>
          </a:xfrm>
          <a:prstGeom prst="roundRect">
            <a:avLst>
              <a:gd name="adj" fmla="val 3395"/>
            </a:avLst>
          </a:prstGeom>
          <a:solidFill>
            <a:srgbClr val="FFFFFF"/>
          </a:solidFill>
          <a:ln w="12700">
            <a:solidFill>
              <a:srgbClr val="D9E2E7"/>
            </a:solidFill>
            <a:prstDash val="solid"/>
          </a:ln>
        </p:spPr>
      </p:sp>
      <p:sp>
        <p:nvSpPr>
          <p:cNvPr id="15" name="Text 12"/>
          <p:cNvSpPr txBox="1"/>
          <p:nvPr/>
        </p:nvSpPr>
        <p:spPr>
          <a:xfrm>
            <a:off x="6327648" y="4700016"/>
            <a:ext cx="5120640" cy="237744"/>
          </a:xfrm>
          <a:prstGeom prst="rect">
            <a:avLst/>
          </a:prstGeom>
          <a:noFill/>
          <a:ln/>
        </p:spPr>
        <p:txBody>
          <a:bodyPr wrap="square" lIns="0" tIns="0" rIns="0" bIns="0" rtlCol="0" anchor="ctr"/>
          <a:lstStyle/>
          <a:p>
            <a:pPr indent="0" marL="0">
              <a:buNone/>
            </a:pPr>
            <a:r>
              <a:rPr lang="en-US" sz="1250" b="1" dirty="0">
                <a:solidFill>
                  <a:srgbClr val="B45309"/>
                </a:solidFill>
                <a:latin typeface="Arial" pitchFamily="34" charset="0"/>
                <a:ea typeface="Arial" pitchFamily="34" charset="-122"/>
                <a:cs typeface="Arial" pitchFamily="34" charset="-120"/>
              </a:rPr>
              <a:t>TOP RISKS → SPECIFIC MITIGATIONS</a:t>
            </a:r>
            <a:endParaRPr lang="en-US" sz="1250" dirty="0"/>
          </a:p>
        </p:txBody>
      </p:sp>
      <p:sp>
        <p:nvSpPr>
          <p:cNvPr id="16" name="Text 13"/>
          <p:cNvSpPr txBox="1"/>
          <p:nvPr/>
        </p:nvSpPr>
        <p:spPr>
          <a:xfrm>
            <a:off x="6327648" y="4974336"/>
            <a:ext cx="5166360" cy="1005840"/>
          </a:xfrm>
          <a:prstGeom prst="rect">
            <a:avLst/>
          </a:prstGeom>
          <a:noFill/>
          <a:ln/>
        </p:spPr>
        <p:txBody>
          <a:bodyPr wrap="square" lIns="0" tIns="0" rIns="0" bIns="0" rtlCol="0" anchor="t"/>
          <a:lstStyle/>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False alarms erode trust → shadow mode + ≤2/pump-month gate.  Hazardous areas → PESO/IECEx intrinsically-safe sensors only.</a:t>
            </a:r>
            <a:endParaRPr lang="en-US" sz="1150" dirty="0"/>
          </a:p>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OT cybersecurity → one-way data flow, segregated network.  Skills → weekly analyst review + operator training in CapEx.</a:t>
            </a:r>
            <a:endParaRPr lang="en-US" sz="1150" dirty="0"/>
          </a:p>
        </p:txBody>
      </p:sp>
      <p:sp>
        <p:nvSpPr>
          <p:cNvPr id="17" name="Text 14"/>
          <p:cNvSpPr txBox="1"/>
          <p:nvPr/>
        </p:nvSpPr>
        <p:spPr>
          <a:xfrm>
            <a:off x="502920" y="6419088"/>
            <a:ext cx="11185855" cy="201168"/>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Sources: [3] US DOE FEMP, O&amp;M Best Practices Guide R3.0, 2010 — PdM: 35–45% downtime reduction, 8–12% saving vs preventive. [5] McKee et al., ICOMS 2011. [10] Hydraulic Institute, Europump &amp; US DOE, Pump Life Cycle Costs, 2001. All plant-specific values: labelled team estimates (assumption register + live workbook).</a:t>
            </a:r>
            <a:endParaRPr lang="en-US" sz="850" dirty="0"/>
          </a:p>
        </p:txBody>
      </p:sp>
      <p:sp>
        <p:nvSpPr>
          <p:cNvPr id="18" name="Text 15"/>
          <p:cNvSpPr txBox="1"/>
          <p:nvPr/>
        </p:nvSpPr>
        <p:spPr>
          <a:xfrm>
            <a:off x="502920" y="6620256"/>
            <a:ext cx="8686800" cy="182880"/>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India Chem 2026 · Youth Innovation Challenge — NIT Warangal · Raunak Jain &amp; Anushriya Bhattacharya</a:t>
            </a:r>
            <a:endParaRPr lang="en-US" sz="850" dirty="0"/>
          </a:p>
        </p:txBody>
      </p:sp>
      <p:sp>
        <p:nvSpPr>
          <p:cNvPr id="19" name="Text 16"/>
          <p:cNvSpPr txBox="1"/>
          <p:nvPr/>
        </p:nvSpPr>
        <p:spPr>
          <a:xfrm>
            <a:off x="10774375" y="6620256"/>
            <a:ext cx="914400" cy="182880"/>
          </a:xfrm>
          <a:prstGeom prst="rect">
            <a:avLst/>
          </a:prstGeom>
          <a:noFill/>
          <a:ln/>
        </p:spPr>
        <p:txBody>
          <a:bodyPr wrap="square" lIns="0" tIns="0" rIns="0" bIns="0" rtlCol="0" anchor="ctr"/>
          <a:lstStyle/>
          <a:p>
            <a:pPr algn="r" indent="0" marL="0">
              <a:buNone/>
            </a:pPr>
            <a:r>
              <a:rPr lang="en-US" sz="850" dirty="0">
                <a:solidFill>
                  <a:srgbClr val="5A6B78"/>
                </a:solidFill>
                <a:latin typeface="Arial" pitchFamily="34" charset="0"/>
                <a:ea typeface="Arial" pitchFamily="34" charset="-122"/>
                <a:cs typeface="Arial" pitchFamily="34" charset="-120"/>
              </a:rPr>
              <a:t>07 / 08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09728"/>
            <a:ext cx="11185855" cy="182880"/>
          </a:xfrm>
          <a:prstGeom prst="rect">
            <a:avLst/>
          </a:prstGeom>
          <a:noFill/>
          <a:ln/>
        </p:spPr>
        <p:txBody>
          <a:bodyPr wrap="square" lIns="0" tIns="0" rIns="0" bIns="0" rtlCol="0" anchor="ctr"/>
          <a:lstStyle/>
          <a:p>
            <a:pPr indent="0" marL="0">
              <a:buNone/>
            </a:pPr>
            <a:r>
              <a:rPr lang="en-US" sz="1050" b="1" spc="200" kern="0" dirty="0">
                <a:solidFill>
                  <a:srgbClr val="087E8B"/>
                </a:solidFill>
                <a:latin typeface="Arial" pitchFamily="34" charset="0"/>
                <a:ea typeface="Arial" pitchFamily="34" charset="-122"/>
                <a:cs typeface="Arial" pitchFamily="34" charset="-120"/>
              </a:rPr>
              <a:t>SUPPORTING EVIDENCE · WAY FORWARD</a:t>
            </a:r>
            <a:endParaRPr lang="en-US" sz="1050" dirty="0"/>
          </a:p>
        </p:txBody>
      </p:sp>
      <p:sp>
        <p:nvSpPr>
          <p:cNvPr id="3" name="Text 1"/>
          <p:cNvSpPr txBox="1"/>
          <p:nvPr/>
        </p:nvSpPr>
        <p:spPr>
          <a:xfrm>
            <a:off x="502920" y="292608"/>
            <a:ext cx="11185855" cy="731520"/>
          </a:xfrm>
          <a:prstGeom prst="rect">
            <a:avLst/>
          </a:prstGeom>
          <a:noFill/>
          <a:ln/>
        </p:spPr>
        <p:txBody>
          <a:bodyPr wrap="square" lIns="0" tIns="0" rIns="0" bIns="0" rtlCol="0" anchor="t"/>
          <a:lstStyle/>
          <a:p>
            <a:pPr indent="0" marL="0">
              <a:lnSpc>
                <a:spcPct val="104000"/>
              </a:lnSpc>
              <a:buNone/>
            </a:pPr>
            <a:r>
              <a:rPr lang="en-US" sz="2400" b="1" dirty="0">
                <a:solidFill>
                  <a:srgbClr val="12212F"/>
                </a:solidFill>
                <a:latin typeface="Arial" pitchFamily="34" charset="0"/>
                <a:ea typeface="Arial" pitchFamily="34" charset="-122"/>
                <a:cs typeface="Arial" pitchFamily="34" charset="-120"/>
              </a:rPr>
              <a:t>Benchmark-validated today, plant-validated in six months — then an </a:t>
            </a:r>
            <a:pPr indent="0" marL="0">
              <a:lnSpc>
                <a:spcPct val="104000"/>
              </a:lnSpc>
              <a:buNone/>
            </a:pPr>
            <a:r>
              <a:rPr lang="en-US" sz="2400" b="1" dirty="0">
                <a:solidFill>
                  <a:srgbClr val="087E8B"/>
                </a:solidFill>
                <a:latin typeface="Arial" pitchFamily="34" charset="0"/>
                <a:ea typeface="Arial" pitchFamily="34" charset="-122"/>
                <a:cs typeface="Arial" pitchFamily="34" charset="-120"/>
              </a:rPr>
              <a:t>open reliability stack</a:t>
            </a:r>
            <a:pPr indent="0" marL="0">
              <a:lnSpc>
                <a:spcPct val="104000"/>
              </a:lnSpc>
              <a:buNone/>
            </a:pPr>
            <a:r>
              <a:rPr lang="en-US" sz="2400" b="1" dirty="0">
                <a:solidFill>
                  <a:srgbClr val="12212F"/>
                </a:solidFill>
                <a:latin typeface="Arial" pitchFamily="34" charset="0"/>
                <a:ea typeface="Arial" pitchFamily="34" charset="-122"/>
                <a:cs typeface="Arial" pitchFamily="34" charset="-120"/>
              </a:rPr>
              <a:t> India's chemical clusters can share</a:t>
            </a:r>
            <a:endParaRPr lang="en-US" sz="2400" dirty="0"/>
          </a:p>
        </p:txBody>
      </p:sp>
      <p:sp>
        <p:nvSpPr>
          <p:cNvPr id="4" name="Shape 2"/>
          <p:cNvSpPr/>
          <p:nvPr/>
        </p:nvSpPr>
        <p:spPr>
          <a:xfrm>
            <a:off x="502920" y="1463040"/>
            <a:ext cx="5486400" cy="2011680"/>
          </a:xfrm>
          <a:prstGeom prst="roundRect">
            <a:avLst>
              <a:gd name="adj" fmla="val 2500"/>
            </a:avLst>
          </a:prstGeom>
          <a:solidFill>
            <a:srgbClr val="FFFFFF"/>
          </a:solidFill>
          <a:ln w="12700">
            <a:solidFill>
              <a:srgbClr val="D9E2E7"/>
            </a:solidFill>
            <a:prstDash val="solid"/>
          </a:ln>
        </p:spPr>
      </p:sp>
      <p:sp>
        <p:nvSpPr>
          <p:cNvPr id="5" name="Text 3"/>
          <p:cNvSpPr txBox="1"/>
          <p:nvPr/>
        </p:nvSpPr>
        <p:spPr>
          <a:xfrm>
            <a:off x="704088" y="1591056"/>
            <a:ext cx="5029200" cy="237744"/>
          </a:xfrm>
          <a:prstGeom prst="rect">
            <a:avLst/>
          </a:prstGeom>
          <a:noFill/>
          <a:ln/>
        </p:spPr>
        <p:txBody>
          <a:bodyPr wrap="square" lIns="0" tIns="0" rIns="0" bIns="0" rtlCol="0" anchor="ctr"/>
          <a:lstStyle/>
          <a:p>
            <a:pPr indent="0" marL="0">
              <a:buNone/>
            </a:pPr>
            <a:r>
              <a:rPr lang="en-US" sz="1250" b="1" dirty="0">
                <a:solidFill>
                  <a:srgbClr val="2E9D66"/>
                </a:solidFill>
                <a:latin typeface="Arial" pitchFamily="34" charset="0"/>
                <a:ea typeface="Arial" pitchFamily="34" charset="-122"/>
                <a:cs typeface="Arial" pitchFamily="34" charset="-120"/>
              </a:rPr>
              <a:t>VALIDATED ALREADY (SOURCED / COMPUTED)</a:t>
            </a:r>
            <a:endParaRPr lang="en-US" sz="1250" dirty="0"/>
          </a:p>
        </p:txBody>
      </p:sp>
      <p:sp>
        <p:nvSpPr>
          <p:cNvPr id="6" name="Text 4"/>
          <p:cNvSpPr txBox="1"/>
          <p:nvPr/>
        </p:nvSpPr>
        <p:spPr>
          <a:xfrm>
            <a:off x="704088" y="1883664"/>
            <a:ext cx="5120640" cy="1508760"/>
          </a:xfrm>
          <a:prstGeom prst="rect">
            <a:avLst/>
          </a:prstGeom>
          <a:noFill/>
          <a:ln/>
        </p:spPr>
        <p:txBody>
          <a:bodyPr wrap="square" lIns="0" tIns="0" rIns="0" bIns="0" rtlCol="0" anchor="t"/>
          <a:lstStyle/>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Effectiveness band: 35–45% downtime cut for working PdM programmes — US DOE FEMP [3]</a:t>
            </a:r>
            <a:endParaRPr lang="en-US" sz="1150" dirty="0"/>
          </a:p>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Failure logic: 89% of failure modes not age-related; bearings/seals dominate pumps [4][5]</a:t>
            </a:r>
            <a:endParaRPr lang="en-US" sz="1150" dirty="0"/>
          </a:p>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Detection: our prototype, leakage-free evaluation on public CWRU benchmark — 97.9% unseen-load accuracy, 0 false alarms [6]</a:t>
            </a:r>
            <a:endParaRPr lang="en-US" sz="1150" dirty="0"/>
          </a:p>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Standards path exists: ISO 20816-3 · 13374 · 17359 · 14224 [7]</a:t>
            </a:r>
            <a:endParaRPr lang="en-US" sz="1150" dirty="0"/>
          </a:p>
        </p:txBody>
      </p:sp>
      <p:sp>
        <p:nvSpPr>
          <p:cNvPr id="7" name="Shape 5"/>
          <p:cNvSpPr/>
          <p:nvPr/>
        </p:nvSpPr>
        <p:spPr>
          <a:xfrm>
            <a:off x="6217920" y="1463040"/>
            <a:ext cx="5468112" cy="2011680"/>
          </a:xfrm>
          <a:prstGeom prst="roundRect">
            <a:avLst>
              <a:gd name="adj" fmla="val 2500"/>
            </a:avLst>
          </a:prstGeom>
          <a:solidFill>
            <a:srgbClr val="FFFFFF"/>
          </a:solidFill>
          <a:ln w="12700">
            <a:solidFill>
              <a:srgbClr val="D9E2E7"/>
            </a:solidFill>
            <a:prstDash val="solid"/>
          </a:ln>
        </p:spPr>
      </p:sp>
      <p:sp>
        <p:nvSpPr>
          <p:cNvPr id="8" name="Text 6"/>
          <p:cNvSpPr txBox="1"/>
          <p:nvPr/>
        </p:nvSpPr>
        <p:spPr>
          <a:xfrm>
            <a:off x="6419088" y="1591056"/>
            <a:ext cx="5029200" cy="237744"/>
          </a:xfrm>
          <a:prstGeom prst="rect">
            <a:avLst/>
          </a:prstGeom>
          <a:noFill/>
          <a:ln/>
        </p:spPr>
        <p:txBody>
          <a:bodyPr wrap="square" lIns="0" tIns="0" rIns="0" bIns="0" rtlCol="0" anchor="ctr"/>
          <a:lstStyle/>
          <a:p>
            <a:pPr indent="0" marL="0">
              <a:buNone/>
            </a:pPr>
            <a:r>
              <a:rPr lang="en-US" sz="1250" b="1" dirty="0">
                <a:solidFill>
                  <a:srgbClr val="B45309"/>
                </a:solidFill>
                <a:latin typeface="Arial" pitchFamily="34" charset="0"/>
                <a:ea typeface="Arial" pitchFamily="34" charset="-122"/>
                <a:cs typeface="Arial" pitchFamily="34" charset="-120"/>
              </a:rPr>
              <a:t>STILL NEEDS PILOT PROOF (WE SAID SO ON EVERY SLIDE)</a:t>
            </a:r>
            <a:endParaRPr lang="en-US" sz="1250" dirty="0"/>
          </a:p>
        </p:txBody>
      </p:sp>
      <p:sp>
        <p:nvSpPr>
          <p:cNvPr id="9" name="Text 7"/>
          <p:cNvSpPr txBox="1"/>
          <p:nvPr/>
        </p:nvSpPr>
        <p:spPr>
          <a:xfrm>
            <a:off x="6419088" y="1883664"/>
            <a:ext cx="5074920" cy="1508760"/>
          </a:xfrm>
          <a:prstGeom prst="rect">
            <a:avLst/>
          </a:prstGeom>
          <a:noFill/>
          <a:ln/>
        </p:spPr>
        <p:txBody>
          <a:bodyPr wrap="square" lIns="0" tIns="0" rIns="0" bIns="0" rtlCol="0" anchor="t"/>
          <a:lstStyle/>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Detection lead time and false-alert rate under real plant noise and variable operation</a:t>
            </a:r>
            <a:endParaRPr lang="en-US" sz="1150" dirty="0"/>
          </a:p>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The 60 h/yr baseline and ₹1.9 L/h margin — replaced by the host plant's actual history in P0</a:t>
            </a:r>
            <a:endParaRPr lang="en-US" sz="1150" dirty="0"/>
          </a:p>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Indian installed cost points (sensor quotes, Ex certification, integration effort)</a:t>
            </a:r>
            <a:endParaRPr lang="en-US" sz="1150" dirty="0"/>
          </a:p>
          <a:p>
            <a:pPr marL="127000" indent="-127000">
              <a:lnSpc>
                <a:spcPct val="106000"/>
              </a:lnSpc>
              <a:spcAft>
                <a:spcPts val="400"/>
              </a:spcAft>
              <a:buSzPct val="100000"/>
              <a:buChar char="•"/>
            </a:pPr>
            <a:r>
              <a:rPr lang="en-US" sz="1150" dirty="0">
                <a:solidFill>
                  <a:srgbClr val="12212F"/>
                </a:solidFill>
                <a:latin typeface="Arial" pitchFamily="34" charset="0"/>
                <a:ea typeface="Arial" pitchFamily="34" charset="-122"/>
                <a:cs typeface="Arial" pitchFamily="34" charset="-120"/>
              </a:rPr>
              <a:t>Model transfer from benchmark features to plant-specific baselines</a:t>
            </a:r>
            <a:endParaRPr lang="en-US" sz="1150" dirty="0"/>
          </a:p>
        </p:txBody>
      </p:sp>
      <p:sp>
        <p:nvSpPr>
          <p:cNvPr id="10" name="Shape 8"/>
          <p:cNvSpPr/>
          <p:nvPr/>
        </p:nvSpPr>
        <p:spPr>
          <a:xfrm>
            <a:off x="502920" y="3703320"/>
            <a:ext cx="3606698" cy="1051560"/>
          </a:xfrm>
          <a:prstGeom prst="roundRect">
            <a:avLst>
              <a:gd name="adj" fmla="val 4783"/>
            </a:avLst>
          </a:prstGeom>
          <a:solidFill>
            <a:srgbClr val="FFFFFF"/>
          </a:solidFill>
          <a:ln w="12700">
            <a:solidFill>
              <a:srgbClr val="D9E2E7"/>
            </a:solidFill>
            <a:prstDash val="solid"/>
          </a:ln>
        </p:spPr>
      </p:sp>
      <p:sp>
        <p:nvSpPr>
          <p:cNvPr id="11" name="Text 9"/>
          <p:cNvSpPr txBox="1"/>
          <p:nvPr/>
        </p:nvSpPr>
        <p:spPr>
          <a:xfrm>
            <a:off x="630936" y="3776472"/>
            <a:ext cx="3350666" cy="219456"/>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M0–6  </a:t>
            </a:r>
            <a:pPr indent="0" marL="0">
              <a:buNone/>
            </a:pPr>
            <a:r>
              <a:rPr lang="en-US" sz="1250" b="1" dirty="0">
                <a:solidFill>
                  <a:srgbClr val="12212F"/>
                </a:solidFill>
                <a:latin typeface="Arial" pitchFamily="34" charset="0"/>
                <a:ea typeface="Arial" pitchFamily="34" charset="-122"/>
                <a:cs typeface="Arial" pitchFamily="34" charset="-120"/>
              </a:rPr>
              <a:t>Pilot</a:t>
            </a:r>
            <a:endParaRPr lang="en-US" sz="1250" dirty="0"/>
          </a:p>
        </p:txBody>
      </p:sp>
      <p:sp>
        <p:nvSpPr>
          <p:cNvPr id="12" name="Text 10"/>
          <p:cNvSpPr txBox="1"/>
          <p:nvPr/>
        </p:nvSpPr>
        <p:spPr>
          <a:xfrm>
            <a:off x="630936" y="4014216"/>
            <a:ext cx="3350666" cy="685800"/>
          </a:xfrm>
          <a:prstGeom prst="rect">
            <a:avLst/>
          </a:prstGeom>
          <a:noFill/>
          <a:ln/>
        </p:spPr>
        <p:txBody>
          <a:bodyPr wrap="square" lIns="0" tIns="0" rIns="0" bIns="0" rtlCol="0" anchor="t"/>
          <a:lstStyle/>
          <a:p>
            <a:pPr indent="0" marL="0">
              <a:lnSpc>
                <a:spcPct val="105000"/>
              </a:lnSpc>
              <a:buNone/>
            </a:pPr>
            <a:r>
              <a:rPr lang="en-US" sz="1050" dirty="0">
                <a:solidFill>
                  <a:srgbClr val="12212F"/>
                </a:solidFill>
                <a:latin typeface="Arial" pitchFamily="34" charset="0"/>
                <a:ea typeface="Arial" pitchFamily="34" charset="-122"/>
                <a:cs typeface="Arial" pitchFamily="34" charset="-120"/>
              </a:rPr>
              <a:t>25 pumps, one plant · shadow → live at the gate</a:t>
            </a:r>
            <a:endParaRPr lang="en-US" sz="1050" dirty="0"/>
          </a:p>
        </p:txBody>
      </p:sp>
      <p:sp>
        <p:nvSpPr>
          <p:cNvPr id="13" name="Shape 11"/>
          <p:cNvSpPr/>
          <p:nvPr/>
        </p:nvSpPr>
        <p:spPr>
          <a:xfrm>
            <a:off x="4127906" y="4229100"/>
            <a:ext cx="146304" cy="0"/>
          </a:xfrm>
          <a:prstGeom prst="line">
            <a:avLst/>
          </a:prstGeom>
          <a:noFill/>
          <a:ln w="25400">
            <a:solidFill>
              <a:srgbClr val="087E8B"/>
            </a:solidFill>
            <a:prstDash val="solid"/>
            <a:tailEnd type="triangle"/>
          </a:ln>
        </p:spPr>
      </p:sp>
      <p:sp>
        <p:nvSpPr>
          <p:cNvPr id="14" name="Shape 12"/>
          <p:cNvSpPr/>
          <p:nvPr/>
        </p:nvSpPr>
        <p:spPr>
          <a:xfrm>
            <a:off x="4292498" y="3703320"/>
            <a:ext cx="3606698" cy="1051560"/>
          </a:xfrm>
          <a:prstGeom prst="roundRect">
            <a:avLst>
              <a:gd name="adj" fmla="val 4783"/>
            </a:avLst>
          </a:prstGeom>
          <a:solidFill>
            <a:srgbClr val="FFFFFF"/>
          </a:solidFill>
          <a:ln w="12700">
            <a:solidFill>
              <a:srgbClr val="D9E2E7"/>
            </a:solidFill>
            <a:prstDash val="solid"/>
          </a:ln>
        </p:spPr>
      </p:sp>
      <p:sp>
        <p:nvSpPr>
          <p:cNvPr id="15" name="Text 13"/>
          <p:cNvSpPr txBox="1"/>
          <p:nvPr/>
        </p:nvSpPr>
        <p:spPr>
          <a:xfrm>
            <a:off x="4420514" y="3776472"/>
            <a:ext cx="3350666" cy="219456"/>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M6–12  </a:t>
            </a:r>
            <a:pPr indent="0" marL="0">
              <a:buNone/>
            </a:pPr>
            <a:r>
              <a:rPr lang="en-US" sz="1250" b="1" dirty="0">
                <a:solidFill>
                  <a:srgbClr val="12212F"/>
                </a:solidFill>
                <a:latin typeface="Arial" pitchFamily="34" charset="0"/>
                <a:ea typeface="Arial" pitchFamily="34" charset="-122"/>
                <a:cs typeface="Arial" pitchFamily="34" charset="-120"/>
              </a:rPr>
              <a:t>Plant-wide</a:t>
            </a:r>
            <a:endParaRPr lang="en-US" sz="1250" dirty="0"/>
          </a:p>
        </p:txBody>
      </p:sp>
      <p:sp>
        <p:nvSpPr>
          <p:cNvPr id="16" name="Text 14"/>
          <p:cNvSpPr txBox="1"/>
          <p:nvPr/>
        </p:nvSpPr>
        <p:spPr>
          <a:xfrm>
            <a:off x="4420514" y="4014216"/>
            <a:ext cx="3350666" cy="685800"/>
          </a:xfrm>
          <a:prstGeom prst="rect">
            <a:avLst/>
          </a:prstGeom>
          <a:noFill/>
          <a:ln/>
        </p:spPr>
        <p:txBody>
          <a:bodyPr wrap="square" lIns="0" tIns="0" rIns="0" bIns="0" rtlCol="0" anchor="t"/>
          <a:lstStyle/>
          <a:p>
            <a:pPr indent="0" marL="0">
              <a:lnSpc>
                <a:spcPct val="105000"/>
              </a:lnSpc>
              <a:buNone/>
            </a:pPr>
            <a:r>
              <a:rPr lang="en-US" sz="1050" dirty="0">
                <a:solidFill>
                  <a:srgbClr val="12212F"/>
                </a:solidFill>
                <a:latin typeface="Arial" pitchFamily="34" charset="0"/>
                <a:ea typeface="Arial" pitchFamily="34" charset="-122"/>
                <a:cs typeface="Arial" pitchFamily="34" charset="-120"/>
              </a:rPr>
              <a:t>100+ assets: compressors, agitators, fans · plant reliability dashboard</a:t>
            </a:r>
            <a:endParaRPr lang="en-US" sz="1050" dirty="0"/>
          </a:p>
        </p:txBody>
      </p:sp>
      <p:sp>
        <p:nvSpPr>
          <p:cNvPr id="17" name="Shape 15"/>
          <p:cNvSpPr/>
          <p:nvPr/>
        </p:nvSpPr>
        <p:spPr>
          <a:xfrm>
            <a:off x="7917485" y="4229100"/>
            <a:ext cx="146304" cy="0"/>
          </a:xfrm>
          <a:prstGeom prst="line">
            <a:avLst/>
          </a:prstGeom>
          <a:noFill/>
          <a:ln w="25400">
            <a:solidFill>
              <a:srgbClr val="087E8B"/>
            </a:solidFill>
            <a:prstDash val="solid"/>
            <a:tailEnd type="triangle"/>
          </a:ln>
        </p:spPr>
      </p:sp>
      <p:sp>
        <p:nvSpPr>
          <p:cNvPr id="18" name="Shape 16"/>
          <p:cNvSpPr/>
          <p:nvPr/>
        </p:nvSpPr>
        <p:spPr>
          <a:xfrm>
            <a:off x="8082077" y="3703320"/>
            <a:ext cx="3606698" cy="1051560"/>
          </a:xfrm>
          <a:prstGeom prst="roundRect">
            <a:avLst>
              <a:gd name="adj" fmla="val 4783"/>
            </a:avLst>
          </a:prstGeom>
          <a:solidFill>
            <a:srgbClr val="F0F7F3"/>
          </a:solidFill>
          <a:ln w="12700">
            <a:solidFill>
              <a:srgbClr val="D9E2E7"/>
            </a:solidFill>
            <a:prstDash val="solid"/>
          </a:ln>
        </p:spPr>
      </p:sp>
      <p:sp>
        <p:nvSpPr>
          <p:cNvPr id="19" name="Text 17"/>
          <p:cNvSpPr txBox="1"/>
          <p:nvPr/>
        </p:nvSpPr>
        <p:spPr>
          <a:xfrm>
            <a:off x="8210093" y="3776472"/>
            <a:ext cx="3350666" cy="219456"/>
          </a:xfrm>
          <a:prstGeom prst="rect">
            <a:avLst/>
          </a:prstGeom>
          <a:noFill/>
          <a:ln/>
        </p:spPr>
        <p:txBody>
          <a:bodyPr wrap="square" lIns="0" tIns="0" rIns="0" bIns="0" rtlCol="0" anchor="ctr"/>
          <a:lstStyle/>
          <a:p>
            <a:pPr indent="0" marL="0">
              <a:buNone/>
            </a:pPr>
            <a:r>
              <a:rPr lang="en-US" sz="1250" b="1" dirty="0">
                <a:solidFill>
                  <a:srgbClr val="087E8B"/>
                </a:solidFill>
                <a:latin typeface="Arial" pitchFamily="34" charset="0"/>
                <a:ea typeface="Arial" pitchFamily="34" charset="-122"/>
                <a:cs typeface="Arial" pitchFamily="34" charset="-120"/>
              </a:rPr>
              <a:t>M12–24  </a:t>
            </a:r>
            <a:pPr indent="0" marL="0">
              <a:buNone/>
            </a:pPr>
            <a:r>
              <a:rPr lang="en-US" sz="1250" b="1" dirty="0">
                <a:solidFill>
                  <a:srgbClr val="12212F"/>
                </a:solidFill>
                <a:latin typeface="Arial" pitchFamily="34" charset="0"/>
                <a:ea typeface="Arial" pitchFamily="34" charset="-122"/>
                <a:cs typeface="Arial" pitchFamily="34" charset="-120"/>
              </a:rPr>
              <a:t>Cluster scale</a:t>
            </a:r>
            <a:endParaRPr lang="en-US" sz="1250" dirty="0"/>
          </a:p>
        </p:txBody>
      </p:sp>
      <p:sp>
        <p:nvSpPr>
          <p:cNvPr id="20" name="Text 18"/>
          <p:cNvSpPr txBox="1"/>
          <p:nvPr/>
        </p:nvSpPr>
        <p:spPr>
          <a:xfrm>
            <a:off x="8210093" y="4014216"/>
            <a:ext cx="3350666" cy="685800"/>
          </a:xfrm>
          <a:prstGeom prst="rect">
            <a:avLst/>
          </a:prstGeom>
          <a:noFill/>
          <a:ln/>
        </p:spPr>
        <p:txBody>
          <a:bodyPr wrap="square" lIns="0" tIns="0" rIns="0" bIns="0" rtlCol="0" anchor="t"/>
          <a:lstStyle/>
          <a:p>
            <a:pPr indent="0" marL="0">
              <a:lnSpc>
                <a:spcPct val="105000"/>
              </a:lnSpc>
              <a:buNone/>
            </a:pPr>
            <a:r>
              <a:rPr lang="en-US" sz="1050" dirty="0">
                <a:solidFill>
                  <a:srgbClr val="12212F"/>
                </a:solidFill>
                <a:latin typeface="Arial" pitchFamily="34" charset="0"/>
                <a:ea typeface="Arial" pitchFamily="34" charset="-122"/>
                <a:cs typeface="Arial" pitchFamily="34" charset="-120"/>
              </a:rPr>
              <a:t>Shared-service model for MSME chemical clusters · aligned with SAMARTH Udyog centres &amp; NM-ICPS hubs [8][9]</a:t>
            </a:r>
            <a:endParaRPr lang="en-US" sz="1050" dirty="0"/>
          </a:p>
        </p:txBody>
      </p:sp>
      <p:sp>
        <p:nvSpPr>
          <p:cNvPr id="21" name="Shape 19"/>
          <p:cNvSpPr/>
          <p:nvPr/>
        </p:nvSpPr>
        <p:spPr>
          <a:xfrm>
            <a:off x="502920" y="4956048"/>
            <a:ext cx="6720840" cy="1143000"/>
          </a:xfrm>
          <a:prstGeom prst="roundRect">
            <a:avLst>
              <a:gd name="adj" fmla="val 4400"/>
            </a:avLst>
          </a:prstGeom>
          <a:solidFill>
            <a:srgbClr val="12212F"/>
          </a:solidFill>
          <a:ln/>
        </p:spPr>
      </p:sp>
      <p:sp>
        <p:nvSpPr>
          <p:cNvPr id="22" name="Text 20"/>
          <p:cNvSpPr txBox="1"/>
          <p:nvPr/>
        </p:nvSpPr>
        <p:spPr>
          <a:xfrm>
            <a:off x="731520" y="5047488"/>
            <a:ext cx="6309360" cy="960120"/>
          </a:xfrm>
          <a:prstGeom prst="rect">
            <a:avLst/>
          </a:prstGeom>
          <a:noFill/>
          <a:ln/>
        </p:spPr>
        <p:txBody>
          <a:bodyPr wrap="square" lIns="0" tIns="0" rIns="0" bIns="0" rtlCol="0" anchor="ctr"/>
          <a:lstStyle/>
          <a:p>
            <a:pPr indent="0" marL="0">
              <a:lnSpc>
                <a:spcPct val="110000"/>
              </a:lnSpc>
              <a:buNone/>
            </a:pPr>
            <a:r>
              <a:rPr lang="en-US" sz="1300" b="1" dirty="0">
                <a:solidFill>
                  <a:srgbClr val="F7B84B"/>
                </a:solidFill>
                <a:latin typeface="Arial" pitchFamily="34" charset="0"/>
                <a:ea typeface="Arial" pitchFamily="34" charset="-122"/>
                <a:cs typeface="Arial" pitchFamily="34" charset="-120"/>
              </a:rPr>
              <a:t>Our ask of industry — one pilot partner: </a:t>
            </a:r>
            <a:pPr indent="0" marL="0">
              <a:lnSpc>
                <a:spcPct val="110000"/>
              </a:lnSpc>
              <a:buNone/>
            </a:pPr>
            <a:r>
              <a:rPr lang="en-US" sz="1300" dirty="0">
                <a:solidFill>
                  <a:srgbClr val="FFFFFF"/>
                </a:solidFill>
                <a:latin typeface="Arial" pitchFamily="34" charset="0"/>
                <a:ea typeface="Arial" pitchFamily="34" charset="-122"/>
                <a:cs typeface="Arial" pitchFamily="34" charset="-120"/>
              </a:rPr>
              <a:t>25 critical pumps, 12 months of CMMS &amp; historian history, and site access for 6 months. We bring sensors, models, dashboards and open code — the plant keeps the data, the models and the results, published either way.</a:t>
            </a:r>
            <a:endParaRPr lang="en-US" sz="1300" dirty="0"/>
          </a:p>
        </p:txBody>
      </p:sp>
      <p:sp>
        <p:nvSpPr>
          <p:cNvPr id="23" name="Shape 21"/>
          <p:cNvSpPr/>
          <p:nvPr/>
        </p:nvSpPr>
        <p:spPr>
          <a:xfrm>
            <a:off x="7452360" y="4956048"/>
            <a:ext cx="4233672" cy="1143000"/>
          </a:xfrm>
          <a:prstGeom prst="roundRect">
            <a:avLst>
              <a:gd name="adj" fmla="val 4400"/>
            </a:avLst>
          </a:prstGeom>
          <a:solidFill>
            <a:srgbClr val="F0F7F3"/>
          </a:solidFill>
          <a:ln w="12700">
            <a:solidFill>
              <a:srgbClr val="D9E2E7"/>
            </a:solidFill>
            <a:prstDash val="solid"/>
          </a:ln>
        </p:spPr>
      </p:sp>
      <p:sp>
        <p:nvSpPr>
          <p:cNvPr id="24" name="Text 22"/>
          <p:cNvSpPr txBox="1"/>
          <p:nvPr/>
        </p:nvSpPr>
        <p:spPr>
          <a:xfrm>
            <a:off x="7653528" y="5047488"/>
            <a:ext cx="3840480" cy="960120"/>
          </a:xfrm>
          <a:prstGeom prst="rect">
            <a:avLst/>
          </a:prstGeom>
          <a:noFill/>
          <a:ln/>
        </p:spPr>
        <p:txBody>
          <a:bodyPr wrap="square" lIns="0" tIns="0" rIns="0" bIns="0" rtlCol="0" anchor="ctr"/>
          <a:lstStyle/>
          <a:p>
            <a:pPr indent="0" marL="0">
              <a:lnSpc>
                <a:spcPct val="108000"/>
              </a:lnSpc>
              <a:buNone/>
            </a:pPr>
            <a:r>
              <a:rPr lang="en-US" sz="1250" b="1" dirty="0">
                <a:solidFill>
                  <a:srgbClr val="2E9D66"/>
                </a:solidFill>
                <a:latin typeface="Arial" pitchFamily="34" charset="0"/>
                <a:ea typeface="Arial" pitchFamily="34" charset="-122"/>
                <a:cs typeface="Arial" pitchFamily="34" charset="-120"/>
              </a:rPr>
              <a:t>If the jury remembers one line: </a:t>
            </a:r>
            <a:endParaRPr lang="en-US" sz="1250" dirty="0"/>
          </a:p>
          <a:p>
            <a:pPr indent="0" marL="0">
              <a:lnSpc>
                <a:spcPct val="108000"/>
              </a:lnSpc>
              <a:buNone/>
            </a:pPr>
            <a:r>
              <a:rPr lang="en-US" sz="1250" i="1" dirty="0">
                <a:solidFill>
                  <a:srgbClr val="12212F"/>
                </a:solidFill>
                <a:latin typeface="Arial" pitchFamily="34" charset="0"/>
                <a:ea typeface="Arial" pitchFamily="34" charset="-122"/>
                <a:cs typeface="Arial" pitchFamily="34" charset="-120"/>
              </a:rPr>
              <a:t>Listen to the machines before they stop the plant — ₹37 lakh, 11-month payback, and the plant keeps the brains.</a:t>
            </a:r>
            <a:endParaRPr lang="en-US" sz="1250" dirty="0"/>
          </a:p>
        </p:txBody>
      </p:sp>
      <p:sp>
        <p:nvSpPr>
          <p:cNvPr id="25" name="Text 23"/>
          <p:cNvSpPr txBox="1"/>
          <p:nvPr/>
        </p:nvSpPr>
        <p:spPr>
          <a:xfrm>
            <a:off x="502920" y="6419088"/>
            <a:ext cx="11185855" cy="201168"/>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Sources: [2] PIB/DCPC — Indian chemicals &amp; petrochemicals demand headed to ~USD 1 trillion by 2040 (pib.gov.in, 2023): reliability is a sector-scale lever. [3][4][5][6][7] as cited. [8] NITI Aayog Nat'l Strategy for AI, 2018; DST NM-ICPS, 2018 (₹3,660 Cr). [9] MHI SAMARTH Udyog Bharat 4.0. Full claim-by-claim register in our research log.</a:t>
            </a:r>
            <a:endParaRPr lang="en-US" sz="850" dirty="0"/>
          </a:p>
        </p:txBody>
      </p:sp>
      <p:sp>
        <p:nvSpPr>
          <p:cNvPr id="26" name="Text 24"/>
          <p:cNvSpPr txBox="1"/>
          <p:nvPr/>
        </p:nvSpPr>
        <p:spPr>
          <a:xfrm>
            <a:off x="502920" y="6620256"/>
            <a:ext cx="8686800" cy="182880"/>
          </a:xfrm>
          <a:prstGeom prst="rect">
            <a:avLst/>
          </a:prstGeom>
          <a:noFill/>
          <a:ln/>
        </p:spPr>
        <p:txBody>
          <a:bodyPr wrap="square" lIns="0" tIns="0" rIns="0" bIns="0" rtlCol="0" anchor="ctr"/>
          <a:lstStyle/>
          <a:p>
            <a:pPr indent="0" marL="0">
              <a:buNone/>
            </a:pPr>
            <a:r>
              <a:rPr lang="en-US" sz="850" dirty="0">
                <a:solidFill>
                  <a:srgbClr val="5A6B78"/>
                </a:solidFill>
                <a:latin typeface="Arial" pitchFamily="34" charset="0"/>
                <a:ea typeface="Arial" pitchFamily="34" charset="-122"/>
                <a:cs typeface="Arial" pitchFamily="34" charset="-120"/>
              </a:rPr>
              <a:t>India Chem 2026 · Youth Innovation Challenge — NIT Warangal · Raunak Jain &amp; Anushriya Bhattacharya</a:t>
            </a:r>
            <a:endParaRPr lang="en-US" sz="850" dirty="0"/>
          </a:p>
        </p:txBody>
      </p:sp>
      <p:sp>
        <p:nvSpPr>
          <p:cNvPr id="27" name="Text 25"/>
          <p:cNvSpPr txBox="1"/>
          <p:nvPr/>
        </p:nvSpPr>
        <p:spPr>
          <a:xfrm>
            <a:off x="10774375" y="6620256"/>
            <a:ext cx="914400" cy="182880"/>
          </a:xfrm>
          <a:prstGeom prst="rect">
            <a:avLst/>
          </a:prstGeom>
          <a:noFill/>
          <a:ln/>
        </p:spPr>
        <p:txBody>
          <a:bodyPr wrap="square" lIns="0" tIns="0" rIns="0" bIns="0" rtlCol="0" anchor="ctr"/>
          <a:lstStyle/>
          <a:p>
            <a:pPr algn="r" indent="0" marL="0">
              <a:buNone/>
            </a:pPr>
            <a:r>
              <a:rPr lang="en-US" sz="850" dirty="0">
                <a:solidFill>
                  <a:srgbClr val="5A6B78"/>
                </a:solidFill>
                <a:latin typeface="Arial" pitchFamily="34" charset="0"/>
                <a:ea typeface="Arial" pitchFamily="34" charset="-122"/>
                <a:cs typeface="Arial" pitchFamily="34" charset="-120"/>
              </a:rPr>
              <a:t>08 / 08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NAADI — Predictive maintenance for critical pumps</dc:title>
  <dc:subject>PptxGenJS Presentation</dc:subject>
  <dc:creator>Raunak Jain, Anushriya Bhattacharya — NIT Warangal</dc:creator>
  <cp:lastModifiedBy>Raunak Jain, Anushriya Bhattacharya — NIT Warangal</cp:lastModifiedBy>
  <cp:revision>1</cp:revision>
  <dcterms:created xsi:type="dcterms:W3CDTF">2026-09-12T06:25:47Z</dcterms:created>
  <dcterms:modified xsi:type="dcterms:W3CDTF">2026-09-12T06:25:47Z</dcterms:modified>
</cp:coreProperties>
</file>