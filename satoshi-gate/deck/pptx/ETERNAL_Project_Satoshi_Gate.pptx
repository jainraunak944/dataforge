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spPr>
            <a:solidFill>
              <a:srgbClr val="1E63D6">
                <a:alpha val="100000"/>
              </a:srgbClr>
            </a:solidFill>
            <a:effectLst/>
          </c:spPr>
          <c:invertIfNegative val="0"/>
          <c:dLbls>
            <c:numFmt formatCode="&quot;₹&quot;#,##0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C24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E63D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B2A5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B2A5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63C3C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Liminal ARR</c:v>
                  </c:pt>
                  <c:pt idx="1">
                    <c:v>Paytm PAT</c:v>
                  </c:pt>
                  <c:pt idx="2">
                    <c:v>Paytm EBITDA</c:v>
                  </c:pt>
                  <c:pt idx="3">
                    <c:v>Capital drag/yr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220</c:v>
                </c:pt>
                <c:pt idx="1">
                  <c:v>480</c:v>
                </c:pt>
                <c:pt idx="2">
                  <c:v>640</c:v>
                </c:pt>
                <c:pt idx="3">
                  <c:v>750</c:v>
                </c:pt>
              </c:numCache>
            </c:numRef>
          </c:val>
        </c:ser>
        <c:dLbls>
          <c:numFmt formatCode="&quot;₹&quot;#,##0" sourceLinked="0"/>
          <c:txPr>
            <a:bodyPr/>
            <a:lstStyle/>
            <a:p>
              <a:pPr>
                <a:defRPr b="1" i="0" strike="noStrike" sz="800" u="none">
                  <a:solidFill>
                    <a:srgbClr val="1C24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3A465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spPr>
            <a:solidFill>
              <a:srgbClr val="1E63D6">
                <a:alpha val="100000"/>
              </a:srgbClr>
            </a:solidFill>
            <a:effectLst/>
          </c:spPr>
          <c:invertIfNegative val="0"/>
          <c:dLbls>
            <c:numFmt formatCode="0.0&quot;×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C24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E63D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8A1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98A1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63C3C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0% churn</c:v>
                  </c:pt>
                  <c:pt idx="1">
                    <c:v>30%</c:v>
                  </c:pt>
                  <c:pt idx="2">
                    <c:v>37.5%</c:v>
                  </c:pt>
                  <c:pt idx="3">
                    <c:v>45%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18.2</c:v>
                </c:pt>
                <c:pt idx="1">
                  <c:v>26</c:v>
                </c:pt>
                <c:pt idx="2">
                  <c:v>29.1</c:v>
                </c:pt>
                <c:pt idx="3">
                  <c:v>33.1</c:v>
                </c:pt>
              </c:numCache>
            </c:numRef>
          </c:val>
        </c:ser>
        <c:dLbls>
          <c:numFmt formatCode="0.0&quot;×&quot;" sourceLinked="0"/>
          <c:txPr>
            <a:bodyPr/>
            <a:lstStyle/>
            <a:p>
              <a:pPr>
                <a:defRPr b="1" i="0" strike="noStrike" sz="800" u="none">
                  <a:solidFill>
                    <a:srgbClr val="1C24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3A465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spPr>
            <a:solidFill>
              <a:srgbClr val="1B8A4C">
                <a:alpha val="100000"/>
              </a:srgbClr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C24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B8A4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B8A4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E63D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E63D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98A1B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C63C3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C63C3C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0%</c:v>
                  </c:pt>
                  <c:pt idx="1">
                    <c:v>10%</c:v>
                  </c:pt>
                  <c:pt idx="2">
                    <c:v>20%</c:v>
                  </c:pt>
                  <c:pt idx="3">
                    <c:v>30%</c:v>
                  </c:pt>
                  <c:pt idx="4">
                    <c:v>37.5%</c:v>
                  </c:pt>
                  <c:pt idx="5">
                    <c:v>45%</c:v>
                  </c:pt>
                  <c:pt idx="6">
                    <c:v>55%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2960</c:v>
                </c:pt>
                <c:pt idx="1">
                  <c:v>2669</c:v>
                </c:pt>
                <c:pt idx="2">
                  <c:v>2378</c:v>
                </c:pt>
                <c:pt idx="3">
                  <c:v>2087</c:v>
                </c:pt>
                <c:pt idx="4">
                  <c:v>1868</c:v>
                </c:pt>
                <c:pt idx="5">
                  <c:v>1650</c:v>
                </c:pt>
                <c:pt idx="6">
                  <c:v>1650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800" u="none">
                  <a:solidFill>
                    <a:srgbClr val="1C24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3A465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spPr>
            <a:solidFill>
              <a:srgbClr val="6B7A90">
                <a:alpha val="100000"/>
              </a:srgbClr>
            </a:solidFill>
            <a:effectLst/>
          </c:spPr>
          <c:invertIfNegative val="0"/>
          <c:dLbls>
            <c:numFmt formatCode="&quot;₹&quot;#,##0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C24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B7A9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E63D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E63D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98A1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B8A4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10% bear</c:v>
                  </c:pt>
                  <c:pt idx="1">
                    <c:v>20% base</c:v>
                  </c:pt>
                  <c:pt idx="2">
                    <c:v>30% bull</c:v>
                  </c:pt>
                  <c:pt idx="3">
                    <c:v>31.3% b/e</c:v>
                  </c:pt>
                  <c:pt idx="4">
                    <c:v>40%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811</c:v>
                </c:pt>
                <c:pt idx="1">
                  <c:v>1753</c:v>
                </c:pt>
                <c:pt idx="2">
                  <c:v>3658</c:v>
                </c:pt>
                <c:pt idx="3">
                  <c:v>4000</c:v>
                </c:pt>
                <c:pt idx="4">
                  <c:v>7345</c:v>
                </c:pt>
              </c:numCache>
            </c:numRef>
          </c:val>
        </c:ser>
        <c:dLbls>
          <c:numFmt formatCode="&quot;₹&quot;#,##0" sourceLinked="0"/>
          <c:txPr>
            <a:bodyPr/>
            <a:lstStyle/>
            <a:p>
              <a:pPr>
                <a:defRPr b="1" i="0" strike="noStrike" sz="800" u="none">
                  <a:solidFill>
                    <a:srgbClr val="1C24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3A465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spPr>
            <a:solidFill>
              <a:srgbClr val="0B2A5B">
                <a:alpha val="100000"/>
              </a:srgbClr>
            </a:solidFill>
            <a:effectLst/>
          </c:spPr>
          <c:invertIfNegative val="0"/>
          <c:dLbls>
            <c:numFmt formatCode="&quot;₹&quot;0.00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C24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B2A5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63C3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63C3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63C3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63C3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98A1B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B8A4C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Baseline</c:v>
                  </c:pt>
                  <c:pt idx="1">
                    <c:v>Case mix</c:v>
                  </c:pt>
                  <c:pt idx="2">
                    <c:v>Debt+eq.</c:v>
                  </c:pt>
                  <c:pt idx="3">
                    <c:v>Mix</c:v>
                  </c:pt>
                  <c:pt idx="4">
                    <c:v>All cash</c:v>
                  </c:pt>
                  <c:pt idx="5">
                    <c:v>All equity</c:v>
                  </c:pt>
                  <c:pt idx="6">
                    <c:v>Phase 1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7.5</c:v>
                </c:pt>
                <c:pt idx="1">
                  <c:v>5.29</c:v>
                </c:pt>
                <c:pt idx="2">
                  <c:v>4.69</c:v>
                </c:pt>
                <c:pt idx="3">
                  <c:v>5.09</c:v>
                </c:pt>
                <c:pt idx="4">
                  <c:v>4.04</c:v>
                </c:pt>
                <c:pt idx="5">
                  <c:v>6.63</c:v>
                </c:pt>
                <c:pt idx="6">
                  <c:v>6.81</c:v>
                </c:pt>
              </c:numCache>
            </c:numRef>
          </c:val>
        </c:ser>
        <c:dLbls>
          <c:numFmt formatCode="&quot;₹&quot;0.00" sourceLinked="0"/>
          <c:txPr>
            <a:bodyPr/>
            <a:lstStyle/>
            <a:p>
              <a:pPr>
                <a:defRPr b="1" i="0" strike="noStrike" sz="800" u="none">
                  <a:solidFill>
                    <a:srgbClr val="1C24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3A465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Control end-Y1, bull 30%</c:v>
                </c:pt>
              </c:strCache>
            </c:strRef>
          </c:tx>
          <c:spPr>
            <a:solidFill>
              <a:srgbClr val="1B8A4C"/>
            </a:solidFill>
            <a:ln w="31750" cap="flat">
              <a:solidFill>
                <a:srgbClr val="1B8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B8A4C"/>
              </a:solidFill>
              <a:ln w="9525" cap="flat">
                <a:solidFill>
                  <a:srgbClr val="1B8A4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  <c:pt idx="5">
                    <c:v>Y6</c:v>
                  </c:pt>
                  <c:pt idx="6">
                    <c:v>Y7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6.81</c:v>
                </c:pt>
                <c:pt idx="1">
                  <c:v>5.83</c:v>
                </c:pt>
                <c:pt idx="2">
                  <c:v>6.24</c:v>
                </c:pt>
                <c:pt idx="3">
                  <c:v>6.86</c:v>
                </c:pt>
                <c:pt idx="4">
                  <c:v>7.77</c:v>
                </c:pt>
                <c:pt idx="5">
                  <c:v>8.48</c:v>
                </c:pt>
                <c:pt idx="6">
                  <c:v>9.4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Control end-Y1, base 20%</c:v>
                </c:pt>
              </c:strCache>
            </c:strRef>
          </c:tx>
          <c:spPr>
            <a:solidFill>
              <a:srgbClr val="D98A1B"/>
            </a:solidFill>
            <a:ln w="31750" cap="flat">
              <a:solidFill>
                <a:srgbClr val="D98A1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D98A1B"/>
              </a:solidFill>
              <a:ln w="9525" cap="flat">
                <a:solidFill>
                  <a:srgbClr val="D98A1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  <c:pt idx="5">
                    <c:v>Y6</c:v>
                  </c:pt>
                  <c:pt idx="6">
                    <c:v>Y7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6.81</c:v>
                </c:pt>
                <c:pt idx="1">
                  <c:v>5.77</c:v>
                </c:pt>
                <c:pt idx="2">
                  <c:v>6.06</c:v>
                </c:pt>
                <c:pt idx="3">
                  <c:v>6.46</c:v>
                </c:pt>
                <c:pt idx="4">
                  <c:v>6.99</c:v>
                </c:pt>
                <c:pt idx="5">
                  <c:v>7.31</c:v>
                </c:pt>
                <c:pt idx="6">
                  <c:v>7.69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Full acquisition today</c:v>
                </c:pt>
              </c:strCache>
            </c:strRef>
          </c:tx>
          <c:spPr>
            <a:solidFill>
              <a:srgbClr val="C63C3C"/>
            </a:solidFill>
            <a:ln w="31750" cap="flat">
              <a:solidFill>
                <a:srgbClr val="C63C3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C63C3C"/>
              </a:solidFill>
              <a:ln w="9525" cap="flat">
                <a:solidFill>
                  <a:srgbClr val="C63C3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  <c:pt idx="5">
                    <c:v>Y6</c:v>
                  </c:pt>
                  <c:pt idx="6">
                    <c:v>Y7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5.29</c:v>
                </c:pt>
                <c:pt idx="1">
                  <c:v>6.16</c:v>
                </c:pt>
                <c:pt idx="2">
                  <c:v>6.34</c:v>
                </c:pt>
                <c:pt idx="3">
                  <c:v>6.59</c:v>
                </c:pt>
                <c:pt idx="4">
                  <c:v>6.92</c:v>
                </c:pt>
                <c:pt idx="5">
                  <c:v>7.11</c:v>
                </c:pt>
                <c:pt idx="6">
                  <c:v>7.35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₹7.50 baseline</c:v>
                </c:pt>
              </c:strCache>
            </c:strRef>
          </c:tx>
          <c:spPr>
            <a:solidFill>
              <a:srgbClr val="6B7A90"/>
            </a:solidFill>
            <a:ln w="31750" cap="flat">
              <a:solidFill>
                <a:srgbClr val="6B7A9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6B7A90"/>
              </a:solidFill>
              <a:ln w="9525" cap="flat">
                <a:solidFill>
                  <a:srgbClr val="6B7A9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  <c:pt idx="5">
                    <c:v>Y6</c:v>
                  </c:pt>
                  <c:pt idx="6">
                    <c:v>Y7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7.5</c:v>
                </c:pt>
                <c:pt idx="1">
                  <c:v>7.5</c:v>
                </c:pt>
                <c:pt idx="2">
                  <c:v>7.5</c:v>
                </c:pt>
                <c:pt idx="3">
                  <c:v>7.5</c:v>
                </c:pt>
                <c:pt idx="4">
                  <c:v>7.5</c:v>
                </c:pt>
                <c:pt idx="5">
                  <c:v>7.5</c:v>
                </c:pt>
                <c:pt idx="6">
                  <c:v>7.5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3A465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4"/>
        </c:scaling>
        <c:delete val="0"/>
        <c:axPos val="l"/>
        <c:majorGridlines>
          <c:spPr>
            <a:ln w="6350" cap="flat">
              <a:solidFill>
                <a:srgbClr val="D9E2F0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3A465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3A4658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spPr>
            <a:solidFill>
              <a:srgbClr val="C63C3C"/>
            </a:solidFill>
            <a:effectLst/>
          </c:spPr>
          <c:invertIfNegative val="0"/>
          <c:dLbls>
            <c:numFmt formatCode="&quot;₹&quot;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63C3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E63D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0B4E6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Drag</c:v>
                  </c:pt>
                  <c:pt idx="1">
                    <c:v>MDR gross</c:v>
                  </c:pt>
                  <c:pt idx="2">
                    <c:v>MDR after PAT/FCF conv.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750</c:v>
                </c:pt>
                <c:pt idx="1">
                  <c:v>115</c:v>
                </c:pt>
                <c:pt idx="2">
                  <c:v>69</c:v>
                </c:pt>
              </c:numCache>
            </c:numRef>
          </c:val>
        </c:ser>
        <c:dLbls>
          <c:numFmt formatCode="&quot;₹&quot;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3A465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ARR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63D6"/>
              </a:solidFill>
              <a:effectLst/>
            </c:spPr>
          </c:dPt>
          <c:dPt>
            <c:idx val="1"/>
            <c:bubble3D val="0"/>
            <c:spPr>
              <a:solidFill>
                <a:srgbClr val="D9E2F0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8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8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Top-4 clients</c:v>
                </c:pt>
                <c:pt idx="1">
                  <c:v>Other clients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60</c:v>
                </c:pt>
                <c:pt idx="1">
                  <c:v>40</c:v>
                </c:pt>
              </c:numCache>
            </c:numRef>
          </c:val>
        </c:ser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 thesis: buy access and an option now; pay for control only after client retention and regulatory capital treatment are observable.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five tiles, then the four pressures. Say the word Hold before anyone asks whether this is just a minority stake.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bridge is the story: each stage needs the one before it. Then answer 5.1 directly: partnership-only fails on security of supply.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red bar: the drag alone exceeds Paytm’s EBITDA. Everything else follows from that.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table column by column; the starred column wins on defence, drag and reversibility at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earn-out chart is the mechanism: green is full value, red is the floor. Fundamental value of 26% is ₹456–951 Cr, so the ₹1,040 Cr ceiling carries a disclosed premium.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the Modeling Clarification asks for: 21 assumptions with values and ranges.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amber bar is the hinge: 31.3% growth for ten years with zero churn just to break even on price.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green bar is the recommended path; the only way to stay near ₹7.50 is not to do the full deal.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Green line crosses the baseline in year 5: the only route that passes both gates. Red never does on cash.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Eight mechanisms, each with an owner; number seven aligns sellers with retention.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lanes, left to right in time. The signing condition in lane one is the most important line on the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matrix answers the Mission’s “show how your recommendation changes”: capital treatment decides the column, consents decide the row.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six gates and the final message. Each gate is auditable by the committee with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 for the finance panel; the bridge shows where the blueprint’s 1.6% went.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0"/>
            <a:ext cx="4690872" cy="6858000"/>
          </a:xfrm>
          <a:prstGeom prst="rect">
            <a:avLst/>
          </a:prstGeom>
          <a:solidFill>
            <a:srgbClr val="E9F0FB"/>
          </a:solidFill>
          <a:ln w="12700">
            <a:solidFill>
              <a:srgbClr val="E9F0F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0" y="777240"/>
            <a:ext cx="3959352" cy="6080760"/>
          </a:xfrm>
          <a:prstGeom prst="rect">
            <a:avLst/>
          </a:prstGeom>
          <a:solidFill>
            <a:srgbClr val="0B2A5B"/>
          </a:solidFill>
          <a:ln w="12700">
            <a:solidFill>
              <a:srgbClr val="0B2A5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18320" y="0"/>
            <a:ext cx="2770632" cy="3291840"/>
          </a:xfrm>
          <a:prstGeom prst="rect">
            <a:avLst/>
          </a:prstGeom>
          <a:solidFill>
            <a:srgbClr val="1E63D6"/>
          </a:solidFill>
          <a:ln w="12700">
            <a:solidFill>
              <a:srgbClr val="1E63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515600" y="4114800"/>
            <a:ext cx="1673352" cy="2743200"/>
          </a:xfrm>
          <a:prstGeom prst="rect">
            <a:avLst/>
          </a:prstGeom>
          <a:solidFill>
            <a:srgbClr val="00B4E6"/>
          </a:solidFill>
          <a:ln w="12700">
            <a:solidFill>
              <a:srgbClr val="00B4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914400"/>
            <a:ext cx="54864" cy="4206240"/>
          </a:xfrm>
          <a:prstGeom prst="roundRect">
            <a:avLst>
              <a:gd name="adj" fmla="val 50000"/>
            </a:avLst>
          </a:prstGeom>
          <a:solidFill>
            <a:srgbClr val="1E63D6"/>
          </a:solidFill>
          <a:ln w="12700">
            <a:solidFill>
              <a:srgbClr val="1E63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60120" y="914400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0B2A5B"/>
          </a:solidFill>
          <a:ln w="12700">
            <a:solidFill>
              <a:srgbClr val="0B2A5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325880" y="8686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Paytm</a:t>
            </a:r>
            <a:pPr indent="0" marL="0">
              <a:buNone/>
            </a:pPr>
            <a:r>
              <a:rPr lang="en-US" sz="16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</a:t>
            </a:r>
            <a:pPr indent="0" marL="0">
              <a:buNone/>
            </a:pPr>
            <a:r>
              <a:rPr lang="en-US" sz="1600" b="1" dirty="0">
                <a:solidFill>
                  <a:srgbClr val="1E63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Liminal Custody Solutions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13716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E6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TRANSACTION RECOMMENDATION · SEPTEMBER 2026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960120" y="1691640"/>
            <a:ext cx="6400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540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</a:t>
            </a:r>
            <a:endParaRPr lang="en-US" sz="5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5400" b="1" dirty="0">
                <a:solidFill>
                  <a:srgbClr val="1E63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Satoshi Gate</a:t>
            </a:r>
            <a:endParaRPr lang="en-US" sz="5400" dirty="0"/>
          </a:p>
        </p:txBody>
      </p:sp>
      <p:sp>
        <p:nvSpPr>
          <p:cNvPr id="11" name="Text 9"/>
          <p:cNvSpPr txBox="1"/>
          <p:nvPr/>
        </p:nvSpPr>
        <p:spPr>
          <a:xfrm>
            <a:off x="960120" y="352044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access today.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only when the economics are proven.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434340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26% strategic stake, a commercial custody/MPC partnership and a pre-agreed call option, instead of a ₹4,000 Cr full acquisition — supported by an auditable accretion/dilution and PAT/FCF breakeven model.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60120" y="5303520"/>
            <a:ext cx="62179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1143000" y="5394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ETERNAL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143000" y="5760720"/>
            <a:ext cx="256032" cy="256032"/>
          </a:xfrm>
          <a:prstGeom prst="ellipse">
            <a:avLst/>
          </a:prstGeom>
          <a:solidFill>
            <a:srgbClr val="1E63D6"/>
          </a:solidFill>
          <a:ln w="12700">
            <a:solidFill>
              <a:srgbClr val="1E63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43000" y="57607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RJ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603504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Raunak Jain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331720" y="5760720"/>
            <a:ext cx="256032" cy="256032"/>
          </a:xfrm>
          <a:prstGeom prst="ellipse">
            <a:avLst/>
          </a:prstGeom>
          <a:solidFill>
            <a:srgbClr val="00B4E6"/>
          </a:solidFill>
          <a:ln w="12700">
            <a:solidFill>
              <a:srgbClr val="00B4E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331720" y="57607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2194560" y="603504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Sambhav Khandelwal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3520440" y="5760720"/>
            <a:ext cx="256032" cy="256032"/>
          </a:xfrm>
          <a:prstGeom prst="ellipse">
            <a:avLst/>
          </a:prstGeom>
          <a:solidFill>
            <a:srgbClr val="1E63D6"/>
          </a:solidFill>
          <a:ln w="12700">
            <a:solidFill>
              <a:srgbClr val="1E63D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520440" y="57607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3383280" y="603504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Surya Swarup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709160" y="5760720"/>
            <a:ext cx="256032" cy="256032"/>
          </a:xfrm>
          <a:prstGeom prst="ellipse">
            <a:avLst/>
          </a:prstGeom>
          <a:solidFill>
            <a:srgbClr val="00B4E6"/>
          </a:solidFill>
          <a:ln w="12700">
            <a:solidFill>
              <a:srgbClr val="00B4E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09160" y="57607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0" y="603504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Naman Ghosh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5897880" y="5760720"/>
            <a:ext cx="256032" cy="256032"/>
          </a:xfrm>
          <a:prstGeom prst="ellipse">
            <a:avLst/>
          </a:prstGeom>
          <a:solidFill>
            <a:srgbClr val="1E63D6"/>
          </a:solidFill>
          <a:ln w="12700">
            <a:solidFill>
              <a:srgbClr val="1E63D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897880" y="57607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5760720" y="603504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Akshith Aitha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8686800" y="1371600"/>
            <a:ext cx="3108960" cy="1143000"/>
          </a:xfrm>
          <a:prstGeom prst="roundRect">
            <a:avLst>
              <a:gd name="adj" fmla="val 6400"/>
            </a:avLst>
          </a:prstGeom>
          <a:solidFill>
            <a:srgbClr val="1D3F7A"/>
          </a:solidFill>
          <a:ln w="12700">
            <a:solidFill>
              <a:srgbClr val="2E529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869680" y="14630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₹1,040 Cr</a:t>
            </a:r>
            <a:endParaRPr lang="en-US" sz="2600" dirty="0"/>
          </a:p>
        </p:txBody>
      </p:sp>
      <p:sp>
        <p:nvSpPr>
          <p:cNvPr id="32" name="Text 30"/>
          <p:cNvSpPr txBox="1"/>
          <p:nvPr/>
        </p:nvSpPr>
        <p:spPr>
          <a:xfrm>
            <a:off x="8869680" y="202996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E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Unconditional cheque: 26% stake, cash-funded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8686800" y="2788920"/>
            <a:ext cx="3108960" cy="1143000"/>
          </a:xfrm>
          <a:prstGeom prst="roundRect">
            <a:avLst>
              <a:gd name="adj" fmla="val 6400"/>
            </a:avLst>
          </a:prstGeom>
          <a:solidFill>
            <a:srgbClr val="1D3F7A"/>
          </a:solidFill>
          <a:ln w="12700">
            <a:solidFill>
              <a:srgbClr val="2E529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869680" y="28803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 ₹2,960 Cr</a:t>
            </a:r>
            <a:endParaRPr lang="en-US" sz="2600" dirty="0"/>
          </a:p>
        </p:txBody>
      </p:sp>
      <p:sp>
        <p:nvSpPr>
          <p:cNvPr id="35" name="Text 33"/>
          <p:cNvSpPr txBox="1"/>
          <p:nvPr/>
        </p:nvSpPr>
        <p:spPr>
          <a:xfrm>
            <a:off x="8869680" y="344728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E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tranche, paid only against retained ARR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686800" y="4206240"/>
            <a:ext cx="3108960" cy="1143000"/>
          </a:xfrm>
          <a:prstGeom prst="roundRect">
            <a:avLst>
              <a:gd name="adj" fmla="val 6400"/>
            </a:avLst>
          </a:prstGeom>
          <a:solidFill>
            <a:srgbClr val="1D3F7A"/>
          </a:solidFill>
          <a:ln w="12700">
            <a:solidFill>
              <a:srgbClr val="2E529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869680" y="42976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gates</a:t>
            </a:r>
            <a:endParaRPr lang="en-US" sz="2600" dirty="0"/>
          </a:p>
        </p:txBody>
      </p:sp>
      <p:sp>
        <p:nvSpPr>
          <p:cNvPr id="38" name="Text 36"/>
          <p:cNvSpPr txBox="1"/>
          <p:nvPr/>
        </p:nvSpPr>
        <p:spPr>
          <a:xfrm>
            <a:off x="8869680" y="486460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E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Consents · Capital · Valuation · PAT · FCF · Compliance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5603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E6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 · RECOMMENDATION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57200"/>
            <a:ext cx="9509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recommendation: </a:t>
            </a:r>
            <a:pPr indent="0" marL="0">
              <a:buNone/>
            </a:pPr>
            <a:r>
              <a:rPr lang="en-US" sz="1800" b="1" dirty="0">
                <a:solidFill>
                  <a:srgbClr val="1E63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 access and an option, not full control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0012680" y="347472"/>
            <a:ext cx="1810512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1552" y="457200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0B2A5B"/>
          </a:solidFill>
          <a:ln w="12700">
            <a:solidFill>
              <a:srgbClr val="0B2A5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424160" y="34747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B2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Satoshi Gate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Paytm × Liminal · Team ETERNAL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65760" y="64922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 = case fact · CALC = arithmetic on case facts · TA = team assumption (slide 7) · ₹ in Cr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11338560" y="6492240"/>
            <a:ext cx="484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65760" y="1143000"/>
            <a:ext cx="219456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" y="1298448"/>
            <a:ext cx="82296" cy="548640"/>
          </a:xfrm>
          <a:prstGeom prst="roundRect">
            <a:avLst>
              <a:gd name="adj" fmla="val 44444"/>
            </a:avLst>
          </a:prstGeom>
          <a:solidFill>
            <a:srgbClr val="1E63D6"/>
          </a:solidFill>
          <a:ln w="12700">
            <a:solidFill>
              <a:srgbClr val="1E63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121615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63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₹1,040 Cr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156362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Phase-1 investment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17556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8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26% stake · cash · 0.9% of mkt cap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679192" y="1143000"/>
            <a:ext cx="219456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788920" y="1298448"/>
            <a:ext cx="82296" cy="548640"/>
          </a:xfrm>
          <a:prstGeom prst="roundRect">
            <a:avLst>
              <a:gd name="adj" fmla="val 44444"/>
            </a:avLst>
          </a:prstGeom>
          <a:solidFill>
            <a:srgbClr val="C63C3C"/>
          </a:solidFill>
          <a:ln w="12700">
            <a:solidFill>
              <a:srgbClr val="C63C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953512" y="121615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63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−29%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2953512" y="156362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Full-deal year-1 EPS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2953512" y="17556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63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₹5.29 vs ₹7.50 at headline mix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992624" y="1143000"/>
            <a:ext cx="219456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102352" y="1298448"/>
            <a:ext cx="82296" cy="548640"/>
          </a:xfrm>
          <a:prstGeom prst="roundRect">
            <a:avLst>
              <a:gd name="adj" fmla="val 44444"/>
            </a:avLst>
          </a:prstGeom>
          <a:solidFill>
            <a:srgbClr val="C63C3C"/>
          </a:solidFill>
          <a:ln w="12700">
            <a:solidFill>
              <a:srgbClr val="C63C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266944" y="121615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63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₹750 Cr/yr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5266944" y="156362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drag at control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5266944" y="17556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63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117% of EBITDA · NPV ₹4,238 Cr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306056" y="1143000"/>
            <a:ext cx="219456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415784" y="1298448"/>
            <a:ext cx="82296" cy="548640"/>
          </a:xfrm>
          <a:prstGeom prst="roundRect">
            <a:avLst>
              <a:gd name="adj" fmla="val 44444"/>
            </a:avLst>
          </a:prstGeom>
          <a:solidFill>
            <a:srgbClr val="D98A1B"/>
          </a:solidFill>
          <a:ln w="12700">
            <a:solidFill>
              <a:srgbClr val="D98A1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580376" y="121615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8A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26–33×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7580376" y="156362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Retained-ARR multiple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7580376" y="17556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98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18.2× headline after 30–45% churn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9619488" y="1143000"/>
            <a:ext cx="219456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9729216" y="1298448"/>
            <a:ext cx="82296" cy="548640"/>
          </a:xfrm>
          <a:prstGeom prst="roundRect">
            <a:avLst>
              <a:gd name="adj" fmla="val 44444"/>
            </a:avLst>
          </a:prstGeom>
          <a:solidFill>
            <a:srgbClr val="1B8A4C"/>
          </a:solidFill>
          <a:ln w="12700">
            <a:solidFill>
              <a:srgbClr val="1B8A4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893808" y="121615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8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9893808" y="156362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Base-case outcome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9893808" y="17556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8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only if Liminal earns it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365760" y="2148840"/>
            <a:ext cx="5486400" cy="3246120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502920" y="2267712"/>
            <a:ext cx="274320" cy="274320"/>
          </a:xfrm>
          <a:prstGeom prst="ellipse">
            <a:avLst/>
          </a:prstGeom>
          <a:solidFill>
            <a:srgbClr val="1E63D6"/>
          </a:solidFill>
          <a:ln w="12700">
            <a:solidFill>
              <a:srgbClr val="1E63D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41248" y="2221992"/>
            <a:ext cx="4919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Recommendation: a staged structure, not a full acquisition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02920" y="2606040"/>
            <a:ext cx="5212080" cy="585216"/>
          </a:xfrm>
          <a:prstGeom prst="roundRect">
            <a:avLst>
              <a:gd name="adj" fmla="val 9375"/>
            </a:avLst>
          </a:prstGeom>
          <a:solidFill>
            <a:srgbClr val="F6F8FC"/>
          </a:solidFill>
          <a:ln w="6350">
            <a:solidFill>
              <a:srgbClr val="D9E2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4360" y="2761488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1E63D6"/>
          </a:solidFill>
          <a:ln w="12700">
            <a:solidFill>
              <a:srgbClr val="1E63D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94360" y="27614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960120" y="266090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pPr indent="0" marL="0">
              <a:buNone/>
            </a:pPr>
            <a:r>
              <a:rPr lang="en-US" sz="900" b="1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 ₹1,040 Cr in cash for 26%</a:t>
            </a:r>
            <a:pPr indent="0" marL="0">
              <a:buNone/>
            </a:pPr>
            <a:r>
              <a:rPr lang="en-US" sz="90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share above the 25% special-resolution threshold: negative control without operational control (TA).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02920" y="3264408"/>
            <a:ext cx="5212080" cy="585216"/>
          </a:xfrm>
          <a:prstGeom prst="roundRect">
            <a:avLst>
              <a:gd name="adj" fmla="val 9375"/>
            </a:avLst>
          </a:prstGeom>
          <a:solidFill>
            <a:srgbClr val="F6F8FC"/>
          </a:solidFill>
          <a:ln w="6350">
            <a:solidFill>
              <a:srgbClr val="D9E2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94360" y="3419856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1E63D6"/>
          </a:solidFill>
          <a:ln w="12700">
            <a:solidFill>
              <a:srgbClr val="1E63D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94360" y="34198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960120" y="3319272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pPr indent="0" marL="0">
              <a:buNone/>
            </a:pPr>
            <a:r>
              <a:rPr lang="en-US" sz="900" b="1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custody/MPC partnership</a:t>
            </a:r>
            <a:pPr indent="0" marL="0">
              <a:buNone/>
            </a:pPr>
            <a:r>
              <a:rPr lang="en-US" sz="90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tokenized-treasury, e₹ and cross-border settlement use cases.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02920" y="3922776"/>
            <a:ext cx="5212080" cy="585216"/>
          </a:xfrm>
          <a:prstGeom prst="roundRect">
            <a:avLst>
              <a:gd name="adj" fmla="val 9375"/>
            </a:avLst>
          </a:prstGeom>
          <a:solidFill>
            <a:srgbClr val="F6F8FC"/>
          </a:solidFill>
          <a:ln w="6350">
            <a:solidFill>
              <a:srgbClr val="D9E2F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94360" y="4078224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1E63D6"/>
          </a:solidFill>
          <a:ln w="12700">
            <a:solidFill>
              <a:srgbClr val="1E63D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94360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960120" y="397764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pPr indent="0" marL="0">
              <a:buNone/>
            </a:pPr>
            <a:r>
              <a:rPr lang="en-US" sz="900" b="1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Ring-fence Liminal</a:t>
            </a:r>
            <a:pPr indent="0" marL="0">
              <a:buNone/>
            </a:pPr>
            <a:r>
              <a:rPr lang="en-US" sz="90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standalone brand, arm’s-length board, information barriers, independent compliance.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02920" y="4581144"/>
            <a:ext cx="5212080" cy="585216"/>
          </a:xfrm>
          <a:prstGeom prst="roundRect">
            <a:avLst>
              <a:gd name="adj" fmla="val 9375"/>
            </a:avLst>
          </a:prstGeom>
          <a:solidFill>
            <a:srgbClr val="F6F8FC"/>
          </a:solidFill>
          <a:ln w="6350">
            <a:solidFill>
              <a:srgbClr val="D9E2F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94360" y="4736592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1E63D6"/>
          </a:solidFill>
          <a:ln w="12700">
            <a:solidFill>
              <a:srgbClr val="1E63D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594360" y="47365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52" name="Text 50"/>
          <p:cNvSpPr txBox="1"/>
          <p:nvPr/>
        </p:nvSpPr>
        <p:spPr>
          <a:xfrm>
            <a:off x="960120" y="4636008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pPr indent="0" marL="0">
              <a:buNone/>
            </a:pPr>
            <a:r>
              <a:rPr lang="en-US" sz="900" b="1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option on the remaining 74%</a:t>
            </a:r>
            <a:pPr indent="0" marL="0">
              <a:buNone/>
            </a:pPr>
            <a:r>
              <a:rPr lang="en-US" sz="90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months 12–24, capped at ₹2,960 Cr: ₹1,650 Cr upfront + up to ₹1,310 Cr retention earn-out. Never more than ₹4,000 Cr in total; never more than ₹1,040 Cr unconditional.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035040" y="2148840"/>
            <a:ext cx="5788152" cy="3246120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6172200" y="2267712"/>
            <a:ext cx="274320" cy="274320"/>
          </a:xfrm>
          <a:prstGeom prst="ellipse">
            <a:avLst/>
          </a:prstGeom>
          <a:solidFill>
            <a:srgbClr val="C63C3C"/>
          </a:solidFill>
          <a:ln w="12700">
            <a:solidFill>
              <a:srgbClr val="C63C3C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6510528" y="2221992"/>
            <a:ext cx="5221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not 100% today — four numbers the Board should hold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2606040"/>
          <a:ext cx="5513832" cy="914400"/>
        </p:xfrm>
        <a:graphic>
          <a:graphicData uri="http://schemas.openxmlformats.org/drawingml/2006/table">
            <a:tbl>
              <a:tblPr/>
              <a:tblGrid>
                <a:gridCol w="1213043"/>
                <a:gridCol w="2095256"/>
                <a:gridCol w="220553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Pressure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Case fact → calc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 what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 revolt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30–45% ARR lost in 12 months (CF)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18.2× becomes 26–33× retained ARR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 trap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₹750 Cr/yr FCF drag (CF)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Larger than Paytm EBITDA; NPV &gt; price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Earnings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Liminal ~breakeven (CF)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Y1 EPS ₹5.29 (−29%); ₹6.08 at 0% churn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Breakeven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Drag vs ₹115 Cr MDR (CF)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FCF never breaks even in 10 yrs; MDR ≤15%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</a:tr>
            </a:tbl>
          </a:graphicData>
        </a:graphic>
      </p:graphicFrame>
      <p:sp>
        <p:nvSpPr>
          <p:cNvPr id="57" name="Shape 54"/>
          <p:cNvSpPr/>
          <p:nvPr/>
        </p:nvSpPr>
        <p:spPr>
          <a:xfrm>
            <a:off x="6172200" y="4526280"/>
            <a:ext cx="5513832" cy="777240"/>
          </a:xfrm>
          <a:prstGeom prst="roundRect">
            <a:avLst>
              <a:gd name="adj" fmla="val 9412"/>
            </a:avLst>
          </a:prstGeom>
          <a:solidFill>
            <a:srgbClr val="0B2A5B"/>
          </a:solidFill>
          <a:ln w="12700">
            <a:solidFill>
              <a:srgbClr val="0B2A5B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6309360" y="4796028"/>
            <a:ext cx="237744" cy="237744"/>
          </a:xfrm>
          <a:prstGeom prst="ellipse">
            <a:avLst/>
          </a:prstGeom>
          <a:solidFill>
            <a:srgbClr val="00B4E6"/>
          </a:solidFill>
          <a:ln w="12700">
            <a:solidFill>
              <a:srgbClr val="00B4E6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6309360" y="47960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800" dirty="0"/>
          </a:p>
        </p:txBody>
      </p:sp>
      <p:sp>
        <p:nvSpPr>
          <p:cNvPr id="60" name="Text 57"/>
          <p:cNvSpPr txBox="1"/>
          <p:nvPr/>
        </p:nvSpPr>
        <p:spPr>
          <a:xfrm>
            <a:off x="6629400" y="4526280"/>
            <a:ext cx="49651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expectation, stated plainly: under the case’s own assumptions the modal outcome is 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</a:t>
            </a:r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 option is insurance and a block on PhonePe–Mastercard, not a plan to buy.</a:t>
            </a:r>
            <a:endParaRPr lang="en-US" sz="900" dirty="0"/>
          </a:p>
        </p:txBody>
      </p:sp>
      <p:sp>
        <p:nvSpPr>
          <p:cNvPr id="61" name="Shape 58"/>
          <p:cNvSpPr/>
          <p:nvPr/>
        </p:nvSpPr>
        <p:spPr>
          <a:xfrm>
            <a:off x="365760" y="5532120"/>
            <a:ext cx="11457432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1E63D6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502920" y="5596128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ASK</a:t>
            </a:r>
            <a:endParaRPr lang="en-US" sz="1100" dirty="0"/>
          </a:p>
        </p:txBody>
      </p:sp>
      <p:sp>
        <p:nvSpPr>
          <p:cNvPr id="63" name="Text 60"/>
          <p:cNvSpPr txBox="1"/>
          <p:nvPr/>
        </p:nvSpPr>
        <p:spPr>
          <a:xfrm>
            <a:off x="1645920" y="557784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</a:t>
            </a:r>
            <a:pPr indent="0" marL="0">
              <a:buNone/>
            </a:pPr>
            <a:r>
              <a:rPr lang="en-US" sz="900" b="1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 → Validate (12 months) → Exercise / Hold / Walk away</a:t>
            </a:r>
            <a:pPr indent="0" marL="0">
              <a:buNone/>
            </a:pPr>
            <a:r>
              <a:rPr lang="en-US" sz="90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authorise the ₹1,040 Cr investment, option negotiation and guardrails (cash ≥ ₹5,000 Cr, gross debt/EBITDA ≤ 1.5×, no unconditional equity); delegate gate reviews to the M&amp;A/Risk committee.</a:t>
            </a:r>
            <a:endParaRPr lang="en-US" sz="900" dirty="0"/>
          </a:p>
        </p:txBody>
      </p:sp>
      <p:sp>
        <p:nvSpPr>
          <p:cNvPr id="64" name="Shape 61"/>
          <p:cNvSpPr/>
          <p:nvPr/>
        </p:nvSpPr>
        <p:spPr>
          <a:xfrm>
            <a:off x="8366760" y="56509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1E63D6"/>
          </a:solidFill>
          <a:ln w="12700">
            <a:solidFill>
              <a:srgbClr val="1E63D6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8366760" y="56509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Consents</a:t>
            </a:r>
            <a:endParaRPr lang="en-US" sz="850" dirty="0"/>
          </a:p>
        </p:txBody>
      </p:sp>
      <p:sp>
        <p:nvSpPr>
          <p:cNvPr id="66" name="Shape 63"/>
          <p:cNvSpPr/>
          <p:nvPr/>
        </p:nvSpPr>
        <p:spPr>
          <a:xfrm>
            <a:off x="9509760" y="56509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1E63D6"/>
          </a:solidFill>
          <a:ln w="12700">
            <a:solidFill>
              <a:srgbClr val="1E63D6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9509760" y="56509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</a:t>
            </a:r>
            <a:endParaRPr lang="en-US" sz="850" dirty="0"/>
          </a:p>
        </p:txBody>
      </p:sp>
      <p:sp>
        <p:nvSpPr>
          <p:cNvPr id="68" name="Shape 65"/>
          <p:cNvSpPr/>
          <p:nvPr/>
        </p:nvSpPr>
        <p:spPr>
          <a:xfrm>
            <a:off x="10652760" y="56509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1E63D6"/>
          </a:solidFill>
          <a:ln w="12700">
            <a:solidFill>
              <a:srgbClr val="1E63D6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10652760" y="56509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Valuation</a:t>
            </a:r>
            <a:endParaRPr lang="en-US" sz="850" dirty="0"/>
          </a:p>
        </p:txBody>
      </p:sp>
      <p:sp>
        <p:nvSpPr>
          <p:cNvPr id="70" name="Shape 67"/>
          <p:cNvSpPr/>
          <p:nvPr/>
        </p:nvSpPr>
        <p:spPr>
          <a:xfrm>
            <a:off x="8366760" y="5980176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1E63D6"/>
          </a:solidFill>
          <a:ln w="12700">
            <a:solidFill>
              <a:srgbClr val="1E63D6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8366760" y="5980176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</a:t>
            </a:r>
            <a:endParaRPr lang="en-US" sz="850" dirty="0"/>
          </a:p>
        </p:txBody>
      </p:sp>
      <p:sp>
        <p:nvSpPr>
          <p:cNvPr id="72" name="Shape 69"/>
          <p:cNvSpPr/>
          <p:nvPr/>
        </p:nvSpPr>
        <p:spPr>
          <a:xfrm>
            <a:off x="9509760" y="5980176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1E63D6"/>
          </a:solidFill>
          <a:ln w="12700">
            <a:solidFill>
              <a:srgbClr val="1E63D6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9509760" y="5980176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FCF</a:t>
            </a:r>
            <a:endParaRPr lang="en-US" sz="850" dirty="0"/>
          </a:p>
        </p:txBody>
      </p:sp>
      <p:sp>
        <p:nvSpPr>
          <p:cNvPr id="74" name="Shape 71"/>
          <p:cNvSpPr/>
          <p:nvPr/>
        </p:nvSpPr>
        <p:spPr>
          <a:xfrm>
            <a:off x="10652760" y="5980176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1E63D6"/>
          </a:solidFill>
          <a:ln w="12700">
            <a:solidFill>
              <a:srgbClr val="1E63D6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10652760" y="5980176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5603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E6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 · STRATEGIC RATIONALE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57200"/>
            <a:ext cx="9509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rationale: </a:t>
            </a:r>
            <a:pPr indent="0" marL="0">
              <a:buNone/>
            </a:pPr>
            <a:r>
              <a:rPr lang="en-US" sz="1800" b="1" dirty="0">
                <a:solidFill>
                  <a:srgbClr val="1E63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captures the value, ownership adds the risk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0012680" y="347472"/>
            <a:ext cx="1810512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1552" y="457200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0B2A5B"/>
          </a:solidFill>
          <a:ln w="12700">
            <a:solidFill>
              <a:srgbClr val="0B2A5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424160" y="34747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B2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Satoshi Gate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Paytm × Liminal · Team ETERNAL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65760" y="64922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 = case fact · CALC = arithmetic on case facts · TA = team assumption (slide 7) · ₹ in Cr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11338560" y="6492240"/>
            <a:ext cx="484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65760" y="1143000"/>
            <a:ext cx="11457432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502920" y="1143000"/>
            <a:ext cx="1097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BRIDGE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1691640" y="1280160"/>
            <a:ext cx="1691640" cy="685800"/>
          </a:xfrm>
          <a:prstGeom prst="roundRect">
            <a:avLst>
              <a:gd name="adj" fmla="val 10667"/>
            </a:avLst>
          </a:prstGeom>
          <a:solidFill>
            <a:srgbClr val="0B2A5B"/>
          </a:solidFill>
          <a:ln w="12700">
            <a:solidFill>
              <a:srgbClr val="0B2A5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691640" y="128016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E3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UPI · merchants · consumer (CF)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429000" y="1517904"/>
            <a:ext cx="274320" cy="201168"/>
          </a:xfrm>
          <a:prstGeom prst="rightArrow">
            <a:avLst/>
          </a:prstGeom>
          <a:solidFill>
            <a:srgbClr val="1E63D6"/>
          </a:solidFill>
          <a:ln w="12700">
            <a:solidFill>
              <a:srgbClr val="1E63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703320" y="1280160"/>
            <a:ext cx="1691640" cy="685800"/>
          </a:xfrm>
          <a:prstGeom prst="roundRect">
            <a:avLst>
              <a:gd name="adj" fmla="val 10667"/>
            </a:avLst>
          </a:prstGeom>
          <a:solidFill>
            <a:srgbClr val="1E63D6"/>
          </a:solidFill>
          <a:ln w="12700">
            <a:solidFill>
              <a:srgbClr val="1E63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703320" y="128016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Custody &amp; MPC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E3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Liminal: ISO 27001, SOC 2 (CF)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40680" y="1517904"/>
            <a:ext cx="274320" cy="201168"/>
          </a:xfrm>
          <a:prstGeom prst="rightArrow">
            <a:avLst/>
          </a:prstGeom>
          <a:solidFill>
            <a:srgbClr val="1E63D6"/>
          </a:solidFill>
          <a:ln w="12700">
            <a:solidFill>
              <a:srgbClr val="1E63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715000" y="1280160"/>
            <a:ext cx="1691640" cy="685800"/>
          </a:xfrm>
          <a:prstGeom prst="roundRect">
            <a:avLst>
              <a:gd name="adj" fmla="val 10667"/>
            </a:avLst>
          </a:prstGeom>
          <a:solidFill>
            <a:srgbClr val="1E63D6"/>
          </a:solidFill>
          <a:ln w="12700">
            <a:solidFill>
              <a:srgbClr val="1E63D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715000" y="128016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assets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E3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Treasury, digital assets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452360" y="1517904"/>
            <a:ext cx="274320" cy="201168"/>
          </a:xfrm>
          <a:prstGeom prst="rightArrow">
            <a:avLst/>
          </a:prstGeom>
          <a:solidFill>
            <a:srgbClr val="1E63D6"/>
          </a:solidFill>
          <a:ln w="12700">
            <a:solidFill>
              <a:srgbClr val="1E63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26680" y="1280160"/>
            <a:ext cx="1691640" cy="685800"/>
          </a:xfrm>
          <a:prstGeom prst="roundRect">
            <a:avLst>
              <a:gd name="adj" fmla="val 10667"/>
            </a:avLst>
          </a:prstGeom>
          <a:solidFill>
            <a:srgbClr val="00B4E6"/>
          </a:solidFill>
          <a:ln w="12700">
            <a:solidFill>
              <a:srgbClr val="00B4E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26680" y="128016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e₹ / CBDC rails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E3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pilot alignment (CF)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464040" y="1517904"/>
            <a:ext cx="274320" cy="201168"/>
          </a:xfrm>
          <a:prstGeom prst="rightArrow">
            <a:avLst/>
          </a:prstGeom>
          <a:solidFill>
            <a:srgbClr val="1E63D6"/>
          </a:solidFill>
          <a:ln w="12700">
            <a:solidFill>
              <a:srgbClr val="1E63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738360" y="1280160"/>
            <a:ext cx="1691640" cy="685800"/>
          </a:xfrm>
          <a:prstGeom prst="roundRect">
            <a:avLst>
              <a:gd name="adj" fmla="val 10667"/>
            </a:avLst>
          </a:prstGeom>
          <a:solidFill>
            <a:srgbClr val="00B4E6"/>
          </a:solidFill>
          <a:ln w="12700">
            <a:solidFill>
              <a:srgbClr val="00B4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738360" y="128016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&amp; cross-border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E3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 infrastructure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65760" y="2240280"/>
            <a:ext cx="374904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02920" y="2368296"/>
            <a:ext cx="274320" cy="274320"/>
          </a:xfrm>
          <a:prstGeom prst="ellipse">
            <a:avLst/>
          </a:prstGeom>
          <a:solidFill>
            <a:srgbClr val="0B2A5B"/>
          </a:solidFill>
          <a:ln w="12700">
            <a:solidFill>
              <a:srgbClr val="0B2A5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41248" y="2331720"/>
            <a:ext cx="3182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Paytm today (CF)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475488" y="2697480"/>
            <a:ext cx="3529584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₹1,18,750 Cr market cap on a turnaround re-rating</a:t>
            </a:r>
            <a:endParaRPr lang="en-US" sz="95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UPI and checkout growth slowing; PhonePe and Google Pay dominate volume</a:t>
            </a:r>
            <a:endParaRPr lang="en-US" sz="95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scrutiny since RBI’s 2024 Paytm Payments Bank restrictions</a:t>
            </a:r>
            <a:endParaRPr lang="en-US" sz="95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ambition: tokenized treasury and cross-border settlement aligned with e₹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224528" y="2240280"/>
            <a:ext cx="374904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361688" y="2368296"/>
            <a:ext cx="274320" cy="274320"/>
          </a:xfrm>
          <a:prstGeom prst="ellipse">
            <a:avLst/>
          </a:prstGeom>
          <a:solidFill>
            <a:srgbClr val="1E63D6"/>
          </a:solidFill>
          <a:ln w="12700">
            <a:solidFill>
              <a:srgbClr val="1E63D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700016" y="2331720"/>
            <a:ext cx="3182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Liminal adds (CF)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4334256" y="2697480"/>
            <a:ext cx="3529584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Institutional digital-asset custody + MPC infrastructure, founded 2021 (Mahin Gupta)</a:t>
            </a:r>
            <a:endParaRPr lang="en-US" sz="95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Clients: exchanges, hedge funds, OTC desks</a:t>
            </a:r>
            <a:endParaRPr lang="en-US" sz="95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HDFC Bank, Axis Bank, CoinDCX, ZebPay = 60% of ₹220 Cr ARR</a:t>
            </a:r>
            <a:endParaRPr lang="en-US" sz="95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Approximately PAT breakeven today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8074152" y="2240280"/>
            <a:ext cx="374904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8211312" y="2368296"/>
            <a:ext cx="274320" cy="274320"/>
          </a:xfrm>
          <a:prstGeom prst="ellipse">
            <a:avLst/>
          </a:prstGeom>
          <a:solidFill>
            <a:srgbClr val="00B4E6"/>
          </a:solidFill>
          <a:ln w="12700">
            <a:solidFill>
              <a:srgbClr val="00B4E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549640" y="2331720"/>
            <a:ext cx="3182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 (TA)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8183880" y="2697480"/>
            <a:ext cx="3529584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Custody/MPC is the trust layer every tokenized-settlement product needs; certifications take years to build</a:t>
            </a:r>
            <a:endParaRPr lang="en-US" sz="95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Adjacent to the core, not a replacement for it</a:t>
            </a:r>
            <a:endParaRPr lang="en-US" sz="95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hedge on the e₹ thesis: if it scales Paytm holds the rail; if not, the cheque is ₹1,040 Cr, not ₹4,000 Cr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365760" y="4343400"/>
            <a:ext cx="676656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502920" y="4462272"/>
            <a:ext cx="274320" cy="274320"/>
          </a:xfrm>
          <a:prstGeom prst="ellipse">
            <a:avLst/>
          </a:prstGeom>
          <a:solidFill>
            <a:srgbClr val="1E63D6"/>
          </a:solidFill>
          <a:ln w="12700">
            <a:solidFill>
              <a:srgbClr val="1E63D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41248" y="4416552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Could a partnership alone do the job? (5.1)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502920" y="4800600"/>
            <a:ext cx="64922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</a:t>
            </a:r>
            <a:pPr indent="0" marL="0">
              <a:buNone/>
            </a:pPr>
            <a:r>
              <a:rPr lang="en-US" sz="1050" b="1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</a:t>
            </a:r>
            <a:pPr indent="0" marL="0">
              <a:buNone/>
            </a:pPr>
            <a:r>
              <a:rPr lang="en-US" sz="10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largely yes. For </a:t>
            </a:r>
            <a:pPr indent="0" marL="0">
              <a:buNone/>
            </a:pPr>
            <a:r>
              <a:rPr lang="en-US" sz="1050" b="1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of supply</a:t>
            </a:r>
            <a:pPr indent="0" marL="0">
              <a:buNone/>
            </a:pPr>
            <a:r>
              <a:rPr lang="en-US" sz="10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no: a pure partnership leaves Liminal for sale, and the case says the consortium buys it if Paytm walks. Then Paytm’s critical custody supplier is owned by its main competitor. The 26% stake + ROFR/ROFO + call option buys the blocking right and the information rights to run the validation; the partnership captures the capability. Together they cost 26% of the headline price.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7251192" y="4343400"/>
            <a:ext cx="457200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7388352" y="4462272"/>
            <a:ext cx="274320" cy="274320"/>
          </a:xfrm>
          <a:prstGeom prst="ellipse">
            <a:avLst/>
          </a:prstGeom>
          <a:solidFill>
            <a:srgbClr val="0B2A5B"/>
          </a:solidFill>
          <a:ln w="12700">
            <a:solidFill>
              <a:srgbClr val="0B2A5B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726680" y="4416552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 enough to leave the core?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7388352" y="4800600"/>
            <a:ext cx="42976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enough for a 26% position and a partnership; not large enough, on the case’s numbers, for a ₹4,000 Cr control cheque with a ₹750 Cr/yr carrying cost. </a:t>
            </a:r>
            <a:pPr indent="0" marL="0">
              <a:buNone/>
            </a:pPr>
            <a:r>
              <a:rPr lang="en-US" sz="1050" b="1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size the bet to the evidence.</a:t>
            </a:r>
            <a:pPr indent="0" marL="0">
              <a:buNone/>
            </a:pPr>
            <a:r>
              <a:rPr lang="en-US" sz="10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Walking away costs the neutral custodian and a 24–36 month build-or-partner path (TA). On pure earnings no structure is accretive before year 5.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5603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E6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3 · OWNERSHIP PARADOX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57200"/>
            <a:ext cx="9509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ownership paradox: </a:t>
            </a:r>
            <a:pPr indent="0" marL="0">
              <a:buNone/>
            </a:pPr>
            <a:r>
              <a:rPr lang="en-US" sz="1800" b="1" dirty="0">
                <a:solidFill>
                  <a:srgbClr val="1E63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impairs the asset; the drag alone outweighs the price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0012680" y="347472"/>
            <a:ext cx="1810512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1552" y="457200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0B2A5B"/>
          </a:solidFill>
          <a:ln w="12700">
            <a:solidFill>
              <a:srgbClr val="0B2A5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424160" y="34747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B2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Satoshi Gate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Paytm × Liminal · Team ETERNAL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65760" y="64922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 = case fact · CALC = arithmetic on case facts · TA = team assumption (slide 7) · ₹ in Cr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11338560" y="6492240"/>
            <a:ext cx="484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65760" y="1143000"/>
            <a:ext cx="278892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2920" y="1271016"/>
            <a:ext cx="274320" cy="274320"/>
          </a:xfrm>
          <a:prstGeom prst="ellipse">
            <a:avLst/>
          </a:prstGeom>
          <a:solidFill>
            <a:srgbClr val="C63C3C"/>
          </a:solidFill>
          <a:ln w="12700">
            <a:solidFill>
              <a:srgbClr val="C63C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" y="1271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841248" y="1234440"/>
            <a:ext cx="2221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conflict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75488" y="1600200"/>
            <a:ext cx="2569464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Top-4 = ₹132 Cr of ₹220 Cr ARR (CF)</a:t>
            </a:r>
            <a:endParaRPr lang="en-US" sz="90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Case: ₹66–99 Cr leaves in 12 months = 50–75% of the top-4 book</a:t>
            </a:r>
            <a:endParaRPr lang="en-US" sz="90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Trigger: a competing consumer wallet owning the custodian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55264" y="1143000"/>
            <a:ext cx="278892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392424" y="1271016"/>
            <a:ext cx="274320" cy="274320"/>
          </a:xfrm>
          <a:prstGeom prst="ellipse">
            <a:avLst/>
          </a:prstGeom>
          <a:solidFill>
            <a:srgbClr val="C63C3C"/>
          </a:solidFill>
          <a:ln w="12700">
            <a:solidFill>
              <a:srgbClr val="C63C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392424" y="1271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3730752" y="1234440"/>
            <a:ext cx="2221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Regulatory capital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3364992" y="1600200"/>
            <a:ext cx="2569464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₹750 Cr/yr = 117% of EBITDA, 156% of PAT, 3.4× Liminal revenue</a:t>
            </a:r>
            <a:endParaRPr lang="en-US" sz="90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Liminal needs ~₹4,000 Cr ARR (18× today) to self-fund it</a:t>
            </a:r>
            <a:endParaRPr lang="en-US" sz="90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years away at 20% growth, 11 at 30% (TA)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44768" y="1143000"/>
            <a:ext cx="278892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281928" y="1271016"/>
            <a:ext cx="274320" cy="274320"/>
          </a:xfrm>
          <a:prstGeom prst="ellipse">
            <a:avLst/>
          </a:prstGeom>
          <a:solidFill>
            <a:srgbClr val="D98A1B"/>
          </a:solidFill>
          <a:ln w="12700">
            <a:solidFill>
              <a:srgbClr val="D98A1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81928" y="1271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6620256" y="1234440"/>
            <a:ext cx="2221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Earnings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254496" y="1600200"/>
            <a:ext cx="2569464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Liminal ~breakeven: no earnings to offset the deal’s own cost (CF)</a:t>
            </a:r>
            <a:endParaRPr lang="en-US" sz="90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Year-1 EPS ₹5.29 (−29%) at the headline mix (TA)</a:t>
            </a:r>
            <a:endParaRPr lang="en-US" sz="90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“share-count only” ₹7.38 hides 95% of the dilution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9034272" y="1143000"/>
            <a:ext cx="278892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171432" y="1271016"/>
            <a:ext cx="274320" cy="274320"/>
          </a:xfrm>
          <a:prstGeom prst="ellipse">
            <a:avLst/>
          </a:prstGeom>
          <a:solidFill>
            <a:srgbClr val="D98A1B"/>
          </a:solidFill>
          <a:ln w="12700">
            <a:solidFill>
              <a:srgbClr val="D98A1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171432" y="1271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9509760" y="1234440"/>
            <a:ext cx="2221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Valuation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9144000" y="1600200"/>
            <a:ext cx="2569464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18.2× headline → 26–33× retained ARR</a:t>
            </a:r>
            <a:endParaRPr lang="en-US" sz="90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10 pts of churn destroys ₹400 Cr at the paid multiple</a:t>
            </a:r>
            <a:endParaRPr lang="en-US" sz="90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Paytm at ~247× trailing P/E: a −29% print invites the buyback debate (CF §3.3)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65760" y="3063240"/>
            <a:ext cx="393192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02920" y="3182112"/>
            <a:ext cx="274320" cy="274320"/>
          </a:xfrm>
          <a:prstGeom prst="ellipse">
            <a:avLst/>
          </a:prstGeom>
          <a:solidFill>
            <a:srgbClr val="C63C3C"/>
          </a:solidFill>
          <a:ln w="12700">
            <a:solidFill>
              <a:srgbClr val="C63C3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41248" y="3136392"/>
            <a:ext cx="3364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drag in context — ₹ Cr per year</a:t>
            </a:r>
            <a:endParaRPr lang="en-US" sz="1050" dirty="0"/>
          </a:p>
        </p:txBody>
      </p:sp>
      <p:graphicFrame>
        <p:nvGraphicFramePr>
          <p:cNvPr id="32" name="Chart 0" descr=""/>
          <p:cNvGraphicFramePr/>
          <p:nvPr/>
        </p:nvGraphicFramePr>
        <p:xfrm>
          <a:off x="457200" y="3474720"/>
          <a:ext cx="37490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3" name="Text 30"/>
          <p:cNvSpPr txBox="1"/>
          <p:nvPr/>
        </p:nvSpPr>
        <p:spPr>
          <a:xfrm>
            <a:off x="502920" y="580644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10-year NPV of the drag at 12% WACC: </a:t>
            </a:r>
            <a:pPr indent="0" marL="0">
              <a:buNone/>
            </a:pPr>
            <a:r>
              <a:rPr lang="en-US" sz="850" b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₹4,238 Cr</a:t>
            </a:r>
            <a:pPr indent="0" marL="0">
              <a:buNone/>
            </a:pPr>
            <a:r>
              <a:rPr lang="en-US" sz="8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more than the ₹4,000 Cr price (TA).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4434840" y="3063240"/>
            <a:ext cx="393192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4572000" y="3182112"/>
            <a:ext cx="274320" cy="274320"/>
          </a:xfrm>
          <a:prstGeom prst="ellipse">
            <a:avLst/>
          </a:prstGeom>
          <a:solidFill>
            <a:srgbClr val="D98A1B"/>
          </a:solidFill>
          <a:ln w="12700">
            <a:solidFill>
              <a:srgbClr val="D98A1B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910328" y="3136392"/>
            <a:ext cx="3364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Effective multiple on retained ARR</a:t>
            </a:r>
            <a:endParaRPr lang="en-US" sz="1050" dirty="0"/>
          </a:p>
        </p:txBody>
      </p:sp>
      <p:graphicFrame>
        <p:nvGraphicFramePr>
          <p:cNvPr id="37" name="Chart 1" descr=""/>
          <p:cNvGraphicFramePr/>
          <p:nvPr/>
        </p:nvGraphicFramePr>
        <p:xfrm>
          <a:off x="4526280" y="3474720"/>
          <a:ext cx="37490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8" name="Text 34"/>
          <p:cNvSpPr txBox="1"/>
          <p:nvPr/>
        </p:nvSpPr>
        <p:spPr>
          <a:xfrm>
            <a:off x="4572000" y="580644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₹4,000 Cr ÷ retained ARR. Growth needed just to recover ₹220 Cr: +42.9% after 30% churn, +81.8% after 45% (CALC).</a:t>
            </a:r>
            <a:endParaRPr lang="en-US" sz="850" dirty="0"/>
          </a:p>
        </p:txBody>
      </p:sp>
      <p:sp>
        <p:nvSpPr>
          <p:cNvPr id="39" name="Shape 35"/>
          <p:cNvSpPr/>
          <p:nvPr/>
        </p:nvSpPr>
        <p:spPr>
          <a:xfrm>
            <a:off x="8503920" y="3063240"/>
            <a:ext cx="3319272" cy="1554480"/>
          </a:xfrm>
          <a:prstGeom prst="roundRect">
            <a:avLst>
              <a:gd name="adj" fmla="val 4706"/>
            </a:avLst>
          </a:prstGeom>
          <a:solidFill>
            <a:srgbClr val="0B2A5B"/>
          </a:solidFill>
          <a:ln w="12700">
            <a:solidFill>
              <a:srgbClr val="0B2A5B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8641080" y="3721608"/>
            <a:ext cx="237744" cy="237744"/>
          </a:xfrm>
          <a:prstGeom prst="ellipse">
            <a:avLst/>
          </a:prstGeom>
          <a:solidFill>
            <a:srgbClr val="00B4E6"/>
          </a:solidFill>
          <a:ln w="12700">
            <a:solidFill>
              <a:srgbClr val="00B4E6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8641080" y="37216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800" dirty="0"/>
          </a:p>
        </p:txBody>
      </p:sp>
      <p:sp>
        <p:nvSpPr>
          <p:cNvPr id="42" name="Text 38"/>
          <p:cNvSpPr txBox="1"/>
          <p:nvPr/>
        </p:nvSpPr>
        <p:spPr>
          <a:xfrm>
            <a:off x="8961120" y="3063240"/>
            <a:ext cx="277063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DEAL PARADOX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Paytm wants Liminal for its institutional franchise. Taking control is what breaks that franchise and what triggers the capital requirement.</a:t>
            </a:r>
            <a:endParaRPr lang="en-US" sz="950" dirty="0"/>
          </a:p>
        </p:txBody>
      </p:sp>
      <p:sp>
        <p:nvSpPr>
          <p:cNvPr id="43" name="Shape 39"/>
          <p:cNvSpPr/>
          <p:nvPr/>
        </p:nvSpPr>
        <p:spPr>
          <a:xfrm>
            <a:off x="8503920" y="4754880"/>
            <a:ext cx="3319272" cy="1600200"/>
          </a:xfrm>
          <a:prstGeom prst="roundRect">
            <a:avLst>
              <a:gd name="adj" fmla="val 4571"/>
            </a:avLst>
          </a:prstGeom>
          <a:solidFill>
            <a:srgbClr val="1E63D6"/>
          </a:solidFill>
          <a:ln w="12700">
            <a:solidFill>
              <a:srgbClr val="1E63D6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8641080" y="5436108"/>
            <a:ext cx="237744" cy="237744"/>
          </a:xfrm>
          <a:prstGeom prst="ellipse">
            <a:avLst/>
          </a:prstGeom>
          <a:solidFill>
            <a:srgbClr val="00B4E6"/>
          </a:solidFill>
          <a:ln w="12700">
            <a:solidFill>
              <a:srgbClr val="00B4E6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8641080" y="54361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800" dirty="0"/>
          </a:p>
        </p:txBody>
      </p:sp>
      <p:sp>
        <p:nvSpPr>
          <p:cNvPr id="46" name="Text 42"/>
          <p:cNvSpPr txBox="1"/>
          <p:nvPr/>
        </p:nvSpPr>
        <p:spPr>
          <a:xfrm>
            <a:off x="8961120" y="4754880"/>
            <a:ext cx="277063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IMPLICATION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Separate the strategic attractiveness of Liminal (high) from the economic attractiveness of owning 100% today (negative under the case’s own assumptions).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5603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E6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4 · STRATEGIC OPTIONS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57200"/>
            <a:ext cx="9509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options: </a:t>
            </a:r>
            <a:pPr indent="0" marL="0">
              <a:buNone/>
            </a:pPr>
            <a:r>
              <a:rPr lang="en-US" sz="1800" b="1" dirty="0">
                <a:solidFill>
                  <a:srgbClr val="1E63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minority + option secures access and blocks the bid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0012680" y="347472"/>
            <a:ext cx="1810512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1552" y="457200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0B2A5B"/>
          </a:solidFill>
          <a:ln w="12700">
            <a:solidFill>
              <a:srgbClr val="0B2A5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424160" y="34747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B2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Satoshi Gate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Paytm × Liminal · Team ETERNAL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65760" y="64922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 = case fact · CALC = arithmetic on case facts · TA = team assumption (slide 7) · ₹ in Cr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11338560" y="6492240"/>
            <a:ext cx="484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143000"/>
          <a:ext cx="11457432" cy="914400"/>
        </p:xfrm>
        <a:graphic>
          <a:graphicData uri="http://schemas.openxmlformats.org/drawingml/2006/table">
            <a:tbl>
              <a:tblPr/>
              <a:tblGrid>
                <a:gridCol w="2062338"/>
                <a:gridCol w="2291486"/>
                <a:gridCol w="2978932"/>
                <a:gridCol w="2062338"/>
                <a:gridCol w="2062338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acquisition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26% minority + option  ★ recommended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Joint venture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Walk away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Strategic access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High: partnership + board seat + info rights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inside JV scope only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None; 24–36 mo build (TA)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Full, now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 now; positive optional (months 12–24)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Counter-bid defence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ROFR/ROFO + 26% veto + call option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Weak: Liminal still for sale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None: consortium acquires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Churn exposure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30–45% (CF)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triggered (TA), tested via consents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triggered (TA)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₹750 Cr capital drag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Applies (CF)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expected at 26% (TA); RBI comfort is a CP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Depends on JV custody scope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Upfront commitment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₹2,100 Cr cash + 1.02 Cr shares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₹1,040 Cr cash; no shares, no debt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 + IP licence (TA)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Year-1 EPS vs ₹7.50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₹5.29 (−29%)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₹6.81 (−9%): foregone interest only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modelled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₹7.50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FCF profile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 breaks even (drag)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 is equity value; no cash yield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modelled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Reversibility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Medium–high (tag-along, ROFO)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Future-control optionality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Already spent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Preserved and priced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Negotiable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65760" y="4663440"/>
            <a:ext cx="448056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02920" y="4782312"/>
            <a:ext cx="274320" cy="274320"/>
          </a:xfrm>
          <a:prstGeom prst="ellipse">
            <a:avLst/>
          </a:prstGeom>
          <a:solidFill>
            <a:srgbClr val="0B2A5B"/>
          </a:solidFill>
          <a:ln w="12700">
            <a:solidFill>
              <a:srgbClr val="0B2A5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41248" y="4736592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JV, if needed (TA)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502920" y="5074920"/>
            <a:ext cx="4206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Paytm-majority “SettleCo” for e₹/tokenized-treasury settlement: Liminal licenses MPC and runs custody ops; Paytm brings distribution, merchants and capital; Liminal’s institutional book stays outside. No revolt, no reserve on Paytm, but it does not block the consortium and splits governance. </a:t>
            </a:r>
            <a:pPr indent="0" marL="0">
              <a:buNone/>
            </a:pPr>
            <a:r>
              <a:rPr lang="en-US" sz="1000" b="1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fallback if RBI applies a reserve at minority level.</a:t>
            </a:r>
            <a:pPr indent="0" marL="0">
              <a:buNone/>
            </a:pP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983480" y="4663440"/>
            <a:ext cx="365760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5120640" y="4782312"/>
            <a:ext cx="274320" cy="274320"/>
          </a:xfrm>
          <a:prstGeom prst="ellipse">
            <a:avLst/>
          </a:prstGeom>
          <a:solidFill>
            <a:srgbClr val="1B8A4C"/>
          </a:solidFill>
          <a:ln w="12700">
            <a:solidFill>
              <a:srgbClr val="1B8A4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58968" y="4736592"/>
            <a:ext cx="3090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5120640" y="5074920"/>
            <a:ext cx="3383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Minority + partnership + call option defers the two largest unresolved risks — </a:t>
            </a:r>
            <a:pPr indent="0" marL="0">
              <a:buNone/>
            </a:pPr>
            <a:r>
              <a:rPr lang="en-US" sz="1000" b="1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response</a:t>
            </a:r>
            <a:pPr indent="0" marL="0">
              <a:buNone/>
            </a:pPr>
            <a:r>
              <a:rPr lang="en-US" sz="100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indent="0" marL="0">
              <a:buNone/>
            </a:pPr>
            <a:r>
              <a:rPr lang="en-US" sz="1000" b="1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treatment</a:t>
            </a:r>
            <a:pPr indent="0" marL="0">
              <a:buNone/>
            </a:pPr>
            <a:r>
              <a:rPr lang="en-US" sz="100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until they are observable, at 26% of the cheque, while removing the consortium’s easiest path.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778240" y="4663440"/>
            <a:ext cx="304495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8915400" y="4782312"/>
            <a:ext cx="274320" cy="274320"/>
          </a:xfrm>
          <a:prstGeom prst="ellipse">
            <a:avLst/>
          </a:prstGeom>
          <a:solidFill>
            <a:srgbClr val="C63C3C"/>
          </a:solidFill>
          <a:ln w="12700">
            <a:solidFill>
              <a:srgbClr val="C63C3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253728" y="4736592"/>
            <a:ext cx="2478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Discipline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8915400" y="5074920"/>
            <a:ext cx="2788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 </a:t>
            </a:r>
            <a:pPr indent="0" marL="0">
              <a:buNone/>
            </a:pPr>
            <a:r>
              <a:rPr lang="en-US" sz="1000" b="1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indent="0" marL="0">
              <a:buNone/>
            </a:pPr>
            <a:r>
              <a:rPr lang="en-US" sz="100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assume a minority automatically eliminates churn or the ₹750 Cr requirement. Both are gates, tested before any control is exercised.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5603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E6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5 · TRANSACTION ARCHITECTURE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57200"/>
            <a:ext cx="9509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 architecture: </a:t>
            </a:r>
            <a:pPr indent="0" marL="0">
              <a:buNone/>
            </a:pPr>
            <a:r>
              <a:rPr lang="en-US" sz="1800" b="1" dirty="0">
                <a:solidFill>
                  <a:srgbClr val="1E63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 for access now, pay for control against retained ARR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0012680" y="347472"/>
            <a:ext cx="1810512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1552" y="457200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0B2A5B"/>
          </a:solidFill>
          <a:ln w="12700">
            <a:solidFill>
              <a:srgbClr val="0B2A5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424160" y="34747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B2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Satoshi Gate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Paytm × Liminal · Team ETERNAL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65760" y="64922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 = case fact · CALC = arithmetic on case facts · TA = team assumption (slide 7) · ₹ in Cr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11338560" y="6492240"/>
            <a:ext cx="484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65760" y="1143000"/>
            <a:ext cx="375818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2920" y="1271016"/>
            <a:ext cx="274320" cy="274320"/>
          </a:xfrm>
          <a:prstGeom prst="ellipse">
            <a:avLst/>
          </a:prstGeom>
          <a:solidFill>
            <a:srgbClr val="1E63D6"/>
          </a:solidFill>
          <a:ln w="12700">
            <a:solidFill>
              <a:srgbClr val="1E63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" y="1271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841248" y="1234440"/>
            <a:ext cx="31912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entry · ₹1,040 Cr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75488" y="1600200"/>
            <a:ext cx="3538728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purchase of 26% at pro-rata of the ₹4,000 Cr headline = ceiling; target ₹850–950 Cr (bull-DCF pro-rata)</a:t>
            </a:r>
            <a:endParaRPr lang="en-US" sz="90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balance-sheet cash; no debt, no shares; equity-method associate</a:t>
            </a:r>
            <a:endParaRPr lang="en-US" sz="90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of 5 board seats + observer; info/audit rights; ROFR/ROFO; tag-along; anti-dilution; reserved matters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215384" y="1143000"/>
            <a:ext cx="375818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352544" y="1271016"/>
            <a:ext cx="274320" cy="274320"/>
          </a:xfrm>
          <a:prstGeom prst="ellipse">
            <a:avLst/>
          </a:prstGeom>
          <a:solidFill>
            <a:srgbClr val="00B4E6"/>
          </a:solidFill>
          <a:ln w="12700">
            <a:solidFill>
              <a:srgbClr val="00B4E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52544" y="1271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4690872" y="1234440"/>
            <a:ext cx="31912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Partnership + ring-fence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4325112" y="1600200"/>
            <a:ext cx="3538728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Multi-year custody/MPC agreement for tokenized-treasury, e₹ and cross-border pilots, at arm’s length</a:t>
            </a:r>
            <a:endParaRPr lang="en-US" sz="90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Standalone brand, independent chair, information barriers, published client charter</a:t>
            </a:r>
            <a:endParaRPr lang="en-US" sz="90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and MPC-engineering retention pool vesting over validation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065008" y="1143000"/>
            <a:ext cx="375818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202168" y="1271016"/>
            <a:ext cx="274320" cy="274320"/>
          </a:xfrm>
          <a:prstGeom prst="ellipse">
            <a:avLst/>
          </a:prstGeom>
          <a:solidFill>
            <a:srgbClr val="0B2A5B"/>
          </a:solidFill>
          <a:ln w="12700">
            <a:solidFill>
              <a:srgbClr val="0B2A5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02168" y="1271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8540496" y="1234440"/>
            <a:ext cx="31912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option on 74%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8174736" y="1600200"/>
            <a:ext cx="3538728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months 12–24; a right, not an obligation; ROFR/ROFO persist after lapse</a:t>
            </a:r>
            <a:endParaRPr lang="en-US" sz="90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₹2,960 Cr = ₹1,650 Cr at exercise + earn-out ≤ ₹1,310 Cr, linear 55–100% retained ARR at month 18</a:t>
            </a:r>
            <a:endParaRPr lang="en-US" sz="90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Earn-out in Paytm shares (≤0.71 Cr, ±15% collar) or cash at Paytm’s election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65760" y="3063240"/>
            <a:ext cx="630936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02920" y="3182112"/>
            <a:ext cx="274320" cy="274320"/>
          </a:xfrm>
          <a:prstGeom prst="ellipse">
            <a:avLst/>
          </a:prstGeom>
          <a:solidFill>
            <a:srgbClr val="1E63D6"/>
          </a:solidFill>
          <a:ln w="12700">
            <a:solidFill>
              <a:srgbClr val="1E63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41248" y="3136392"/>
            <a:ext cx="5742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consideration vs post-control churn (₹ Cr)</a:t>
            </a:r>
            <a:endParaRPr lang="en-US" sz="1050" dirty="0"/>
          </a:p>
        </p:txBody>
      </p:sp>
      <p:graphicFrame>
        <p:nvGraphicFramePr>
          <p:cNvPr id="27" name="Chart 0" descr=""/>
          <p:cNvGraphicFramePr/>
          <p:nvPr/>
        </p:nvGraphicFramePr>
        <p:xfrm>
          <a:off x="457200" y="3429000"/>
          <a:ext cx="612648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8" name="Text 25"/>
          <p:cNvSpPr txBox="1"/>
          <p:nvPr/>
        </p:nvSpPr>
        <p:spPr>
          <a:xfrm>
            <a:off x="502920" y="5715000"/>
            <a:ext cx="6035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74% × 18.2× × retained ARR within 1–2%: the upfront covers the worst case, the earn-out pays only for revenue that survives control. Measured on the pre-control client base, audited, Paytm-related revenue excluded. Grand total: ₹4,000 Cr at 0% churn → ₹2,690 Cr at ≥45%.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6812280" y="3063240"/>
            <a:ext cx="5010912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6949440" y="3182112"/>
            <a:ext cx="274320" cy="274320"/>
          </a:xfrm>
          <a:prstGeom prst="ellipse">
            <a:avLst/>
          </a:prstGeom>
          <a:solidFill>
            <a:srgbClr val="0B2A5B"/>
          </a:solidFill>
          <a:ln w="12700">
            <a:solidFill>
              <a:srgbClr val="0B2A5B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287768" y="3136392"/>
            <a:ext cx="4443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26%, not 25%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347472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share above 25% blocks special resolutions (new-investor allotment, charter changes, schemes). The veto does not stop a secondary sale; the ROFR/ROFO does. With the call option they close every route to the consortium.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6812280" y="4773168"/>
            <a:ext cx="5010912" cy="1581912"/>
          </a:xfrm>
          <a:prstGeom prst="roundRect">
            <a:avLst>
              <a:gd name="adj" fmla="val 5780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949440" y="4892040"/>
            <a:ext cx="274320" cy="274320"/>
          </a:xfrm>
          <a:prstGeom prst="ellipse">
            <a:avLst/>
          </a:prstGeom>
          <a:solidFill>
            <a:srgbClr val="1B8A4C"/>
          </a:solidFill>
          <a:ln w="12700">
            <a:solidFill>
              <a:srgbClr val="1B8A4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287768" y="4846320"/>
            <a:ext cx="4443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Liminal’s shareholders say yes (TA)</a:t>
            </a:r>
            <a:endParaRPr lang="en-US" sz="1050" dirty="0"/>
          </a:p>
        </p:txBody>
      </p:sp>
      <p:sp>
        <p:nvSpPr>
          <p:cNvPr id="36" name="Text 33"/>
          <p:cNvSpPr txBox="1"/>
          <p:nvPr/>
        </p:nvSpPr>
        <p:spPr>
          <a:xfrm>
            <a:off x="6949440" y="5184648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₹1,040 Cr of liquidity now; a defined path to the full ₹4,000 Cr; Paytm as anchor client; retention pool; and the alternative buyer carries the same wallet conflict. If the option is refused: 26% + ROFR/ROFO without the call still blocks and still gives access.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5603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E6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6 · ASSUMPTIONS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57200"/>
            <a:ext cx="9509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Assumptions slide: </a:t>
            </a:r>
            <a:pPr indent="0" marL="0">
              <a:buNone/>
            </a:pPr>
            <a:r>
              <a:rPr lang="en-US" sz="1800" b="1" dirty="0">
                <a:solidFill>
                  <a:srgbClr val="1E63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facts vs calculations vs team assumptions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0012680" y="347472"/>
            <a:ext cx="1810512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1552" y="457200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0B2A5B"/>
          </a:solidFill>
          <a:ln w="12700">
            <a:solidFill>
              <a:srgbClr val="0B2A5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424160" y="34747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B2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Satoshi Gate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Paytm × Liminal · Team ETERNAL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65760" y="64922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 = case fact · CALC = arithmetic on case facts · TA = team assumption (slide 7) · ₹ in Cr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11338560" y="6492240"/>
            <a:ext cx="484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65760" y="1143000"/>
            <a:ext cx="5394960" cy="2926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2920" y="1261872"/>
            <a:ext cx="274320" cy="274320"/>
          </a:xfrm>
          <a:prstGeom prst="ellipse">
            <a:avLst/>
          </a:prstGeom>
          <a:solidFill>
            <a:srgbClr val="0B2A5B"/>
          </a:solidFill>
          <a:ln w="12700">
            <a:solidFill>
              <a:srgbClr val="0B2A5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1248" y="1216152"/>
            <a:ext cx="4828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facts (CF)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5212080" cy="914400"/>
        </p:xfrm>
        <a:graphic>
          <a:graphicData uri="http://schemas.openxmlformats.org/drawingml/2006/table">
            <a:tbl>
              <a:tblPr/>
              <a:tblGrid>
                <a:gridCol w="1198778"/>
                <a:gridCol w="1250899"/>
                <a:gridCol w="1198778"/>
                <a:gridCol w="156362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Paytm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Liminal / deal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 cap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₹1,18,750 Cr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Headline value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₹4,000 = ₹2,100 cash + ₹1,900 equity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Diluted shares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Cr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₹220 Cr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Cash / gross debt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₹8,900 / ₹350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~breakeven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 / EBITDA / PAT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₹8,450 / ₹640 / ₹480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Top-4 clients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60% of ARR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Diluted EPS (start)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₹7.50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Full-acq. churn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30–45% within 12 months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Rating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CRISIL AA− (Stable)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 drag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₹750 Cr/yr recurring FCF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Cash-portion funding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Cash, debt, or mix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UPI MDR (standalone)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₹115 Cr/yr net revenue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365760" y="4206240"/>
            <a:ext cx="53949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502920" y="4325112"/>
            <a:ext cx="274320" cy="274320"/>
          </a:xfrm>
          <a:prstGeom prst="ellipse">
            <a:avLst/>
          </a:prstGeom>
          <a:solidFill>
            <a:srgbClr val="1E63D6"/>
          </a:solidFill>
          <a:ln w="12700">
            <a:solidFill>
              <a:srgbClr val="1E63D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1248" y="4279392"/>
            <a:ext cx="4828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Derived calculations (CALC)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502920" y="4590288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price ₹1,855 (market cap ÷ shares) · 18.2× headline ARR · ₹1,900 Cr equity = 1.02 Cr shares · trailing P/E ≈ 247× · churn-adjusted multiples and values · drag ratios.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365760" y="5394960"/>
            <a:ext cx="5394960" cy="960120"/>
          </a:xfrm>
          <a:prstGeom prst="roundRect">
            <a:avLst>
              <a:gd name="adj" fmla="val 7619"/>
            </a:avLst>
          </a:prstGeom>
          <a:solidFill>
            <a:srgbClr val="0B2A5B"/>
          </a:solidFill>
          <a:ln w="12700">
            <a:solidFill>
              <a:srgbClr val="0B2A5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02920" y="5756148"/>
            <a:ext cx="237744" cy="237744"/>
          </a:xfrm>
          <a:prstGeom prst="ellipse">
            <a:avLst/>
          </a:prstGeom>
          <a:solidFill>
            <a:srgbClr val="00B4E6"/>
          </a:solidFill>
          <a:ln w="12700">
            <a:solidFill>
              <a:srgbClr val="00B4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57561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" y="539496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FACT ≠ DERIVED CALCULATION ≠ TEAM ASSUMPTION. No case input is replaced by an external figure; every TA is flexed in the model.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897880" y="1143000"/>
            <a:ext cx="5925312" cy="521208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035040" y="1261872"/>
            <a:ext cx="274320" cy="274320"/>
          </a:xfrm>
          <a:prstGeom prst="ellipse">
            <a:avLst/>
          </a:prstGeom>
          <a:solidFill>
            <a:srgbClr val="1E63D6"/>
          </a:solidFill>
          <a:ln w="12700">
            <a:solidFill>
              <a:srgbClr val="1E63D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373368" y="1216152"/>
            <a:ext cx="5358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assumptions (TA) — the values in the model</a:t>
            </a:r>
            <a:endParaRPr lang="en-US" sz="105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89320" y="1554480"/>
          <a:ext cx="5742432" cy="914400"/>
        </p:xfrm>
        <a:graphic>
          <a:graphicData uri="http://schemas.openxmlformats.org/drawingml/2006/table">
            <a:tbl>
              <a:tblPr/>
              <a:tblGrid>
                <a:gridCol w="287122"/>
                <a:gridCol w="1895003"/>
                <a:gridCol w="2584094"/>
                <a:gridCol w="976213"/>
              </a:tblGrid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Assumption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Range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Stake / price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26% / ₹1,040 Cr (ceiling)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20–30%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Yield on surplus cash (pre-tax)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5–7%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of new debt (pre-tax)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8–10%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 rate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Liminal ARR growth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 (bear 10%, bull 30%)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10–40%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EBITDA margin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 → +5 pp/yr to 25%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20–30%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 / FCF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 = 75% EBITDA; FCF ≈ PAT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Churn under minority / JV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 (consent gate)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0–20%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Churn at control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37.5% counterfactual; ≤20% to exercise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0–55%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stickiness after churn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 for one year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Drag at minority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(RBI comfort CP); tested ₹195 / ₹750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Drag treatment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FCF only; PPA not modelled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MDR conversion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80% flow-through → ₹69 Cr PAT/FCF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60–100%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One-time costs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Fees ₹15; integration ₹100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Synergies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 base; upside only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WACC / terminal growth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12% / 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11–14%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 tranche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₹1,650 up (₹1,150 cash + ₹500 debt) + ≤₹1,310 earn-out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Guardrails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Cash ≥ ₹5,000; GD/EBITDA ≤ 1.5×; collar ±15%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Validation / option window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months / months 12–24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 gate on breakeven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 and FCF ≤ 5 yrs after exercise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Build-or-partner alternative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24–36 months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5603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E6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7 · VALUATION &amp; CHURN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57200"/>
            <a:ext cx="9509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Valuation &amp; churn: </a:t>
            </a:r>
            <a:pPr indent="0" marL="0">
              <a:buNone/>
            </a:pPr>
            <a:r>
              <a:rPr lang="en-US" sz="1800" b="1" dirty="0">
                <a:solidFill>
                  <a:srgbClr val="1E63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18.2× becomes 26–33×; the price needs 31% growth for 10 years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0012680" y="347472"/>
            <a:ext cx="1810512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1552" y="457200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0B2A5B"/>
          </a:solidFill>
          <a:ln w="12700">
            <a:solidFill>
              <a:srgbClr val="0B2A5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424160" y="34747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B2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Satoshi Gate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Paytm × Liminal · Team ETERNAL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65760" y="64922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 = case fact · CALC = arithmetic on case facts · TA = team assumption (slide 7) · ₹ in Cr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11338560" y="6492240"/>
            <a:ext cx="484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65760" y="1143000"/>
            <a:ext cx="585216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2920" y="1261872"/>
            <a:ext cx="274320" cy="274320"/>
          </a:xfrm>
          <a:prstGeom prst="ellipse">
            <a:avLst/>
          </a:prstGeom>
          <a:solidFill>
            <a:srgbClr val="D98A1B"/>
          </a:solidFill>
          <a:ln w="12700">
            <a:solidFill>
              <a:srgbClr val="D98A1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1248" y="1216152"/>
            <a:ext cx="5285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Churn sensitivity (CALC) — ₹ Cr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5669280" cy="914400"/>
        </p:xfrm>
        <a:graphic>
          <a:graphicData uri="http://schemas.openxmlformats.org/drawingml/2006/table">
            <a:tbl>
              <a:tblPr/>
              <a:tblGrid>
                <a:gridCol w="680314"/>
                <a:gridCol w="737006"/>
                <a:gridCol w="737006"/>
                <a:gridCol w="850392"/>
                <a:gridCol w="907085"/>
                <a:gridCol w="793699"/>
                <a:gridCol w="963778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Churn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 lost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Retained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Eff. multiple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 @18.2×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Recovery growth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18.2×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₹4,000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26.0×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₹2,800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+42.9%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₹82.5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₹137.5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₹2,500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₹1,500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+60.0%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33.1×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₹1,800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+81.8%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</a:tr>
            </a:tbl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502920" y="3200400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10 points of churn destroys ₹400 Cr of value at the paid multiple.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6355080" y="1143000"/>
            <a:ext cx="5468112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92240" y="1261872"/>
            <a:ext cx="274320" cy="274320"/>
          </a:xfrm>
          <a:prstGeom prst="ellipse">
            <a:avLst/>
          </a:prstGeom>
          <a:solidFill>
            <a:srgbClr val="1E63D6"/>
          </a:solidFill>
          <a:ln w="12700">
            <a:solidFill>
              <a:srgbClr val="1E63D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30568" y="1216152"/>
            <a:ext cx="4901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need to believe — standalone DCF vs ₹4,000 Cr (TA)</a:t>
            </a:r>
            <a:endParaRPr lang="en-US" sz="105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6400800" y="1508760"/>
          <a:ext cx="5349240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4"/>
          <p:cNvSpPr txBox="1"/>
          <p:nvPr/>
        </p:nvSpPr>
        <p:spPr>
          <a:xfrm>
            <a:off x="6492240" y="3127248"/>
            <a:ext cx="5257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 WACC, 5% TG, margin → 25%. Break-even growth </a:t>
            </a:r>
            <a:pPr indent="0" marL="0">
              <a:buNone/>
            </a:pPr>
            <a:r>
              <a:rPr lang="en-US" sz="850" b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31.3% p.a. for 10 years</a:t>
            </a:r>
            <a:pPr indent="0" marL="0">
              <a:buNone/>
            </a:pPr>
            <a:r>
              <a:rPr lang="en-US" sz="8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zero churn and no drag. WACC 11–14% moves base value ₹2,127 → ₹1,265 Cr.</a:t>
            </a:r>
            <a:endParaRPr lang="en-US" sz="850" dirty="0"/>
          </a:p>
        </p:txBody>
      </p:sp>
      <p:sp>
        <p:nvSpPr>
          <p:cNvPr id="19" name="Shape 15"/>
          <p:cNvSpPr/>
          <p:nvPr/>
        </p:nvSpPr>
        <p:spPr>
          <a:xfrm>
            <a:off x="365760" y="3794760"/>
            <a:ext cx="3749040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502920" y="3922776"/>
            <a:ext cx="274320" cy="274320"/>
          </a:xfrm>
          <a:prstGeom prst="ellipse">
            <a:avLst/>
          </a:prstGeom>
          <a:solidFill>
            <a:srgbClr val="1E63D6"/>
          </a:solidFill>
          <a:ln w="12700">
            <a:solidFill>
              <a:srgbClr val="1E63D6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41248" y="3886200"/>
            <a:ext cx="3182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the valuation supportable? (5.3)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475488" y="4251960"/>
            <a:ext cx="3529584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as an unconditional ₹4,000 Cr</a:t>
            </a:r>
            <a:endParaRPr lang="en-US" sz="100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as a cap reached through retained ARR: ₹3,127 Cr total at 30% churn, ₹2,690 Cr at 45%</a:t>
            </a:r>
            <a:endParaRPr lang="en-US" sz="100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Liminal delivers 30% growth, the cap sits 16% below the then-DCF of ~₹4,756 Cr</a:t>
            </a:r>
            <a:endParaRPr lang="en-US" sz="100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drag NPV (₹4,238 Cr) and 100% ownership is negative below 40% growth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4224528" y="3794760"/>
            <a:ext cx="3749040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4361688" y="3922776"/>
            <a:ext cx="274320" cy="274320"/>
          </a:xfrm>
          <a:prstGeom prst="ellipse">
            <a:avLst/>
          </a:prstGeom>
          <a:solidFill>
            <a:srgbClr val="C63C3C"/>
          </a:solidFill>
          <a:ln w="12700">
            <a:solidFill>
              <a:srgbClr val="C63C3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700016" y="3886200"/>
            <a:ext cx="3182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Churn tolerance (5.2)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4334256" y="4251960"/>
            <a:ext cx="3529584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headline price, </a:t>
            </a:r>
            <a:endParaRPr lang="en-US" sz="100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1000" b="1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churn above 0%</a:t>
            </a:r>
            <a:endParaRPr lang="en-US" sz="100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makes the deal unattractive: the price is unsupported before churn</a:t>
            </a:r>
            <a:endParaRPr lang="en-US" sz="100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our structure the price self-corrects down to 55% retention</a:t>
            </a:r>
            <a:endParaRPr lang="en-US" sz="100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55% retention (churn &gt; 45%) control is </a:t>
            </a:r>
            <a:endParaRPr lang="en-US" sz="100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1000" b="1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</a:t>
            </a:r>
            <a:endParaRPr lang="en-US" sz="100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exercised — the Board’s tolerance lives in the earn-out floor, not in a fixed price</a:t>
            </a:r>
            <a:endParaRPr lang="en-US" sz="1000" dirty="0"/>
          </a:p>
        </p:txBody>
      </p:sp>
      <p:sp>
        <p:nvSpPr>
          <p:cNvPr id="27" name="Shape 23"/>
          <p:cNvSpPr/>
          <p:nvPr/>
        </p:nvSpPr>
        <p:spPr>
          <a:xfrm>
            <a:off x="8074152" y="3794760"/>
            <a:ext cx="3749040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8211312" y="3922776"/>
            <a:ext cx="274320" cy="274320"/>
          </a:xfrm>
          <a:prstGeom prst="ellipse">
            <a:avLst/>
          </a:prstGeom>
          <a:solidFill>
            <a:srgbClr val="0B2A5B"/>
          </a:solidFill>
          <a:ln w="12700">
            <a:solidFill>
              <a:srgbClr val="0B2A5B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8549640" y="3886200"/>
            <a:ext cx="3182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Structuring response</a:t>
            </a:r>
            <a:endParaRPr lang="en-US" sz="1050" dirty="0"/>
          </a:p>
        </p:txBody>
      </p:sp>
      <p:sp>
        <p:nvSpPr>
          <p:cNvPr id="30" name="Text 26"/>
          <p:cNvSpPr txBox="1"/>
          <p:nvPr/>
        </p:nvSpPr>
        <p:spPr>
          <a:xfrm>
            <a:off x="8183880" y="4251960"/>
            <a:ext cx="3529584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Deferred consideration · retention earn-out · CVR-style payout on retained ARR · valuation cap at headline</a:t>
            </a:r>
            <a:endParaRPr lang="en-US" sz="100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Fundamental value of 26%: ₹456 Cr (base) – ₹951 Cr (bull); the ₹1,040 Cr ceiling carries a disclosed premium for blocking and access</a:t>
            </a:r>
            <a:endParaRPr lang="en-US" sz="100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pay ₹4,000 Cr unconditionally for revenue that may disappear because of the acquisition itself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5603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E6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8 · FINANCING &amp; EPS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57200"/>
            <a:ext cx="9509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Financing &amp; EPS: </a:t>
            </a:r>
            <a:pPr indent="0" marL="0">
              <a:buNone/>
            </a:pPr>
            <a:r>
              <a:rPr lang="en-US" sz="1800" b="1" dirty="0">
                <a:solidFill>
                  <a:srgbClr val="1E63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the capital; every full-deal mix is 12–46% dilutive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0012680" y="347472"/>
            <a:ext cx="1810512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1552" y="457200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0B2A5B"/>
          </a:solidFill>
          <a:ln w="12700">
            <a:solidFill>
              <a:srgbClr val="0B2A5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424160" y="34747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B2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Satoshi Gate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Paytm × Liminal · Team ETERNAL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65760" y="64922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 = case fact · CALC = arithmetic on case facts · TA = team assumption (slide 7) · ₹ in Cr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11338560" y="6492240"/>
            <a:ext cx="484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65760" y="1143000"/>
            <a:ext cx="704088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2920" y="1261872"/>
            <a:ext cx="274320" cy="274320"/>
          </a:xfrm>
          <a:prstGeom prst="ellipse">
            <a:avLst/>
          </a:prstGeom>
          <a:solidFill>
            <a:srgbClr val="C63C3C"/>
          </a:solidFill>
          <a:ln w="12700">
            <a:solidFill>
              <a:srgbClr val="C63C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1248" y="1216152"/>
            <a:ext cx="6473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Full-acquisition year-1 EPS by financing mix (TA: 6% cash yield, 8.5% debt, 25% tax, 37.5% churn)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685800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685800"/>
                <a:gridCol w="617220"/>
                <a:gridCol w="617220"/>
                <a:gridCol w="617220"/>
                <a:gridCol w="754380"/>
                <a:gridCol w="754380"/>
                <a:gridCol w="75438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shares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Y1 EPS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₹7.50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+MDR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Cash after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Gross debt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GD/EBITDA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₹2,100 cash + ₹1,900 equity (case)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 Cr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₹5.29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−29%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₹6.36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₹6,800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₹2,100 debt + ₹1,900 equity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 Cr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₹4.69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−38%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₹5.75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₹8,900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₹2,450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3.8× ⚠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₹1,400 cash + ₹700 debt + ₹1,900 eq.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 Cr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₹5.09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₹6.15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₹7,500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₹1,050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1.6× ⚠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cash ₹4,000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₹4.04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−46%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₹5.12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₹4,900 ⚠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equity ₹4,000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2.16 Cr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₹6.63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₹7.68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₹8,900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Share-count-only view of case mix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 Cr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₹7.38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−1.6%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7543800" y="1143000"/>
            <a:ext cx="4279392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7680960" y="1261872"/>
            <a:ext cx="274320" cy="274320"/>
          </a:xfrm>
          <a:prstGeom prst="ellipse">
            <a:avLst/>
          </a:prstGeom>
          <a:solidFill>
            <a:srgbClr val="1E63D6"/>
          </a:solidFill>
          <a:ln w="12700">
            <a:solidFill>
              <a:srgbClr val="1E63D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019288" y="1216152"/>
            <a:ext cx="3712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Year-1 EPS (₹/share)</a:t>
            </a:r>
            <a:endParaRPr lang="en-US" sz="105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7589520" y="1508760"/>
          <a:ext cx="416052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Shape 13"/>
          <p:cNvSpPr/>
          <p:nvPr/>
        </p:nvSpPr>
        <p:spPr>
          <a:xfrm>
            <a:off x="365760" y="3794760"/>
            <a:ext cx="502920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02920" y="3913632"/>
            <a:ext cx="274320" cy="274320"/>
          </a:xfrm>
          <a:prstGeom prst="ellipse">
            <a:avLst/>
          </a:prstGeom>
          <a:solidFill>
            <a:srgbClr val="1B8A4C"/>
          </a:solidFill>
          <a:ln w="12700">
            <a:solidFill>
              <a:srgbClr val="1B8A4C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41248" y="3867912"/>
            <a:ext cx="4462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Phase 1 — ₹1,040 Cr cash for 26%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502920" y="4206240"/>
            <a:ext cx="4754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Year-1 EPS </a:t>
            </a:r>
            <a:pPr indent="0" marL="0">
              <a:buNone/>
            </a:pPr>
            <a:r>
              <a:rPr lang="en-US" sz="850" b="1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₹6.81 (−9.2% vs ₹7.50; −8.1% vs the ₹8.58 standalone-with-MDR baseline)</a:t>
            </a:r>
            <a:pPr indent="0" marL="0">
              <a:buNone/>
            </a:pPr>
            <a:r>
              <a:rPr lang="en-US" sz="8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entirely foregone treasury income (₹46.8 Cr/yr) less ₹2.6 Cr associate share. This is the option premium.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Sensitivity: ₹6.93 at 5% yield, ₹6.69 at 7%. With MDR added: ₹7.89.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Share-count dilution nil; new debt nil; cash after ₹7,860 Cr; GD/EBITDA 0.5×; net cash ₹7,510 Cr.</a:t>
            </a:r>
            <a:endParaRPr lang="en-US" sz="850" dirty="0"/>
          </a:p>
        </p:txBody>
      </p:sp>
      <p:sp>
        <p:nvSpPr>
          <p:cNvPr id="21" name="Shape 17"/>
          <p:cNvSpPr/>
          <p:nvPr/>
        </p:nvSpPr>
        <p:spPr>
          <a:xfrm>
            <a:off x="5532120" y="3794760"/>
            <a:ext cx="6291072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5669280" y="3913632"/>
            <a:ext cx="274320" cy="274320"/>
          </a:xfrm>
          <a:prstGeom prst="ellipse">
            <a:avLst/>
          </a:prstGeom>
          <a:solidFill>
            <a:srgbClr val="0B2A5B"/>
          </a:solidFill>
          <a:ln w="12700">
            <a:solidFill>
              <a:srgbClr val="0B2A5B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007608" y="3867912"/>
            <a:ext cx="5724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 &amp; uses (TA)</a:t>
            </a:r>
            <a:endParaRPr lang="en-US" sz="105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23560" y="4187952"/>
          <a:ext cx="6108192" cy="914400"/>
        </p:xfrm>
        <a:graphic>
          <a:graphicData uri="http://schemas.openxmlformats.org/drawingml/2006/table">
            <a:tbl>
              <a:tblPr/>
              <a:tblGrid>
                <a:gridCol w="1221638"/>
                <a:gridCol w="2443277"/>
                <a:gridCol w="2443277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 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26% stake ₹1,040 + fees ₹15 = ₹1,055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Balance-sheet cash ₹1,055; debt 0; equity 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 (if exercised)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Upfront ₹1,650 + integration ₹100 + earn-out ≤ ₹1,310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Cash ₹1,250 + new debt ₹500 + shares ≤ ₹1,310 (≤0.71 Cr, collared)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Maximum ever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₹4,000 Cr total = headline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Unconditional maximum ₹1,040 Cr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Text 20"/>
          <p:cNvSpPr txBox="1"/>
          <p:nvPr/>
        </p:nvSpPr>
        <p:spPr>
          <a:xfrm>
            <a:off x="5623560" y="530352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Post-control: cash ₹6,710 Cr, gross debt ₹850 Cr (1.3×), net cash ₹5,860 Cr — inside both guardrails. Cost of funds after control ₹130 Cr/yr.</a:t>
            </a:r>
            <a:endParaRPr lang="en-US" sz="800" dirty="0"/>
          </a:p>
        </p:txBody>
      </p:sp>
      <p:sp>
        <p:nvSpPr>
          <p:cNvPr id="26" name="Shape 21"/>
          <p:cNvSpPr/>
          <p:nvPr/>
        </p:nvSpPr>
        <p:spPr>
          <a:xfrm>
            <a:off x="365760" y="5715000"/>
            <a:ext cx="11457432" cy="640080"/>
          </a:xfrm>
          <a:prstGeom prst="roundRect">
            <a:avLst>
              <a:gd name="adj" fmla="val 11429"/>
            </a:avLst>
          </a:prstGeom>
          <a:solidFill>
            <a:srgbClr val="0B2A5B"/>
          </a:solidFill>
          <a:ln w="12700">
            <a:solidFill>
              <a:srgbClr val="0B2A5B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502920" y="5916168"/>
            <a:ext cx="237744" cy="237744"/>
          </a:xfrm>
          <a:prstGeom prst="ellipse">
            <a:avLst/>
          </a:prstGeom>
          <a:solidFill>
            <a:srgbClr val="00B4E6"/>
          </a:solidFill>
          <a:ln w="12700">
            <a:solidFill>
              <a:srgbClr val="00B4E6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502920" y="59161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800" dirty="0"/>
          </a:p>
        </p:txBody>
      </p:sp>
      <p:sp>
        <p:nvSpPr>
          <p:cNvPr id="29" name="Text 24"/>
          <p:cNvSpPr txBox="1"/>
          <p:nvPr/>
        </p:nvSpPr>
        <p:spPr>
          <a:xfrm>
            <a:off x="822960" y="571500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it: at ~247× P/E equity is Paytm’s cheapest currency in EPS terms and cash its most expensive (4.5% post-tax yield vs 0.4% earnings yield); but all-equity issues 3.3% of the company for a breakeven asset, and debt-funding the cash leg breaches AA− headroom (3.8× EBITDA). </a:t>
            </a:r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mix rescues a full acquisition. Financing follows risk resolution.</a:t>
            </a:r>
            <a:pPr indent="0" marL="0">
              <a:buNone/>
            </a:pP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5603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E6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9 · PAT &amp; FCF BREAKEVEN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57200"/>
            <a:ext cx="9509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 &amp; FCF breakeven: </a:t>
            </a:r>
            <a:pPr indent="0" marL="0">
              <a:buNone/>
            </a:pPr>
            <a:r>
              <a:rPr lang="en-US" sz="1800" b="1" dirty="0">
                <a:solidFill>
                  <a:srgbClr val="1E63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full deal never gets there; control only if Liminal earns it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0012680" y="347472"/>
            <a:ext cx="1810512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1552" y="457200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0B2A5B"/>
          </a:solidFill>
          <a:ln w="12700">
            <a:solidFill>
              <a:srgbClr val="0B2A5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424160" y="34747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B2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Satoshi Gate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Paytm × Liminal · Team ETERNAL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65760" y="64922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 = case fact · CALC = arithmetic on case facts · TA = team assumption (slide 7) · ₹ in Cr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11338560" y="6492240"/>
            <a:ext cx="484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65760" y="1143000"/>
            <a:ext cx="6583680" cy="29718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2920" y="1261872"/>
            <a:ext cx="274320" cy="274320"/>
          </a:xfrm>
          <a:prstGeom prst="ellipse">
            <a:avLst/>
          </a:prstGeom>
          <a:solidFill>
            <a:srgbClr val="1E63D6"/>
          </a:solidFill>
          <a:ln w="12700">
            <a:solidFill>
              <a:srgbClr val="1E63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1248" y="1216152"/>
            <a:ext cx="6016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EPS path by route (₹/share, TA base) — dashed = ₹7.50 baseline</a:t>
            </a:r>
            <a:endParaRPr lang="en-US" sz="105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457200" y="1508760"/>
          <a:ext cx="640080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10"/>
          <p:cNvSpPr/>
          <p:nvPr/>
        </p:nvSpPr>
        <p:spPr>
          <a:xfrm>
            <a:off x="7086600" y="1143000"/>
            <a:ext cx="4736592" cy="29718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7223760" y="1261872"/>
            <a:ext cx="274320" cy="274320"/>
          </a:xfrm>
          <a:prstGeom prst="ellipse">
            <a:avLst/>
          </a:prstGeom>
          <a:solidFill>
            <a:srgbClr val="C63C3C"/>
          </a:solidFill>
          <a:ln w="12700">
            <a:solidFill>
              <a:srgbClr val="C63C3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562088" y="1216152"/>
            <a:ext cx="4169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₹750 Cr drag vs ₹115 Cr MDR (5.3)</a:t>
            </a:r>
            <a:endParaRPr lang="en-US" sz="1050" dirty="0"/>
          </a:p>
        </p:txBody>
      </p:sp>
      <p:graphicFrame>
        <p:nvGraphicFramePr>
          <p:cNvPr id="16" name="Chart 1" descr=""/>
          <p:cNvGraphicFramePr/>
          <p:nvPr/>
        </p:nvGraphicFramePr>
        <p:xfrm>
          <a:off x="7178040" y="1508760"/>
          <a:ext cx="4572000" cy="1234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7" name="Text 13"/>
          <p:cNvSpPr txBox="1"/>
          <p:nvPr/>
        </p:nvSpPr>
        <p:spPr>
          <a:xfrm>
            <a:off x="7223760" y="2788920"/>
            <a:ext cx="4480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MDR covers </a:t>
            </a:r>
            <a:pPr indent="0" marL="0">
              <a:buNone/>
            </a:pPr>
            <a:r>
              <a:rPr lang="en-US" sz="850" b="1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15.3%</a:t>
            </a:r>
            <a:pPr indent="0" marL="0">
              <a:buNone/>
            </a:pPr>
            <a:r>
              <a:rPr lang="en-US" sz="8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drag at the revenue line, </a:t>
            </a:r>
            <a:pPr indent="0" marL="0">
              <a:buNone/>
            </a:pPr>
            <a:r>
              <a:rPr lang="en-US" sz="850" b="1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9.2%</a:t>
            </a:r>
            <a:pPr indent="0" marL="0">
              <a:buNone/>
            </a:pPr>
            <a:r>
              <a:rPr lang="en-US" sz="8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after conversion. Net cash cost of full ownership ~₹681 Cr/yr. The MDR accrues whether or not Paytm buys Liminal: a standalone tailwind (+₹1.08 EPS), never a deal synergy. Even a </a:t>
            </a:r>
            <a:pPr indent="0" marL="0">
              <a:buNone/>
            </a:pPr>
            <a:r>
              <a:rPr lang="en-US" sz="850" b="1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₹100 Cr/yr</a:t>
            </a:r>
            <a:pPr indent="0" marL="0">
              <a:buNone/>
            </a:pPr>
            <a:r>
              <a:rPr lang="en-US" sz="8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recurring capital cost fails the 5-year FCF gate in every trajectory; ₹50 Cr passes only in bull with zero churn.</a:t>
            </a:r>
            <a:endParaRPr lang="en-US" sz="850" dirty="0"/>
          </a:p>
        </p:txBody>
      </p:sp>
      <p:sp>
        <p:nvSpPr>
          <p:cNvPr id="18" name="Shape 14"/>
          <p:cNvSpPr/>
          <p:nvPr/>
        </p:nvSpPr>
        <p:spPr>
          <a:xfrm>
            <a:off x="365760" y="4251960"/>
            <a:ext cx="11457432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02920" y="4370832"/>
            <a:ext cx="274320" cy="274320"/>
          </a:xfrm>
          <a:prstGeom prst="ellipse">
            <a:avLst/>
          </a:prstGeom>
          <a:solidFill>
            <a:srgbClr val="0B2A5B"/>
          </a:solidFill>
          <a:ln w="12700">
            <a:solidFill>
              <a:srgbClr val="0B2A5B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41248" y="4325112"/>
            <a:ext cx="10890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Breakeven results — two tests, both required: PAT (accounting) and FCF (cash, after drag). TA base: 20% growth, margin ramp; 37.5% churn in the full-acquisition counterfactual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663440"/>
          <a:ext cx="11274552" cy="914400"/>
        </p:xfrm>
        <a:graphic>
          <a:graphicData uri="http://schemas.openxmlformats.org/drawingml/2006/table">
            <a:tbl>
              <a:tblPr/>
              <a:tblGrid>
                <a:gridCol w="2480401"/>
                <a:gridCol w="1352946"/>
                <a:gridCol w="2480401"/>
                <a:gridCol w="2705892"/>
                <a:gridCol w="225491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Y1 EPS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 breakeven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FCF breakeven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Read-across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acquisition today (case mix)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₹5.29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8 (Y3 only if MDR credited)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 in 10 yrs; Y1 FCF −₹986 Cr; cum. −₹9,965 Cr by Y10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 0% churn + 30% growth + MDR: no FCF breakeven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 1: 26% minority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₹6.81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Associate income covers interest Y9 base / Y6 bull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cash yield until dividends or exit; return is equity value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₹47 Cr/yr; a pro-rata drag would make it ₹242 Cr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 end-Y1, base 20%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₹5.77 trough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Fails ≤5-yr gate → Hold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 end-Y1, bull 30%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₹5.83 → ₹7.77 (Y5)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Passes → Exercise (Y6 with 20% churn)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5603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E6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10 · RETENTION &amp; GOVERNANCE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57200"/>
            <a:ext cx="9509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retention &amp; governance: </a:t>
            </a:r>
            <a:pPr indent="0" marL="0">
              <a:buNone/>
            </a:pPr>
            <a:r>
              <a:rPr lang="en-US" sz="1800" b="1" dirty="0">
                <a:solidFill>
                  <a:srgbClr val="1E63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independence clients can verify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0012680" y="347472"/>
            <a:ext cx="1810512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1552" y="457200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0B2A5B"/>
          </a:solidFill>
          <a:ln w="12700">
            <a:solidFill>
              <a:srgbClr val="0B2A5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424160" y="34747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B2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Satoshi Gate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Paytm × Liminal · Team ETERNAL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65760" y="64922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 = case fact · CALC = arithmetic on case facts · TA = team assumption (slide 7) · ₹ in Cr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11338560" y="6492240"/>
            <a:ext cx="484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65760" y="1143000"/>
            <a:ext cx="47548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2920" y="1261872"/>
            <a:ext cx="274320" cy="274320"/>
          </a:xfrm>
          <a:prstGeom prst="ellipse">
            <a:avLst/>
          </a:prstGeom>
          <a:solidFill>
            <a:srgbClr val="C63C3C"/>
          </a:solidFill>
          <a:ln w="12700">
            <a:solidFill>
              <a:srgbClr val="C63C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1248" y="121615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Concentration risk (CF → CALC)</a:t>
            </a:r>
            <a:endParaRPr lang="en-US" sz="105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411480" y="1463040"/>
          <a:ext cx="1554480" cy="1508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411480" y="19659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2057400" y="155448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900" b="1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HDFC Bank + Axis Bank + CoinDCX + ZebPay = ₹132 Cr</a:t>
            </a:r>
            <a:pPr indent="0" marL="0">
              <a:buNone/>
            </a:pPr>
            <a:r>
              <a:rPr lang="en-US" sz="90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₹220 Cr ARR.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churn ₹66–99 Cr = 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50–75% of the top-4 book</a:t>
            </a:r>
            <a:pPr indent="0" marL="0">
              <a:buNone/>
            </a:pPr>
            <a:r>
              <a:rPr lang="en-US" sz="90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Revolt trigger: a competing wallet operator seeing custody flows.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5257800" y="1143000"/>
            <a:ext cx="6565392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394960" y="1261872"/>
            <a:ext cx="274320" cy="274320"/>
          </a:xfrm>
          <a:prstGeom prst="ellipse">
            <a:avLst/>
          </a:prstGeom>
          <a:solidFill>
            <a:srgbClr val="D98A1B"/>
          </a:solidFill>
          <a:ln w="12700">
            <a:solidFill>
              <a:srgbClr val="D98A1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733288" y="1216152"/>
            <a:ext cx="5998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significant is the risk of losing the top-4? (5.2)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5394960" y="1554480"/>
            <a:ext cx="63093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full control, </a:t>
            </a:r>
            <a:pPr indent="0" marL="0">
              <a:buNone/>
            </a:pPr>
            <a:r>
              <a:rPr lang="en-US" sz="950" b="1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existential</a:t>
            </a:r>
            <a:pPr indent="0" marL="0">
              <a:buNone/>
            </a:pPr>
            <a:r>
              <a:rPr lang="en-US" sz="9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case removes half to three-quarters of top-4 revenue. Under the ring-fenced minority, </a:t>
            </a:r>
            <a:pPr indent="0" marL="0">
              <a:buNone/>
            </a:pPr>
            <a:r>
              <a:rPr lang="en-US" sz="950" b="1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manageable</a:t>
            </a:r>
            <a:pPr indent="0" marL="0">
              <a:buNone/>
            </a:pPr>
            <a:r>
              <a:rPr lang="en-US" sz="9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no change of control occurs, contracts are unaffected, and the consent process tells the Board in advance what control would cost. Governance converts a 30–45% churn assumption into a ≤20% consent gate — and the earn-out pays sellers to protect the same clients.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365760" y="3154680"/>
            <a:ext cx="2788920" cy="1115568"/>
          </a:xfrm>
          <a:prstGeom prst="roundRect">
            <a:avLst>
              <a:gd name="adj" fmla="val 8197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475488" y="3264408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1E63D6"/>
          </a:solidFill>
          <a:ln w="12700">
            <a:solidFill>
              <a:srgbClr val="1E63D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75488" y="3264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822960" y="324612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Standalone brand &amp; entity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475488" y="3611880"/>
            <a:ext cx="25786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Paytm branding or shared front-ends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3255264" y="3154680"/>
            <a:ext cx="2788920" cy="1115568"/>
          </a:xfrm>
          <a:prstGeom prst="roundRect">
            <a:avLst>
              <a:gd name="adj" fmla="val 8197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3364992" y="3264408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1E63D6"/>
          </a:solidFill>
          <a:ln w="12700">
            <a:solidFill>
              <a:srgbClr val="1E63D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364992" y="3264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3712464" y="324612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Arm’s-length board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3364992" y="3611880"/>
            <a:ext cx="25786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chair; Paytm 1 of 5 (2 of 7 on control); reserved matters exclude custody ops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6144768" y="3154680"/>
            <a:ext cx="2788920" cy="1115568"/>
          </a:xfrm>
          <a:prstGeom prst="roundRect">
            <a:avLst>
              <a:gd name="adj" fmla="val 8197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6254496" y="3264408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1E63D6"/>
          </a:solidFill>
          <a:ln w="12700">
            <a:solidFill>
              <a:srgbClr val="1E63D6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254496" y="3264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6601968" y="324612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Information barriers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6254496" y="3611880"/>
            <a:ext cx="25786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client data to Paytm; MPC key shares never on Paytm infrastructure; segregated desk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9034272" y="3154680"/>
            <a:ext cx="2788920" cy="1115568"/>
          </a:xfrm>
          <a:prstGeom prst="roundRect">
            <a:avLst>
              <a:gd name="adj" fmla="val 8197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9144000" y="3264408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1E63D6"/>
          </a:solidFill>
          <a:ln w="12700">
            <a:solidFill>
              <a:srgbClr val="1E63D6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144000" y="3264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37" name="Text 34"/>
          <p:cNvSpPr txBox="1"/>
          <p:nvPr/>
        </p:nvSpPr>
        <p:spPr>
          <a:xfrm>
            <a:off x="9491472" y="324612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compliance &amp; cyber</a:t>
            </a:r>
            <a:endParaRPr lang="en-US" sz="950" dirty="0"/>
          </a:p>
        </p:txBody>
      </p:sp>
      <p:sp>
        <p:nvSpPr>
          <p:cNvPr id="38" name="Text 35"/>
          <p:cNvSpPr txBox="1"/>
          <p:nvPr/>
        </p:nvSpPr>
        <p:spPr>
          <a:xfrm>
            <a:off x="9144000" y="3611880"/>
            <a:ext cx="25786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CCO/CISO report to Liminal risk committee; annual attestation shared with clients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365760" y="4389120"/>
            <a:ext cx="2788920" cy="1115568"/>
          </a:xfrm>
          <a:prstGeom prst="roundRect">
            <a:avLst>
              <a:gd name="adj" fmla="val 8197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475488" y="4498848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1E63D6"/>
          </a:solidFill>
          <a:ln w="12700">
            <a:solidFill>
              <a:srgbClr val="1E63D6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475488" y="44988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42" name="Text 39"/>
          <p:cNvSpPr txBox="1"/>
          <p:nvPr/>
        </p:nvSpPr>
        <p:spPr>
          <a:xfrm>
            <a:off x="822960" y="448056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Neutral service standards</a:t>
            </a:r>
            <a:endParaRPr lang="en-US" sz="950" dirty="0"/>
          </a:p>
        </p:txBody>
      </p:sp>
      <p:sp>
        <p:nvSpPr>
          <p:cNvPr id="43" name="Text 40"/>
          <p:cNvSpPr txBox="1"/>
          <p:nvPr/>
        </p:nvSpPr>
        <p:spPr>
          <a:xfrm>
            <a:off x="475488" y="4846320"/>
            <a:ext cx="25786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client charter: no preferential pricing, routing or SLAs</a:t>
            </a:r>
            <a:endParaRPr lang="en-US" sz="850" dirty="0"/>
          </a:p>
        </p:txBody>
      </p:sp>
      <p:sp>
        <p:nvSpPr>
          <p:cNvPr id="44" name="Shape 41"/>
          <p:cNvSpPr/>
          <p:nvPr/>
        </p:nvSpPr>
        <p:spPr>
          <a:xfrm>
            <a:off x="3255264" y="4389120"/>
            <a:ext cx="2788920" cy="1115568"/>
          </a:xfrm>
          <a:prstGeom prst="roundRect">
            <a:avLst>
              <a:gd name="adj" fmla="val 8197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45" name="Shape 42"/>
          <p:cNvSpPr/>
          <p:nvPr/>
        </p:nvSpPr>
        <p:spPr>
          <a:xfrm>
            <a:off x="3364992" y="4498848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1E63D6"/>
          </a:solidFill>
          <a:ln w="12700">
            <a:solidFill>
              <a:srgbClr val="1E63D6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364992" y="44988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47" name="Text 44"/>
          <p:cNvSpPr txBox="1"/>
          <p:nvPr/>
        </p:nvSpPr>
        <p:spPr>
          <a:xfrm>
            <a:off x="3712464" y="448056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Client-protection framework</a:t>
            </a:r>
            <a:endParaRPr lang="en-US" sz="950" dirty="0"/>
          </a:p>
        </p:txBody>
      </p:sp>
      <p:sp>
        <p:nvSpPr>
          <p:cNvPr id="48" name="Text 45"/>
          <p:cNvSpPr txBox="1"/>
          <p:nvPr/>
        </p:nvSpPr>
        <p:spPr>
          <a:xfrm>
            <a:off x="3364992" y="4846320"/>
            <a:ext cx="25786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Change-of-control consent rights, data portability, top-4 soundings, named owners</a:t>
            </a:r>
            <a:endParaRPr lang="en-US" sz="850" dirty="0"/>
          </a:p>
        </p:txBody>
      </p:sp>
      <p:sp>
        <p:nvSpPr>
          <p:cNvPr id="49" name="Shape 46"/>
          <p:cNvSpPr/>
          <p:nvPr/>
        </p:nvSpPr>
        <p:spPr>
          <a:xfrm>
            <a:off x="6144768" y="4389120"/>
            <a:ext cx="2788920" cy="1115568"/>
          </a:xfrm>
          <a:prstGeom prst="roundRect">
            <a:avLst>
              <a:gd name="adj" fmla="val 8197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50" name="Shape 47"/>
          <p:cNvSpPr/>
          <p:nvPr/>
        </p:nvSpPr>
        <p:spPr>
          <a:xfrm>
            <a:off x="6254496" y="4498848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1E63D6"/>
          </a:solidFill>
          <a:ln w="12700">
            <a:solidFill>
              <a:srgbClr val="1E63D6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6254496" y="44988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52" name="Text 49"/>
          <p:cNvSpPr txBox="1"/>
          <p:nvPr/>
        </p:nvSpPr>
        <p:spPr>
          <a:xfrm>
            <a:off x="6601968" y="448056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Retention-linked consideration</a:t>
            </a:r>
            <a:endParaRPr lang="en-US" sz="950" dirty="0"/>
          </a:p>
        </p:txBody>
      </p:sp>
      <p:sp>
        <p:nvSpPr>
          <p:cNvPr id="53" name="Text 50"/>
          <p:cNvSpPr txBox="1"/>
          <p:nvPr/>
        </p:nvSpPr>
        <p:spPr>
          <a:xfrm>
            <a:off x="6254496" y="4846320"/>
            <a:ext cx="25786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Earn-out and management pool scale with retained ARR: ₹291 Cr per 10 pts</a:t>
            </a:r>
            <a:endParaRPr lang="en-US" sz="850" dirty="0"/>
          </a:p>
        </p:txBody>
      </p:sp>
      <p:sp>
        <p:nvSpPr>
          <p:cNvPr id="54" name="Shape 51"/>
          <p:cNvSpPr/>
          <p:nvPr/>
        </p:nvSpPr>
        <p:spPr>
          <a:xfrm>
            <a:off x="9034272" y="4389120"/>
            <a:ext cx="2788920" cy="1115568"/>
          </a:xfrm>
          <a:prstGeom prst="roundRect">
            <a:avLst>
              <a:gd name="adj" fmla="val 8197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55" name="Shape 52"/>
          <p:cNvSpPr/>
          <p:nvPr/>
        </p:nvSpPr>
        <p:spPr>
          <a:xfrm>
            <a:off x="9144000" y="4498848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1E63D6"/>
          </a:solidFill>
          <a:ln w="12700">
            <a:solidFill>
              <a:srgbClr val="1E63D6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9144000" y="44988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  <p:sp>
        <p:nvSpPr>
          <p:cNvPr id="57" name="Text 54"/>
          <p:cNvSpPr txBox="1"/>
          <p:nvPr/>
        </p:nvSpPr>
        <p:spPr>
          <a:xfrm>
            <a:off x="9491472" y="448056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&amp; engineer retention</a:t>
            </a:r>
            <a:endParaRPr lang="en-US" sz="950" dirty="0"/>
          </a:p>
        </p:txBody>
      </p:sp>
      <p:sp>
        <p:nvSpPr>
          <p:cNvPr id="58" name="Text 55"/>
          <p:cNvSpPr txBox="1"/>
          <p:nvPr/>
        </p:nvSpPr>
        <p:spPr>
          <a:xfrm>
            <a:off x="9144000" y="4846320"/>
            <a:ext cx="25786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Mahin Gupta and MPC core on vesting economics through validation</a:t>
            </a:r>
            <a:endParaRPr lang="en-US" sz="850" dirty="0"/>
          </a:p>
        </p:txBody>
      </p:sp>
      <p:sp>
        <p:nvSpPr>
          <p:cNvPr id="59" name="Shape 56"/>
          <p:cNvSpPr/>
          <p:nvPr/>
        </p:nvSpPr>
        <p:spPr>
          <a:xfrm>
            <a:off x="365760" y="5760720"/>
            <a:ext cx="11457432" cy="566928"/>
          </a:xfrm>
          <a:prstGeom prst="roundRect">
            <a:avLst>
              <a:gd name="adj" fmla="val 12903"/>
            </a:avLst>
          </a:prstGeom>
          <a:solidFill>
            <a:srgbClr val="0B2A5B"/>
          </a:solidFill>
          <a:ln w="12700">
            <a:solidFill>
              <a:srgbClr val="0B2A5B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502920" y="5925312"/>
            <a:ext cx="237744" cy="237744"/>
          </a:xfrm>
          <a:prstGeom prst="ellipse">
            <a:avLst/>
          </a:prstGeom>
          <a:solidFill>
            <a:srgbClr val="00B4E6"/>
          </a:solidFill>
          <a:ln w="12700">
            <a:solidFill>
              <a:srgbClr val="00B4E6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502920" y="59253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800" dirty="0"/>
          </a:p>
        </p:txBody>
      </p:sp>
      <p:sp>
        <p:nvSpPr>
          <p:cNvPr id="62" name="Text 59"/>
          <p:cNvSpPr txBox="1"/>
          <p:nvPr/>
        </p:nvSpPr>
        <p:spPr>
          <a:xfrm>
            <a:off x="822960" y="5760720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is not cosmetic: it is the valuation-protection mechanism, designed to be audited by clients, not just described to them.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5603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E6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11 · REGULATORY PATH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57200"/>
            <a:ext cx="9509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Regulatory &amp; closing: </a:t>
            </a:r>
            <a:pPr indent="0" marL="0">
              <a:buNone/>
            </a:pPr>
            <a:r>
              <a:rPr lang="en-US" sz="1800" b="1" dirty="0">
                <a:solidFill>
                  <a:srgbClr val="1E63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the capital question in writing before control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0012680" y="347472"/>
            <a:ext cx="1810512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1552" y="457200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0B2A5B"/>
          </a:solidFill>
          <a:ln w="12700">
            <a:solidFill>
              <a:srgbClr val="0B2A5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424160" y="34747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B2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Satoshi Gate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Paytm × Liminal · Team ETERNAL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65760" y="64922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 = case fact · CALC = arithmetic on case facts · TA = team assumption (slide 7) · ₹ in Cr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11338560" y="6492240"/>
            <a:ext cx="484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65760" y="1143000"/>
            <a:ext cx="2788920" cy="32461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2920" y="1261872"/>
            <a:ext cx="274320" cy="274320"/>
          </a:xfrm>
          <a:prstGeom prst="ellipse">
            <a:avLst/>
          </a:prstGeom>
          <a:solidFill>
            <a:srgbClr val="1E63D6"/>
          </a:solidFill>
          <a:ln w="12700">
            <a:solidFill>
              <a:srgbClr val="1E63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" y="12618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841248" y="1207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signing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41248" y="146304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6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indicative 8–12 weeks (TA)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475488" y="1783080"/>
            <a:ext cx="2578608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consultation: PA-licence holder at 26% of a custody provider; capital treatment at minority vs control. </a:t>
            </a:r>
            <a:endParaRPr lang="en-US" sz="950" dirty="0"/>
          </a:p>
          <a:p>
            <a:pPr marL="114300" indent="-1143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Signing condition: written comfort that no bank-like reserve applies at 26%</a:t>
            </a:r>
            <a:endParaRPr lang="en-US" sz="950" dirty="0"/>
          </a:p>
          <a:p>
            <a:pPr marL="114300" indent="-1143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Diligence: AML programme and FIU-IND standing; data protection and key-material localisation; ISO 27001 / SOC 2 evidence; client change-of-control clauses</a:t>
            </a:r>
            <a:endParaRPr lang="en-US" sz="950" dirty="0"/>
          </a:p>
          <a:p>
            <a:pPr marL="114300" indent="-1143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Top-4 soundings under NDA; competition and securities notifiability analysis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255264" y="1143000"/>
            <a:ext cx="2788920" cy="32461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392424" y="1261872"/>
            <a:ext cx="274320" cy="274320"/>
          </a:xfrm>
          <a:prstGeom prst="ellipse">
            <a:avLst/>
          </a:prstGeom>
          <a:solidFill>
            <a:srgbClr val="00B4E6"/>
          </a:solidFill>
          <a:ln w="12700">
            <a:solidFill>
              <a:srgbClr val="00B4E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392424" y="12618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3730752" y="1207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Signing → closing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3730752" y="146304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B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conditions precedent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3364992" y="1783080"/>
            <a:ext cx="2578608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comfort letter</a:t>
            </a:r>
            <a:endParaRPr lang="en-US" sz="950" dirty="0"/>
          </a:p>
          <a:p>
            <a:pPr marL="114300" indent="-1143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material adverse regulatory change on either side</a:t>
            </a:r>
            <a:endParaRPr lang="en-US" sz="950" dirty="0"/>
          </a:p>
          <a:p>
            <a:pPr marL="114300" indent="-1143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Key-client consents where contracts bite at minority level</a:t>
            </a:r>
            <a:endParaRPr lang="en-US" sz="950" dirty="0"/>
          </a:p>
          <a:p>
            <a:pPr marL="114300" indent="-1143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FIU-IND registration in good standing; clean cyber audit</a:t>
            </a:r>
            <a:endParaRPr lang="en-US" sz="950" dirty="0"/>
          </a:p>
          <a:p>
            <a:pPr marL="114300" indent="-1143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Stock-exchange disclosure on signing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144768" y="1143000"/>
            <a:ext cx="2788920" cy="32461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81928" y="1261872"/>
            <a:ext cx="274320" cy="274320"/>
          </a:xfrm>
          <a:prstGeom prst="ellipse">
            <a:avLst/>
          </a:prstGeom>
          <a:solidFill>
            <a:srgbClr val="0B2A5B"/>
          </a:solidFill>
          <a:ln w="12700">
            <a:solidFill>
              <a:srgbClr val="0B2A5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81928" y="12618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6620256" y="1207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control exercise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620256" y="146304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B2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· indicative 4–6 months (TA)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6254496" y="1783080"/>
            <a:ext cx="2578608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change-in-control approval</a:t>
            </a:r>
            <a:endParaRPr lang="en-US" sz="950" dirty="0"/>
          </a:p>
          <a:p>
            <a:pPr marL="114300" indent="-1143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Competition clearance</a:t>
            </a:r>
            <a:endParaRPr lang="en-US" sz="950" dirty="0"/>
          </a:p>
          <a:p>
            <a:pPr marL="114300" indent="-1143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SEBI/exchange approvals for share-settled earn-out (preferential-issue rules, shareholder resolution)</a:t>
            </a:r>
            <a:endParaRPr lang="en-US" sz="950" dirty="0"/>
          </a:p>
          <a:p>
            <a:pPr marL="114300" indent="-1143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change-of-control consents (Gate 1)</a:t>
            </a:r>
            <a:endParaRPr lang="en-US" sz="950" dirty="0"/>
          </a:p>
          <a:p>
            <a:pPr marL="114300" indent="-1143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Refreshed AML/cyber audit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9034272" y="1143000"/>
            <a:ext cx="2788920" cy="32461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9171432" y="1261872"/>
            <a:ext cx="274320" cy="274320"/>
          </a:xfrm>
          <a:prstGeom prst="ellipse">
            <a:avLst/>
          </a:prstGeom>
          <a:solidFill>
            <a:srgbClr val="1B8A4C"/>
          </a:solidFill>
          <a:ln w="12700">
            <a:solidFill>
              <a:srgbClr val="1B8A4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171432" y="12618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9509760" y="1207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Post-close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9509760" y="146304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8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phases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9144000" y="1783080"/>
            <a:ext cx="2578608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Standalone compliance framework</a:t>
            </a:r>
            <a:endParaRPr lang="en-US" sz="950" dirty="0"/>
          </a:p>
          <a:p>
            <a:pPr marL="114300" indent="-1143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transaction monitoring and reporting</a:t>
            </a:r>
            <a:endParaRPr lang="en-US" sz="950" dirty="0"/>
          </a:p>
          <a:p>
            <a:pPr marL="114300" indent="-1143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Segregated data and key infrastructure</a:t>
            </a:r>
            <a:endParaRPr lang="en-US" sz="950" dirty="0"/>
          </a:p>
          <a:p>
            <a:pPr marL="114300" indent="-1143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cyber monitoring and incident reporting</a:t>
            </a:r>
            <a:endParaRPr lang="en-US" sz="950" dirty="0"/>
          </a:p>
          <a:p>
            <a:pPr marL="114300" indent="-1143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compliance reporting to both boards’ risk committees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365760" y="4526280"/>
            <a:ext cx="37490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502920" y="4645152"/>
            <a:ext cx="274320" cy="274320"/>
          </a:xfrm>
          <a:prstGeom prst="ellipse">
            <a:avLst/>
          </a:prstGeom>
          <a:solidFill>
            <a:srgbClr val="0B2A5B"/>
          </a:solidFill>
          <a:ln w="12700">
            <a:solidFill>
              <a:srgbClr val="0B2A5B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41248" y="4599432"/>
            <a:ext cx="3182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owning custody add requirements? (5.4)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502920" y="493776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Yes, per the case: bank-like reserves against custodied assets at full ownership (₹750 Cr/yr). Our design keeps the custody licence, the custodied assets and any reserves inside Liminal, and keeps Paytm at negative control until the treatment is written down.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224528" y="4526280"/>
            <a:ext cx="37490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361688" y="4645152"/>
            <a:ext cx="274320" cy="274320"/>
          </a:xfrm>
          <a:prstGeom prst="ellipse">
            <a:avLst/>
          </a:prstGeom>
          <a:solidFill>
            <a:srgbClr val="C63C3C"/>
          </a:solidFill>
          <a:ln w="12700">
            <a:solidFill>
              <a:srgbClr val="C63C3C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700016" y="4599432"/>
            <a:ext cx="3182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one question that decides the deal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4361688" y="493776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minority ownership avoid, reduce or still trigger the ₹750 Cr requirement? The case does not say. Slide 10 shows why it decides everything: even a </a:t>
            </a:r>
            <a:pPr indent="0" marL="0">
              <a:buNone/>
            </a:pPr>
            <a:r>
              <a:rPr lang="en-US" sz="1000" b="1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₹100 Cr/yr</a:t>
            </a:r>
            <a:pPr indent="0" marL="0">
              <a:buNone/>
            </a:pPr>
            <a:r>
              <a:rPr lang="en-US" sz="100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recurring cost defeats the five-year FCF gate in every trajectory.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8074152" y="4526280"/>
            <a:ext cx="37490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8211312" y="4645152"/>
            <a:ext cx="274320" cy="274320"/>
          </a:xfrm>
          <a:prstGeom prst="ellipse">
            <a:avLst/>
          </a:prstGeom>
          <a:solidFill>
            <a:srgbClr val="1B8A4C"/>
          </a:solidFill>
          <a:ln w="12700">
            <a:solidFill>
              <a:srgbClr val="1B8A4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549640" y="4599432"/>
            <a:ext cx="3182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decision gate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8211312" y="493776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000" b="1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control without written regulatory capital treatment incorporated into the FCF model.</a:t>
            </a:r>
            <a:pPr indent="0" marL="0">
              <a:buNone/>
            </a:pPr>
            <a:r>
              <a:rPr lang="en-US" sz="100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If a reserve applies at minority level, Phase 1 is restructured toward the JV/licence path before signing.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5603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E6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12 · COMPETITIVE &amp; DOWNSIDE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57200"/>
            <a:ext cx="9509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&amp; downside: </a:t>
            </a:r>
            <a:pPr indent="0" marL="0">
              <a:buNone/>
            </a:pPr>
            <a:r>
              <a:rPr lang="en-US" sz="1800" b="1" dirty="0">
                <a:solidFill>
                  <a:srgbClr val="1E63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the walk-away line now; the structure absorbs the rest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0012680" y="347472"/>
            <a:ext cx="1810512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1552" y="457200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0B2A5B"/>
          </a:solidFill>
          <a:ln w="12700">
            <a:solidFill>
              <a:srgbClr val="0B2A5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424160" y="34747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B2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Satoshi Gate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Paytm × Liminal · Team ETERNAL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65760" y="64922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 = case fact · CALC = arithmetic on case facts · TA = team assumption (slide 7) · ₹ in Cr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11338560" y="6492240"/>
            <a:ext cx="484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65760" y="1143000"/>
            <a:ext cx="374904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2920" y="1271016"/>
            <a:ext cx="274320" cy="274320"/>
          </a:xfrm>
          <a:prstGeom prst="ellipse">
            <a:avLst/>
          </a:prstGeom>
          <a:solidFill>
            <a:srgbClr val="0B2A5B"/>
          </a:solidFill>
          <a:ln w="12700">
            <a:solidFill>
              <a:srgbClr val="0B2A5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1248" y="1234440"/>
            <a:ext cx="3182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PhonePe–Mastercard threat (CF)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75488" y="1600200"/>
            <a:ext cx="3529584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consortium if Paytm walks; no competing price, terms, synergies or certainty in the case</a:t>
            </a:r>
            <a:endParaRPr lang="en-US" sz="95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they win: they get the rail + Mastercard cross-border; Paytm builds or partners elsewhere (24–36 mo, TA)</a:t>
            </a:r>
            <a:endParaRPr lang="en-US" sz="95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inherit the same wallet conflict, price and capital question; Mastercard’s bank ties are their one real edge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224528" y="1143000"/>
            <a:ext cx="374904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361688" y="1271016"/>
            <a:ext cx="274320" cy="274320"/>
          </a:xfrm>
          <a:prstGeom prst="ellipse">
            <a:avLst/>
          </a:prstGeom>
          <a:solidFill>
            <a:srgbClr val="1E63D6"/>
          </a:solidFill>
          <a:ln w="12700">
            <a:solidFill>
              <a:srgbClr val="1E63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0016" y="1234440"/>
            <a:ext cx="3182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Paytm’s response (5.5)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334256" y="1600200"/>
            <a:ext cx="3529584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 value: total ≤ ₹4,000 Cr, ≤ ₹1,040 Cr unconditional, no tranche above 18.2× retained ARR, no control at a drag that defeats 5-yr FCF breakeven</a:t>
            </a:r>
            <a:endParaRPr lang="en-US" sz="95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outbid on unconditional terms: let them</a:t>
            </a:r>
            <a:endParaRPr lang="en-US" sz="95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winner’s curse the case describes</a:t>
            </a:r>
            <a:endParaRPr lang="en-US" sz="95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Fallback: alternative custodian partnership; redeploy toward buybacks and organic e₹ build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8074152" y="1143000"/>
            <a:ext cx="374904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211312" y="1271016"/>
            <a:ext cx="274320" cy="274320"/>
          </a:xfrm>
          <a:prstGeom prst="ellipse">
            <a:avLst/>
          </a:prstGeom>
          <a:solidFill>
            <a:srgbClr val="D98A1B"/>
          </a:solidFill>
          <a:ln w="12700">
            <a:solidFill>
              <a:srgbClr val="D98A1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549640" y="1234440"/>
            <a:ext cx="3182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Paytm’s multiple compresses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183880" y="1600200"/>
            <a:ext cx="3529584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is cash: independent of the stock</a:t>
            </a:r>
            <a:endParaRPr lang="en-US" sz="95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25% price fall lifts the ₹1,900 Cr equity leg from 1.02 to 1.37 Cr shares — still ~2%; the real risk is the narrative of a −29% print at ~247× P/E</a:t>
            </a:r>
            <a:endParaRPr lang="en-US" sz="95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Answer: no unconditional equity, ±15% collar, cash-settle election; the unconditional cheque is 0.9% of market cap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65760" y="3246120"/>
            <a:ext cx="6675120" cy="2423160"/>
          </a:xfrm>
          <a:prstGeom prst="roundRect">
            <a:avLst>
              <a:gd name="adj" fmla="val 3774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02920" y="3364992"/>
            <a:ext cx="274320" cy="274320"/>
          </a:xfrm>
          <a:prstGeom prst="ellipse">
            <a:avLst/>
          </a:prstGeom>
          <a:solidFill>
            <a:srgbClr val="1E63D6"/>
          </a:solidFill>
          <a:ln w="12700">
            <a:solidFill>
              <a:srgbClr val="1E63D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41248" y="3319272"/>
            <a:ext cx="6108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Downside matrix — how the recommendation changes</a:t>
            </a:r>
            <a:endParaRPr lang="en-US" sz="10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657600"/>
          <a:ext cx="6492240" cy="914400"/>
        </p:xfrm>
        <a:graphic>
          <a:graphicData uri="http://schemas.openxmlformats.org/drawingml/2006/table">
            <a:tbl>
              <a:tblPr/>
              <a:tblGrid>
                <a:gridCol w="1817827"/>
                <a:gridCol w="1558138"/>
                <a:gridCol w="1558138"/>
                <a:gridCol w="1558138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Consents / churn ↓ · Capital drag →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/ structured away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Pro-rata at 26% (≈₹195 Cr)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₹750 Cr at any ownership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≥80% consents (churn ≤20%)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EXERCISE if bull trajectory and cap hold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Hold; JV/licence for capability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 26% only if drag-free, else restructure/exit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55–80% (churn 20–45%)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HOLD; earn-out floor protects; re-test m24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 or restructure to JV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Restructure or exit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&lt;55% (churn &gt;45%)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CONTROL; remediation ladder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hape 22"/>
          <p:cNvSpPr/>
          <p:nvPr/>
        </p:nvSpPr>
        <p:spPr>
          <a:xfrm>
            <a:off x="7178040" y="3246120"/>
            <a:ext cx="4645152" cy="2423160"/>
          </a:xfrm>
          <a:prstGeom prst="roundRect">
            <a:avLst>
              <a:gd name="adj" fmla="val 3774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7315200" y="3364992"/>
            <a:ext cx="274320" cy="274320"/>
          </a:xfrm>
          <a:prstGeom prst="ellipse">
            <a:avLst/>
          </a:prstGeom>
          <a:solidFill>
            <a:srgbClr val="C63C3C"/>
          </a:solidFill>
          <a:ln w="12700">
            <a:solidFill>
              <a:srgbClr val="C63C3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653528" y="3319272"/>
            <a:ext cx="4078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Remediation &amp; unwind ladder if churn breaches 45% (5.6)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7315200" y="3767328"/>
            <a:ext cx="347472" cy="347472"/>
          </a:xfrm>
          <a:prstGeom prst="roundRect">
            <a:avLst>
              <a:gd name="adj" fmla="val 13158"/>
            </a:avLst>
          </a:prstGeom>
          <a:solidFill>
            <a:srgbClr val="D98A1B"/>
          </a:solidFill>
          <a:ln w="12700">
            <a:solidFill>
              <a:srgbClr val="D98A1B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315200" y="3767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30d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7772400" y="3657600"/>
            <a:ext cx="3931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cause review; CEO outreach to each top-4 client; Paytm director steps back to observer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7315200" y="4407408"/>
            <a:ext cx="347472" cy="347472"/>
          </a:xfrm>
          <a:prstGeom prst="roundRect">
            <a:avLst>
              <a:gd name="adj" fmla="val 13158"/>
            </a:avLst>
          </a:prstGeom>
          <a:solidFill>
            <a:srgbClr val="D98A1B"/>
          </a:solidFill>
          <a:ln w="12700">
            <a:solidFill>
              <a:srgbClr val="D98A1B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315200" y="44074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90d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7772400" y="4297680"/>
            <a:ext cx="3931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reset; published barrier attestation; fee holidays / SLA guarantees funded from the sellers’ earn-out at risk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7315200" y="5047488"/>
            <a:ext cx="347472" cy="347472"/>
          </a:xfrm>
          <a:prstGeom prst="roundRect">
            <a:avLst>
              <a:gd name="adj" fmla="val 13158"/>
            </a:avLst>
          </a:prstGeom>
          <a:solidFill>
            <a:srgbClr val="C63C3C"/>
          </a:solidFill>
          <a:ln w="12700">
            <a:solidFill>
              <a:srgbClr val="C63C3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315200" y="50474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180d</a:t>
            </a:r>
            <a:endParaRPr lang="en-US" sz="900" dirty="0"/>
          </a:p>
        </p:txBody>
      </p:sp>
      <p:sp>
        <p:nvSpPr>
          <p:cNvPr id="36" name="Text 33"/>
          <p:cNvSpPr txBox="1"/>
          <p:nvPr/>
        </p:nvSpPr>
        <p:spPr>
          <a:xfrm>
            <a:off x="7772400" y="4937760"/>
            <a:ext cx="3931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&lt;55% retention: no exercise; ROFO/tag process to a neutral buyer, or convert to licence + warrants. Sunk cost never justifies escalation</a:t>
            </a:r>
            <a:endParaRPr lang="en-US" sz="850" dirty="0"/>
          </a:p>
        </p:txBody>
      </p:sp>
      <p:sp>
        <p:nvSpPr>
          <p:cNvPr id="37" name="Shape 34"/>
          <p:cNvSpPr/>
          <p:nvPr/>
        </p:nvSpPr>
        <p:spPr>
          <a:xfrm>
            <a:off x="365760" y="5806440"/>
            <a:ext cx="11457432" cy="548640"/>
          </a:xfrm>
          <a:prstGeom prst="roundRect">
            <a:avLst>
              <a:gd name="adj" fmla="val 13333"/>
            </a:avLst>
          </a:prstGeom>
          <a:solidFill>
            <a:srgbClr val="0B2A5B"/>
          </a:solidFill>
          <a:ln w="12700">
            <a:solidFill>
              <a:srgbClr val="0B2A5B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502920" y="5961888"/>
            <a:ext cx="237744" cy="237744"/>
          </a:xfrm>
          <a:prstGeom prst="ellipse">
            <a:avLst/>
          </a:prstGeom>
          <a:solidFill>
            <a:srgbClr val="00B4E6"/>
          </a:solidFill>
          <a:ln w="12700">
            <a:solidFill>
              <a:srgbClr val="00B4E6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02920" y="5961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822960" y="580644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pressure may change timing; it must not change valuation discipline.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5603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E6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13 · ROADMAP &amp; GATES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57200"/>
            <a:ext cx="9509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&amp; decision gates: </a:t>
            </a:r>
            <a:pPr indent="0" marL="0">
              <a:buNone/>
            </a:pPr>
            <a:r>
              <a:rPr lang="en-US" sz="1800" b="1" dirty="0">
                <a:solidFill>
                  <a:srgbClr val="1E63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 → Validate → Exercise / Hold / Walk away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0012680" y="347472"/>
            <a:ext cx="1810512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1552" y="457200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0B2A5B"/>
          </a:solidFill>
          <a:ln w="12700">
            <a:solidFill>
              <a:srgbClr val="0B2A5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424160" y="34747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B2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Satoshi Gate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Paytm × Liminal · Team ETERNAL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65760" y="64922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 = case fact · CALC = arithmetic on case facts · TA = team assumption (slide 7) · ₹ in Cr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11338560" y="6492240"/>
            <a:ext cx="484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65760" y="1143000"/>
            <a:ext cx="1359027" cy="182880"/>
          </a:xfrm>
          <a:prstGeom prst="roundRect">
            <a:avLst>
              <a:gd name="adj" fmla="val 50000"/>
            </a:avLst>
          </a:prstGeom>
          <a:solidFill>
            <a:srgbClr val="1E63D6"/>
          </a:solidFill>
          <a:ln w="12700">
            <a:solidFill>
              <a:srgbClr val="1E63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5760" y="1344168"/>
            <a:ext cx="13590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6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0–3 · INVEST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797939" y="1143000"/>
            <a:ext cx="4223385" cy="182880"/>
          </a:xfrm>
          <a:prstGeom prst="roundRect">
            <a:avLst>
              <a:gd name="adj" fmla="val 50000"/>
            </a:avLst>
          </a:prstGeom>
          <a:solidFill>
            <a:srgbClr val="00B4E6"/>
          </a:solidFill>
          <a:ln w="12700">
            <a:solidFill>
              <a:srgbClr val="00B4E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797939" y="1344168"/>
            <a:ext cx="42233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B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3–12 · VALIDATE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094476" y="1143000"/>
            <a:ext cx="5655564" cy="182880"/>
          </a:xfrm>
          <a:prstGeom prst="roundRect">
            <a:avLst>
              <a:gd name="adj" fmla="val 50000"/>
            </a:avLst>
          </a:prstGeom>
          <a:solidFill>
            <a:srgbClr val="0B2A5B"/>
          </a:solidFill>
          <a:ln w="12700">
            <a:solidFill>
              <a:srgbClr val="0B2A5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94476" y="1344168"/>
            <a:ext cx="56555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2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12–24 · DECIDE: Exercise / Hold / Walk away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65760" y="1691640"/>
            <a:ext cx="429768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02920" y="1819656"/>
            <a:ext cx="274320" cy="274320"/>
          </a:xfrm>
          <a:prstGeom prst="ellipse">
            <a:avLst/>
          </a:prstGeom>
          <a:solidFill>
            <a:srgbClr val="1E63D6"/>
          </a:solidFill>
          <a:ln w="12700">
            <a:solidFill>
              <a:srgbClr val="1E63D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2920" y="18196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" y="1783080"/>
            <a:ext cx="3730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 · months 0–3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75488" y="2148840"/>
            <a:ext cx="407822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26% for ≤ ₹1,040 Cr; partnership live; ring-fence installed</a:t>
            </a:r>
            <a:endParaRPr lang="en-US" sz="95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Option, earn-out, ROFR/ROFO documented; RBI comfort obtained</a:t>
            </a:r>
            <a:endParaRPr lang="en-US" sz="95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pool in place; Board model with quarterly gate reporting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65760" y="3337560"/>
            <a:ext cx="4297680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02920" y="3465576"/>
            <a:ext cx="274320" cy="274320"/>
          </a:xfrm>
          <a:prstGeom prst="ellipse">
            <a:avLst/>
          </a:prstGeom>
          <a:solidFill>
            <a:srgbClr val="00B4E6"/>
          </a:solidFill>
          <a:ln w="12700">
            <a:solidFill>
              <a:srgbClr val="00B4E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02920" y="3465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841248" y="3429000"/>
            <a:ext cx="3730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 · months 3–12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475488" y="3794760"/>
            <a:ext cx="4078224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Customers: retention, top-4 renewals, written consents to control</a:t>
            </a:r>
            <a:endParaRPr lang="en-US" sz="95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Regulation: written capital treatment; approval path; AML standing</a:t>
            </a:r>
            <a:endParaRPr lang="en-US" sz="95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Financials: month-12 ARR ≥ ₹286 Cr = bull, ~₹264 Cr = base; margins; cash; MDR tracked separately</a:t>
            </a:r>
            <a:endParaRPr lang="en-US" sz="95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 cyber, AML, data segregation, barrier attestation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800600" y="1691640"/>
            <a:ext cx="7022592" cy="388620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937760" y="1810512"/>
            <a:ext cx="274320" cy="274320"/>
          </a:xfrm>
          <a:prstGeom prst="ellipse">
            <a:avLst/>
          </a:prstGeom>
          <a:solidFill>
            <a:srgbClr val="0B2A5B"/>
          </a:solidFill>
          <a:ln w="12700">
            <a:solidFill>
              <a:srgbClr val="0B2A5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276088" y="1764792"/>
            <a:ext cx="6455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· months 12–24 — six quantified gates</a:t>
            </a:r>
            <a:endParaRPr lang="en-US" sz="10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2040" y="2103120"/>
          <a:ext cx="6839712" cy="914400"/>
        </p:xfrm>
        <a:graphic>
          <a:graphicData uri="http://schemas.openxmlformats.org/drawingml/2006/table">
            <a:tbl>
              <a:tblPr/>
              <a:tblGrid>
                <a:gridCol w="1641531"/>
                <a:gridCol w="5198181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Threshold to exercise control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· Client consents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≥80% of ARR consents in writing to Paytm control under the ring-fence; implied churn ≤20%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· Regulatory capital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Written RBI treatment; recurring cost nil or structured away (₹50 Cr passes only in bull/0% churn; ₹100 Cr fails every case)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· Valuation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 price ≤ ₹2,960 Cr and ≤ 18.2× retained ARR; total ≤ ₹4,000 Cr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· PAT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Consolidated PAT breakeven ≤5 yrs after exercise on the Board model (bull passes; base does not)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· FCF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Consolidated FCF breakeven ≤5 yrs after confirmed capital cost; cash ≥ ₹5,000 Cr; GD/EBITDA ≤ 1.5×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· Compliance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 AML/cyber/data audit; ISO 27001 and SOC 2 maintained; no unresolved regulatory matter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</a:tr>
            </a:tbl>
          </a:graphicData>
        </a:graphic>
      </p:graphicFrame>
      <p:sp>
        <p:nvSpPr>
          <p:cNvPr id="29" name="Text 26"/>
          <p:cNvSpPr txBox="1"/>
          <p:nvPr/>
        </p:nvSpPr>
        <p:spPr>
          <a:xfrm>
            <a:off x="4937760" y="452628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850" b="1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</a:t>
            </a:r>
            <a:pPr indent="0" marL="0">
              <a:buNone/>
            </a:pPr>
            <a:r>
              <a:rPr lang="en-US" sz="8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all six clear · </a:t>
            </a:r>
            <a:pPr indent="0" marL="0">
              <a:buNone/>
            </a:pPr>
            <a:r>
              <a:rPr lang="en-US" sz="850" b="1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</a:t>
            </a:r>
            <a:pPr indent="0" marL="0">
              <a:buNone/>
            </a:pPr>
            <a:r>
              <a:rPr lang="en-US" sz="8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any gate open: Liminal can remain an arm’s-length associate indefinitely, and after control an arm’s-length subsidiary · </a:t>
            </a:r>
            <a:pPr indent="0" marL="0">
              <a:buNone/>
            </a:pPr>
            <a:r>
              <a:rPr lang="en-US" sz="850" b="1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AWAY / UNWIND</a:t>
            </a:r>
            <a:pPr indent="0" marL="0">
              <a:buNone/>
            </a:pPr>
            <a:r>
              <a:rPr lang="en-US" sz="8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churn &gt;45%, drag defeats returns, top-4 reject ownership, regulatory deterioration, price above reservation value — including after signing where CPs and termination rights allow.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365760" y="5715000"/>
            <a:ext cx="11457432" cy="640080"/>
          </a:xfrm>
          <a:prstGeom prst="roundRect">
            <a:avLst>
              <a:gd name="adj" fmla="val 11429"/>
            </a:avLst>
          </a:prstGeom>
          <a:solidFill>
            <a:srgbClr val="0B2A5B"/>
          </a:solidFill>
          <a:ln w="12700">
            <a:solidFill>
              <a:srgbClr val="0B2A5B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502920" y="5916168"/>
            <a:ext cx="237744" cy="237744"/>
          </a:xfrm>
          <a:prstGeom prst="ellipse">
            <a:avLst/>
          </a:prstGeom>
          <a:solidFill>
            <a:srgbClr val="00B4E6"/>
          </a:solidFill>
          <a:ln w="12700">
            <a:solidFill>
              <a:srgbClr val="00B4E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02920" y="59161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800" dirty="0"/>
          </a:p>
        </p:txBody>
      </p:sp>
      <p:sp>
        <p:nvSpPr>
          <p:cNvPr id="33" name="Text 30"/>
          <p:cNvSpPr txBox="1"/>
          <p:nvPr/>
        </p:nvSpPr>
        <p:spPr>
          <a:xfrm>
            <a:off x="822960" y="571500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BOARD MESSAGE</a:t>
            </a:r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Paytm should not pay today for risks it can observe tomorrow. Secure the infrastructure through a 26% stake and a partnership; preserve the right, not the obligation, to acquire control; commit the remaining ₹2,960 Cr only after client trust, capital treatment, valuation and cash flow are proven. </a:t>
            </a:r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access now. Control only when value is protected.</a:t>
            </a:r>
            <a:pPr indent="0" marL="0">
              <a:buNone/>
            </a:pP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5603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E6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· TRANSACTION MODEL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57200"/>
            <a:ext cx="9509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Appendix: </a:t>
            </a:r>
            <a:pPr indent="0" marL="0">
              <a:buNone/>
            </a:pPr>
            <a:r>
              <a:rPr lang="en-US" sz="1800" b="1" dirty="0">
                <a:solidFill>
                  <a:srgbClr val="1E63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EPS bridge, 10-year breakeven table and Phase-1 returns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0012680" y="347472"/>
            <a:ext cx="1810512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1552" y="457200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0B2A5B"/>
          </a:solidFill>
          <a:ln w="12700">
            <a:solidFill>
              <a:srgbClr val="0B2A5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424160" y="34747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B2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Satoshi Gate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Paytm × Liminal · Team ETERNAL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65760" y="64922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 = case fact · CALC = arithmetic on case facts · TA = team assumption (slide 7) · ₹ in Cr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11338560" y="6492240"/>
            <a:ext cx="484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65760" y="1143000"/>
            <a:ext cx="3931920" cy="521208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2920" y="1261872"/>
            <a:ext cx="274320" cy="274320"/>
          </a:xfrm>
          <a:prstGeom prst="ellipse">
            <a:avLst/>
          </a:prstGeom>
          <a:solidFill>
            <a:srgbClr val="C63C3C"/>
          </a:solidFill>
          <a:ln w="12700">
            <a:solidFill>
              <a:srgbClr val="C63C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1248" y="1216152"/>
            <a:ext cx="3364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EPS / dilution bridge (year 1, full acquisition)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5488" y="1600200"/>
            <a:ext cx="3712464" cy="502920"/>
          </a:xfrm>
          <a:prstGeom prst="roundRect">
            <a:avLst>
              <a:gd name="adj" fmla="val 10909"/>
            </a:avLst>
          </a:prstGeom>
          <a:solidFill>
            <a:srgbClr val="F6F8FC"/>
          </a:solidFill>
          <a:ln w="6350">
            <a:solidFill>
              <a:srgbClr val="D9E2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1691640"/>
            <a:ext cx="640080" cy="320040"/>
          </a:xfrm>
          <a:prstGeom prst="roundRect">
            <a:avLst>
              <a:gd name="adj" fmla="val 14286"/>
            </a:avLst>
          </a:prstGeom>
          <a:solidFill>
            <a:srgbClr val="0B2A5B"/>
          </a:solidFill>
          <a:ln w="12700">
            <a:solidFill>
              <a:srgbClr val="0B2A5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169164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₹7.50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163677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diluted EPS (CF)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75488" y="2167128"/>
            <a:ext cx="3712464" cy="502920"/>
          </a:xfrm>
          <a:prstGeom prst="roundRect">
            <a:avLst>
              <a:gd name="adj" fmla="val 10909"/>
            </a:avLst>
          </a:prstGeom>
          <a:solidFill>
            <a:srgbClr val="F6F8FC"/>
          </a:solidFill>
          <a:ln w="6350">
            <a:solidFill>
              <a:srgbClr val="D9E2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2258568"/>
            <a:ext cx="640080" cy="320040"/>
          </a:xfrm>
          <a:prstGeom prst="roundRect">
            <a:avLst>
              <a:gd name="adj" fmla="val 14286"/>
            </a:avLst>
          </a:prstGeom>
          <a:solidFill>
            <a:srgbClr val="D98A1B"/>
          </a:solidFill>
          <a:ln w="12700">
            <a:solidFill>
              <a:srgbClr val="D98A1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2258568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−0.12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220370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shares: 1.02 Cr at ₹1,855 (the “mechanical” ₹7.38)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75488" y="2734056"/>
            <a:ext cx="3712464" cy="502920"/>
          </a:xfrm>
          <a:prstGeom prst="roundRect">
            <a:avLst>
              <a:gd name="adj" fmla="val 10909"/>
            </a:avLst>
          </a:prstGeom>
          <a:solidFill>
            <a:srgbClr val="F6F8FC"/>
          </a:solidFill>
          <a:ln w="6350">
            <a:solidFill>
              <a:srgbClr val="D9E2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8640" y="2825496"/>
            <a:ext cx="640080" cy="320040"/>
          </a:xfrm>
          <a:prstGeom prst="roundRect">
            <a:avLst>
              <a:gd name="adj" fmla="val 14286"/>
            </a:avLst>
          </a:prstGeom>
          <a:solidFill>
            <a:srgbClr val="C63C3C"/>
          </a:solidFill>
          <a:ln w="12700">
            <a:solidFill>
              <a:srgbClr val="C63C3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2825496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−1.45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280160" y="277063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Foregone post-tax interest on ₹2,100 Cr cash (₹94.5 Cr, TA 6% yield)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75488" y="3300984"/>
            <a:ext cx="3712464" cy="502920"/>
          </a:xfrm>
          <a:prstGeom prst="roundRect">
            <a:avLst>
              <a:gd name="adj" fmla="val 10909"/>
            </a:avLst>
          </a:prstGeom>
          <a:solidFill>
            <a:srgbClr val="F6F8FC"/>
          </a:solidFill>
          <a:ln w="6350">
            <a:solidFill>
              <a:srgbClr val="D9E2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8640" y="3392424"/>
            <a:ext cx="640080" cy="320040"/>
          </a:xfrm>
          <a:prstGeom prst="roundRect">
            <a:avLst>
              <a:gd name="adj" fmla="val 14286"/>
            </a:avLst>
          </a:prstGeom>
          <a:solidFill>
            <a:srgbClr val="C63C3C"/>
          </a:solidFill>
          <a:ln w="12700">
            <a:solidFill>
              <a:srgbClr val="C63C3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48640" y="3392424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−0.63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280160" y="33375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Post-churn Liminal loss ₹41 Cr, no group relief (TA)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75488" y="3867912"/>
            <a:ext cx="3712464" cy="502920"/>
          </a:xfrm>
          <a:prstGeom prst="roundRect">
            <a:avLst>
              <a:gd name="adj" fmla="val 10909"/>
            </a:avLst>
          </a:prstGeom>
          <a:solidFill>
            <a:srgbClr val="F6F8FC"/>
          </a:solidFill>
          <a:ln w="6350">
            <a:solidFill>
              <a:srgbClr val="D9E2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3959352"/>
            <a:ext cx="640080" cy="320040"/>
          </a:xfrm>
          <a:prstGeom prst="roundRect">
            <a:avLst>
              <a:gd name="adj" fmla="val 14286"/>
            </a:avLst>
          </a:prstGeom>
          <a:solidFill>
            <a:srgbClr val="C63C3C"/>
          </a:solidFill>
          <a:ln w="12700">
            <a:solidFill>
              <a:srgbClr val="C63C3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3959352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₹5.29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280160" y="39044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Year-1 EPS, headline mix, 37.5% churn (−29%)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475488" y="4434840"/>
            <a:ext cx="3712464" cy="502920"/>
          </a:xfrm>
          <a:prstGeom prst="roundRect">
            <a:avLst>
              <a:gd name="adj" fmla="val 10909"/>
            </a:avLst>
          </a:prstGeom>
          <a:solidFill>
            <a:srgbClr val="F6F8FC"/>
          </a:solidFill>
          <a:ln w="6350">
            <a:solidFill>
              <a:srgbClr val="D9E2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8640" y="4526280"/>
            <a:ext cx="640080" cy="320040"/>
          </a:xfrm>
          <a:prstGeom prst="roundRect">
            <a:avLst>
              <a:gd name="adj" fmla="val 14286"/>
            </a:avLst>
          </a:prstGeom>
          <a:solidFill>
            <a:srgbClr val="1E63D6"/>
          </a:solidFill>
          <a:ln w="12700">
            <a:solidFill>
              <a:srgbClr val="1E63D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48640" y="45262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+1.08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280160" y="447141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Standalone MDR ₹69 Cr PAT — shown beside, never inside, the deal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502920" y="507492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₹7.50 → −₹0.73 foregone interest → +₹0.04 associate share → </a:t>
            </a:r>
            <a:pPr indent="0" marL="0">
              <a:buNone/>
            </a:pPr>
            <a:r>
              <a:rPr lang="en-US" sz="850" b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₹6.81</a:t>
            </a:r>
            <a:pPr indent="0" marL="0">
              <a:buNone/>
            </a:pPr>
            <a:r>
              <a:rPr lang="en-US" sz="8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Not modelled: PPA amortisation; one-time integration ₹100 Cr (in FCF). Model: Python, 17 sections, reprints every figure in this deck.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434840" y="1143000"/>
            <a:ext cx="7388352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572000" y="1261872"/>
            <a:ext cx="274320" cy="274320"/>
          </a:xfrm>
          <a:prstGeom prst="ellipse">
            <a:avLst/>
          </a:prstGeom>
          <a:solidFill>
            <a:srgbClr val="0B2A5B"/>
          </a:solidFill>
          <a:ln w="12700">
            <a:solidFill>
              <a:srgbClr val="0B2A5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910328" y="1216152"/>
            <a:ext cx="6821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10-year PAT &amp; FCF table — full acquisition, case mix, 20% growth, 37.5% churn (₹ Cr; EPS ₹/share)</a:t>
            </a:r>
            <a:endParaRPr lang="en-US" sz="10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1554480"/>
          <a:ext cx="7205472" cy="914400"/>
        </p:xfrm>
        <a:graphic>
          <a:graphicData uri="http://schemas.openxmlformats.org/drawingml/2006/table">
            <a:tbl>
              <a:tblPr/>
              <a:tblGrid>
                <a:gridCol w="504383"/>
                <a:gridCol w="864657"/>
                <a:gridCol w="864657"/>
                <a:gridCol w="936711"/>
                <a:gridCol w="792602"/>
                <a:gridCol w="936711"/>
                <a:gridCol w="1080821"/>
                <a:gridCol w="1224930"/>
              </a:tblGrid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 rev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 PAT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Incr PAT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EPS+MDR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Incr FCF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 FCF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−136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−986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−3,086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−830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−3,915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−818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−4,733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−802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−5,535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−780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−6,315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−768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−7,083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−752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−7,835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−734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−8,569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−711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−9,280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8.38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9.44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−685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−9,965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</a:tr>
            </a:tbl>
          </a:graphicData>
        </a:graphic>
      </p:graphicFrame>
      <p:sp>
        <p:nvSpPr>
          <p:cNvPr id="41" name="Text 38"/>
          <p:cNvSpPr txBox="1"/>
          <p:nvPr/>
        </p:nvSpPr>
        <p:spPr>
          <a:xfrm>
            <a:off x="4526280" y="402336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 breakeven year 8; FCF never (₹750 drag + ₹94.5 cost of funds exceed Liminal FCF every year). Cumulative includes the ₹2,100 Cr outlay and ₹100 Cr integration.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4434840" y="4480560"/>
            <a:ext cx="7388352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9525">
            <a:solidFill>
              <a:srgbClr val="D9E2F0"/>
            </a:solidFill>
            <a:prstDash val="solid"/>
          </a:ln>
          <a:effectLst>
            <a:outerShdw sx="100000" sy="100000" kx="0" ky="0" algn="bl" rotWithShape="0" blurRad="76200" dist="19050" dir="5400000">
              <a:srgbClr val="0B2A5B">
                <a:alpha val="10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4572000" y="4599432"/>
            <a:ext cx="274320" cy="274320"/>
          </a:xfrm>
          <a:prstGeom prst="ellipse">
            <a:avLst/>
          </a:prstGeom>
          <a:solidFill>
            <a:srgbClr val="1B8A4C"/>
          </a:solidFill>
          <a:ln w="12700">
            <a:solidFill>
              <a:srgbClr val="1B8A4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4910328" y="4553712"/>
            <a:ext cx="6821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Phase-1 stake IRR — exit end-Y5 at multiple × ARR₅, 26% stake, no dividends (TA)</a:t>
            </a:r>
            <a:endParaRPr lang="en-US" sz="1050" dirty="0"/>
          </a:p>
        </p:txBody>
      </p:sp>
      <p:graphicFrame>
        <p:nvGraphicFramePr>
          <p:cNvPr id="3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4892040"/>
          <a:ext cx="3931920" cy="914400"/>
        </p:xfrm>
        <a:graphic>
          <a:graphicData uri="http://schemas.openxmlformats.org/drawingml/2006/table">
            <a:tbl>
              <a:tblPr/>
              <a:tblGrid>
                <a:gridCol w="1258214"/>
                <a:gridCol w="668426"/>
                <a:gridCol w="668426"/>
                <a:gridCol w="668426"/>
                <a:gridCol w="668426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 ↓ · exit multiple →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18.2×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−11.9%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−2.4%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 (base)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−3.9%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13.9%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 (bull)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15.3%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C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30.0%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6" name="Text 42"/>
          <p:cNvSpPr txBox="1"/>
          <p:nvPr/>
        </p:nvSpPr>
        <p:spPr>
          <a:xfrm>
            <a:off x="8595360" y="489204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a 12% hurdle the stake earns its cost of capital at ≥20% growth and ≥13× exit, or ≥30% growth and ≥9×. Fundamental value of 26%: ₹456 Cr (base) – ₹951 Cr (bull) vs the ₹1,040 Cr ceiling — the premium buys blocking and access.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Satoshi Gate</dc:title>
  <dc:subject>PptxGenJS Presentation</dc:subject>
  <dc:creator>Team ETERNAL</dc:creator>
  <cp:lastModifiedBy>Team ETERNAL</cp:lastModifiedBy>
  <cp:revision>1</cp:revision>
  <dcterms:created xsi:type="dcterms:W3CDTF">2026-09-24T14:27:13Z</dcterms:created>
  <dcterms:modified xsi:type="dcterms:W3CDTF">2026-09-24T14:27:13Z</dcterms:modified>
</cp:coreProperties>
</file>