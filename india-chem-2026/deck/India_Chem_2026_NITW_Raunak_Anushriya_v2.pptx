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Raunak Jain, mechanical engineering, and Anushriya Bhattacharya, chemical engineering, from NIT Warangal. Our proposal is NAADI, our response to the predictive maintenance problem statement: an early fault detection system for the critical pumps of a chemical plant. To be precise about the claim: NAADI does not predict the exact moment a pump will fail. It watches vibration continuously, spots developing faults early, and alerts the reliability engineer with a drafted work order, while all data and models stay on the plant's own network. We are proposing a six-month pilot to test exactly that. The base-case economics, a public benchmark validation of our prototype, and the pilot design follow in the next seven slides. About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 case is one representative mid-sized speciality chemicals plant, and inside it the 25 pumps whose trips actually stop production. The funnel on the left shows the filtering: about 200 pumps, 25 critical ones, an estimated 60 outage hours a year, and roughly 1.4 crore of annual exposure once lost margin and repairs are added. These plant figures are labelled estimates and the pilot's first phase replaces them with the plant's own 24-month history. The middle shows why this keeps happening: monthly inspection rounds leave long blind windows, and the foundational reliability study found 89 percent of failure modes have no predictable wear-out age, so calendar-based maintenance misses them. Bearing and seal problems develop over days to weeks. That is the window NAADI is designed to use. About 70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five realistic approaches on the six criteria that decide adoption, weighting detection lead time and fit for mid-sized plants highest. Run to failure and calendar-based maintenance give no lead time for random faults, and calendar maintenance is still the common practice in Indian plants. Monthly offline vibration rounds help but leave blind windows of several weeks and depend on scarce analysts. OEM cloud monitoring is the global best practice and it works, but it scores poorly here on total cost and on data control, because the plant's condition history ends up in a vendor system. So the gap is architectural rather than technical. That analysis gives the five design choices at the bottom, and those choices define NAADI. The scores are our judgement and are labelled as such. About 65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system on one picture. Wireless vibration and temperature sensors sit on both bearing housings of each pump, using hardware that meets the applicable PESO and IECEx requirements for hazardous areas. An area gateway extracts sixteen standard vibration indicators per measurement window, following ISO 13374, and ISO 20816-3 alarm zones give usable limits from day one. The model layer produces a per-pump anomaly score and a fault type. Results feed a reliability dashboard, and each alert arrives as a drafted work order inside the plant's existing CMMS. The reliability engineer approves or rejects every action, and confirmed findings feed back to retrain the model. Everything inside the dashed boundary runs on the plant network, so the condition history stays with the plant. What is genuinely ours is the model layer and the workflow integration; sensors and gateways are mature industrial products. About 70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detection works. A bearing defect makes the vibration signal impulsive and shifts energy into characteristic frequency bands. We compute sixteen standard indicators per window, things like RMS, kurtosis, crest factor and band energies, and a random forest classifies them. We trained and tested this ourselves on the public Case Western bearing dataset. Under a strict protocol, whole recordings held out and one motor load never seen in training, four-class accuracy is 97.9 percent, and none of the 237 healthy benchmark windows was misclassified. The confusion matrix shows the only errors are between fault types, not between faulty and healthy. And the caveat is printed on the slide: this is a controlled test rig with seeded faults, not a chemical plant. Sensors, gateways and integration standards are mature; what still needs proof is plant noise, lead time and false-alert rate, which is exactly what the pilot measures. About 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Execution is a six-month pilot with one principle: the system must earn trust before anyone relies on it. Months zero to one build the baseline from the plant's own maintenance records and fix the success criteria together with the plant, so the pass bar is agreed before installation. Month two is installation: wireless sensors magnet-mounted during routine access, no shutdown, permits handled through the plant's normal process. Month three commissions healthy baselines, and months three to six run in shadow mode: alerts are logged and compared weekly with what maintenance actually finds, but no decision depends on them yet. The month-six gate is numeric and is on the slide. In plain terms: of the faults maintenance later confirms, at least seven in ten must have been flagged by NAADI beforehand, with at least fourteen days of notice, which is enough to plan the repair into a scheduled window instead of an emergency stop. Alongside that, at most two false alerts per pump per month, and ninety-five percent data availability. Pass the gate and the system goes live, then scales to other rotating assets and, between months twelve and twenty-four, to a shared deployment across chemical clusters. What we need is one plant partner, the pumps, their history and six months of access. About 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economics, with the calculation visible. Each avoided downtime hour is worth about 1.9 lakh of contribution margin. Taking the US Department of Energy's published effectiveness range at its low end, 35 percent downtime reduction and 10 percent repair savings, the waterfall builds to 47.4 lakh of annual benefit, less 6 lakh of operating cost, so 41.4 lakh net. Against an estimated 37 lakh of CapEx that is roughly an 11-month base-case payback and about 1.1 crore of five-year NPV at a 12 percent discount rate. The sensitivity chart stress-tests it: even if the programme delivers only 20 percent reduction, below the DOE band, or CapEx overruns by 30 percent, payback stays under 24 months in the stacked downside. The risks we take most seriously are false-alert fatigue, hazardous-area compliance, OT security and the shortage of early failure examples; each has a specific mitigation on the slide. Environmentally, earlier seal-fault detection reduces leak risk, and the same data helps find cavitation and off-design operation. Our recommendation is deliberately conditional: proceed with the pilot, subject to plant-data validation and vendor quotations. About 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slide groups everything we relied on: government guidance including the Department of Energy maintenance ranges, the engineering standards for vibration evaluation and reliability data, the technical literature behind the failure statistics, and our own dataset work and economics files. Numbers in square brackets throughout the deck point here. The basis-of-preparation note states plainly what is estimated, what is judgement and what has not yet been proven. We are happy to take questions.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energy.gov/sites/prod/files/2020/04/f74/omguide_complete_w-eo-disclaimer.pdf" TargetMode="External"/><Relationship Id="rId2" Type="http://schemas.openxmlformats.org/officeDocument/2006/relationships/hyperlink" Target="https://dst.gov.in/national-mission-interdisciplinary-cyber-physical-systems-nm-icps" TargetMode="External"/><Relationship Id="rId3" Type="http://schemas.openxmlformats.org/officeDocument/2006/relationships/hyperlink" Target="https://samarthudyog-i40.in/" TargetMode="External"/><Relationship Id="rId4" Type="http://schemas.openxmlformats.org/officeDocument/2006/relationships/hyperlink" Target="https://www.iso.org/standard/78311.html" TargetMode="External"/><Relationship Id="rId5" Type="http://schemas.openxmlformats.org/officeDocument/2006/relationships/hyperlink" Target="https://peso.gov.in" TargetMode="External"/><Relationship Id="rId6" Type="http://schemas.openxmlformats.org/officeDocument/2006/relationships/hyperlink" Target="https://espace.curtin.edu.au/handle/20.500.11937/28560" TargetMode="External"/><Relationship Id="rId7" Type="http://schemas.openxmlformats.org/officeDocument/2006/relationships/hyperlink" Target="https://engineering.case.edu/bearingdatacenter" TargetMode="External"/><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502920"/>
            <a:ext cx="0" cy="5120640"/>
          </a:xfrm>
          <a:prstGeom prst="line">
            <a:avLst/>
          </a:prstGeom>
          <a:noFill/>
          <a:ln w="31750">
            <a:solidFill>
              <a:srgbClr val="5B2A86"/>
            </a:solidFill>
            <a:prstDash val="solid"/>
          </a:ln>
        </p:spPr>
      </p:sp>
      <p:sp>
        <p:nvSpPr>
          <p:cNvPr id="3" name="Text 1"/>
          <p:cNvSpPr txBox="1"/>
          <p:nvPr/>
        </p:nvSpPr>
        <p:spPr>
          <a:xfrm>
            <a:off x="777240" y="502920"/>
            <a:ext cx="6400800" cy="256032"/>
          </a:xfrm>
          <a:prstGeom prst="rect">
            <a:avLst/>
          </a:prstGeom>
          <a:noFill/>
          <a:ln/>
        </p:spPr>
        <p:txBody>
          <a:bodyPr wrap="square" lIns="0" tIns="0" rIns="0" bIns="0" rtlCol="0" anchor="t"/>
          <a:lstStyle/>
          <a:p>
            <a:pPr indent="0" marL="0">
              <a:lnSpc>
                <a:spcPct val="105000"/>
              </a:lnSpc>
              <a:buNone/>
            </a:pPr>
            <a:r>
              <a:rPr lang="en-US" sz="1250" b="1" dirty="0">
                <a:solidFill>
                  <a:srgbClr val="7A4AA5"/>
                </a:solidFill>
                <a:latin typeface="Arial" pitchFamily="34" charset="0"/>
                <a:ea typeface="Arial" pitchFamily="34" charset="-122"/>
                <a:cs typeface="Arial" pitchFamily="34" charset="-120"/>
              </a:rPr>
              <a:t>India Chem 2026 Youth Innovation Challenge</a:t>
            </a:r>
            <a:endParaRPr lang="en-US" sz="1250" dirty="0"/>
          </a:p>
        </p:txBody>
      </p:sp>
      <p:sp>
        <p:nvSpPr>
          <p:cNvPr id="4" name="Text 2"/>
          <p:cNvSpPr txBox="1"/>
          <p:nvPr/>
        </p:nvSpPr>
        <p:spPr>
          <a:xfrm>
            <a:off x="758952" y="960120"/>
            <a:ext cx="5943600" cy="960120"/>
          </a:xfrm>
          <a:prstGeom prst="rect">
            <a:avLst/>
          </a:prstGeom>
          <a:noFill/>
          <a:ln/>
        </p:spPr>
        <p:txBody>
          <a:bodyPr wrap="square" lIns="0" tIns="0" rIns="0" bIns="0" rtlCol="0" anchor="t"/>
          <a:lstStyle/>
          <a:p>
            <a:pPr indent="0" marL="0">
              <a:lnSpc>
                <a:spcPct val="105000"/>
              </a:lnSpc>
              <a:buNone/>
            </a:pPr>
            <a:r>
              <a:rPr lang="en-US" sz="6000" b="1" dirty="0">
                <a:solidFill>
                  <a:srgbClr val="5B2A86"/>
                </a:solidFill>
                <a:latin typeface="Arial" pitchFamily="34" charset="0"/>
                <a:ea typeface="Arial" pitchFamily="34" charset="-122"/>
                <a:cs typeface="Arial" pitchFamily="34" charset="-120"/>
              </a:rPr>
              <a:t>NAADI</a:t>
            </a:r>
            <a:endParaRPr lang="en-US" sz="6000" dirty="0"/>
          </a:p>
        </p:txBody>
      </p:sp>
      <p:sp>
        <p:nvSpPr>
          <p:cNvPr id="5" name="Text 3"/>
          <p:cNvSpPr txBox="1"/>
          <p:nvPr/>
        </p:nvSpPr>
        <p:spPr>
          <a:xfrm>
            <a:off x="777240" y="2011680"/>
            <a:ext cx="5394960" cy="777240"/>
          </a:xfrm>
          <a:prstGeom prst="rect">
            <a:avLst/>
          </a:prstGeom>
          <a:noFill/>
          <a:ln/>
        </p:spPr>
        <p:txBody>
          <a:bodyPr wrap="square" lIns="0" tIns="0" rIns="0" bIns="0" rtlCol="0" anchor="t"/>
          <a:lstStyle/>
          <a:p>
            <a:pPr indent="0" marL="0">
              <a:lnSpc>
                <a:spcPct val="105000"/>
              </a:lnSpc>
              <a:buNone/>
            </a:pPr>
            <a:r>
              <a:rPr lang="en-US" sz="2200" b="1" dirty="0">
                <a:solidFill>
                  <a:srgbClr val="17131D"/>
                </a:solidFill>
                <a:latin typeface="Arial" pitchFamily="34" charset="0"/>
                <a:ea typeface="Arial" pitchFamily="34" charset="-122"/>
                <a:cs typeface="Arial" pitchFamily="34" charset="-120"/>
              </a:rPr>
              <a:t>Early fault detection for critical pumps, on the plant's own network</a:t>
            </a:r>
            <a:endParaRPr lang="en-US" sz="2200" dirty="0"/>
          </a:p>
        </p:txBody>
      </p:sp>
      <p:sp>
        <p:nvSpPr>
          <p:cNvPr id="6" name="Text 4"/>
          <p:cNvSpPr txBox="1"/>
          <p:nvPr/>
        </p:nvSpPr>
        <p:spPr>
          <a:xfrm>
            <a:off x="777240" y="2880360"/>
            <a:ext cx="5212080" cy="685800"/>
          </a:xfrm>
          <a:prstGeom prst="rect">
            <a:avLst/>
          </a:prstGeom>
          <a:noFill/>
          <a:ln/>
        </p:spPr>
        <p:txBody>
          <a:bodyPr wrap="square" lIns="0" tIns="0" rIns="0" bIns="0" rtlCol="0" anchor="t"/>
          <a:lstStyle/>
          <a:p>
            <a:pPr indent="0" marL="0">
              <a:lnSpc>
                <a:spcPct val="115000"/>
              </a:lnSpc>
              <a:buNone/>
            </a:pPr>
            <a:r>
              <a:rPr lang="en-US" sz="1450" dirty="0">
                <a:solidFill>
                  <a:srgbClr val="625D68"/>
                </a:solidFill>
                <a:latin typeface="Arial" pitchFamily="34" charset="0"/>
                <a:ea typeface="Arial" pitchFamily="34" charset="-122"/>
                <a:cs typeface="Arial" pitchFamily="34" charset="-120"/>
              </a:rPr>
              <a:t>A six-month pilot to test early fault detection across 25 critical pumps in a mid-sized speciality chemicals plant.</a:t>
            </a:r>
            <a:endParaRPr lang="en-US" sz="1450" dirty="0"/>
          </a:p>
        </p:txBody>
      </p:sp>
      <p:sp>
        <p:nvSpPr>
          <p:cNvPr id="7" name="Text 5"/>
          <p:cNvSpPr txBox="1"/>
          <p:nvPr/>
        </p:nvSpPr>
        <p:spPr>
          <a:xfrm>
            <a:off x="777240" y="3749040"/>
            <a:ext cx="5212080" cy="640080"/>
          </a:xfrm>
          <a:prstGeom prst="rect">
            <a:avLst/>
          </a:prstGeom>
          <a:noFill/>
          <a:ln/>
        </p:spPr>
        <p:txBody>
          <a:bodyPr wrap="square" lIns="0" tIns="0" rIns="0" bIns="0" rtlCol="0" anchor="t"/>
          <a:lstStyle/>
          <a:p>
            <a:pPr indent="0" marL="0">
              <a:lnSpc>
                <a:spcPct val="110000"/>
              </a:lnSpc>
              <a:buNone/>
            </a:pPr>
            <a:r>
              <a:rPr lang="en-US" sz="1050" b="1" dirty="0">
                <a:solidFill>
                  <a:srgbClr val="625D68"/>
                </a:solidFill>
                <a:latin typeface="Arial" pitchFamily="34" charset="0"/>
                <a:ea typeface="Arial" pitchFamily="34" charset="-122"/>
                <a:cs typeface="Arial" pitchFamily="34" charset="-120"/>
              </a:rPr>
              <a:t>Annexure problem statement: </a:t>
            </a:r>
            <a:pPr indent="0" marL="0">
              <a:lnSpc>
                <a:spcPct val="110000"/>
              </a:lnSpc>
              <a:buNone/>
            </a:pPr>
            <a:r>
              <a:rPr lang="en-US" sz="1050" dirty="0">
                <a:solidFill>
                  <a:srgbClr val="625D68"/>
                </a:solidFill>
                <a:latin typeface="Arial" pitchFamily="34" charset="0"/>
                <a:ea typeface="Arial" pitchFamily="34" charset="-122"/>
                <a:cs typeface="Arial" pitchFamily="34" charset="-120"/>
              </a:rPr>
              <a:t>AI-driven predictive maintenance to improve asset reliability and maintenance efficiency in the chemicals and petrochemicals sector [1]</a:t>
            </a:r>
            <a:endParaRPr lang="en-US" sz="1050" dirty="0"/>
          </a:p>
        </p:txBody>
      </p:sp>
      <p:sp>
        <p:nvSpPr>
          <p:cNvPr id="8" name="Shape 6"/>
          <p:cNvSpPr/>
          <p:nvPr/>
        </p:nvSpPr>
        <p:spPr>
          <a:xfrm>
            <a:off x="6492240" y="914400"/>
            <a:ext cx="5166360" cy="4160520"/>
          </a:xfrm>
          <a:prstGeom prst="rect">
            <a:avLst/>
          </a:prstGeom>
          <a:solidFill>
            <a:srgbClr val="F8F5FA"/>
          </a:solidFill>
          <a:ln/>
        </p:spPr>
      </p:sp>
      <p:sp>
        <p:nvSpPr>
          <p:cNvPr id="9" name="Text 7"/>
          <p:cNvSpPr txBox="1"/>
          <p:nvPr/>
        </p:nvSpPr>
        <p:spPr>
          <a:xfrm>
            <a:off x="6766560" y="1097280"/>
            <a:ext cx="4617720" cy="219456"/>
          </a:xfrm>
          <a:prstGeom prst="rect">
            <a:avLst/>
          </a:prstGeom>
          <a:noFill/>
          <a:ln/>
        </p:spPr>
        <p:txBody>
          <a:bodyPr wrap="square" lIns="0" tIns="0" rIns="0" bIns="0" rtlCol="0" anchor="t"/>
          <a:lstStyle/>
          <a:p>
            <a:pPr indent="0" marL="0">
              <a:lnSpc>
                <a:spcPct val="105000"/>
              </a:lnSpc>
              <a:buNone/>
            </a:pPr>
            <a:r>
              <a:rPr lang="en-US" sz="1100" b="1" dirty="0">
                <a:solidFill>
                  <a:srgbClr val="17131D"/>
                </a:solidFill>
                <a:latin typeface="Arial" pitchFamily="34" charset="0"/>
                <a:ea typeface="Arial" pitchFamily="34" charset="-122"/>
                <a:cs typeface="Arial" pitchFamily="34" charset="-120"/>
              </a:rPr>
              <a:t>From bearing vibration to a drafted work order</a:t>
            </a:r>
            <a:endParaRPr lang="en-US" sz="1100" dirty="0"/>
          </a:p>
        </p:txBody>
      </p:sp>
      <p:sp>
        <p:nvSpPr>
          <p:cNvPr id="10" name="Shape 8"/>
          <p:cNvSpPr/>
          <p:nvPr/>
        </p:nvSpPr>
        <p:spPr>
          <a:xfrm>
            <a:off x="6812280" y="1757934"/>
            <a:ext cx="893826" cy="893826"/>
          </a:xfrm>
          <a:prstGeom prst="ellipse">
            <a:avLst/>
          </a:prstGeom>
          <a:solidFill>
            <a:srgbClr val="FFFFFF"/>
          </a:solidFill>
          <a:ln w="17780">
            <a:solidFill>
              <a:srgbClr val="625D68"/>
            </a:solidFill>
            <a:prstDash val="solid"/>
          </a:ln>
        </p:spPr>
      </p:sp>
      <p:sp>
        <p:nvSpPr>
          <p:cNvPr id="11" name="Shape 9"/>
          <p:cNvSpPr/>
          <p:nvPr/>
        </p:nvSpPr>
        <p:spPr>
          <a:xfrm>
            <a:off x="7127748" y="2073402"/>
            <a:ext cx="262890" cy="262890"/>
          </a:xfrm>
          <a:prstGeom prst="ellipse">
            <a:avLst/>
          </a:prstGeom>
          <a:solidFill>
            <a:srgbClr val="EFE8F6"/>
          </a:solidFill>
          <a:ln w="12700">
            <a:solidFill>
              <a:srgbClr val="625D68"/>
            </a:solidFill>
            <a:prstDash val="solid"/>
          </a:ln>
        </p:spPr>
      </p:sp>
      <p:sp>
        <p:nvSpPr>
          <p:cNvPr id="12" name="Shape 10"/>
          <p:cNvSpPr/>
          <p:nvPr/>
        </p:nvSpPr>
        <p:spPr>
          <a:xfrm>
            <a:off x="7127748" y="1600200"/>
            <a:ext cx="262890" cy="189281"/>
          </a:xfrm>
          <a:prstGeom prst="rect">
            <a:avLst/>
          </a:prstGeom>
          <a:solidFill>
            <a:srgbClr val="FFFFFF"/>
          </a:solidFill>
          <a:ln w="17780">
            <a:solidFill>
              <a:srgbClr val="625D68"/>
            </a:solidFill>
            <a:prstDash val="solid"/>
          </a:ln>
        </p:spPr>
      </p:sp>
      <p:sp>
        <p:nvSpPr>
          <p:cNvPr id="13" name="Shape 11"/>
          <p:cNvSpPr/>
          <p:nvPr/>
        </p:nvSpPr>
        <p:spPr>
          <a:xfrm>
            <a:off x="7706106" y="2125980"/>
            <a:ext cx="578358" cy="147218"/>
          </a:xfrm>
          <a:prstGeom prst="rect">
            <a:avLst/>
          </a:prstGeom>
          <a:solidFill>
            <a:srgbClr val="FFFFFF"/>
          </a:solidFill>
          <a:ln w="17780">
            <a:solidFill>
              <a:srgbClr val="625D68"/>
            </a:solidFill>
            <a:prstDash val="solid"/>
          </a:ln>
        </p:spPr>
      </p:sp>
      <p:sp>
        <p:nvSpPr>
          <p:cNvPr id="14" name="Shape 12"/>
          <p:cNvSpPr/>
          <p:nvPr/>
        </p:nvSpPr>
        <p:spPr>
          <a:xfrm>
            <a:off x="8284464" y="1936699"/>
            <a:ext cx="525780" cy="525780"/>
          </a:xfrm>
          <a:prstGeom prst="rect">
            <a:avLst/>
          </a:prstGeom>
          <a:solidFill>
            <a:srgbClr val="F8F5FA"/>
          </a:solidFill>
          <a:ln w="17780">
            <a:solidFill>
              <a:srgbClr val="625D68"/>
            </a:solidFill>
            <a:prstDash val="solid"/>
          </a:ln>
        </p:spPr>
      </p:sp>
      <p:sp>
        <p:nvSpPr>
          <p:cNvPr id="15" name="Shape 13"/>
          <p:cNvSpPr/>
          <p:nvPr/>
        </p:nvSpPr>
        <p:spPr>
          <a:xfrm>
            <a:off x="7737653" y="1978762"/>
            <a:ext cx="105156" cy="105156"/>
          </a:xfrm>
          <a:prstGeom prst="ellipse">
            <a:avLst/>
          </a:prstGeom>
          <a:solidFill>
            <a:srgbClr val="5B2A86"/>
          </a:solidFill>
          <a:ln/>
        </p:spPr>
      </p:sp>
      <p:sp>
        <p:nvSpPr>
          <p:cNvPr id="16" name="Shape 14"/>
          <p:cNvSpPr/>
          <p:nvPr/>
        </p:nvSpPr>
        <p:spPr>
          <a:xfrm>
            <a:off x="8684057" y="1810512"/>
            <a:ext cx="105156" cy="105156"/>
          </a:xfrm>
          <a:prstGeom prst="ellipse">
            <a:avLst/>
          </a:prstGeom>
          <a:solidFill>
            <a:srgbClr val="5B2A86"/>
          </a:solidFill>
          <a:ln/>
        </p:spPr>
      </p:sp>
      <p:sp>
        <p:nvSpPr>
          <p:cNvPr id="17" name="Text 15"/>
          <p:cNvSpPr txBox="1"/>
          <p:nvPr/>
        </p:nvSpPr>
        <p:spPr>
          <a:xfrm>
            <a:off x="7662672" y="2121408"/>
            <a:ext cx="365760" cy="146304"/>
          </a:xfrm>
          <a:prstGeom prst="rect">
            <a:avLst/>
          </a:prstGeom>
          <a:noFill/>
          <a:ln/>
        </p:spPr>
        <p:txBody>
          <a:bodyPr wrap="square" lIns="0" tIns="0" rIns="0" bIns="0" rtlCol="0" anchor="t"/>
          <a:lstStyle/>
          <a:p>
            <a:pPr indent="0" marL="0">
              <a:lnSpc>
                <a:spcPct val="105000"/>
              </a:lnSpc>
              <a:buNone/>
            </a:pPr>
            <a:r>
              <a:rPr lang="en-US" sz="800" b="1" dirty="0">
                <a:solidFill>
                  <a:srgbClr val="5B2A86"/>
                </a:solidFill>
                <a:latin typeface="Arial" pitchFamily="34" charset="0"/>
                <a:ea typeface="Arial" pitchFamily="34" charset="-122"/>
                <a:cs typeface="Arial" pitchFamily="34" charset="-120"/>
              </a:rPr>
              <a:t>DE</a:t>
            </a:r>
            <a:endParaRPr lang="en-US" sz="800" dirty="0"/>
          </a:p>
        </p:txBody>
      </p:sp>
      <p:sp>
        <p:nvSpPr>
          <p:cNvPr id="18" name="Text 16"/>
          <p:cNvSpPr txBox="1"/>
          <p:nvPr/>
        </p:nvSpPr>
        <p:spPr>
          <a:xfrm>
            <a:off x="8595360" y="1691640"/>
            <a:ext cx="457200" cy="146304"/>
          </a:xfrm>
          <a:prstGeom prst="rect">
            <a:avLst/>
          </a:prstGeom>
          <a:noFill/>
          <a:ln/>
        </p:spPr>
        <p:txBody>
          <a:bodyPr wrap="square" lIns="0" tIns="0" rIns="0" bIns="0" rtlCol="0" anchor="t"/>
          <a:lstStyle/>
          <a:p>
            <a:pPr indent="0" marL="0">
              <a:lnSpc>
                <a:spcPct val="105000"/>
              </a:lnSpc>
              <a:buNone/>
            </a:pPr>
            <a:r>
              <a:rPr lang="en-US" sz="800" b="1" dirty="0">
                <a:solidFill>
                  <a:srgbClr val="5B2A86"/>
                </a:solidFill>
                <a:latin typeface="Arial" pitchFamily="34" charset="0"/>
                <a:ea typeface="Arial" pitchFamily="34" charset="-122"/>
                <a:cs typeface="Arial" pitchFamily="34" charset="-120"/>
              </a:rPr>
              <a:t>NDE</a:t>
            </a:r>
            <a:endParaRPr lang="en-US" sz="800" dirty="0"/>
          </a:p>
        </p:txBody>
      </p:sp>
      <p:sp>
        <p:nvSpPr>
          <p:cNvPr id="19" name="Text 17"/>
          <p:cNvSpPr txBox="1"/>
          <p:nvPr/>
        </p:nvSpPr>
        <p:spPr>
          <a:xfrm>
            <a:off x="6812280" y="2788920"/>
            <a:ext cx="2377440" cy="457200"/>
          </a:xfrm>
          <a:prstGeom prst="rect">
            <a:avLst/>
          </a:prstGeom>
          <a:noFill/>
          <a:ln/>
        </p:spPr>
        <p:txBody>
          <a:bodyPr wrap="square" lIns="0" tIns="0" rIns="0" bIns="0" rtlCol="0" anchor="t"/>
          <a:lstStyle/>
          <a:p>
            <a:pPr indent="0" marL="0">
              <a:lnSpc>
                <a:spcPct val="105000"/>
              </a:lnSpc>
              <a:buNone/>
            </a:pPr>
            <a:r>
              <a:rPr lang="en-US" sz="850" dirty="0">
                <a:solidFill>
                  <a:srgbClr val="625D68"/>
                </a:solidFill>
                <a:latin typeface="Arial" pitchFamily="34" charset="0"/>
                <a:ea typeface="Arial" pitchFamily="34" charset="-122"/>
                <a:cs typeface="Arial" pitchFamily="34" charset="-120"/>
              </a:rPr>
              <a:t>centrifugal pump with vibration and temperature sensors on both bearing housings</a:t>
            </a:r>
            <a:endParaRPr lang="en-US" sz="850" dirty="0"/>
          </a:p>
        </p:txBody>
      </p:sp>
      <p:sp>
        <p:nvSpPr>
          <p:cNvPr id="20" name="Shape 18"/>
          <p:cNvSpPr/>
          <p:nvPr/>
        </p:nvSpPr>
        <p:spPr>
          <a:xfrm>
            <a:off x="6858000" y="3657600"/>
            <a:ext cx="243840" cy="64008"/>
          </a:xfrm>
          <a:prstGeom prst="line">
            <a:avLst/>
          </a:prstGeom>
          <a:noFill/>
          <a:ln w="20320">
            <a:solidFill>
              <a:srgbClr val="7A4AA5"/>
            </a:solidFill>
            <a:prstDash val="solid"/>
          </a:ln>
        </p:spPr>
      </p:sp>
      <p:sp>
        <p:nvSpPr>
          <p:cNvPr id="21" name="Shape 19"/>
          <p:cNvSpPr/>
          <p:nvPr/>
        </p:nvSpPr>
        <p:spPr>
          <a:xfrm flipV="1">
            <a:off x="7101840" y="3566160"/>
            <a:ext cx="243840" cy="155448"/>
          </a:xfrm>
          <a:prstGeom prst="line">
            <a:avLst/>
          </a:prstGeom>
          <a:noFill/>
          <a:ln w="20320">
            <a:solidFill>
              <a:srgbClr val="7A4AA5"/>
            </a:solidFill>
            <a:prstDash val="solid"/>
          </a:ln>
        </p:spPr>
      </p:sp>
      <p:sp>
        <p:nvSpPr>
          <p:cNvPr id="22" name="Shape 20"/>
          <p:cNvSpPr/>
          <p:nvPr/>
        </p:nvSpPr>
        <p:spPr>
          <a:xfrm>
            <a:off x="7345680" y="3566160"/>
            <a:ext cx="243840" cy="237744"/>
          </a:xfrm>
          <a:prstGeom prst="line">
            <a:avLst/>
          </a:prstGeom>
          <a:noFill/>
          <a:ln w="20320">
            <a:solidFill>
              <a:srgbClr val="7A4AA5"/>
            </a:solidFill>
            <a:prstDash val="solid"/>
          </a:ln>
        </p:spPr>
      </p:sp>
      <p:sp>
        <p:nvSpPr>
          <p:cNvPr id="23" name="Shape 21"/>
          <p:cNvSpPr/>
          <p:nvPr/>
        </p:nvSpPr>
        <p:spPr>
          <a:xfrm flipV="1">
            <a:off x="7589520" y="3474720"/>
            <a:ext cx="243840" cy="329184"/>
          </a:xfrm>
          <a:prstGeom prst="line">
            <a:avLst/>
          </a:prstGeom>
          <a:noFill/>
          <a:ln w="20320">
            <a:solidFill>
              <a:srgbClr val="7A4AA5"/>
            </a:solidFill>
            <a:prstDash val="solid"/>
          </a:ln>
        </p:spPr>
      </p:sp>
      <p:sp>
        <p:nvSpPr>
          <p:cNvPr id="24" name="Shape 22"/>
          <p:cNvSpPr/>
          <p:nvPr/>
        </p:nvSpPr>
        <p:spPr>
          <a:xfrm>
            <a:off x="7833360" y="3474720"/>
            <a:ext cx="243840" cy="365760"/>
          </a:xfrm>
          <a:prstGeom prst="line">
            <a:avLst/>
          </a:prstGeom>
          <a:noFill/>
          <a:ln w="20320">
            <a:solidFill>
              <a:srgbClr val="7A4AA5"/>
            </a:solidFill>
            <a:prstDash val="solid"/>
          </a:ln>
        </p:spPr>
      </p:sp>
      <p:sp>
        <p:nvSpPr>
          <p:cNvPr id="25" name="Shape 23"/>
          <p:cNvSpPr/>
          <p:nvPr/>
        </p:nvSpPr>
        <p:spPr>
          <a:xfrm flipV="1">
            <a:off x="8077200" y="3584448"/>
            <a:ext cx="243840" cy="256032"/>
          </a:xfrm>
          <a:prstGeom prst="line">
            <a:avLst/>
          </a:prstGeom>
          <a:noFill/>
          <a:ln w="20320">
            <a:solidFill>
              <a:srgbClr val="7A4AA5"/>
            </a:solidFill>
            <a:prstDash val="solid"/>
          </a:ln>
        </p:spPr>
      </p:sp>
      <p:sp>
        <p:nvSpPr>
          <p:cNvPr id="26" name="Shape 24"/>
          <p:cNvSpPr/>
          <p:nvPr/>
        </p:nvSpPr>
        <p:spPr>
          <a:xfrm>
            <a:off x="8321040" y="3584448"/>
            <a:ext cx="243840" cy="173736"/>
          </a:xfrm>
          <a:prstGeom prst="line">
            <a:avLst/>
          </a:prstGeom>
          <a:noFill/>
          <a:ln w="20320">
            <a:solidFill>
              <a:srgbClr val="7A4AA5"/>
            </a:solidFill>
            <a:prstDash val="solid"/>
          </a:ln>
        </p:spPr>
      </p:sp>
      <p:sp>
        <p:nvSpPr>
          <p:cNvPr id="27" name="Shape 25"/>
          <p:cNvSpPr/>
          <p:nvPr/>
        </p:nvSpPr>
        <p:spPr>
          <a:xfrm flipV="1">
            <a:off x="8564880" y="3529584"/>
            <a:ext cx="243840" cy="228600"/>
          </a:xfrm>
          <a:prstGeom prst="line">
            <a:avLst/>
          </a:prstGeom>
          <a:noFill/>
          <a:ln w="20320">
            <a:solidFill>
              <a:srgbClr val="7A4AA5"/>
            </a:solidFill>
            <a:prstDash val="solid"/>
          </a:ln>
        </p:spPr>
      </p:sp>
      <p:sp>
        <p:nvSpPr>
          <p:cNvPr id="28" name="Shape 26"/>
          <p:cNvSpPr/>
          <p:nvPr/>
        </p:nvSpPr>
        <p:spPr>
          <a:xfrm>
            <a:off x="8808720" y="3529584"/>
            <a:ext cx="243840" cy="164592"/>
          </a:xfrm>
          <a:prstGeom prst="line">
            <a:avLst/>
          </a:prstGeom>
          <a:noFill/>
          <a:ln w="20320">
            <a:solidFill>
              <a:srgbClr val="7A4AA5"/>
            </a:solidFill>
            <a:prstDash val="solid"/>
          </a:ln>
        </p:spPr>
      </p:sp>
      <p:sp>
        <p:nvSpPr>
          <p:cNvPr id="29" name="Text 27"/>
          <p:cNvSpPr txBox="1"/>
          <p:nvPr/>
        </p:nvSpPr>
        <p:spPr>
          <a:xfrm>
            <a:off x="6858000" y="3931920"/>
            <a:ext cx="2286000" cy="182880"/>
          </a:xfrm>
          <a:prstGeom prst="rect">
            <a:avLst/>
          </a:prstGeom>
          <a:noFill/>
          <a:ln/>
        </p:spPr>
        <p:txBody>
          <a:bodyPr wrap="square" lIns="0" tIns="0" rIns="0" bIns="0" rtlCol="0" anchor="t"/>
          <a:lstStyle/>
          <a:p>
            <a:pPr indent="0" marL="0">
              <a:lnSpc>
                <a:spcPct val="105000"/>
              </a:lnSpc>
              <a:buNone/>
            </a:pPr>
            <a:r>
              <a:rPr lang="en-US" sz="850" dirty="0">
                <a:solidFill>
                  <a:srgbClr val="625D68"/>
                </a:solidFill>
                <a:latin typeface="Arial" pitchFamily="34" charset="0"/>
                <a:ea typeface="Arial" pitchFamily="34" charset="-122"/>
                <a:cs typeface="Arial" pitchFamily="34" charset="-120"/>
              </a:rPr>
              <a:t>vibration signature, sampled continuously</a:t>
            </a:r>
            <a:endParaRPr lang="en-US" sz="850" dirty="0"/>
          </a:p>
        </p:txBody>
      </p:sp>
      <p:sp>
        <p:nvSpPr>
          <p:cNvPr id="30" name="Shape 28"/>
          <p:cNvSpPr/>
          <p:nvPr/>
        </p:nvSpPr>
        <p:spPr>
          <a:xfrm>
            <a:off x="9189720" y="2286000"/>
            <a:ext cx="365760" cy="0"/>
          </a:xfrm>
          <a:prstGeom prst="line">
            <a:avLst/>
          </a:prstGeom>
          <a:noFill/>
          <a:ln w="22225">
            <a:solidFill>
              <a:srgbClr val="5B2A86"/>
            </a:solidFill>
            <a:prstDash val="solid"/>
            <a:tailEnd type="triangle"/>
          </a:ln>
        </p:spPr>
      </p:sp>
      <p:sp>
        <p:nvSpPr>
          <p:cNvPr id="31" name="Shape 29"/>
          <p:cNvSpPr/>
          <p:nvPr/>
        </p:nvSpPr>
        <p:spPr>
          <a:xfrm>
            <a:off x="9646920" y="1965960"/>
            <a:ext cx="1691640" cy="685800"/>
          </a:xfrm>
          <a:prstGeom prst="rect">
            <a:avLst/>
          </a:prstGeom>
          <a:solidFill>
            <a:srgbClr val="FFFFFF"/>
          </a:solidFill>
          <a:ln w="9525">
            <a:solidFill>
              <a:srgbClr val="DED9E5"/>
            </a:solidFill>
            <a:prstDash val="solid"/>
          </a:ln>
        </p:spPr>
      </p:sp>
      <p:sp>
        <p:nvSpPr>
          <p:cNvPr id="32" name="Text 30"/>
          <p:cNvSpPr txBox="1"/>
          <p:nvPr/>
        </p:nvSpPr>
        <p:spPr>
          <a:xfrm>
            <a:off x="9784080" y="2066544"/>
            <a:ext cx="1463040" cy="182880"/>
          </a:xfrm>
          <a:prstGeom prst="rect">
            <a:avLst/>
          </a:prstGeom>
          <a:noFill/>
          <a:ln/>
        </p:spPr>
        <p:txBody>
          <a:bodyPr wrap="square" lIns="0" tIns="0" rIns="0" bIns="0" rtlCol="0" anchor="t"/>
          <a:lstStyle/>
          <a:p>
            <a:pPr indent="0" marL="0">
              <a:lnSpc>
                <a:spcPct val="105000"/>
              </a:lnSpc>
              <a:buNone/>
            </a:pPr>
            <a:r>
              <a:rPr lang="en-US" sz="1050" b="1" dirty="0">
                <a:solidFill>
                  <a:srgbClr val="17131D"/>
                </a:solidFill>
                <a:latin typeface="Arial" pitchFamily="34" charset="0"/>
                <a:ea typeface="Arial" pitchFamily="34" charset="-122"/>
                <a:cs typeface="Arial" pitchFamily="34" charset="-120"/>
              </a:rPr>
              <a:t>Area gateway</a:t>
            </a:r>
            <a:endParaRPr lang="en-US" sz="1050" dirty="0"/>
          </a:p>
        </p:txBody>
      </p:sp>
      <p:sp>
        <p:nvSpPr>
          <p:cNvPr id="33" name="Text 31"/>
          <p:cNvSpPr txBox="1"/>
          <p:nvPr/>
        </p:nvSpPr>
        <p:spPr>
          <a:xfrm>
            <a:off x="9784080" y="2267712"/>
            <a:ext cx="1463040" cy="310896"/>
          </a:xfrm>
          <a:prstGeom prst="rect">
            <a:avLst/>
          </a:prstGeom>
          <a:noFill/>
          <a:ln/>
        </p:spPr>
        <p:txBody>
          <a:bodyPr wrap="square" lIns="0" tIns="0" rIns="0" bIns="0" rtlCol="0" anchor="t"/>
          <a:lstStyle/>
          <a:p>
            <a:pPr indent="0" marL="0">
              <a:lnSpc>
                <a:spcPct val="105000"/>
              </a:lnSpc>
              <a:buNone/>
            </a:pPr>
            <a:r>
              <a:rPr lang="en-US" sz="850" dirty="0">
                <a:solidFill>
                  <a:srgbClr val="625D68"/>
                </a:solidFill>
                <a:latin typeface="Arial" pitchFamily="34" charset="0"/>
                <a:ea typeface="Arial" pitchFamily="34" charset="-122"/>
                <a:cs typeface="Arial" pitchFamily="34" charset="-120"/>
              </a:rPr>
              <a:t>edge feature extraction</a:t>
            </a:r>
            <a:endParaRPr lang="en-US" sz="850" dirty="0"/>
          </a:p>
        </p:txBody>
      </p:sp>
      <p:sp>
        <p:nvSpPr>
          <p:cNvPr id="34" name="Shape 32"/>
          <p:cNvSpPr/>
          <p:nvPr/>
        </p:nvSpPr>
        <p:spPr>
          <a:xfrm>
            <a:off x="10488168" y="2697480"/>
            <a:ext cx="0" cy="457200"/>
          </a:xfrm>
          <a:prstGeom prst="line">
            <a:avLst/>
          </a:prstGeom>
          <a:noFill/>
          <a:ln w="22225">
            <a:solidFill>
              <a:srgbClr val="5B2A86"/>
            </a:solidFill>
            <a:prstDash val="solid"/>
            <a:tailEnd type="triangle"/>
          </a:ln>
        </p:spPr>
      </p:sp>
      <p:sp>
        <p:nvSpPr>
          <p:cNvPr id="35" name="Shape 33"/>
          <p:cNvSpPr/>
          <p:nvPr/>
        </p:nvSpPr>
        <p:spPr>
          <a:xfrm>
            <a:off x="9646920" y="3200400"/>
            <a:ext cx="1691640" cy="1051560"/>
          </a:xfrm>
          <a:prstGeom prst="rect">
            <a:avLst/>
          </a:prstGeom>
          <a:solidFill>
            <a:srgbClr val="FFFFFF"/>
          </a:solidFill>
          <a:ln w="9525">
            <a:solidFill>
              <a:srgbClr val="DED9E5"/>
            </a:solidFill>
            <a:prstDash val="solid"/>
          </a:ln>
        </p:spPr>
      </p:sp>
      <p:sp>
        <p:nvSpPr>
          <p:cNvPr id="36" name="Text 34"/>
          <p:cNvSpPr txBox="1"/>
          <p:nvPr/>
        </p:nvSpPr>
        <p:spPr>
          <a:xfrm>
            <a:off x="9784080" y="3310128"/>
            <a:ext cx="1463040" cy="182880"/>
          </a:xfrm>
          <a:prstGeom prst="rect">
            <a:avLst/>
          </a:prstGeom>
          <a:noFill/>
          <a:ln/>
        </p:spPr>
        <p:txBody>
          <a:bodyPr wrap="square" lIns="0" tIns="0" rIns="0" bIns="0" rtlCol="0" anchor="t"/>
          <a:lstStyle/>
          <a:p>
            <a:pPr indent="0" marL="0">
              <a:lnSpc>
                <a:spcPct val="105000"/>
              </a:lnSpc>
              <a:buNone/>
            </a:pPr>
            <a:r>
              <a:rPr lang="en-US" sz="1050" b="1" dirty="0">
                <a:solidFill>
                  <a:srgbClr val="17131D"/>
                </a:solidFill>
                <a:latin typeface="Arial" pitchFamily="34" charset="0"/>
                <a:ea typeface="Arial" pitchFamily="34" charset="-122"/>
                <a:cs typeface="Arial" pitchFamily="34" charset="-120"/>
              </a:rPr>
              <a:t>Maintenance alert</a:t>
            </a:r>
            <a:endParaRPr lang="en-US" sz="1050" dirty="0"/>
          </a:p>
        </p:txBody>
      </p:sp>
      <p:sp>
        <p:nvSpPr>
          <p:cNvPr id="37" name="Shape 35"/>
          <p:cNvSpPr/>
          <p:nvPr/>
        </p:nvSpPr>
        <p:spPr>
          <a:xfrm>
            <a:off x="9784080" y="3593592"/>
            <a:ext cx="82296" cy="82296"/>
          </a:xfrm>
          <a:prstGeom prst="ellipse">
            <a:avLst/>
          </a:prstGeom>
          <a:solidFill>
            <a:srgbClr val="2F7D69"/>
          </a:solidFill>
          <a:ln/>
        </p:spPr>
      </p:sp>
      <p:sp>
        <p:nvSpPr>
          <p:cNvPr id="38" name="Text 36"/>
          <p:cNvSpPr txBox="1"/>
          <p:nvPr/>
        </p:nvSpPr>
        <p:spPr>
          <a:xfrm>
            <a:off x="9912096" y="3538728"/>
            <a:ext cx="1371600" cy="640080"/>
          </a:xfrm>
          <a:prstGeom prst="rect">
            <a:avLst/>
          </a:prstGeom>
          <a:noFill/>
          <a:ln/>
        </p:spPr>
        <p:txBody>
          <a:bodyPr wrap="square" lIns="0" tIns="0" rIns="0" bIns="0" rtlCol="0" anchor="t"/>
          <a:lstStyle/>
          <a:p>
            <a:pPr indent="0" marL="0">
              <a:lnSpc>
                <a:spcPct val="108000"/>
              </a:lnSpc>
              <a:buNone/>
            </a:pPr>
            <a:r>
              <a:rPr lang="en-US" sz="850" dirty="0">
                <a:solidFill>
                  <a:srgbClr val="625D68"/>
                </a:solidFill>
                <a:latin typeface="Arial" pitchFamily="34" charset="0"/>
                <a:ea typeface="Arial" pitchFamily="34" charset="-122"/>
                <a:cs typeface="Arial" pitchFamily="34" charset="-120"/>
              </a:rPr>
              <a:t>bearing wear trend rising: work order drafted for the reliability engineer</a:t>
            </a:r>
            <a:endParaRPr lang="en-US" sz="850" dirty="0"/>
          </a:p>
        </p:txBody>
      </p:sp>
      <p:sp>
        <p:nvSpPr>
          <p:cNvPr id="39" name="Shape 37"/>
          <p:cNvSpPr/>
          <p:nvPr/>
        </p:nvSpPr>
        <p:spPr>
          <a:xfrm>
            <a:off x="9144000" y="3657600"/>
            <a:ext cx="411480" cy="0"/>
          </a:xfrm>
          <a:prstGeom prst="line">
            <a:avLst/>
          </a:prstGeom>
          <a:noFill/>
          <a:ln w="17780">
            <a:solidFill>
              <a:srgbClr val="7A4AA5"/>
            </a:solidFill>
            <a:prstDash val="solid"/>
            <a:tailEnd type="triangle"/>
          </a:ln>
        </p:spPr>
      </p:sp>
      <p:sp>
        <p:nvSpPr>
          <p:cNvPr id="40" name="Shape 38"/>
          <p:cNvSpPr/>
          <p:nvPr/>
        </p:nvSpPr>
        <p:spPr>
          <a:xfrm>
            <a:off x="502920" y="5806440"/>
            <a:ext cx="11185855" cy="0"/>
          </a:xfrm>
          <a:prstGeom prst="line">
            <a:avLst/>
          </a:prstGeom>
          <a:noFill/>
          <a:ln w="12700">
            <a:solidFill>
              <a:srgbClr val="DED9E5"/>
            </a:solidFill>
            <a:prstDash val="solid"/>
          </a:ln>
        </p:spPr>
      </p:sp>
      <p:sp>
        <p:nvSpPr>
          <p:cNvPr id="41" name="Text 39"/>
          <p:cNvSpPr txBox="1"/>
          <p:nvPr/>
        </p:nvSpPr>
        <p:spPr>
          <a:xfrm>
            <a:off x="502920" y="5989320"/>
            <a:ext cx="4023360" cy="228600"/>
          </a:xfrm>
          <a:prstGeom prst="rect">
            <a:avLst/>
          </a:prstGeom>
          <a:noFill/>
          <a:ln/>
        </p:spPr>
        <p:txBody>
          <a:bodyPr wrap="square" lIns="0" tIns="0" rIns="0" bIns="0" rtlCol="0" anchor="t"/>
          <a:lstStyle/>
          <a:p>
            <a:pPr indent="0" marL="0">
              <a:lnSpc>
                <a:spcPct val="105000"/>
              </a:lnSpc>
              <a:buNone/>
            </a:pPr>
            <a:r>
              <a:rPr lang="en-US" sz="1200" b="1" dirty="0">
                <a:solidFill>
                  <a:srgbClr val="17131D"/>
                </a:solidFill>
                <a:latin typeface="Arial" pitchFamily="34" charset="0"/>
                <a:ea typeface="Arial" pitchFamily="34" charset="-122"/>
                <a:cs typeface="Arial" pitchFamily="34" charset="-120"/>
              </a:rPr>
              <a:t>Raunak Jain</a:t>
            </a:r>
            <a:pPr indent="0" marL="0">
              <a:lnSpc>
                <a:spcPct val="105000"/>
              </a:lnSpc>
              <a:buNone/>
            </a:pPr>
            <a:r>
              <a:rPr lang="en-US" sz="1200" dirty="0">
                <a:solidFill>
                  <a:srgbClr val="625D68"/>
                </a:solidFill>
                <a:latin typeface="Arial" pitchFamily="34" charset="0"/>
                <a:ea typeface="Arial" pitchFamily="34" charset="-122"/>
                <a:cs typeface="Arial" pitchFamily="34" charset="-120"/>
              </a:rPr>
              <a:t>   B.Tech Mechanical Engineering</a:t>
            </a:r>
            <a:endParaRPr lang="en-US" sz="1200" dirty="0"/>
          </a:p>
        </p:txBody>
      </p:sp>
      <p:sp>
        <p:nvSpPr>
          <p:cNvPr id="42" name="Text 40"/>
          <p:cNvSpPr txBox="1"/>
          <p:nvPr/>
        </p:nvSpPr>
        <p:spPr>
          <a:xfrm>
            <a:off x="4572000" y="5989320"/>
            <a:ext cx="4297680" cy="228600"/>
          </a:xfrm>
          <a:prstGeom prst="rect">
            <a:avLst/>
          </a:prstGeom>
          <a:noFill/>
          <a:ln/>
        </p:spPr>
        <p:txBody>
          <a:bodyPr wrap="square" lIns="0" tIns="0" rIns="0" bIns="0" rtlCol="0" anchor="t"/>
          <a:lstStyle/>
          <a:p>
            <a:pPr indent="0" marL="0">
              <a:lnSpc>
                <a:spcPct val="105000"/>
              </a:lnSpc>
              <a:buNone/>
            </a:pPr>
            <a:r>
              <a:rPr lang="en-US" sz="1200" b="1" dirty="0">
                <a:solidFill>
                  <a:srgbClr val="17131D"/>
                </a:solidFill>
                <a:latin typeface="Arial" pitchFamily="34" charset="0"/>
                <a:ea typeface="Arial" pitchFamily="34" charset="-122"/>
                <a:cs typeface="Arial" pitchFamily="34" charset="-120"/>
              </a:rPr>
              <a:t>Anushriya Bhattacharya</a:t>
            </a:r>
            <a:pPr indent="0" marL="0">
              <a:lnSpc>
                <a:spcPct val="105000"/>
              </a:lnSpc>
              <a:buNone/>
            </a:pPr>
            <a:r>
              <a:rPr lang="en-US" sz="1200" dirty="0">
                <a:solidFill>
                  <a:srgbClr val="625D68"/>
                </a:solidFill>
                <a:latin typeface="Arial" pitchFamily="34" charset="0"/>
                <a:ea typeface="Arial" pitchFamily="34" charset="-122"/>
                <a:cs typeface="Arial" pitchFamily="34" charset="-120"/>
              </a:rPr>
              <a:t>   B.Tech Chemical Engineering</a:t>
            </a:r>
            <a:endParaRPr lang="en-US" sz="1200" dirty="0"/>
          </a:p>
        </p:txBody>
      </p:sp>
      <p:sp>
        <p:nvSpPr>
          <p:cNvPr id="43" name="Text 41"/>
          <p:cNvSpPr txBox="1"/>
          <p:nvPr/>
        </p:nvSpPr>
        <p:spPr>
          <a:xfrm>
            <a:off x="9006840" y="5989320"/>
            <a:ext cx="2697480" cy="365760"/>
          </a:xfrm>
          <a:prstGeom prst="rect">
            <a:avLst/>
          </a:prstGeom>
          <a:noFill/>
          <a:ln/>
        </p:spPr>
        <p:txBody>
          <a:bodyPr wrap="square" lIns="0" tIns="0" rIns="0" bIns="0" rtlCol="0" anchor="t"/>
          <a:lstStyle/>
          <a:p>
            <a:pPr algn="r" indent="0" marL="0">
              <a:lnSpc>
                <a:spcPct val="102000"/>
              </a:lnSpc>
              <a:buNone/>
            </a:pPr>
            <a:r>
              <a:rPr lang="en-US" sz="1200" b="1" dirty="0">
                <a:solidFill>
                  <a:srgbClr val="5B2A86"/>
                </a:solidFill>
                <a:latin typeface="Arial" pitchFamily="34" charset="0"/>
                <a:ea typeface="Arial" pitchFamily="34" charset="-122"/>
                <a:cs typeface="Arial" pitchFamily="34" charset="-120"/>
              </a:rPr>
              <a:t>National Institute of Technology Warangal</a:t>
            </a:r>
            <a:endParaRPr lang="en-US" sz="1200" dirty="0"/>
          </a:p>
        </p:txBody>
      </p:sp>
      <p:sp>
        <p:nvSpPr>
          <p:cNvPr id="44" name="Text 42"/>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850" dirty="0">
                <a:solidFill>
                  <a:srgbClr val="625D68"/>
                </a:solidFill>
                <a:latin typeface="Arial" pitchFamily="34" charset="0"/>
                <a:ea typeface="Arial" pitchFamily="34" charset="-122"/>
                <a:cs typeface="Arial" pitchFamily="34" charset="-120"/>
              </a:rPr>
              <a:t>India Chem 2026 · NIT Warangal</a:t>
            </a:r>
            <a:endParaRPr lang="en-US" sz="850" dirty="0"/>
          </a:p>
        </p:txBody>
      </p:sp>
      <p:sp>
        <p:nvSpPr>
          <p:cNvPr id="45" name="Text 43"/>
          <p:cNvSpPr txBox="1"/>
          <p:nvPr/>
        </p:nvSpPr>
        <p:spPr>
          <a:xfrm>
            <a:off x="10957255" y="6583680"/>
            <a:ext cx="731520" cy="182880"/>
          </a:xfrm>
          <a:prstGeom prst="rect">
            <a:avLst/>
          </a:prstGeom>
          <a:noFill/>
          <a:ln/>
        </p:spPr>
        <p:txBody>
          <a:bodyPr wrap="square" lIns="0" tIns="0" rIns="0" bIns="0" rtlCol="0" anchor="ctr"/>
          <a:lstStyle/>
          <a:p>
            <a:pPr algn="r" indent="0" marL="0">
              <a:buNone/>
            </a:pPr>
            <a:r>
              <a:rPr lang="en-US" sz="850" dirty="0">
                <a:solidFill>
                  <a:srgbClr val="625D68"/>
                </a:solidFill>
                <a:latin typeface="Arial" pitchFamily="34" charset="0"/>
                <a:ea typeface="Arial" pitchFamily="34" charset="-122"/>
                <a:cs typeface="Arial" pitchFamily="34" charset="-120"/>
              </a:rPr>
              <a:t>1 / 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5486400" cy="201168"/>
          </a:xfrm>
          <a:prstGeom prst="rect">
            <a:avLst/>
          </a:prstGeom>
          <a:noFill/>
          <a:ln/>
        </p:spPr>
        <p:txBody>
          <a:bodyPr wrap="square" lIns="0" tIns="0" rIns="0" bIns="0" rtlCol="0" anchor="ctr"/>
          <a:lstStyle/>
          <a:p>
            <a:pPr indent="0" marL="0">
              <a:buNone/>
            </a:pPr>
            <a:r>
              <a:rPr lang="en-US" sz="1000" b="1" dirty="0">
                <a:solidFill>
                  <a:srgbClr val="7A4AA5"/>
                </a:solidFill>
                <a:latin typeface="Arial" pitchFamily="34" charset="0"/>
                <a:ea typeface="Arial" pitchFamily="34" charset="-122"/>
                <a:cs typeface="Arial" pitchFamily="34" charset="-120"/>
              </a:rPr>
              <a:t>Existing scenario</a:t>
            </a:r>
            <a:endParaRPr lang="en-US" sz="1000" dirty="0"/>
          </a:p>
        </p:txBody>
      </p:sp>
      <p:sp>
        <p:nvSpPr>
          <p:cNvPr id="3" name="Text 1"/>
          <p:cNvSpPr txBox="1"/>
          <p:nvPr/>
        </p:nvSpPr>
        <p:spPr>
          <a:xfrm>
            <a:off x="502920" y="420624"/>
            <a:ext cx="11185855" cy="868680"/>
          </a:xfrm>
          <a:prstGeom prst="rect">
            <a:avLst/>
          </a:prstGeom>
          <a:noFill/>
          <a:ln/>
        </p:spPr>
        <p:txBody>
          <a:bodyPr wrap="square" lIns="0" tIns="0" rIns="0" bIns="0" rtlCol="0" anchor="t"/>
          <a:lstStyle/>
          <a:p>
            <a:pPr indent="0" marL="0">
              <a:lnSpc>
                <a:spcPct val="103000"/>
              </a:lnSpc>
              <a:buNone/>
            </a:pPr>
            <a:r>
              <a:rPr lang="en-US" sz="2600" b="1" dirty="0">
                <a:solidFill>
                  <a:srgbClr val="17131D"/>
                </a:solidFill>
                <a:latin typeface="Arial" pitchFamily="34" charset="0"/>
                <a:ea typeface="Arial" pitchFamily="34" charset="-122"/>
                <a:cs typeface="Arial" pitchFamily="34" charset="-120"/>
              </a:rPr>
              <a:t>Twenty-five critical pumps can put nearly </a:t>
            </a:r>
            <a:pPr indent="0" marL="0">
              <a:lnSpc>
                <a:spcPct val="103000"/>
              </a:lnSpc>
              <a:buNone/>
            </a:pPr>
            <a:r>
              <a:rPr lang="en-US" sz="2600" b="1" dirty="0">
                <a:solidFill>
                  <a:srgbClr val="5B2A86"/>
                </a:solidFill>
                <a:latin typeface="Arial" pitchFamily="34" charset="0"/>
                <a:ea typeface="Arial" pitchFamily="34" charset="-122"/>
                <a:cs typeface="Arial" pitchFamily="34" charset="-120"/>
              </a:rPr>
              <a:t>₹1.4 crore</a:t>
            </a:r>
            <a:pPr indent="0" marL="0">
              <a:lnSpc>
                <a:spcPct val="103000"/>
              </a:lnSpc>
              <a:buNone/>
            </a:pPr>
            <a:r>
              <a:rPr lang="en-US" sz="2600" b="1" dirty="0">
                <a:solidFill>
                  <a:srgbClr val="17131D"/>
                </a:solidFill>
                <a:latin typeface="Arial" pitchFamily="34" charset="0"/>
                <a:ea typeface="Arial" pitchFamily="34" charset="-122"/>
                <a:cs typeface="Arial" pitchFamily="34" charset="-120"/>
              </a:rPr>
              <a:t> of annual production value at risk</a:t>
            </a:r>
            <a:endParaRPr lang="en-US" sz="2600" dirty="0"/>
          </a:p>
        </p:txBody>
      </p:sp>
      <p:sp>
        <p:nvSpPr>
          <p:cNvPr id="4" name="Text 2"/>
          <p:cNvSpPr txBox="1"/>
          <p:nvPr/>
        </p:nvSpPr>
        <p:spPr>
          <a:xfrm>
            <a:off x="502920" y="1353312"/>
            <a:ext cx="3246120" cy="201168"/>
          </a:xfrm>
          <a:prstGeom prst="rect">
            <a:avLst/>
          </a:prstGeom>
          <a:noFill/>
          <a:ln/>
        </p:spPr>
        <p:txBody>
          <a:bodyPr wrap="square" lIns="0" tIns="0" rIns="0" bIns="0" rtlCol="0" anchor="t"/>
          <a:lstStyle/>
          <a:p>
            <a:pPr indent="0" marL="0">
              <a:lnSpc>
                <a:spcPct val="105000"/>
              </a:lnSpc>
              <a:buNone/>
            </a:pPr>
            <a:r>
              <a:rPr lang="en-US" sz="1200" b="1" dirty="0">
                <a:solidFill>
                  <a:srgbClr val="17131D"/>
                </a:solidFill>
                <a:latin typeface="Arial" pitchFamily="34" charset="0"/>
                <a:ea typeface="Arial" pitchFamily="34" charset="-122"/>
                <a:cs typeface="Arial" pitchFamily="34" charset="-120"/>
              </a:rPr>
              <a:t>Where the risk concentrates</a:t>
            </a:r>
            <a:endParaRPr lang="en-US" sz="1200" dirty="0"/>
          </a:p>
        </p:txBody>
      </p:sp>
      <p:sp>
        <p:nvSpPr>
          <p:cNvPr id="5" name="Shape 3"/>
          <p:cNvSpPr/>
          <p:nvPr/>
        </p:nvSpPr>
        <p:spPr>
          <a:xfrm>
            <a:off x="571500" y="1618488"/>
            <a:ext cx="2697480" cy="512064"/>
          </a:xfrm>
          <a:prstGeom prst="rect">
            <a:avLst/>
          </a:prstGeom>
          <a:solidFill>
            <a:srgbClr val="F8F5FA"/>
          </a:solidFill>
          <a:ln w="9525">
            <a:solidFill>
              <a:srgbClr val="DED9E5"/>
            </a:solidFill>
            <a:prstDash val="solid"/>
          </a:ln>
        </p:spPr>
      </p:sp>
      <p:sp>
        <p:nvSpPr>
          <p:cNvPr id="6" name="Text 4"/>
          <p:cNvSpPr txBox="1"/>
          <p:nvPr/>
        </p:nvSpPr>
        <p:spPr>
          <a:xfrm>
            <a:off x="644652" y="1655064"/>
            <a:ext cx="2551176" cy="438912"/>
          </a:xfrm>
          <a:prstGeom prst="rect">
            <a:avLst/>
          </a:prstGeom>
          <a:noFill/>
          <a:ln/>
        </p:spPr>
        <p:txBody>
          <a:bodyPr wrap="square" lIns="0" tIns="0" rIns="0" bIns="0" rtlCol="0" anchor="ctr"/>
          <a:lstStyle/>
          <a:p>
            <a:pPr algn="ctr" indent="0" marL="0">
              <a:lnSpc>
                <a:spcPct val="100000"/>
              </a:lnSpc>
              <a:buNone/>
            </a:pPr>
            <a:r>
              <a:rPr lang="en-US" sz="1000" dirty="0">
                <a:solidFill>
                  <a:srgbClr val="17131D"/>
                </a:solidFill>
                <a:latin typeface="Arial" pitchFamily="34" charset="0"/>
                <a:ea typeface="Arial" pitchFamily="34" charset="-122"/>
                <a:cs typeface="Arial" pitchFamily="34" charset="-120"/>
              </a:rPr>
              <a:t>≈200 pumps in the plant</a:t>
            </a:r>
            <a:endParaRPr lang="en-US" sz="1000" dirty="0"/>
          </a:p>
        </p:txBody>
      </p:sp>
      <p:sp>
        <p:nvSpPr>
          <p:cNvPr id="7" name="Text 5"/>
          <p:cNvSpPr txBox="1"/>
          <p:nvPr/>
        </p:nvSpPr>
        <p:spPr>
          <a:xfrm>
            <a:off x="3337560" y="1728216"/>
            <a:ext cx="1234440" cy="365760"/>
          </a:xfrm>
          <a:prstGeom prst="rect">
            <a:avLst/>
          </a:prstGeom>
          <a:noFill/>
          <a:ln/>
        </p:spPr>
        <p:txBody>
          <a:bodyPr wrap="square" lIns="0" tIns="0" rIns="0" bIns="0" rtlCol="0" anchor="t"/>
          <a:lstStyle/>
          <a:p>
            <a:pPr indent="0" marL="0">
              <a:lnSpc>
                <a:spcPct val="100000"/>
              </a:lnSpc>
              <a:buNone/>
            </a:pPr>
            <a:r>
              <a:rPr lang="en-US" sz="750" dirty="0">
                <a:solidFill>
                  <a:srgbClr val="625D68"/>
                </a:solidFill>
                <a:latin typeface="Arial" pitchFamily="34" charset="0"/>
                <a:ea typeface="Arial" pitchFamily="34" charset="-122"/>
                <a:cs typeface="Arial" pitchFamily="34" charset="-120"/>
              </a:rPr>
              <a:t>Plant assumption</a:t>
            </a:r>
            <a:endParaRPr lang="en-US" sz="750" dirty="0"/>
          </a:p>
        </p:txBody>
      </p:sp>
      <p:sp>
        <p:nvSpPr>
          <p:cNvPr id="8" name="Shape 6"/>
          <p:cNvSpPr/>
          <p:nvPr/>
        </p:nvSpPr>
        <p:spPr>
          <a:xfrm>
            <a:off x="1920240" y="2130552"/>
            <a:ext cx="0" cy="128016"/>
          </a:xfrm>
          <a:prstGeom prst="line">
            <a:avLst/>
          </a:prstGeom>
          <a:noFill/>
          <a:ln w="15240">
            <a:solidFill>
              <a:srgbClr val="7A4AA5"/>
            </a:solidFill>
            <a:prstDash val="solid"/>
          </a:ln>
        </p:spPr>
      </p:sp>
      <p:sp>
        <p:nvSpPr>
          <p:cNvPr id="9" name="Shape 7"/>
          <p:cNvSpPr/>
          <p:nvPr/>
        </p:nvSpPr>
        <p:spPr>
          <a:xfrm>
            <a:off x="845820" y="2258568"/>
            <a:ext cx="2148840" cy="512064"/>
          </a:xfrm>
          <a:prstGeom prst="rect">
            <a:avLst/>
          </a:prstGeom>
          <a:solidFill>
            <a:srgbClr val="EFE8F6"/>
          </a:solidFill>
          <a:ln w="9525">
            <a:solidFill>
              <a:srgbClr val="DED9E5"/>
            </a:solidFill>
            <a:prstDash val="solid"/>
          </a:ln>
        </p:spPr>
      </p:sp>
      <p:sp>
        <p:nvSpPr>
          <p:cNvPr id="10" name="Text 8"/>
          <p:cNvSpPr txBox="1"/>
          <p:nvPr/>
        </p:nvSpPr>
        <p:spPr>
          <a:xfrm>
            <a:off x="918972" y="2295144"/>
            <a:ext cx="2002536" cy="438912"/>
          </a:xfrm>
          <a:prstGeom prst="rect">
            <a:avLst/>
          </a:prstGeom>
          <a:noFill/>
          <a:ln/>
        </p:spPr>
        <p:txBody>
          <a:bodyPr wrap="square" lIns="0" tIns="0" rIns="0" bIns="0" rtlCol="0" anchor="ctr"/>
          <a:lstStyle/>
          <a:p>
            <a:pPr algn="ctr" indent="0" marL="0">
              <a:lnSpc>
                <a:spcPct val="100000"/>
              </a:lnSpc>
              <a:buNone/>
            </a:pPr>
            <a:r>
              <a:rPr lang="en-US" sz="1000" dirty="0">
                <a:solidFill>
                  <a:srgbClr val="17131D"/>
                </a:solidFill>
                <a:latin typeface="Arial" pitchFamily="34" charset="0"/>
                <a:ea typeface="Arial" pitchFamily="34" charset="-122"/>
                <a:cs typeface="Arial" pitchFamily="34" charset="-120"/>
              </a:rPr>
              <a:t>25 critical bad-actor pumps</a:t>
            </a:r>
            <a:endParaRPr lang="en-US" sz="1000" dirty="0"/>
          </a:p>
        </p:txBody>
      </p:sp>
      <p:sp>
        <p:nvSpPr>
          <p:cNvPr id="11" name="Text 9"/>
          <p:cNvSpPr txBox="1"/>
          <p:nvPr/>
        </p:nvSpPr>
        <p:spPr>
          <a:xfrm>
            <a:off x="3337560" y="2368296"/>
            <a:ext cx="1234440" cy="365760"/>
          </a:xfrm>
          <a:prstGeom prst="rect">
            <a:avLst/>
          </a:prstGeom>
          <a:noFill/>
          <a:ln/>
        </p:spPr>
        <p:txBody>
          <a:bodyPr wrap="square" lIns="0" tIns="0" rIns="0" bIns="0" rtlCol="0" anchor="t"/>
          <a:lstStyle/>
          <a:p>
            <a:pPr indent="0" marL="0">
              <a:lnSpc>
                <a:spcPct val="100000"/>
              </a:lnSpc>
              <a:buNone/>
            </a:pPr>
            <a:r>
              <a:rPr lang="en-US" sz="750" dirty="0">
                <a:solidFill>
                  <a:srgbClr val="625D68"/>
                </a:solidFill>
                <a:latin typeface="Arial" pitchFamily="34" charset="0"/>
                <a:ea typeface="Arial" pitchFamily="34" charset="-122"/>
                <a:cs typeface="Arial" pitchFamily="34" charset="-120"/>
              </a:rPr>
              <a:t>Pilot scope</a:t>
            </a:r>
            <a:endParaRPr lang="en-US" sz="750" dirty="0"/>
          </a:p>
        </p:txBody>
      </p:sp>
      <p:sp>
        <p:nvSpPr>
          <p:cNvPr id="12" name="Shape 10"/>
          <p:cNvSpPr/>
          <p:nvPr/>
        </p:nvSpPr>
        <p:spPr>
          <a:xfrm>
            <a:off x="1920240" y="2770632"/>
            <a:ext cx="0" cy="128016"/>
          </a:xfrm>
          <a:prstGeom prst="line">
            <a:avLst/>
          </a:prstGeom>
          <a:noFill/>
          <a:ln w="15240">
            <a:solidFill>
              <a:srgbClr val="7A4AA5"/>
            </a:solidFill>
            <a:prstDash val="solid"/>
          </a:ln>
        </p:spPr>
      </p:sp>
      <p:sp>
        <p:nvSpPr>
          <p:cNvPr id="13" name="Shape 11"/>
          <p:cNvSpPr/>
          <p:nvPr/>
        </p:nvSpPr>
        <p:spPr>
          <a:xfrm>
            <a:off x="1074420" y="2898648"/>
            <a:ext cx="1691640" cy="512064"/>
          </a:xfrm>
          <a:prstGeom prst="rect">
            <a:avLst/>
          </a:prstGeom>
          <a:solidFill>
            <a:srgbClr val="7A4AA5"/>
          </a:solidFill>
          <a:ln/>
        </p:spPr>
      </p:sp>
      <p:sp>
        <p:nvSpPr>
          <p:cNvPr id="14" name="Text 12"/>
          <p:cNvSpPr txBox="1"/>
          <p:nvPr/>
        </p:nvSpPr>
        <p:spPr>
          <a:xfrm>
            <a:off x="1147572" y="2935224"/>
            <a:ext cx="1545336" cy="43891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Arial" pitchFamily="34" charset="0"/>
                <a:ea typeface="Arial" pitchFamily="34" charset="-122"/>
                <a:cs typeface="Arial" pitchFamily="34" charset="-120"/>
              </a:rPr>
              <a:t>60 outage hours per year</a:t>
            </a:r>
            <a:endParaRPr lang="en-US" sz="1000" dirty="0"/>
          </a:p>
        </p:txBody>
      </p:sp>
      <p:sp>
        <p:nvSpPr>
          <p:cNvPr id="15" name="Text 13"/>
          <p:cNvSpPr txBox="1"/>
          <p:nvPr/>
        </p:nvSpPr>
        <p:spPr>
          <a:xfrm>
            <a:off x="3337560" y="3008376"/>
            <a:ext cx="1234440" cy="365760"/>
          </a:xfrm>
          <a:prstGeom prst="rect">
            <a:avLst/>
          </a:prstGeom>
          <a:noFill/>
          <a:ln/>
        </p:spPr>
        <p:txBody>
          <a:bodyPr wrap="square" lIns="0" tIns="0" rIns="0" bIns="0" rtlCol="0" anchor="t"/>
          <a:lstStyle/>
          <a:p>
            <a:pPr indent="0" marL="0">
              <a:lnSpc>
                <a:spcPct val="100000"/>
              </a:lnSpc>
              <a:buNone/>
            </a:pPr>
            <a:r>
              <a:rPr lang="en-US" sz="750" dirty="0">
                <a:solidFill>
                  <a:srgbClr val="C8792A"/>
                </a:solidFill>
                <a:latin typeface="Arial" pitchFamily="34" charset="0"/>
                <a:ea typeface="Arial" pitchFamily="34" charset="-122"/>
                <a:cs typeface="Arial" pitchFamily="34" charset="-120"/>
              </a:rPr>
              <a:t>Team estimate</a:t>
            </a:r>
            <a:endParaRPr lang="en-US" sz="750" dirty="0"/>
          </a:p>
        </p:txBody>
      </p:sp>
      <p:sp>
        <p:nvSpPr>
          <p:cNvPr id="16" name="Shape 14"/>
          <p:cNvSpPr/>
          <p:nvPr/>
        </p:nvSpPr>
        <p:spPr>
          <a:xfrm>
            <a:off x="1920240" y="3410712"/>
            <a:ext cx="0" cy="128016"/>
          </a:xfrm>
          <a:prstGeom prst="line">
            <a:avLst/>
          </a:prstGeom>
          <a:noFill/>
          <a:ln w="15240">
            <a:solidFill>
              <a:srgbClr val="7A4AA5"/>
            </a:solidFill>
            <a:prstDash val="solid"/>
          </a:ln>
        </p:spPr>
      </p:sp>
      <p:sp>
        <p:nvSpPr>
          <p:cNvPr id="17" name="Shape 15"/>
          <p:cNvSpPr/>
          <p:nvPr/>
        </p:nvSpPr>
        <p:spPr>
          <a:xfrm>
            <a:off x="1234440" y="3538728"/>
            <a:ext cx="1371600" cy="512064"/>
          </a:xfrm>
          <a:prstGeom prst="rect">
            <a:avLst/>
          </a:prstGeom>
          <a:solidFill>
            <a:srgbClr val="5B2A86"/>
          </a:solidFill>
          <a:ln/>
        </p:spPr>
      </p:sp>
      <p:sp>
        <p:nvSpPr>
          <p:cNvPr id="18" name="Text 16"/>
          <p:cNvSpPr txBox="1"/>
          <p:nvPr/>
        </p:nvSpPr>
        <p:spPr>
          <a:xfrm>
            <a:off x="1307592" y="3575304"/>
            <a:ext cx="1225296" cy="438912"/>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Arial" pitchFamily="34" charset="0"/>
                <a:ea typeface="Arial" pitchFamily="34" charset="-122"/>
                <a:cs typeface="Arial" pitchFamily="34" charset="-120"/>
              </a:rPr>
              <a:t>≈₹1.4 crore annual exposure</a:t>
            </a:r>
            <a:endParaRPr lang="en-US" sz="1000" dirty="0"/>
          </a:p>
        </p:txBody>
      </p:sp>
      <p:sp>
        <p:nvSpPr>
          <p:cNvPr id="19" name="Text 17"/>
          <p:cNvSpPr txBox="1"/>
          <p:nvPr/>
        </p:nvSpPr>
        <p:spPr>
          <a:xfrm>
            <a:off x="3337560" y="3648456"/>
            <a:ext cx="1234440" cy="365760"/>
          </a:xfrm>
          <a:prstGeom prst="rect">
            <a:avLst/>
          </a:prstGeom>
          <a:noFill/>
          <a:ln/>
        </p:spPr>
        <p:txBody>
          <a:bodyPr wrap="square" lIns="0" tIns="0" rIns="0" bIns="0" rtlCol="0" anchor="t"/>
          <a:lstStyle/>
          <a:p>
            <a:pPr indent="0" marL="0">
              <a:lnSpc>
                <a:spcPct val="100000"/>
              </a:lnSpc>
              <a:buNone/>
            </a:pPr>
            <a:r>
              <a:rPr lang="en-US" sz="750" dirty="0">
                <a:solidFill>
                  <a:srgbClr val="625D68"/>
                </a:solidFill>
                <a:latin typeface="Arial" pitchFamily="34" charset="0"/>
                <a:ea typeface="Arial" pitchFamily="34" charset="-122"/>
                <a:cs typeface="Arial" pitchFamily="34" charset="-120"/>
              </a:rPr>
              <a:t>Team calculation</a:t>
            </a:r>
            <a:endParaRPr lang="en-US" sz="750" dirty="0"/>
          </a:p>
        </p:txBody>
      </p:sp>
      <p:sp>
        <p:nvSpPr>
          <p:cNvPr id="20" name="Shape 18"/>
          <p:cNvSpPr/>
          <p:nvPr/>
        </p:nvSpPr>
        <p:spPr>
          <a:xfrm>
            <a:off x="502920" y="4233672"/>
            <a:ext cx="3749040" cy="768096"/>
          </a:xfrm>
          <a:prstGeom prst="rect">
            <a:avLst/>
          </a:prstGeom>
          <a:solidFill>
            <a:srgbClr val="F8F5FA"/>
          </a:solidFill>
          <a:ln/>
        </p:spPr>
      </p:sp>
      <p:sp>
        <p:nvSpPr>
          <p:cNvPr id="21" name="Text 19"/>
          <p:cNvSpPr txBox="1"/>
          <p:nvPr/>
        </p:nvSpPr>
        <p:spPr>
          <a:xfrm>
            <a:off x="630936" y="4297680"/>
            <a:ext cx="3520440" cy="658368"/>
          </a:xfrm>
          <a:prstGeom prst="rect">
            <a:avLst/>
          </a:prstGeom>
          <a:noFill/>
          <a:ln/>
        </p:spPr>
        <p:txBody>
          <a:bodyPr wrap="square" lIns="0" tIns="0" rIns="0" bIns="0" rtlCol="0" anchor="t"/>
          <a:lstStyle/>
          <a:p>
            <a:pPr indent="0" marL="0">
              <a:lnSpc>
                <a:spcPct val="108000"/>
              </a:lnSpc>
              <a:buNone/>
            </a:pPr>
            <a:r>
              <a:rPr lang="en-US" sz="950" b="1" dirty="0">
                <a:solidFill>
                  <a:srgbClr val="5B2A86"/>
                </a:solidFill>
                <a:latin typeface="Arial" pitchFamily="34" charset="0"/>
                <a:ea typeface="Arial" pitchFamily="34" charset="-122"/>
                <a:cs typeface="Arial" pitchFamily="34" charset="-120"/>
              </a:rPr>
              <a:t>How ₹1.4 crore is worked out: </a:t>
            </a:r>
            <a:pPr indent="0" marL="0">
              <a:lnSpc>
                <a:spcPct val="108000"/>
              </a:lnSpc>
              <a:buNone/>
            </a:pPr>
            <a:r>
              <a:rPr lang="en-US" sz="950" dirty="0">
                <a:solidFill>
                  <a:srgbClr val="17131D"/>
                </a:solidFill>
                <a:latin typeface="Arial" pitchFamily="34" charset="0"/>
                <a:ea typeface="Arial" pitchFamily="34" charset="-122"/>
                <a:cs typeface="Arial" pitchFamily="34" charset="-120"/>
              </a:rPr>
              <a:t>60 h × ₹1.9 lakh per hour = ₹1.14 Cr of lost margin, plus 12 repairs × ₹2.5 lakh = ₹0.30 Cr. Team calculation from the labelled estimates [11].</a:t>
            </a:r>
            <a:endParaRPr lang="en-US" sz="950" dirty="0"/>
          </a:p>
        </p:txBody>
      </p:sp>
      <p:sp>
        <p:nvSpPr>
          <p:cNvPr id="22" name="Text 20"/>
          <p:cNvSpPr txBox="1"/>
          <p:nvPr/>
        </p:nvSpPr>
        <p:spPr>
          <a:xfrm>
            <a:off x="4434840" y="1353312"/>
            <a:ext cx="3063240" cy="201168"/>
          </a:xfrm>
          <a:prstGeom prst="rect">
            <a:avLst/>
          </a:prstGeom>
          <a:noFill/>
          <a:ln/>
        </p:spPr>
        <p:txBody>
          <a:bodyPr wrap="square" lIns="0" tIns="0" rIns="0" bIns="0" rtlCol="0" anchor="t"/>
          <a:lstStyle/>
          <a:p>
            <a:pPr indent="0" marL="0">
              <a:lnSpc>
                <a:spcPct val="105000"/>
              </a:lnSpc>
              <a:buNone/>
            </a:pPr>
            <a:r>
              <a:rPr lang="en-US" sz="1200" b="1" dirty="0">
                <a:solidFill>
                  <a:srgbClr val="17131D"/>
                </a:solidFill>
                <a:latin typeface="Arial" pitchFamily="34" charset="0"/>
                <a:ea typeface="Arial" pitchFamily="34" charset="-122"/>
                <a:cs typeface="Arial" pitchFamily="34" charset="-120"/>
              </a:rPr>
              <a:t>How a routine fault becomes an outage</a:t>
            </a:r>
            <a:endParaRPr lang="en-US" sz="1200" dirty="0"/>
          </a:p>
        </p:txBody>
      </p:sp>
      <p:sp>
        <p:nvSpPr>
          <p:cNvPr id="23" name="Shape 21"/>
          <p:cNvSpPr/>
          <p:nvPr/>
        </p:nvSpPr>
        <p:spPr>
          <a:xfrm>
            <a:off x="4434840" y="1618488"/>
            <a:ext cx="3063240" cy="457200"/>
          </a:xfrm>
          <a:prstGeom prst="rect">
            <a:avLst/>
          </a:prstGeom>
          <a:solidFill>
            <a:srgbClr val="FFFFFF"/>
          </a:solidFill>
          <a:ln w="9525">
            <a:solidFill>
              <a:srgbClr val="DED9E5"/>
            </a:solidFill>
            <a:prstDash val="solid"/>
          </a:ln>
        </p:spPr>
      </p:sp>
      <p:sp>
        <p:nvSpPr>
          <p:cNvPr id="24" name="Text 22"/>
          <p:cNvSpPr txBox="1"/>
          <p:nvPr/>
        </p:nvSpPr>
        <p:spPr>
          <a:xfrm>
            <a:off x="4544568" y="1655064"/>
            <a:ext cx="2843784" cy="384048"/>
          </a:xfrm>
          <a:prstGeom prst="rect">
            <a:avLst/>
          </a:prstGeom>
          <a:noFill/>
          <a:ln/>
        </p:spPr>
        <p:txBody>
          <a:bodyPr wrap="square" lIns="0" tIns="0" rIns="0" bIns="0" rtlCol="0" anchor="ctr"/>
          <a:lstStyle/>
          <a:p>
            <a:pPr indent="0" marL="0">
              <a:lnSpc>
                <a:spcPct val="100000"/>
              </a:lnSpc>
              <a:buNone/>
            </a:pPr>
            <a:r>
              <a:rPr lang="en-US" sz="1000" dirty="0">
                <a:solidFill>
                  <a:srgbClr val="17131D"/>
                </a:solidFill>
                <a:latin typeface="Arial" pitchFamily="34" charset="0"/>
                <a:ea typeface="Arial" pitchFamily="34" charset="-122"/>
                <a:cs typeface="Arial" pitchFamily="34" charset="-120"/>
              </a:rPr>
              <a:t>Bearing or seal degradation begins [8]</a:t>
            </a:r>
            <a:endParaRPr lang="en-US" sz="1000" dirty="0"/>
          </a:p>
        </p:txBody>
      </p:sp>
      <p:sp>
        <p:nvSpPr>
          <p:cNvPr id="25" name="Shape 23"/>
          <p:cNvSpPr/>
          <p:nvPr/>
        </p:nvSpPr>
        <p:spPr>
          <a:xfrm>
            <a:off x="5966460" y="2075688"/>
            <a:ext cx="0" cy="128016"/>
          </a:xfrm>
          <a:prstGeom prst="line">
            <a:avLst/>
          </a:prstGeom>
          <a:noFill/>
          <a:ln w="15240">
            <a:solidFill>
              <a:srgbClr val="7A4AA5"/>
            </a:solidFill>
            <a:prstDash val="solid"/>
            <a:tailEnd type="triangle"/>
          </a:ln>
        </p:spPr>
      </p:sp>
      <p:sp>
        <p:nvSpPr>
          <p:cNvPr id="26" name="Shape 24"/>
          <p:cNvSpPr/>
          <p:nvPr/>
        </p:nvSpPr>
        <p:spPr>
          <a:xfrm>
            <a:off x="4434840" y="2203704"/>
            <a:ext cx="3063240" cy="457200"/>
          </a:xfrm>
          <a:prstGeom prst="rect">
            <a:avLst/>
          </a:prstGeom>
          <a:solidFill>
            <a:srgbClr val="FFFFFF"/>
          </a:solidFill>
          <a:ln w="9525">
            <a:solidFill>
              <a:srgbClr val="DED9E5"/>
            </a:solidFill>
            <a:prstDash val="solid"/>
          </a:ln>
        </p:spPr>
      </p:sp>
      <p:sp>
        <p:nvSpPr>
          <p:cNvPr id="27" name="Text 25"/>
          <p:cNvSpPr txBox="1"/>
          <p:nvPr/>
        </p:nvSpPr>
        <p:spPr>
          <a:xfrm>
            <a:off x="4544568" y="2240280"/>
            <a:ext cx="2843784" cy="384048"/>
          </a:xfrm>
          <a:prstGeom prst="rect">
            <a:avLst/>
          </a:prstGeom>
          <a:noFill/>
          <a:ln/>
        </p:spPr>
        <p:txBody>
          <a:bodyPr wrap="square" lIns="0" tIns="0" rIns="0" bIns="0" rtlCol="0" anchor="ctr"/>
          <a:lstStyle/>
          <a:p>
            <a:pPr indent="0" marL="0">
              <a:lnSpc>
                <a:spcPct val="100000"/>
              </a:lnSpc>
              <a:buNone/>
            </a:pPr>
            <a:r>
              <a:rPr lang="en-US" sz="1000" dirty="0">
                <a:solidFill>
                  <a:srgbClr val="17131D"/>
                </a:solidFill>
                <a:latin typeface="Arial" pitchFamily="34" charset="0"/>
                <a:ea typeface="Arial" pitchFamily="34" charset="-122"/>
                <a:cs typeface="Arial" pitchFamily="34" charset="-120"/>
              </a:rPr>
              <a:t>Monthly inspection misses the developing fault</a:t>
            </a:r>
            <a:endParaRPr lang="en-US" sz="1000" dirty="0"/>
          </a:p>
        </p:txBody>
      </p:sp>
      <p:sp>
        <p:nvSpPr>
          <p:cNvPr id="28" name="Shape 26"/>
          <p:cNvSpPr/>
          <p:nvPr/>
        </p:nvSpPr>
        <p:spPr>
          <a:xfrm>
            <a:off x="5966460" y="2660904"/>
            <a:ext cx="0" cy="128016"/>
          </a:xfrm>
          <a:prstGeom prst="line">
            <a:avLst/>
          </a:prstGeom>
          <a:noFill/>
          <a:ln w="15240">
            <a:solidFill>
              <a:srgbClr val="7A4AA5"/>
            </a:solidFill>
            <a:prstDash val="solid"/>
            <a:tailEnd type="triangle"/>
          </a:ln>
        </p:spPr>
      </p:sp>
      <p:sp>
        <p:nvSpPr>
          <p:cNvPr id="29" name="Shape 27"/>
          <p:cNvSpPr/>
          <p:nvPr/>
        </p:nvSpPr>
        <p:spPr>
          <a:xfrm>
            <a:off x="4434840" y="2788920"/>
            <a:ext cx="3063240" cy="457200"/>
          </a:xfrm>
          <a:prstGeom prst="rect">
            <a:avLst/>
          </a:prstGeom>
          <a:solidFill>
            <a:srgbClr val="FFFFFF"/>
          </a:solidFill>
          <a:ln w="9525">
            <a:solidFill>
              <a:srgbClr val="DED9E5"/>
            </a:solidFill>
            <a:prstDash val="solid"/>
          </a:ln>
        </p:spPr>
      </p:sp>
      <p:sp>
        <p:nvSpPr>
          <p:cNvPr id="30" name="Text 28"/>
          <p:cNvSpPr txBox="1"/>
          <p:nvPr/>
        </p:nvSpPr>
        <p:spPr>
          <a:xfrm>
            <a:off x="4544568" y="2825496"/>
            <a:ext cx="2843784" cy="384048"/>
          </a:xfrm>
          <a:prstGeom prst="rect">
            <a:avLst/>
          </a:prstGeom>
          <a:noFill/>
          <a:ln/>
        </p:spPr>
        <p:txBody>
          <a:bodyPr wrap="square" lIns="0" tIns="0" rIns="0" bIns="0" rtlCol="0" anchor="ctr"/>
          <a:lstStyle/>
          <a:p>
            <a:pPr indent="0" marL="0">
              <a:lnSpc>
                <a:spcPct val="100000"/>
              </a:lnSpc>
              <a:buNone/>
            </a:pPr>
            <a:r>
              <a:rPr lang="en-US" sz="1000" dirty="0">
                <a:solidFill>
                  <a:srgbClr val="17131D"/>
                </a:solidFill>
                <a:latin typeface="Arial" pitchFamily="34" charset="0"/>
                <a:ea typeface="Arial" pitchFamily="34" charset="-122"/>
                <a:cs typeface="Arial" pitchFamily="34" charset="-120"/>
              </a:rPr>
              <a:t>Pump trips without warning</a:t>
            </a:r>
            <a:endParaRPr lang="en-US" sz="1000" dirty="0"/>
          </a:p>
        </p:txBody>
      </p:sp>
      <p:sp>
        <p:nvSpPr>
          <p:cNvPr id="31" name="Shape 29"/>
          <p:cNvSpPr/>
          <p:nvPr/>
        </p:nvSpPr>
        <p:spPr>
          <a:xfrm>
            <a:off x="5966460" y="3246120"/>
            <a:ext cx="0" cy="128016"/>
          </a:xfrm>
          <a:prstGeom prst="line">
            <a:avLst/>
          </a:prstGeom>
          <a:noFill/>
          <a:ln w="15240">
            <a:solidFill>
              <a:srgbClr val="7A4AA5"/>
            </a:solidFill>
            <a:prstDash val="solid"/>
            <a:tailEnd type="triangle"/>
          </a:ln>
        </p:spPr>
      </p:sp>
      <p:sp>
        <p:nvSpPr>
          <p:cNvPr id="32" name="Shape 30"/>
          <p:cNvSpPr/>
          <p:nvPr/>
        </p:nvSpPr>
        <p:spPr>
          <a:xfrm>
            <a:off x="4434840" y="3374136"/>
            <a:ext cx="3063240" cy="457200"/>
          </a:xfrm>
          <a:prstGeom prst="rect">
            <a:avLst/>
          </a:prstGeom>
          <a:solidFill>
            <a:srgbClr val="FFFFFF"/>
          </a:solidFill>
          <a:ln w="9525">
            <a:solidFill>
              <a:srgbClr val="DED9E5"/>
            </a:solidFill>
            <a:prstDash val="solid"/>
          </a:ln>
        </p:spPr>
      </p:sp>
      <p:sp>
        <p:nvSpPr>
          <p:cNvPr id="33" name="Text 31"/>
          <p:cNvSpPr txBox="1"/>
          <p:nvPr/>
        </p:nvSpPr>
        <p:spPr>
          <a:xfrm>
            <a:off x="4544568" y="3410712"/>
            <a:ext cx="2843784" cy="384048"/>
          </a:xfrm>
          <a:prstGeom prst="rect">
            <a:avLst/>
          </a:prstGeom>
          <a:noFill/>
          <a:ln/>
        </p:spPr>
        <p:txBody>
          <a:bodyPr wrap="square" lIns="0" tIns="0" rIns="0" bIns="0" rtlCol="0" anchor="ctr"/>
          <a:lstStyle/>
          <a:p>
            <a:pPr indent="0" marL="0">
              <a:lnSpc>
                <a:spcPct val="100000"/>
              </a:lnSpc>
              <a:buNone/>
            </a:pPr>
            <a:r>
              <a:rPr lang="en-US" sz="1000" dirty="0">
                <a:solidFill>
                  <a:srgbClr val="17131D"/>
                </a:solidFill>
                <a:latin typeface="Arial" pitchFamily="34" charset="0"/>
                <a:ea typeface="Arial" pitchFamily="34" charset="-122"/>
                <a:cs typeface="Arial" pitchFamily="34" charset="-120"/>
              </a:rPr>
              <a:t>Production interruption</a:t>
            </a:r>
            <a:endParaRPr lang="en-US" sz="1000" dirty="0"/>
          </a:p>
        </p:txBody>
      </p:sp>
      <p:sp>
        <p:nvSpPr>
          <p:cNvPr id="34" name="Shape 32"/>
          <p:cNvSpPr/>
          <p:nvPr/>
        </p:nvSpPr>
        <p:spPr>
          <a:xfrm>
            <a:off x="5966460" y="3831336"/>
            <a:ext cx="0" cy="128016"/>
          </a:xfrm>
          <a:prstGeom prst="line">
            <a:avLst/>
          </a:prstGeom>
          <a:noFill/>
          <a:ln w="15240">
            <a:solidFill>
              <a:srgbClr val="7A4AA5"/>
            </a:solidFill>
            <a:prstDash val="solid"/>
            <a:tailEnd type="triangle"/>
          </a:ln>
        </p:spPr>
      </p:sp>
      <p:sp>
        <p:nvSpPr>
          <p:cNvPr id="35" name="Shape 33"/>
          <p:cNvSpPr/>
          <p:nvPr/>
        </p:nvSpPr>
        <p:spPr>
          <a:xfrm>
            <a:off x="4434840" y="3959352"/>
            <a:ext cx="3063240" cy="457200"/>
          </a:xfrm>
          <a:prstGeom prst="rect">
            <a:avLst/>
          </a:prstGeom>
          <a:solidFill>
            <a:srgbClr val="EFE8F6"/>
          </a:solidFill>
          <a:ln/>
        </p:spPr>
      </p:sp>
      <p:sp>
        <p:nvSpPr>
          <p:cNvPr id="36" name="Text 34"/>
          <p:cNvSpPr txBox="1"/>
          <p:nvPr/>
        </p:nvSpPr>
        <p:spPr>
          <a:xfrm>
            <a:off x="4544568" y="3995928"/>
            <a:ext cx="2843784" cy="384048"/>
          </a:xfrm>
          <a:prstGeom prst="rect">
            <a:avLst/>
          </a:prstGeom>
          <a:noFill/>
          <a:ln/>
        </p:spPr>
        <p:txBody>
          <a:bodyPr wrap="square" lIns="0" tIns="0" rIns="0" bIns="0" rtlCol="0" anchor="ctr"/>
          <a:lstStyle/>
          <a:p>
            <a:pPr indent="0" marL="0">
              <a:lnSpc>
                <a:spcPct val="100000"/>
              </a:lnSpc>
              <a:buNone/>
            </a:pPr>
            <a:r>
              <a:rPr lang="en-US" sz="1000" dirty="0">
                <a:solidFill>
                  <a:srgbClr val="17131D"/>
                </a:solidFill>
                <a:latin typeface="Arial" pitchFamily="34" charset="0"/>
                <a:ea typeface="Arial" pitchFamily="34" charset="-122"/>
                <a:cs typeface="Arial" pitchFamily="34" charset="-120"/>
              </a:rPr>
              <a:t>Emergency repair and restart</a:t>
            </a:r>
            <a:endParaRPr lang="en-US" sz="1000" dirty="0"/>
          </a:p>
        </p:txBody>
      </p:sp>
      <p:sp>
        <p:nvSpPr>
          <p:cNvPr id="37" name="Text 35"/>
          <p:cNvSpPr txBox="1"/>
          <p:nvPr/>
        </p:nvSpPr>
        <p:spPr>
          <a:xfrm>
            <a:off x="8001000" y="1481328"/>
            <a:ext cx="1828800" cy="566928"/>
          </a:xfrm>
          <a:prstGeom prst="rect">
            <a:avLst/>
          </a:prstGeom>
          <a:noFill/>
          <a:ln/>
        </p:spPr>
        <p:txBody>
          <a:bodyPr wrap="square" lIns="0" tIns="0" rIns="0" bIns="0" rtlCol="0" anchor="t"/>
          <a:lstStyle/>
          <a:p>
            <a:pPr indent="0" marL="0">
              <a:lnSpc>
                <a:spcPct val="105000"/>
              </a:lnSpc>
              <a:buNone/>
            </a:pPr>
            <a:r>
              <a:rPr lang="en-US" sz="4000" b="1" dirty="0">
                <a:solidFill>
                  <a:srgbClr val="5B2A86"/>
                </a:solidFill>
                <a:latin typeface="Arial" pitchFamily="34" charset="0"/>
                <a:ea typeface="Arial" pitchFamily="34" charset="-122"/>
                <a:cs typeface="Arial" pitchFamily="34" charset="-120"/>
              </a:rPr>
              <a:t>89%</a:t>
            </a:r>
            <a:endParaRPr lang="en-US" sz="4000" dirty="0"/>
          </a:p>
        </p:txBody>
      </p:sp>
      <p:sp>
        <p:nvSpPr>
          <p:cNvPr id="38" name="Text 36"/>
          <p:cNvSpPr txBox="1"/>
          <p:nvPr/>
        </p:nvSpPr>
        <p:spPr>
          <a:xfrm>
            <a:off x="9372600" y="1572768"/>
            <a:ext cx="2286000" cy="685800"/>
          </a:xfrm>
          <a:prstGeom prst="rect">
            <a:avLst/>
          </a:prstGeom>
          <a:noFill/>
          <a:ln/>
        </p:spPr>
        <p:txBody>
          <a:bodyPr wrap="square" lIns="0" tIns="0" rIns="0" bIns="0" rtlCol="0" anchor="t"/>
          <a:lstStyle/>
          <a:p>
            <a:pPr indent="0" marL="0">
              <a:lnSpc>
                <a:spcPct val="108000"/>
              </a:lnSpc>
              <a:buNone/>
            </a:pPr>
            <a:r>
              <a:rPr lang="en-US" sz="1000" dirty="0">
                <a:solidFill>
                  <a:srgbClr val="625D68"/>
                </a:solidFill>
                <a:latin typeface="Arial" pitchFamily="34" charset="0"/>
                <a:ea typeface="Arial" pitchFamily="34" charset="-122"/>
                <a:cs typeface="Arial" pitchFamily="34" charset="-120"/>
              </a:rPr>
              <a:t>of failure modes in the foundational reliability study for RCM showed no predictable wear-out age [7]</a:t>
            </a:r>
            <a:endParaRPr lang="en-US" sz="1000" dirty="0"/>
          </a:p>
        </p:txBody>
      </p:sp>
      <p:sp>
        <p:nvSpPr>
          <p:cNvPr id="39" name="Text 37"/>
          <p:cNvSpPr txBox="1"/>
          <p:nvPr/>
        </p:nvSpPr>
        <p:spPr>
          <a:xfrm>
            <a:off x="8001000" y="2350008"/>
            <a:ext cx="3657600" cy="914400"/>
          </a:xfrm>
          <a:prstGeom prst="rect">
            <a:avLst/>
          </a:prstGeom>
          <a:noFill/>
          <a:ln/>
        </p:spPr>
        <p:txBody>
          <a:bodyPr wrap="square" lIns="0" tIns="0" rIns="0" bIns="0" rtlCol="0" anchor="t"/>
          <a:lstStyle/>
          <a:p>
            <a:pPr indent="0" marL="0">
              <a:lnSpc>
                <a:spcPct val="112000"/>
              </a:lnSpc>
              <a:buNone/>
            </a:pPr>
            <a:r>
              <a:rPr lang="en-US" sz="1150" dirty="0">
                <a:solidFill>
                  <a:srgbClr val="17131D"/>
                </a:solidFill>
                <a:latin typeface="Arial" pitchFamily="34" charset="0"/>
                <a:ea typeface="Arial" pitchFamily="34" charset="-122"/>
                <a:cs typeface="Arial" pitchFamily="34" charset="-120"/>
              </a:rPr>
              <a:t>Fixed-interval maintenance cannot anticipate faults that arrive at random. Bearing and seal problems develop over days to weeks [8]; that window is where condition data helps.</a:t>
            </a:r>
            <a:endParaRPr lang="en-US" sz="1150" dirty="0"/>
          </a:p>
        </p:txBody>
      </p:sp>
      <p:sp>
        <p:nvSpPr>
          <p:cNvPr id="40" name="Shape 38"/>
          <p:cNvSpPr/>
          <p:nvPr/>
        </p:nvSpPr>
        <p:spPr>
          <a:xfrm>
            <a:off x="8001000" y="3401568"/>
            <a:ext cx="3657600" cy="914400"/>
          </a:xfrm>
          <a:prstGeom prst="rect">
            <a:avLst/>
          </a:prstGeom>
          <a:solidFill>
            <a:srgbClr val="F8F5FA"/>
          </a:solidFill>
          <a:ln/>
        </p:spPr>
      </p:sp>
      <p:sp>
        <p:nvSpPr>
          <p:cNvPr id="41" name="Text 39"/>
          <p:cNvSpPr txBox="1"/>
          <p:nvPr/>
        </p:nvSpPr>
        <p:spPr>
          <a:xfrm>
            <a:off x="8138160" y="3493008"/>
            <a:ext cx="3383280" cy="731520"/>
          </a:xfrm>
          <a:prstGeom prst="rect">
            <a:avLst/>
          </a:prstGeom>
          <a:noFill/>
          <a:ln/>
        </p:spPr>
        <p:txBody>
          <a:bodyPr wrap="square" lIns="0" tIns="0" rIns="0" bIns="0" rtlCol="0" anchor="ctr"/>
          <a:lstStyle/>
          <a:p>
            <a:pPr indent="0" marL="0">
              <a:lnSpc>
                <a:spcPct val="110000"/>
              </a:lnSpc>
              <a:buNone/>
            </a:pPr>
            <a:r>
              <a:rPr lang="en-US" sz="1100" b="1" dirty="0">
                <a:solidFill>
                  <a:srgbClr val="5B2A86"/>
                </a:solidFill>
                <a:latin typeface="Arial" pitchFamily="34" charset="0"/>
                <a:ea typeface="Arial" pitchFamily="34" charset="-122"/>
                <a:cs typeface="Arial" pitchFamily="34" charset="-120"/>
              </a:rPr>
              <a:t>What NAADI must do: </a:t>
            </a:r>
            <a:pPr indent="0" marL="0">
              <a:lnSpc>
                <a:spcPct val="110000"/>
              </a:lnSpc>
              <a:buNone/>
            </a:pPr>
            <a:r>
              <a:rPr lang="en-US" sz="1100" dirty="0">
                <a:solidFill>
                  <a:srgbClr val="17131D"/>
                </a:solidFill>
                <a:latin typeface="Arial" pitchFamily="34" charset="0"/>
                <a:ea typeface="Arial" pitchFamily="34" charset="-122"/>
                <a:cs typeface="Arial" pitchFamily="34" charset="-120"/>
              </a:rPr>
              <a:t>spot developing faults on these 25 pumps early (the target is two weeks of notice) and alert the engineer with a drafted work order.</a:t>
            </a:r>
            <a:endParaRPr lang="en-US" sz="1100" dirty="0"/>
          </a:p>
        </p:txBody>
      </p:sp>
      <p:sp>
        <p:nvSpPr>
          <p:cNvPr id="42" name="Shape 40"/>
          <p:cNvSpPr/>
          <p:nvPr/>
        </p:nvSpPr>
        <p:spPr>
          <a:xfrm>
            <a:off x="502920" y="5120640"/>
            <a:ext cx="11185855" cy="0"/>
          </a:xfrm>
          <a:prstGeom prst="line">
            <a:avLst/>
          </a:prstGeom>
          <a:noFill/>
          <a:ln w="12700">
            <a:solidFill>
              <a:srgbClr val="DED9E5"/>
            </a:solidFill>
            <a:prstDash val="solid"/>
          </a:ln>
        </p:spPr>
      </p:sp>
      <p:sp>
        <p:nvSpPr>
          <p:cNvPr id="43" name="Text 41"/>
          <p:cNvSpPr txBox="1"/>
          <p:nvPr/>
        </p:nvSpPr>
        <p:spPr>
          <a:xfrm>
            <a:off x="502920" y="5266944"/>
            <a:ext cx="2522144" cy="365760"/>
          </a:xfrm>
          <a:prstGeom prst="rect">
            <a:avLst/>
          </a:prstGeom>
          <a:noFill/>
          <a:ln/>
        </p:spPr>
        <p:txBody>
          <a:bodyPr wrap="square" lIns="0" tIns="0" rIns="0" bIns="0" rtlCol="0" anchor="t"/>
          <a:lstStyle/>
          <a:p>
            <a:pPr indent="0" marL="0">
              <a:lnSpc>
                <a:spcPct val="105000"/>
              </a:lnSpc>
              <a:buNone/>
            </a:pPr>
            <a:r>
              <a:rPr lang="en-US" sz="2300" b="1" dirty="0">
                <a:solidFill>
                  <a:srgbClr val="5B2A86"/>
                </a:solidFill>
                <a:latin typeface="Arial" pitchFamily="34" charset="0"/>
                <a:ea typeface="Arial" pitchFamily="34" charset="-122"/>
                <a:cs typeface="Arial" pitchFamily="34" charset="-120"/>
              </a:rPr>
              <a:t>60 h/yr</a:t>
            </a:r>
            <a:endParaRPr lang="en-US" sz="2300" dirty="0"/>
          </a:p>
        </p:txBody>
      </p:sp>
      <p:sp>
        <p:nvSpPr>
          <p:cNvPr id="44" name="Text 42"/>
          <p:cNvSpPr txBox="1"/>
          <p:nvPr/>
        </p:nvSpPr>
        <p:spPr>
          <a:xfrm>
            <a:off x="502920" y="5669280"/>
            <a:ext cx="2476424" cy="329184"/>
          </a:xfrm>
          <a:prstGeom prst="rect">
            <a:avLst/>
          </a:prstGeom>
          <a:noFill/>
          <a:ln/>
        </p:spPr>
        <p:txBody>
          <a:bodyPr wrap="square" lIns="0" tIns="0" rIns="0" bIns="0" rtlCol="0" anchor="t"/>
          <a:lstStyle/>
          <a:p>
            <a:pPr indent="0" marL="0">
              <a:lnSpc>
                <a:spcPct val="102000"/>
              </a:lnSpc>
              <a:buNone/>
            </a:pPr>
            <a:r>
              <a:rPr lang="en-US" sz="950" dirty="0">
                <a:solidFill>
                  <a:srgbClr val="625D68"/>
                </a:solidFill>
                <a:latin typeface="Arial" pitchFamily="34" charset="0"/>
                <a:ea typeface="Arial" pitchFamily="34" charset="-122"/>
                <a:cs typeface="Arial" pitchFamily="34" charset="-120"/>
              </a:rPr>
              <a:t>unplanned outage from these pumps</a:t>
            </a:r>
            <a:endParaRPr lang="en-US" sz="950" dirty="0"/>
          </a:p>
        </p:txBody>
      </p:sp>
      <p:sp>
        <p:nvSpPr>
          <p:cNvPr id="45" name="Text 43"/>
          <p:cNvSpPr txBox="1"/>
          <p:nvPr/>
        </p:nvSpPr>
        <p:spPr>
          <a:xfrm>
            <a:off x="502920" y="6016752"/>
            <a:ext cx="2476424" cy="146304"/>
          </a:xfrm>
          <a:prstGeom prst="rect">
            <a:avLst/>
          </a:prstGeom>
          <a:noFill/>
          <a:ln/>
        </p:spPr>
        <p:txBody>
          <a:bodyPr wrap="square" lIns="0" tIns="0" rIns="0" bIns="0" rtlCol="0" anchor="t"/>
          <a:lstStyle/>
          <a:p>
            <a:pPr indent="0" marL="0">
              <a:lnSpc>
                <a:spcPct val="105000"/>
              </a:lnSpc>
              <a:buNone/>
            </a:pPr>
            <a:r>
              <a:rPr lang="en-US" sz="800" dirty="0">
                <a:solidFill>
                  <a:srgbClr val="C8792A"/>
                </a:solidFill>
                <a:latin typeface="Arial" pitchFamily="34" charset="0"/>
                <a:ea typeface="Arial" pitchFamily="34" charset="-122"/>
                <a:cs typeface="Arial" pitchFamily="34" charset="-120"/>
              </a:rPr>
              <a:t>Team estimate</a:t>
            </a:r>
            <a:endParaRPr lang="en-US" sz="800" dirty="0"/>
          </a:p>
        </p:txBody>
      </p:sp>
      <p:sp>
        <p:nvSpPr>
          <p:cNvPr id="46" name="Shape 44"/>
          <p:cNvSpPr/>
          <p:nvPr/>
        </p:nvSpPr>
        <p:spPr>
          <a:xfrm>
            <a:off x="3299384" y="5285232"/>
            <a:ext cx="0" cy="960120"/>
          </a:xfrm>
          <a:prstGeom prst="line">
            <a:avLst/>
          </a:prstGeom>
          <a:noFill/>
          <a:ln w="9525">
            <a:solidFill>
              <a:srgbClr val="DED9E5"/>
            </a:solidFill>
            <a:prstDash val="solid"/>
          </a:ln>
        </p:spPr>
      </p:sp>
      <p:sp>
        <p:nvSpPr>
          <p:cNvPr id="47" name="Text 45"/>
          <p:cNvSpPr txBox="1"/>
          <p:nvPr/>
        </p:nvSpPr>
        <p:spPr>
          <a:xfrm>
            <a:off x="3500552" y="5266944"/>
            <a:ext cx="2522144" cy="365760"/>
          </a:xfrm>
          <a:prstGeom prst="rect">
            <a:avLst/>
          </a:prstGeom>
          <a:noFill/>
          <a:ln/>
        </p:spPr>
        <p:txBody>
          <a:bodyPr wrap="square" lIns="0" tIns="0" rIns="0" bIns="0" rtlCol="0" anchor="t"/>
          <a:lstStyle/>
          <a:p>
            <a:pPr indent="0" marL="0">
              <a:lnSpc>
                <a:spcPct val="105000"/>
              </a:lnSpc>
              <a:buNone/>
            </a:pPr>
            <a:r>
              <a:rPr lang="en-US" sz="2300" b="1" dirty="0">
                <a:solidFill>
                  <a:srgbClr val="5B2A86"/>
                </a:solidFill>
                <a:latin typeface="Arial" pitchFamily="34" charset="0"/>
                <a:ea typeface="Arial" pitchFamily="34" charset="-122"/>
                <a:cs typeface="Arial" pitchFamily="34" charset="-120"/>
              </a:rPr>
              <a:t>₹1.9 lakh/h</a:t>
            </a:r>
            <a:endParaRPr lang="en-US" sz="2300" dirty="0"/>
          </a:p>
        </p:txBody>
      </p:sp>
      <p:sp>
        <p:nvSpPr>
          <p:cNvPr id="48" name="Text 46"/>
          <p:cNvSpPr txBox="1"/>
          <p:nvPr/>
        </p:nvSpPr>
        <p:spPr>
          <a:xfrm>
            <a:off x="3500552" y="5669280"/>
            <a:ext cx="2476424" cy="329184"/>
          </a:xfrm>
          <a:prstGeom prst="rect">
            <a:avLst/>
          </a:prstGeom>
          <a:noFill/>
          <a:ln/>
        </p:spPr>
        <p:txBody>
          <a:bodyPr wrap="square" lIns="0" tIns="0" rIns="0" bIns="0" rtlCol="0" anchor="t"/>
          <a:lstStyle/>
          <a:p>
            <a:pPr indent="0" marL="0">
              <a:lnSpc>
                <a:spcPct val="102000"/>
              </a:lnSpc>
              <a:buNone/>
            </a:pPr>
            <a:r>
              <a:rPr lang="en-US" sz="950" dirty="0">
                <a:solidFill>
                  <a:srgbClr val="625D68"/>
                </a:solidFill>
                <a:latin typeface="Arial" pitchFamily="34" charset="0"/>
                <a:ea typeface="Arial" pitchFamily="34" charset="-122"/>
                <a:cs typeface="Arial" pitchFamily="34" charset="-120"/>
              </a:rPr>
              <a:t>contribution margin lost while down</a:t>
            </a:r>
            <a:endParaRPr lang="en-US" sz="950" dirty="0"/>
          </a:p>
        </p:txBody>
      </p:sp>
      <p:sp>
        <p:nvSpPr>
          <p:cNvPr id="49" name="Text 47"/>
          <p:cNvSpPr txBox="1"/>
          <p:nvPr/>
        </p:nvSpPr>
        <p:spPr>
          <a:xfrm>
            <a:off x="3500552" y="6016752"/>
            <a:ext cx="2476424" cy="146304"/>
          </a:xfrm>
          <a:prstGeom prst="rect">
            <a:avLst/>
          </a:prstGeom>
          <a:noFill/>
          <a:ln/>
        </p:spPr>
        <p:txBody>
          <a:bodyPr wrap="square" lIns="0" tIns="0" rIns="0" bIns="0" rtlCol="0" anchor="t"/>
          <a:lstStyle/>
          <a:p>
            <a:pPr indent="0" marL="0">
              <a:lnSpc>
                <a:spcPct val="105000"/>
              </a:lnSpc>
              <a:buNone/>
            </a:pPr>
            <a:r>
              <a:rPr lang="en-US" sz="800" dirty="0">
                <a:solidFill>
                  <a:srgbClr val="625D68"/>
                </a:solidFill>
                <a:latin typeface="Arial" pitchFamily="34" charset="0"/>
                <a:ea typeface="Arial" pitchFamily="34" charset="-122"/>
                <a:cs typeface="Arial" pitchFamily="34" charset="-120"/>
              </a:rPr>
              <a:t>Team calculation</a:t>
            </a:r>
            <a:endParaRPr lang="en-US" sz="800" dirty="0"/>
          </a:p>
        </p:txBody>
      </p:sp>
      <p:sp>
        <p:nvSpPr>
          <p:cNvPr id="50" name="Shape 48"/>
          <p:cNvSpPr/>
          <p:nvPr/>
        </p:nvSpPr>
        <p:spPr>
          <a:xfrm>
            <a:off x="6095848" y="5285232"/>
            <a:ext cx="0" cy="960120"/>
          </a:xfrm>
          <a:prstGeom prst="line">
            <a:avLst/>
          </a:prstGeom>
          <a:noFill/>
          <a:ln w="9525">
            <a:solidFill>
              <a:srgbClr val="DED9E5"/>
            </a:solidFill>
            <a:prstDash val="solid"/>
          </a:ln>
        </p:spPr>
      </p:sp>
      <p:sp>
        <p:nvSpPr>
          <p:cNvPr id="51" name="Text 49"/>
          <p:cNvSpPr txBox="1"/>
          <p:nvPr/>
        </p:nvSpPr>
        <p:spPr>
          <a:xfrm>
            <a:off x="6297016" y="5266944"/>
            <a:ext cx="2522144" cy="365760"/>
          </a:xfrm>
          <a:prstGeom prst="rect">
            <a:avLst/>
          </a:prstGeom>
          <a:noFill/>
          <a:ln/>
        </p:spPr>
        <p:txBody>
          <a:bodyPr wrap="square" lIns="0" tIns="0" rIns="0" bIns="0" rtlCol="0" anchor="t"/>
          <a:lstStyle/>
          <a:p>
            <a:pPr indent="0" marL="0">
              <a:lnSpc>
                <a:spcPct val="105000"/>
              </a:lnSpc>
              <a:buNone/>
            </a:pPr>
            <a:r>
              <a:rPr lang="en-US" sz="2300" b="1" dirty="0">
                <a:solidFill>
                  <a:srgbClr val="5B2A86"/>
                </a:solidFill>
                <a:latin typeface="Arial" pitchFamily="34" charset="0"/>
                <a:ea typeface="Arial" pitchFamily="34" charset="-122"/>
                <a:cs typeface="Arial" pitchFamily="34" charset="-120"/>
              </a:rPr>
              <a:t>12 events/yr</a:t>
            </a:r>
            <a:endParaRPr lang="en-US" sz="2300" dirty="0"/>
          </a:p>
        </p:txBody>
      </p:sp>
      <p:sp>
        <p:nvSpPr>
          <p:cNvPr id="52" name="Text 50"/>
          <p:cNvSpPr txBox="1"/>
          <p:nvPr/>
        </p:nvSpPr>
        <p:spPr>
          <a:xfrm>
            <a:off x="6297016" y="5669280"/>
            <a:ext cx="2476424" cy="329184"/>
          </a:xfrm>
          <a:prstGeom prst="rect">
            <a:avLst/>
          </a:prstGeom>
          <a:noFill/>
          <a:ln/>
        </p:spPr>
        <p:txBody>
          <a:bodyPr wrap="square" lIns="0" tIns="0" rIns="0" bIns="0" rtlCol="0" anchor="t"/>
          <a:lstStyle/>
          <a:p>
            <a:pPr indent="0" marL="0">
              <a:lnSpc>
                <a:spcPct val="102000"/>
              </a:lnSpc>
              <a:buNone/>
            </a:pPr>
            <a:r>
              <a:rPr lang="en-US" sz="950" dirty="0">
                <a:solidFill>
                  <a:srgbClr val="625D68"/>
                </a:solidFill>
                <a:latin typeface="Arial" pitchFamily="34" charset="0"/>
                <a:ea typeface="Arial" pitchFamily="34" charset="-122"/>
                <a:cs typeface="Arial" pitchFamily="34" charset="-120"/>
              </a:rPr>
              <a:t>pump repairs across the 25 units</a:t>
            </a:r>
            <a:endParaRPr lang="en-US" sz="950" dirty="0"/>
          </a:p>
        </p:txBody>
      </p:sp>
      <p:sp>
        <p:nvSpPr>
          <p:cNvPr id="53" name="Text 51"/>
          <p:cNvSpPr txBox="1"/>
          <p:nvPr/>
        </p:nvSpPr>
        <p:spPr>
          <a:xfrm>
            <a:off x="6297016" y="6016752"/>
            <a:ext cx="2476424" cy="146304"/>
          </a:xfrm>
          <a:prstGeom prst="rect">
            <a:avLst/>
          </a:prstGeom>
          <a:noFill/>
          <a:ln/>
        </p:spPr>
        <p:txBody>
          <a:bodyPr wrap="square" lIns="0" tIns="0" rIns="0" bIns="0" rtlCol="0" anchor="t"/>
          <a:lstStyle/>
          <a:p>
            <a:pPr indent="0" marL="0">
              <a:lnSpc>
                <a:spcPct val="105000"/>
              </a:lnSpc>
              <a:buNone/>
            </a:pPr>
            <a:r>
              <a:rPr lang="en-US" sz="800" dirty="0">
                <a:solidFill>
                  <a:srgbClr val="C8792A"/>
                </a:solidFill>
                <a:latin typeface="Arial" pitchFamily="34" charset="0"/>
                <a:ea typeface="Arial" pitchFamily="34" charset="-122"/>
                <a:cs typeface="Arial" pitchFamily="34" charset="-120"/>
              </a:rPr>
              <a:t>Team estimate</a:t>
            </a:r>
            <a:endParaRPr lang="en-US" sz="800" dirty="0"/>
          </a:p>
        </p:txBody>
      </p:sp>
      <p:sp>
        <p:nvSpPr>
          <p:cNvPr id="54" name="Shape 52"/>
          <p:cNvSpPr/>
          <p:nvPr/>
        </p:nvSpPr>
        <p:spPr>
          <a:xfrm>
            <a:off x="8892311" y="5285232"/>
            <a:ext cx="0" cy="960120"/>
          </a:xfrm>
          <a:prstGeom prst="line">
            <a:avLst/>
          </a:prstGeom>
          <a:noFill/>
          <a:ln w="9525">
            <a:solidFill>
              <a:srgbClr val="DED9E5"/>
            </a:solidFill>
            <a:prstDash val="solid"/>
          </a:ln>
        </p:spPr>
      </p:sp>
      <p:sp>
        <p:nvSpPr>
          <p:cNvPr id="55" name="Text 53"/>
          <p:cNvSpPr txBox="1"/>
          <p:nvPr/>
        </p:nvSpPr>
        <p:spPr>
          <a:xfrm>
            <a:off x="9093479" y="5266944"/>
            <a:ext cx="2522144" cy="365760"/>
          </a:xfrm>
          <a:prstGeom prst="rect">
            <a:avLst/>
          </a:prstGeom>
          <a:noFill/>
          <a:ln/>
        </p:spPr>
        <p:txBody>
          <a:bodyPr wrap="square" lIns="0" tIns="0" rIns="0" bIns="0" rtlCol="0" anchor="t"/>
          <a:lstStyle/>
          <a:p>
            <a:pPr indent="0" marL="0">
              <a:lnSpc>
                <a:spcPct val="105000"/>
              </a:lnSpc>
              <a:buNone/>
            </a:pPr>
            <a:r>
              <a:rPr lang="en-US" sz="2300" b="1" dirty="0">
                <a:solidFill>
                  <a:srgbClr val="5B2A86"/>
                </a:solidFill>
                <a:latin typeface="Arial" pitchFamily="34" charset="0"/>
                <a:ea typeface="Arial" pitchFamily="34" charset="-122"/>
                <a:cs typeface="Arial" pitchFamily="34" charset="-120"/>
              </a:rPr>
              <a:t>≈₹1.4 Cr</a:t>
            </a:r>
            <a:endParaRPr lang="en-US" sz="2300" dirty="0"/>
          </a:p>
        </p:txBody>
      </p:sp>
      <p:sp>
        <p:nvSpPr>
          <p:cNvPr id="56" name="Text 54"/>
          <p:cNvSpPr txBox="1"/>
          <p:nvPr/>
        </p:nvSpPr>
        <p:spPr>
          <a:xfrm>
            <a:off x="9093479" y="5669280"/>
            <a:ext cx="2476424" cy="329184"/>
          </a:xfrm>
          <a:prstGeom prst="rect">
            <a:avLst/>
          </a:prstGeom>
          <a:noFill/>
          <a:ln/>
        </p:spPr>
        <p:txBody>
          <a:bodyPr wrap="square" lIns="0" tIns="0" rIns="0" bIns="0" rtlCol="0" anchor="t"/>
          <a:lstStyle/>
          <a:p>
            <a:pPr indent="0" marL="0">
              <a:lnSpc>
                <a:spcPct val="102000"/>
              </a:lnSpc>
              <a:buNone/>
            </a:pPr>
            <a:r>
              <a:rPr lang="en-US" sz="950" dirty="0">
                <a:solidFill>
                  <a:srgbClr val="625D68"/>
                </a:solidFill>
                <a:latin typeface="Arial" pitchFamily="34" charset="0"/>
                <a:ea typeface="Arial" pitchFamily="34" charset="-122"/>
                <a:cs typeface="Arial" pitchFamily="34" charset="-120"/>
              </a:rPr>
              <a:t>annual exposure, margin plus repairs</a:t>
            </a:r>
            <a:endParaRPr lang="en-US" sz="950" dirty="0"/>
          </a:p>
        </p:txBody>
      </p:sp>
      <p:sp>
        <p:nvSpPr>
          <p:cNvPr id="57" name="Text 55"/>
          <p:cNvSpPr txBox="1"/>
          <p:nvPr/>
        </p:nvSpPr>
        <p:spPr>
          <a:xfrm>
            <a:off x="9093479" y="6016752"/>
            <a:ext cx="2476424" cy="146304"/>
          </a:xfrm>
          <a:prstGeom prst="rect">
            <a:avLst/>
          </a:prstGeom>
          <a:noFill/>
          <a:ln/>
        </p:spPr>
        <p:txBody>
          <a:bodyPr wrap="square" lIns="0" tIns="0" rIns="0" bIns="0" rtlCol="0" anchor="t"/>
          <a:lstStyle/>
          <a:p>
            <a:pPr indent="0" marL="0">
              <a:lnSpc>
                <a:spcPct val="105000"/>
              </a:lnSpc>
              <a:buNone/>
            </a:pPr>
            <a:r>
              <a:rPr lang="en-US" sz="800" dirty="0">
                <a:solidFill>
                  <a:srgbClr val="625D68"/>
                </a:solidFill>
                <a:latin typeface="Arial" pitchFamily="34" charset="0"/>
                <a:ea typeface="Arial" pitchFamily="34" charset="-122"/>
                <a:cs typeface="Arial" pitchFamily="34" charset="-120"/>
              </a:rPr>
              <a:t>Team calculation</a:t>
            </a:r>
            <a:endParaRPr lang="en-US" sz="800" dirty="0"/>
          </a:p>
        </p:txBody>
      </p:sp>
      <p:sp>
        <p:nvSpPr>
          <p:cNvPr id="58" name="Text 56"/>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850" dirty="0">
                <a:solidFill>
                  <a:srgbClr val="625D68"/>
                </a:solidFill>
                <a:latin typeface="Arial" pitchFamily="34" charset="0"/>
                <a:ea typeface="Arial" pitchFamily="34" charset="-122"/>
                <a:cs typeface="Arial" pitchFamily="34" charset="-120"/>
              </a:rPr>
              <a:t>India Chem 2026 · NIT Warangal</a:t>
            </a:r>
            <a:endParaRPr lang="en-US" sz="850" dirty="0"/>
          </a:p>
        </p:txBody>
      </p:sp>
      <p:sp>
        <p:nvSpPr>
          <p:cNvPr id="59" name="Text 57"/>
          <p:cNvSpPr txBox="1"/>
          <p:nvPr/>
        </p:nvSpPr>
        <p:spPr>
          <a:xfrm>
            <a:off x="10957255" y="6583680"/>
            <a:ext cx="731520" cy="182880"/>
          </a:xfrm>
          <a:prstGeom prst="rect">
            <a:avLst/>
          </a:prstGeom>
          <a:noFill/>
          <a:ln/>
        </p:spPr>
        <p:txBody>
          <a:bodyPr wrap="square" lIns="0" tIns="0" rIns="0" bIns="0" rtlCol="0" anchor="ctr"/>
          <a:lstStyle/>
          <a:p>
            <a:pPr algn="r" indent="0" marL="0">
              <a:buNone/>
            </a:pPr>
            <a:r>
              <a:rPr lang="en-US" sz="850" dirty="0">
                <a:solidFill>
                  <a:srgbClr val="625D68"/>
                </a:solidFill>
                <a:latin typeface="Arial" pitchFamily="34" charset="0"/>
                <a:ea typeface="Arial" pitchFamily="34" charset="-122"/>
                <a:cs typeface="Arial" pitchFamily="34" charset="-120"/>
              </a:rPr>
              <a:t>2 / 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5486400" cy="201168"/>
          </a:xfrm>
          <a:prstGeom prst="rect">
            <a:avLst/>
          </a:prstGeom>
          <a:noFill/>
          <a:ln/>
        </p:spPr>
        <p:txBody>
          <a:bodyPr wrap="square" lIns="0" tIns="0" rIns="0" bIns="0" rtlCol="0" anchor="ctr"/>
          <a:lstStyle/>
          <a:p>
            <a:pPr indent="0" marL="0">
              <a:buNone/>
            </a:pPr>
            <a:r>
              <a:rPr lang="en-US" sz="1000" b="1" dirty="0">
                <a:solidFill>
                  <a:srgbClr val="7A4AA5"/>
                </a:solidFill>
                <a:latin typeface="Arial" pitchFamily="34" charset="0"/>
                <a:ea typeface="Arial" pitchFamily="34" charset="-122"/>
                <a:cs typeface="Arial" pitchFamily="34" charset="-120"/>
              </a:rPr>
              <a:t>Global best practices</a:t>
            </a:r>
            <a:endParaRPr lang="en-US" sz="1000" dirty="0"/>
          </a:p>
        </p:txBody>
      </p:sp>
      <p:sp>
        <p:nvSpPr>
          <p:cNvPr id="3" name="Text 1"/>
          <p:cNvSpPr txBox="1"/>
          <p:nvPr/>
        </p:nvSpPr>
        <p:spPr>
          <a:xfrm>
            <a:off x="502920" y="420624"/>
            <a:ext cx="11185855" cy="868680"/>
          </a:xfrm>
          <a:prstGeom prst="rect">
            <a:avLst/>
          </a:prstGeom>
          <a:noFill/>
          <a:ln/>
        </p:spPr>
        <p:txBody>
          <a:bodyPr wrap="square" lIns="0" tIns="0" rIns="0" bIns="0" rtlCol="0" anchor="t"/>
          <a:lstStyle/>
          <a:p>
            <a:pPr indent="0" marL="0">
              <a:lnSpc>
                <a:spcPct val="103000"/>
              </a:lnSpc>
              <a:buNone/>
            </a:pPr>
            <a:r>
              <a:rPr lang="en-US" sz="2600" b="1" dirty="0">
                <a:solidFill>
                  <a:srgbClr val="17131D"/>
                </a:solidFill>
                <a:latin typeface="Arial" pitchFamily="34" charset="0"/>
                <a:ea typeface="Arial" pitchFamily="34" charset="-122"/>
                <a:cs typeface="Arial" pitchFamily="34" charset="-120"/>
              </a:rPr>
              <a:t>Continuous monitoring works, but </a:t>
            </a:r>
            <a:pPr indent="0" marL="0">
              <a:lnSpc>
                <a:spcPct val="103000"/>
              </a:lnSpc>
              <a:buNone/>
            </a:pPr>
            <a:r>
              <a:rPr lang="en-US" sz="2600" b="1" dirty="0">
                <a:solidFill>
                  <a:srgbClr val="5B2A86"/>
                </a:solidFill>
                <a:latin typeface="Arial" pitchFamily="34" charset="0"/>
                <a:ea typeface="Arial" pitchFamily="34" charset="-122"/>
                <a:cs typeface="Arial" pitchFamily="34" charset="-120"/>
              </a:rPr>
              <a:t>proprietary systems remain difficult</a:t>
            </a:r>
            <a:pPr indent="0" marL="0">
              <a:lnSpc>
                <a:spcPct val="103000"/>
              </a:lnSpc>
              <a:buNone/>
            </a:pPr>
            <a:r>
              <a:rPr lang="en-US" sz="2600" b="1" dirty="0">
                <a:solidFill>
                  <a:srgbClr val="17131D"/>
                </a:solidFill>
                <a:latin typeface="Arial" pitchFamily="34" charset="0"/>
                <a:ea typeface="Arial" pitchFamily="34" charset="-122"/>
                <a:cs typeface="Arial" pitchFamily="34" charset="-120"/>
              </a:rPr>
              <a:t> for mid-sized plants to adopt</a:t>
            </a:r>
            <a:endParaRPr lang="en-US" sz="2600" dirty="0"/>
          </a:p>
        </p:txBody>
      </p:sp>
      <p:sp>
        <p:nvSpPr>
          <p:cNvPr id="4" name="Text 2"/>
          <p:cNvSpPr txBox="1"/>
          <p:nvPr/>
        </p:nvSpPr>
        <p:spPr>
          <a:xfrm>
            <a:off x="502920" y="1453896"/>
            <a:ext cx="6309360" cy="201168"/>
          </a:xfrm>
          <a:prstGeom prst="rect">
            <a:avLst/>
          </a:prstGeom>
          <a:noFill/>
          <a:ln/>
        </p:spPr>
        <p:txBody>
          <a:bodyPr wrap="square" lIns="0" tIns="0" rIns="0" bIns="0" rtlCol="0" anchor="t"/>
          <a:lstStyle/>
          <a:p>
            <a:pPr indent="0" marL="0">
              <a:lnSpc>
                <a:spcPct val="105000"/>
              </a:lnSpc>
              <a:buNone/>
            </a:pPr>
            <a:r>
              <a:rPr lang="en-US" sz="1200" b="1" dirty="0">
                <a:solidFill>
                  <a:srgbClr val="17131D"/>
                </a:solidFill>
                <a:latin typeface="Arial" pitchFamily="34" charset="0"/>
                <a:ea typeface="Arial" pitchFamily="34" charset="-122"/>
                <a:cs typeface="Arial" pitchFamily="34" charset="-120"/>
              </a:rPr>
              <a:t>Five approaches, six weighted criteria</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6309360" cy="914400"/>
        </p:xfrm>
        <a:graphic>
          <a:graphicData uri="http://schemas.openxmlformats.org/drawingml/2006/table">
            <a:tbl>
              <a:tblPr/>
              <a:tblGrid>
                <a:gridCol w="1737360"/>
                <a:gridCol w="914400"/>
                <a:gridCol w="777240"/>
                <a:gridCol w="731520"/>
                <a:gridCol w="777240"/>
                <a:gridCol w="640080"/>
                <a:gridCol w="731520"/>
              </a:tblGrid>
              <a:tr h="310896">
                <a:tc>
                  <a:txBody>
                    <a:bodyPr/>
                    <a:lstStyle/>
                    <a:p>
                      <a:pPr indent="0" marL="0">
                        <a:buNone/>
                      </a:pPr>
                      <a:r>
                        <a:rPr lang="en-US" sz="850" b="1" dirty="0">
                          <a:solidFill>
                            <a:srgbClr val="17131D"/>
                          </a:solidFill>
                          <a:latin typeface="Arial" pitchFamily="34" charset="0"/>
                          <a:ea typeface="Arial" pitchFamily="34" charset="-122"/>
                          <a:cs typeface="Arial" pitchFamily="34" charset="-120"/>
                        </a:rPr>
                        <a:t>Approach</a:t>
                      </a:r>
                      <a:endParaRPr lang="en-US" sz="85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solidFill>
                      <a:srgbClr val="FFFFFF"/>
                    </a:solidFill>
                  </a:tcPr>
                </a:tc>
                <a:tc>
                  <a:txBody>
                    <a:bodyPr/>
                    <a:lstStyle/>
                    <a:p>
                      <a:pPr indent="0" marL="0">
                        <a:buNone/>
                      </a:pPr>
                      <a:r>
                        <a:rPr lang="en-US" sz="850" b="1" dirty="0">
                          <a:solidFill>
                            <a:srgbClr val="17131D"/>
                          </a:solidFill>
                          <a:latin typeface="Arial" pitchFamily="34" charset="0"/>
                          <a:ea typeface="Arial" pitchFamily="34" charset="-122"/>
                          <a:cs typeface="Arial" pitchFamily="34" charset="-120"/>
                        </a:rPr>
                        <a:t>Lead time (30)</a:t>
                      </a:r>
                      <a:endParaRPr lang="en-US" sz="85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solidFill>
                      <a:srgbClr val="FFFFFF"/>
                    </a:solidFill>
                  </a:tcPr>
                </a:tc>
                <a:tc>
                  <a:txBody>
                    <a:bodyPr/>
                    <a:lstStyle/>
                    <a:p>
                      <a:pPr indent="0" marL="0">
                        <a:buNone/>
                      </a:pPr>
                      <a:r>
                        <a:rPr lang="en-US" sz="850" b="1" dirty="0">
                          <a:solidFill>
                            <a:srgbClr val="17131D"/>
                          </a:solidFill>
                          <a:latin typeface="Arial" pitchFamily="34" charset="0"/>
                          <a:ea typeface="Arial" pitchFamily="34" charset="-122"/>
                          <a:cs typeface="Arial" pitchFamily="34" charset="-120"/>
                        </a:rPr>
                        <a:t>Cost (20)</a:t>
                      </a:r>
                      <a:endParaRPr lang="en-US" sz="85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solidFill>
                      <a:srgbClr val="FFFFFF"/>
                    </a:solidFill>
                  </a:tcPr>
                </a:tc>
                <a:tc>
                  <a:txBody>
                    <a:bodyPr/>
                    <a:lstStyle/>
                    <a:p>
                      <a:pPr indent="0" marL="0">
                        <a:buNone/>
                      </a:pPr>
                      <a:r>
                        <a:rPr lang="en-US" sz="850" b="1" dirty="0">
                          <a:solidFill>
                            <a:srgbClr val="17131D"/>
                          </a:solidFill>
                          <a:latin typeface="Arial" pitchFamily="34" charset="0"/>
                          <a:ea typeface="Arial" pitchFamily="34" charset="-122"/>
                          <a:cs typeface="Arial" pitchFamily="34" charset="-120"/>
                        </a:rPr>
                        <a:t>Skill need (10)</a:t>
                      </a:r>
                      <a:endParaRPr lang="en-US" sz="85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solidFill>
                      <a:srgbClr val="FFFFFF"/>
                    </a:solidFill>
                  </a:tcPr>
                </a:tc>
                <a:tc>
                  <a:txBody>
                    <a:bodyPr/>
                    <a:lstStyle/>
                    <a:p>
                      <a:pPr indent="0" marL="0">
                        <a:buNone/>
                      </a:pPr>
                      <a:r>
                        <a:rPr lang="en-US" sz="850" b="1" dirty="0">
                          <a:solidFill>
                            <a:srgbClr val="17131D"/>
                          </a:solidFill>
                          <a:latin typeface="Arial" pitchFamily="34" charset="0"/>
                          <a:ea typeface="Arial" pitchFamily="34" charset="-122"/>
                          <a:cs typeface="Arial" pitchFamily="34" charset="-120"/>
                        </a:rPr>
                        <a:t>Data control (10)</a:t>
                      </a:r>
                      <a:endParaRPr lang="en-US" sz="85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solidFill>
                      <a:srgbClr val="FFFFFF"/>
                    </a:solidFill>
                  </a:tcPr>
                </a:tc>
                <a:tc>
                  <a:txBody>
                    <a:bodyPr/>
                    <a:lstStyle/>
                    <a:p>
                      <a:pPr indent="0" marL="0">
                        <a:buNone/>
                      </a:pPr>
                      <a:r>
                        <a:rPr lang="en-US" sz="850" b="1" dirty="0">
                          <a:solidFill>
                            <a:srgbClr val="17131D"/>
                          </a:solidFill>
                          <a:latin typeface="Arial" pitchFamily="34" charset="0"/>
                          <a:ea typeface="Arial" pitchFamily="34" charset="-122"/>
                          <a:cs typeface="Arial" pitchFamily="34" charset="-120"/>
                        </a:rPr>
                        <a:t>Retrofit (10)</a:t>
                      </a:r>
                      <a:endParaRPr lang="en-US" sz="85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solidFill>
                      <a:srgbClr val="FFFFFF"/>
                    </a:solidFill>
                  </a:tcPr>
                </a:tc>
                <a:tc>
                  <a:txBody>
                    <a:bodyPr/>
                    <a:lstStyle/>
                    <a:p>
                      <a:pPr indent="0" marL="0">
                        <a:buNone/>
                      </a:pPr>
                      <a:r>
                        <a:rPr lang="en-US" sz="850" b="1" dirty="0">
                          <a:solidFill>
                            <a:srgbClr val="17131D"/>
                          </a:solidFill>
                          <a:latin typeface="Arial" pitchFamily="34" charset="0"/>
                          <a:ea typeface="Arial" pitchFamily="34" charset="-122"/>
                          <a:cs typeface="Arial" pitchFamily="34" charset="-120"/>
                        </a:rPr>
                        <a:t>MSME fit (20)</a:t>
                      </a:r>
                      <a:endParaRPr lang="en-US" sz="85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solidFill>
                      <a:srgbClr val="FFFFFF"/>
                    </a:solidFill>
                  </a:tcPr>
                </a:tc>
              </a:tr>
              <a:tr h="310896">
                <a:tc>
                  <a:txBody>
                    <a:bodyPr/>
                    <a:lstStyle/>
                    <a:p>
                      <a:pPr indent="0" marL="0">
                        <a:buNone/>
                      </a:pPr>
                      <a:r>
                        <a:rPr lang="en-US" sz="900" dirty="0">
                          <a:solidFill>
                            <a:srgbClr val="17131D"/>
                          </a:solidFill>
                          <a:latin typeface="Arial" pitchFamily="34" charset="0"/>
                          <a:ea typeface="Arial" pitchFamily="34" charset="-122"/>
                          <a:cs typeface="Arial" pitchFamily="34" charset="-120"/>
                        </a:rPr>
                        <a:t>Run to failure</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none</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poor</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n/a</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n/a</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poor</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r>
              <a:tr h="310896">
                <a:tc>
                  <a:txBody>
                    <a:bodyPr/>
                    <a:lstStyle/>
                    <a:p>
                      <a:pPr indent="0" marL="0">
                        <a:buNone/>
                      </a:pPr>
                      <a:r>
                        <a:rPr lang="en-US" sz="900" dirty="0">
                          <a:solidFill>
                            <a:srgbClr val="17131D"/>
                          </a:solidFill>
                          <a:latin typeface="Arial" pitchFamily="34" charset="0"/>
                          <a:ea typeface="Arial" pitchFamily="34" charset="-122"/>
                          <a:cs typeface="Arial" pitchFamily="34" charset="-120"/>
                        </a:rPr>
                        <a:t>Calendar preventive (common in India)</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none for random faults</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n/a</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n/a</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r>
              <a:tr h="310896">
                <a:tc>
                  <a:txBody>
                    <a:bodyPr/>
                    <a:lstStyle/>
                    <a:p>
                      <a:pPr indent="0" marL="0">
                        <a:buNone/>
                      </a:pPr>
                      <a:r>
                        <a:rPr lang="en-US" sz="900" dirty="0">
                          <a:solidFill>
                            <a:srgbClr val="17131D"/>
                          </a:solidFill>
                          <a:latin typeface="Arial" pitchFamily="34" charset="0"/>
                          <a:ea typeface="Arial" pitchFamily="34" charset="-122"/>
                          <a:cs typeface="Arial" pitchFamily="34" charset="-120"/>
                        </a:rPr>
                        <a:t>Monthly offline vibration rounds</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up to route interval</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plant</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good</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poor</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r>
              <a:tr h="310896">
                <a:tc>
                  <a:txBody>
                    <a:bodyPr/>
                    <a:lstStyle/>
                    <a:p>
                      <a:pPr indent="0" marL="0">
                        <a:buNone/>
                      </a:pPr>
                      <a:r>
                        <a:rPr lang="en-US" sz="900" dirty="0">
                          <a:solidFill>
                            <a:srgbClr val="17131D"/>
                          </a:solidFill>
                          <a:latin typeface="Arial" pitchFamily="34" charset="0"/>
                          <a:ea typeface="Arial" pitchFamily="34" charset="-122"/>
                          <a:cs typeface="Arial" pitchFamily="34" charset="-120"/>
                        </a:rPr>
                        <a:t>OEM cloud monitoring</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days to weeks</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vendor silo</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c>
                  <a:txBody>
                    <a:bodyPr/>
                    <a:lstStyle/>
                    <a:p>
                      <a:pPr indent="0" marL="0">
                        <a:buNone/>
                      </a:pPr>
                      <a:r>
                        <a:rPr lang="en-US" sz="900" dirty="0">
                          <a:solidFill>
                            <a:srgbClr val="17131D"/>
                          </a:solidFill>
                          <a:latin typeface="Arial" pitchFamily="34" charset="0"/>
                          <a:ea typeface="Arial" pitchFamily="34" charset="-122"/>
                          <a:cs typeface="Arial" pitchFamily="34" charset="-120"/>
                        </a:rPr>
                        <a:t>poor</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tcPr>
                </a:tc>
              </a:tr>
              <a:tr h="310896">
                <a:tc>
                  <a:txBody>
                    <a:bodyPr/>
                    <a:lstStyle/>
                    <a:p>
                      <a:pPr indent="0" marL="0">
                        <a:buNone/>
                      </a:pPr>
                      <a:r>
                        <a:rPr lang="en-US" sz="900" b="1" dirty="0">
                          <a:solidFill>
                            <a:srgbClr val="5B2A86"/>
                          </a:solidFill>
                          <a:latin typeface="Arial" pitchFamily="34" charset="0"/>
                          <a:ea typeface="Arial" pitchFamily="34" charset="-122"/>
                          <a:cs typeface="Arial" pitchFamily="34" charset="-120"/>
                        </a:rPr>
                        <a:t>NAADI: on-site continuous stack</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solidFill>
                      <a:srgbClr val="EFE8F6"/>
                    </a:solidFill>
                  </a:tcPr>
                </a:tc>
                <a:tc>
                  <a:txBody>
                    <a:bodyPr/>
                    <a:lstStyle/>
                    <a:p>
                      <a:pPr indent="0" marL="0">
                        <a:buNone/>
                      </a:pPr>
                      <a:r>
                        <a:rPr lang="en-US" sz="900" b="1" dirty="0">
                          <a:solidFill>
                            <a:srgbClr val="17131D"/>
                          </a:solidFill>
                          <a:latin typeface="Arial" pitchFamily="34" charset="0"/>
                          <a:ea typeface="Arial" pitchFamily="34" charset="-122"/>
                          <a:cs typeface="Arial" pitchFamily="34" charset="-120"/>
                        </a:rPr>
                        <a:t>days to weeks</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solidFill>
                      <a:srgbClr val="EFE8F6"/>
                    </a:solidFill>
                  </a:tcPr>
                </a:tc>
                <a:tc>
                  <a:txBody>
                    <a:bodyPr/>
                    <a:lstStyle/>
                    <a:p>
                      <a:pPr indent="0" marL="0">
                        <a:buNone/>
                      </a:pPr>
                      <a:r>
                        <a:rPr lang="en-US" sz="900" b="1" dirty="0">
                          <a:solidFill>
                            <a:srgbClr val="17131D"/>
                          </a:solidFill>
                          <a:latin typeface="Arial" pitchFamily="34" charset="0"/>
                          <a:ea typeface="Arial" pitchFamily="34" charset="-122"/>
                          <a:cs typeface="Arial" pitchFamily="34" charset="-120"/>
                        </a:rPr>
                        <a:t>low to medium</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solidFill>
                      <a:srgbClr val="EFE8F6"/>
                    </a:solidFill>
                  </a:tcPr>
                </a:tc>
                <a:tc>
                  <a:txBody>
                    <a:bodyPr/>
                    <a:lstStyle/>
                    <a:p>
                      <a:pPr indent="0" marL="0">
                        <a:buNone/>
                      </a:pPr>
                      <a:r>
                        <a:rPr lang="en-US" sz="900" b="1" dirty="0">
                          <a:solidFill>
                            <a:srgbClr val="17131D"/>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solidFill>
                      <a:srgbClr val="EFE8F6"/>
                    </a:solidFill>
                  </a:tcPr>
                </a:tc>
                <a:tc>
                  <a:txBody>
                    <a:bodyPr/>
                    <a:lstStyle/>
                    <a:p>
                      <a:pPr indent="0" marL="0">
                        <a:buNone/>
                      </a:pPr>
                      <a:r>
                        <a:rPr lang="en-US" sz="900" b="1" dirty="0">
                          <a:solidFill>
                            <a:srgbClr val="5B2A86"/>
                          </a:solidFill>
                          <a:latin typeface="Arial" pitchFamily="34" charset="0"/>
                          <a:ea typeface="Arial" pitchFamily="34" charset="-122"/>
                          <a:cs typeface="Arial" pitchFamily="34" charset="-120"/>
                        </a:rPr>
                        <a:t>plant</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solidFill>
                      <a:srgbClr val="EFE8F6"/>
                    </a:solidFill>
                  </a:tcPr>
                </a:tc>
                <a:tc>
                  <a:txBody>
                    <a:bodyPr/>
                    <a:lstStyle/>
                    <a:p>
                      <a:pPr indent="0" marL="0">
                        <a:buNone/>
                      </a:pPr>
                      <a:r>
                        <a:rPr lang="en-US" sz="900" b="1" dirty="0">
                          <a:solidFill>
                            <a:srgbClr val="17131D"/>
                          </a:solidFill>
                          <a:latin typeface="Arial" pitchFamily="34" charset="0"/>
                          <a:ea typeface="Arial" pitchFamily="34" charset="-122"/>
                          <a:cs typeface="Arial" pitchFamily="34" charset="-120"/>
                        </a:rPr>
                        <a:t>good</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solidFill>
                      <a:srgbClr val="EFE8F6"/>
                    </a:solidFill>
                  </a:tcPr>
                </a:tc>
                <a:tc>
                  <a:txBody>
                    <a:bodyPr/>
                    <a:lstStyle/>
                    <a:p>
                      <a:pPr indent="0" marL="0">
                        <a:buNone/>
                      </a:pPr>
                      <a:r>
                        <a:rPr lang="en-US" sz="900" b="1" dirty="0">
                          <a:solidFill>
                            <a:srgbClr val="5B2A86"/>
                          </a:solidFill>
                          <a:latin typeface="Arial" pitchFamily="34" charset="0"/>
                          <a:ea typeface="Arial" pitchFamily="34" charset="-122"/>
                          <a:cs typeface="Arial" pitchFamily="34" charset="-120"/>
                        </a:rPr>
                        <a:t>good</a:t>
                      </a:r>
                      <a:endParaRPr lang="en-US" sz="900" dirty="0">
                        <a:latin typeface="Arial" charset="0"/>
                        <a:ea typeface="Arial" charset="0"/>
                        <a:cs typeface="Arial" charset="0"/>
                      </a:endParaRPr>
                    </a:p>
                  </a:txBody>
                  <a:tcPr marL="45720" marR="45720" marT="45720" marB="45720" anchor="ctr">
                    <a:lnL w="6350" cap="flat" cmpd="sng" algn="ctr">
                      <a:solidFill>
                        <a:srgbClr val="DED9E5"/>
                      </a:solidFill>
                      <a:prstDash val="solid"/>
                      <a:round/>
                      <a:headEnd type="none" w="med" len="med"/>
                      <a:tailEnd type="none" w="med" len="med"/>
                    </a:lnL>
                    <a:lnR w="6350" cap="flat" cmpd="sng" algn="ctr">
                      <a:solidFill>
                        <a:srgbClr val="DED9E5"/>
                      </a:solidFill>
                      <a:prstDash val="solid"/>
                      <a:round/>
                      <a:headEnd type="none" w="med" len="med"/>
                      <a:tailEnd type="none" w="med" len="med"/>
                    </a:lnR>
                    <a:lnT w="6350" cap="flat" cmpd="sng" algn="ctr">
                      <a:solidFill>
                        <a:srgbClr val="DED9E5"/>
                      </a:solidFill>
                      <a:prstDash val="solid"/>
                      <a:round/>
                      <a:headEnd type="none" w="med" len="med"/>
                      <a:tailEnd type="none" w="med" len="med"/>
                    </a:lnT>
                    <a:lnB w="6350" cap="flat" cmpd="sng" algn="ctr">
                      <a:solidFill>
                        <a:srgbClr val="DED9E5"/>
                      </a:solidFill>
                      <a:prstDash val="solid"/>
                      <a:round/>
                      <a:headEnd type="none" w="med" len="med"/>
                      <a:tailEnd type="none" w="med" len="med"/>
                    </a:lnB>
                    <a:solidFill>
                      <a:srgbClr val="EFE8F6"/>
                    </a:solidFill>
                  </a:tcPr>
                </a:tc>
              </a:tr>
            </a:tbl>
          </a:graphicData>
        </a:graphic>
      </p:graphicFrame>
      <p:sp>
        <p:nvSpPr>
          <p:cNvPr id="6" name="Shape 3"/>
          <p:cNvSpPr/>
          <p:nvPr/>
        </p:nvSpPr>
        <p:spPr>
          <a:xfrm>
            <a:off x="502920" y="3557016"/>
            <a:ext cx="0" cy="0"/>
          </a:xfrm>
          <a:prstGeom prst="rect">
            <a:avLst/>
          </a:prstGeom>
          <a:solidFill>
            <a:srgbClr val="FFFFFF"/>
          </a:solidFill>
          <a:ln/>
        </p:spPr>
      </p:sp>
      <p:sp>
        <p:nvSpPr>
          <p:cNvPr id="7" name="Text 4"/>
          <p:cNvSpPr txBox="1"/>
          <p:nvPr/>
        </p:nvSpPr>
        <p:spPr>
          <a:xfrm>
            <a:off x="502920" y="4023360"/>
            <a:ext cx="6309360" cy="365760"/>
          </a:xfrm>
          <a:prstGeom prst="rect">
            <a:avLst/>
          </a:prstGeom>
          <a:noFill/>
          <a:ln/>
        </p:spPr>
        <p:txBody>
          <a:bodyPr wrap="square" lIns="0" tIns="0" rIns="0" bIns="0" rtlCol="0" anchor="t"/>
          <a:lstStyle/>
          <a:p>
            <a:pPr indent="0" marL="0">
              <a:lnSpc>
                <a:spcPct val="105000"/>
              </a:lnSpc>
              <a:buNone/>
            </a:pPr>
            <a:r>
              <a:rPr lang="en-US" sz="850" dirty="0">
                <a:solidFill>
                  <a:srgbClr val="625D68"/>
                </a:solidFill>
                <a:latin typeface="Arial" pitchFamily="34" charset="0"/>
                <a:ea typeface="Arial" pitchFamily="34" charset="-122"/>
                <a:cs typeface="Arial" pitchFamily="34" charset="-120"/>
              </a:rPr>
              <a:t>Weights in brackets, sum 100. Marks are team judgement based on the documented behaviour of each approach class [2][5].</a:t>
            </a:r>
            <a:endParaRPr lang="en-US" sz="850" dirty="0"/>
          </a:p>
        </p:txBody>
      </p:sp>
      <p:sp>
        <p:nvSpPr>
          <p:cNvPr id="8" name="Text 5"/>
          <p:cNvSpPr txBox="1"/>
          <p:nvPr/>
        </p:nvSpPr>
        <p:spPr>
          <a:xfrm>
            <a:off x="7178040" y="1453896"/>
            <a:ext cx="4480560" cy="201168"/>
          </a:xfrm>
          <a:prstGeom prst="rect">
            <a:avLst/>
          </a:prstGeom>
          <a:noFill/>
          <a:ln/>
        </p:spPr>
        <p:txBody>
          <a:bodyPr wrap="square" lIns="0" tIns="0" rIns="0" bIns="0" rtlCol="0" anchor="t"/>
          <a:lstStyle/>
          <a:p>
            <a:pPr indent="0" marL="0">
              <a:lnSpc>
                <a:spcPct val="105000"/>
              </a:lnSpc>
              <a:buNone/>
            </a:pPr>
            <a:r>
              <a:rPr lang="en-US" sz="1200" b="1" dirty="0">
                <a:solidFill>
                  <a:srgbClr val="17131D"/>
                </a:solidFill>
                <a:latin typeface="Arial" pitchFamily="34" charset="0"/>
                <a:ea typeface="Arial" pitchFamily="34" charset="-122"/>
                <a:cs typeface="Arial" pitchFamily="34" charset="-120"/>
              </a:rPr>
              <a:t>Weighted score out of 5</a:t>
            </a:r>
            <a:endParaRPr lang="en-US" sz="1200" dirty="0"/>
          </a:p>
        </p:txBody>
      </p:sp>
      <p:sp>
        <p:nvSpPr>
          <p:cNvPr id="9" name="Text 6"/>
          <p:cNvSpPr txBox="1"/>
          <p:nvPr/>
        </p:nvSpPr>
        <p:spPr>
          <a:xfrm>
            <a:off x="7178040" y="1783080"/>
            <a:ext cx="1691640" cy="365760"/>
          </a:xfrm>
          <a:prstGeom prst="rect">
            <a:avLst/>
          </a:prstGeom>
          <a:noFill/>
          <a:ln/>
        </p:spPr>
        <p:txBody>
          <a:bodyPr wrap="square" lIns="0" tIns="0" rIns="0" bIns="0" rtlCol="0" anchor="t"/>
          <a:lstStyle/>
          <a:p>
            <a:pPr indent="0" marL="0">
              <a:lnSpc>
                <a:spcPct val="95000"/>
              </a:lnSpc>
              <a:buNone/>
            </a:pPr>
            <a:r>
              <a:rPr lang="en-US" sz="950" dirty="0">
                <a:solidFill>
                  <a:srgbClr val="17131D"/>
                </a:solidFill>
                <a:latin typeface="Arial" pitchFamily="34" charset="0"/>
                <a:ea typeface="Arial" pitchFamily="34" charset="-122"/>
                <a:cs typeface="Arial" pitchFamily="34" charset="-120"/>
              </a:rPr>
              <a:t>Run to failure</a:t>
            </a:r>
            <a:endParaRPr lang="en-US" sz="950" dirty="0"/>
          </a:p>
        </p:txBody>
      </p:sp>
      <p:sp>
        <p:nvSpPr>
          <p:cNvPr id="10" name="Shape 7"/>
          <p:cNvSpPr/>
          <p:nvPr/>
        </p:nvSpPr>
        <p:spPr>
          <a:xfrm>
            <a:off x="8915400" y="1764792"/>
            <a:ext cx="2331720" cy="237744"/>
          </a:xfrm>
          <a:prstGeom prst="rect">
            <a:avLst/>
          </a:prstGeom>
          <a:solidFill>
            <a:srgbClr val="F8F5FA"/>
          </a:solidFill>
          <a:ln/>
        </p:spPr>
      </p:sp>
      <p:sp>
        <p:nvSpPr>
          <p:cNvPr id="11" name="Shape 8"/>
          <p:cNvSpPr/>
          <p:nvPr/>
        </p:nvSpPr>
        <p:spPr>
          <a:xfrm>
            <a:off x="8915400" y="1764792"/>
            <a:ext cx="1072591" cy="237744"/>
          </a:xfrm>
          <a:prstGeom prst="rect">
            <a:avLst/>
          </a:prstGeom>
          <a:solidFill>
            <a:srgbClr val="DED9E5"/>
          </a:solidFill>
          <a:ln/>
        </p:spPr>
      </p:sp>
      <p:sp>
        <p:nvSpPr>
          <p:cNvPr id="12" name="Text 9"/>
          <p:cNvSpPr txBox="1"/>
          <p:nvPr/>
        </p:nvSpPr>
        <p:spPr>
          <a:xfrm>
            <a:off x="11320272" y="1778508"/>
            <a:ext cx="411480" cy="219456"/>
          </a:xfrm>
          <a:prstGeom prst="rect">
            <a:avLst/>
          </a:prstGeom>
          <a:noFill/>
          <a:ln/>
        </p:spPr>
        <p:txBody>
          <a:bodyPr wrap="square" lIns="0" tIns="0" rIns="0" bIns="0" rtlCol="0" anchor="t"/>
          <a:lstStyle/>
          <a:p>
            <a:pPr indent="0" marL="0">
              <a:lnSpc>
                <a:spcPct val="105000"/>
              </a:lnSpc>
              <a:buNone/>
            </a:pPr>
            <a:r>
              <a:rPr lang="en-US" sz="1050" b="1" dirty="0">
                <a:solidFill>
                  <a:srgbClr val="625D68"/>
                </a:solidFill>
                <a:latin typeface="Arial" pitchFamily="34" charset="0"/>
                <a:ea typeface="Arial" pitchFamily="34" charset="-122"/>
                <a:cs typeface="Arial" pitchFamily="34" charset="-120"/>
              </a:rPr>
              <a:t>2.3</a:t>
            </a:r>
            <a:endParaRPr lang="en-US" sz="1050" dirty="0"/>
          </a:p>
        </p:txBody>
      </p:sp>
      <p:sp>
        <p:nvSpPr>
          <p:cNvPr id="13" name="Text 10"/>
          <p:cNvSpPr txBox="1"/>
          <p:nvPr/>
        </p:nvSpPr>
        <p:spPr>
          <a:xfrm>
            <a:off x="7178040" y="2212848"/>
            <a:ext cx="1691640" cy="365760"/>
          </a:xfrm>
          <a:prstGeom prst="rect">
            <a:avLst/>
          </a:prstGeom>
          <a:noFill/>
          <a:ln/>
        </p:spPr>
        <p:txBody>
          <a:bodyPr wrap="square" lIns="0" tIns="0" rIns="0" bIns="0" rtlCol="0" anchor="t"/>
          <a:lstStyle/>
          <a:p>
            <a:pPr indent="0" marL="0">
              <a:lnSpc>
                <a:spcPct val="95000"/>
              </a:lnSpc>
              <a:buNone/>
            </a:pPr>
            <a:r>
              <a:rPr lang="en-US" sz="950" dirty="0">
                <a:solidFill>
                  <a:srgbClr val="17131D"/>
                </a:solidFill>
                <a:latin typeface="Arial" pitchFamily="34" charset="0"/>
                <a:ea typeface="Arial" pitchFamily="34" charset="-122"/>
                <a:cs typeface="Arial" pitchFamily="34" charset="-120"/>
              </a:rPr>
              <a:t>Calendar preventive</a:t>
            </a:r>
            <a:endParaRPr lang="en-US" sz="950" dirty="0"/>
          </a:p>
        </p:txBody>
      </p:sp>
      <p:sp>
        <p:nvSpPr>
          <p:cNvPr id="14" name="Shape 11"/>
          <p:cNvSpPr/>
          <p:nvPr/>
        </p:nvSpPr>
        <p:spPr>
          <a:xfrm>
            <a:off x="8915400" y="2194560"/>
            <a:ext cx="2331720" cy="237744"/>
          </a:xfrm>
          <a:prstGeom prst="rect">
            <a:avLst/>
          </a:prstGeom>
          <a:solidFill>
            <a:srgbClr val="F8F5FA"/>
          </a:solidFill>
          <a:ln/>
        </p:spPr>
      </p:sp>
      <p:sp>
        <p:nvSpPr>
          <p:cNvPr id="15" name="Shape 12"/>
          <p:cNvSpPr/>
          <p:nvPr/>
        </p:nvSpPr>
        <p:spPr>
          <a:xfrm>
            <a:off x="8915400" y="2194560"/>
            <a:ext cx="1399032" cy="237744"/>
          </a:xfrm>
          <a:prstGeom prst="rect">
            <a:avLst/>
          </a:prstGeom>
          <a:solidFill>
            <a:srgbClr val="DED9E5"/>
          </a:solidFill>
          <a:ln/>
        </p:spPr>
      </p:sp>
      <p:sp>
        <p:nvSpPr>
          <p:cNvPr id="16" name="Text 13"/>
          <p:cNvSpPr txBox="1"/>
          <p:nvPr/>
        </p:nvSpPr>
        <p:spPr>
          <a:xfrm>
            <a:off x="11320272" y="2208276"/>
            <a:ext cx="411480" cy="219456"/>
          </a:xfrm>
          <a:prstGeom prst="rect">
            <a:avLst/>
          </a:prstGeom>
          <a:noFill/>
          <a:ln/>
        </p:spPr>
        <p:txBody>
          <a:bodyPr wrap="square" lIns="0" tIns="0" rIns="0" bIns="0" rtlCol="0" anchor="t"/>
          <a:lstStyle/>
          <a:p>
            <a:pPr indent="0" marL="0">
              <a:lnSpc>
                <a:spcPct val="105000"/>
              </a:lnSpc>
              <a:buNone/>
            </a:pPr>
            <a:r>
              <a:rPr lang="en-US" sz="1050" b="1" dirty="0">
                <a:solidFill>
                  <a:srgbClr val="625D68"/>
                </a:solidFill>
                <a:latin typeface="Arial" pitchFamily="34" charset="0"/>
                <a:ea typeface="Arial" pitchFamily="34" charset="-122"/>
                <a:cs typeface="Arial" pitchFamily="34" charset="-120"/>
              </a:rPr>
              <a:t>3.0</a:t>
            </a:r>
            <a:endParaRPr lang="en-US" sz="1050" dirty="0"/>
          </a:p>
        </p:txBody>
      </p:sp>
      <p:sp>
        <p:nvSpPr>
          <p:cNvPr id="17" name="Text 14"/>
          <p:cNvSpPr txBox="1"/>
          <p:nvPr/>
        </p:nvSpPr>
        <p:spPr>
          <a:xfrm>
            <a:off x="7178040" y="2642616"/>
            <a:ext cx="1691640" cy="365760"/>
          </a:xfrm>
          <a:prstGeom prst="rect">
            <a:avLst/>
          </a:prstGeom>
          <a:noFill/>
          <a:ln/>
        </p:spPr>
        <p:txBody>
          <a:bodyPr wrap="square" lIns="0" tIns="0" rIns="0" bIns="0" rtlCol="0" anchor="t"/>
          <a:lstStyle/>
          <a:p>
            <a:pPr indent="0" marL="0">
              <a:lnSpc>
                <a:spcPct val="95000"/>
              </a:lnSpc>
              <a:buNone/>
            </a:pPr>
            <a:r>
              <a:rPr lang="en-US" sz="950" dirty="0">
                <a:solidFill>
                  <a:srgbClr val="17131D"/>
                </a:solidFill>
                <a:latin typeface="Arial" pitchFamily="34" charset="0"/>
                <a:ea typeface="Arial" pitchFamily="34" charset="-122"/>
                <a:cs typeface="Arial" pitchFamily="34" charset="-120"/>
              </a:rPr>
              <a:t>Offline vibration rounds</a:t>
            </a:r>
            <a:endParaRPr lang="en-US" sz="950" dirty="0"/>
          </a:p>
        </p:txBody>
      </p:sp>
      <p:sp>
        <p:nvSpPr>
          <p:cNvPr id="18" name="Shape 15"/>
          <p:cNvSpPr/>
          <p:nvPr/>
        </p:nvSpPr>
        <p:spPr>
          <a:xfrm>
            <a:off x="8915400" y="2624328"/>
            <a:ext cx="2331720" cy="237744"/>
          </a:xfrm>
          <a:prstGeom prst="rect">
            <a:avLst/>
          </a:prstGeom>
          <a:solidFill>
            <a:srgbClr val="F8F5FA"/>
          </a:solidFill>
          <a:ln/>
        </p:spPr>
      </p:sp>
      <p:sp>
        <p:nvSpPr>
          <p:cNvPr id="19" name="Shape 16"/>
          <p:cNvSpPr/>
          <p:nvPr/>
        </p:nvSpPr>
        <p:spPr>
          <a:xfrm>
            <a:off x="8915400" y="2624328"/>
            <a:ext cx="1352398" cy="237744"/>
          </a:xfrm>
          <a:prstGeom prst="rect">
            <a:avLst/>
          </a:prstGeom>
          <a:solidFill>
            <a:srgbClr val="DED9E5"/>
          </a:solidFill>
          <a:ln/>
        </p:spPr>
      </p:sp>
      <p:sp>
        <p:nvSpPr>
          <p:cNvPr id="20" name="Text 17"/>
          <p:cNvSpPr txBox="1"/>
          <p:nvPr/>
        </p:nvSpPr>
        <p:spPr>
          <a:xfrm>
            <a:off x="11320272" y="2638044"/>
            <a:ext cx="411480" cy="219456"/>
          </a:xfrm>
          <a:prstGeom prst="rect">
            <a:avLst/>
          </a:prstGeom>
          <a:noFill/>
          <a:ln/>
        </p:spPr>
        <p:txBody>
          <a:bodyPr wrap="square" lIns="0" tIns="0" rIns="0" bIns="0" rtlCol="0" anchor="t"/>
          <a:lstStyle/>
          <a:p>
            <a:pPr indent="0" marL="0">
              <a:lnSpc>
                <a:spcPct val="105000"/>
              </a:lnSpc>
              <a:buNone/>
            </a:pPr>
            <a:r>
              <a:rPr lang="en-US" sz="1050" b="1" dirty="0">
                <a:solidFill>
                  <a:srgbClr val="625D68"/>
                </a:solidFill>
                <a:latin typeface="Arial" pitchFamily="34" charset="0"/>
                <a:ea typeface="Arial" pitchFamily="34" charset="-122"/>
                <a:cs typeface="Arial" pitchFamily="34" charset="-120"/>
              </a:rPr>
              <a:t>2.9</a:t>
            </a:r>
            <a:endParaRPr lang="en-US" sz="1050" dirty="0"/>
          </a:p>
        </p:txBody>
      </p:sp>
      <p:sp>
        <p:nvSpPr>
          <p:cNvPr id="21" name="Text 18"/>
          <p:cNvSpPr txBox="1"/>
          <p:nvPr/>
        </p:nvSpPr>
        <p:spPr>
          <a:xfrm>
            <a:off x="7178040" y="3072384"/>
            <a:ext cx="1691640" cy="365760"/>
          </a:xfrm>
          <a:prstGeom prst="rect">
            <a:avLst/>
          </a:prstGeom>
          <a:noFill/>
          <a:ln/>
        </p:spPr>
        <p:txBody>
          <a:bodyPr wrap="square" lIns="0" tIns="0" rIns="0" bIns="0" rtlCol="0" anchor="t"/>
          <a:lstStyle/>
          <a:p>
            <a:pPr indent="0" marL="0">
              <a:lnSpc>
                <a:spcPct val="95000"/>
              </a:lnSpc>
              <a:buNone/>
            </a:pPr>
            <a:r>
              <a:rPr lang="en-US" sz="950" dirty="0">
                <a:solidFill>
                  <a:srgbClr val="17131D"/>
                </a:solidFill>
                <a:latin typeface="Arial" pitchFamily="34" charset="0"/>
                <a:ea typeface="Arial" pitchFamily="34" charset="-122"/>
                <a:cs typeface="Arial" pitchFamily="34" charset="-120"/>
              </a:rPr>
              <a:t>OEM cloud monitoring</a:t>
            </a:r>
            <a:endParaRPr lang="en-US" sz="950" dirty="0"/>
          </a:p>
        </p:txBody>
      </p:sp>
      <p:sp>
        <p:nvSpPr>
          <p:cNvPr id="22" name="Shape 19"/>
          <p:cNvSpPr/>
          <p:nvPr/>
        </p:nvSpPr>
        <p:spPr>
          <a:xfrm>
            <a:off x="8915400" y="3054096"/>
            <a:ext cx="2331720" cy="237744"/>
          </a:xfrm>
          <a:prstGeom prst="rect">
            <a:avLst/>
          </a:prstGeom>
          <a:solidFill>
            <a:srgbClr val="F8F5FA"/>
          </a:solidFill>
          <a:ln/>
        </p:spPr>
      </p:sp>
      <p:sp>
        <p:nvSpPr>
          <p:cNvPr id="23" name="Shape 20"/>
          <p:cNvSpPr/>
          <p:nvPr/>
        </p:nvSpPr>
        <p:spPr>
          <a:xfrm>
            <a:off x="8915400" y="3054096"/>
            <a:ext cx="1352398" cy="237744"/>
          </a:xfrm>
          <a:prstGeom prst="rect">
            <a:avLst/>
          </a:prstGeom>
          <a:solidFill>
            <a:srgbClr val="DED9E5"/>
          </a:solidFill>
          <a:ln/>
        </p:spPr>
      </p:sp>
      <p:sp>
        <p:nvSpPr>
          <p:cNvPr id="24" name="Text 21"/>
          <p:cNvSpPr txBox="1"/>
          <p:nvPr/>
        </p:nvSpPr>
        <p:spPr>
          <a:xfrm>
            <a:off x="11320272" y="3067812"/>
            <a:ext cx="411480" cy="219456"/>
          </a:xfrm>
          <a:prstGeom prst="rect">
            <a:avLst/>
          </a:prstGeom>
          <a:noFill/>
          <a:ln/>
        </p:spPr>
        <p:txBody>
          <a:bodyPr wrap="square" lIns="0" tIns="0" rIns="0" bIns="0" rtlCol="0" anchor="t"/>
          <a:lstStyle/>
          <a:p>
            <a:pPr indent="0" marL="0">
              <a:lnSpc>
                <a:spcPct val="105000"/>
              </a:lnSpc>
              <a:buNone/>
            </a:pPr>
            <a:r>
              <a:rPr lang="en-US" sz="1050" b="1" dirty="0">
                <a:solidFill>
                  <a:srgbClr val="625D68"/>
                </a:solidFill>
                <a:latin typeface="Arial" pitchFamily="34" charset="0"/>
                <a:ea typeface="Arial" pitchFamily="34" charset="-122"/>
                <a:cs typeface="Arial" pitchFamily="34" charset="-120"/>
              </a:rPr>
              <a:t>2.9</a:t>
            </a:r>
            <a:endParaRPr lang="en-US" sz="1050" dirty="0"/>
          </a:p>
        </p:txBody>
      </p:sp>
      <p:sp>
        <p:nvSpPr>
          <p:cNvPr id="25" name="Text 22"/>
          <p:cNvSpPr txBox="1"/>
          <p:nvPr/>
        </p:nvSpPr>
        <p:spPr>
          <a:xfrm>
            <a:off x="7178040" y="3502152"/>
            <a:ext cx="1691640" cy="365760"/>
          </a:xfrm>
          <a:prstGeom prst="rect">
            <a:avLst/>
          </a:prstGeom>
          <a:noFill/>
          <a:ln/>
        </p:spPr>
        <p:txBody>
          <a:bodyPr wrap="square" lIns="0" tIns="0" rIns="0" bIns="0" rtlCol="0" anchor="t"/>
          <a:lstStyle/>
          <a:p>
            <a:pPr indent="0" marL="0">
              <a:lnSpc>
                <a:spcPct val="95000"/>
              </a:lnSpc>
              <a:buNone/>
            </a:pPr>
            <a:r>
              <a:rPr lang="en-US" sz="950" b="1" dirty="0">
                <a:solidFill>
                  <a:srgbClr val="5B2A86"/>
                </a:solidFill>
                <a:latin typeface="Arial" pitchFamily="34" charset="0"/>
                <a:ea typeface="Arial" pitchFamily="34" charset="-122"/>
                <a:cs typeface="Arial" pitchFamily="34" charset="-120"/>
              </a:rPr>
              <a:t>NAADI on-site stack</a:t>
            </a:r>
            <a:endParaRPr lang="en-US" sz="950" dirty="0"/>
          </a:p>
        </p:txBody>
      </p:sp>
      <p:sp>
        <p:nvSpPr>
          <p:cNvPr id="26" name="Shape 23"/>
          <p:cNvSpPr/>
          <p:nvPr/>
        </p:nvSpPr>
        <p:spPr>
          <a:xfrm>
            <a:off x="8915400" y="3483864"/>
            <a:ext cx="2331720" cy="237744"/>
          </a:xfrm>
          <a:prstGeom prst="rect">
            <a:avLst/>
          </a:prstGeom>
          <a:solidFill>
            <a:srgbClr val="F8F5FA"/>
          </a:solidFill>
          <a:ln/>
        </p:spPr>
      </p:sp>
      <p:sp>
        <p:nvSpPr>
          <p:cNvPr id="27" name="Shape 24"/>
          <p:cNvSpPr/>
          <p:nvPr/>
        </p:nvSpPr>
        <p:spPr>
          <a:xfrm>
            <a:off x="8915400" y="3483864"/>
            <a:ext cx="2005279" cy="237744"/>
          </a:xfrm>
          <a:prstGeom prst="rect">
            <a:avLst/>
          </a:prstGeom>
          <a:solidFill>
            <a:srgbClr val="5B2A86"/>
          </a:solidFill>
          <a:ln/>
        </p:spPr>
      </p:sp>
      <p:sp>
        <p:nvSpPr>
          <p:cNvPr id="28" name="Text 25"/>
          <p:cNvSpPr txBox="1"/>
          <p:nvPr/>
        </p:nvSpPr>
        <p:spPr>
          <a:xfrm>
            <a:off x="11320272" y="3497580"/>
            <a:ext cx="411480" cy="219456"/>
          </a:xfrm>
          <a:prstGeom prst="rect">
            <a:avLst/>
          </a:prstGeom>
          <a:noFill/>
          <a:ln/>
        </p:spPr>
        <p:txBody>
          <a:bodyPr wrap="square" lIns="0" tIns="0" rIns="0" bIns="0" rtlCol="0" anchor="t"/>
          <a:lstStyle/>
          <a:p>
            <a:pPr indent="0" marL="0">
              <a:lnSpc>
                <a:spcPct val="105000"/>
              </a:lnSpc>
              <a:buNone/>
            </a:pPr>
            <a:r>
              <a:rPr lang="en-US" sz="1050" b="1" dirty="0">
                <a:solidFill>
                  <a:srgbClr val="5B2A86"/>
                </a:solidFill>
                <a:latin typeface="Arial" pitchFamily="34" charset="0"/>
                <a:ea typeface="Arial" pitchFamily="34" charset="-122"/>
                <a:cs typeface="Arial" pitchFamily="34" charset="-120"/>
              </a:rPr>
              <a:t>4.3</a:t>
            </a:r>
            <a:endParaRPr lang="en-US" sz="1050" dirty="0"/>
          </a:p>
        </p:txBody>
      </p:sp>
      <p:sp>
        <p:nvSpPr>
          <p:cNvPr id="29" name="Text 26"/>
          <p:cNvSpPr txBox="1"/>
          <p:nvPr/>
        </p:nvSpPr>
        <p:spPr>
          <a:xfrm>
            <a:off x="7178040" y="3904488"/>
            <a:ext cx="4480560" cy="457200"/>
          </a:xfrm>
          <a:prstGeom prst="rect">
            <a:avLst/>
          </a:prstGeom>
          <a:noFill/>
          <a:ln/>
        </p:spPr>
        <p:txBody>
          <a:bodyPr wrap="square" lIns="0" tIns="0" rIns="0" bIns="0" rtlCol="0" anchor="t"/>
          <a:lstStyle/>
          <a:p>
            <a:pPr indent="0" marL="0">
              <a:lnSpc>
                <a:spcPct val="110000"/>
              </a:lnSpc>
              <a:buNone/>
            </a:pPr>
            <a:r>
              <a:rPr lang="en-US" sz="1100" dirty="0">
                <a:solidFill>
                  <a:srgbClr val="17131D"/>
                </a:solidFill>
                <a:latin typeface="Arial" pitchFamily="34" charset="0"/>
                <a:ea typeface="Arial" pitchFamily="34" charset="-122"/>
                <a:cs typeface="Arial" pitchFamily="34" charset="-120"/>
              </a:rPr>
              <a:t>The gap is not sensing or algorithms. It is cost, data control and fit for mid-sized plants.</a:t>
            </a:r>
            <a:endParaRPr lang="en-US" sz="1100" dirty="0"/>
          </a:p>
        </p:txBody>
      </p:sp>
      <p:sp>
        <p:nvSpPr>
          <p:cNvPr id="30" name="Text 27"/>
          <p:cNvSpPr txBox="1"/>
          <p:nvPr/>
        </p:nvSpPr>
        <p:spPr>
          <a:xfrm>
            <a:off x="7178040" y="4379976"/>
            <a:ext cx="4480560" cy="457200"/>
          </a:xfrm>
          <a:prstGeom prst="rect">
            <a:avLst/>
          </a:prstGeom>
          <a:noFill/>
          <a:ln/>
        </p:spPr>
        <p:txBody>
          <a:bodyPr wrap="square" lIns="0" tIns="0" rIns="0" bIns="0" rtlCol="0" anchor="t"/>
          <a:lstStyle/>
          <a:p>
            <a:pPr indent="0" marL="0">
              <a:lnSpc>
                <a:spcPct val="105000"/>
              </a:lnSpc>
              <a:buNone/>
            </a:pPr>
            <a:r>
              <a:rPr lang="en-US" sz="850" dirty="0">
                <a:solidFill>
                  <a:srgbClr val="625D68"/>
                </a:solidFill>
                <a:latin typeface="Arial" pitchFamily="34" charset="0"/>
                <a:ea typeface="Arial" pitchFamily="34" charset="-122"/>
                <a:cs typeface="Arial" pitchFamily="34" charset="-120"/>
              </a:rPr>
              <a:t>How a score is built: each approach gets a 1-to-5 mark per criterion; the score is the weighted average. NAADI: (5×30 + 4×20 + 3×10 + 5×10 + 4×10 + 4×20) / 100 = 4.3.</a:t>
            </a:r>
            <a:endParaRPr lang="en-US" sz="850" dirty="0"/>
          </a:p>
        </p:txBody>
      </p:sp>
      <p:sp>
        <p:nvSpPr>
          <p:cNvPr id="31" name="Shape 28"/>
          <p:cNvSpPr/>
          <p:nvPr/>
        </p:nvSpPr>
        <p:spPr>
          <a:xfrm>
            <a:off x="502920" y="5148072"/>
            <a:ext cx="11185855" cy="0"/>
          </a:xfrm>
          <a:prstGeom prst="line">
            <a:avLst/>
          </a:prstGeom>
          <a:noFill/>
          <a:ln w="12700">
            <a:solidFill>
              <a:srgbClr val="DED9E5"/>
            </a:solidFill>
            <a:prstDash val="solid"/>
          </a:ln>
        </p:spPr>
      </p:sp>
      <p:sp>
        <p:nvSpPr>
          <p:cNvPr id="32" name="Text 29"/>
          <p:cNvSpPr txBox="1"/>
          <p:nvPr/>
        </p:nvSpPr>
        <p:spPr>
          <a:xfrm>
            <a:off x="502920" y="5257800"/>
            <a:ext cx="2011680" cy="457200"/>
          </a:xfrm>
          <a:prstGeom prst="rect">
            <a:avLst/>
          </a:prstGeom>
          <a:noFill/>
          <a:ln/>
        </p:spPr>
        <p:txBody>
          <a:bodyPr wrap="square" lIns="0" tIns="0" rIns="0" bIns="0" rtlCol="0" anchor="t"/>
          <a:lstStyle/>
          <a:p>
            <a:pPr indent="0" marL="0">
              <a:lnSpc>
                <a:spcPct val="105000"/>
              </a:lnSpc>
              <a:buNone/>
            </a:pPr>
            <a:r>
              <a:rPr lang="en-US" sz="1300" b="1" dirty="0">
                <a:solidFill>
                  <a:srgbClr val="5B2A86"/>
                </a:solidFill>
                <a:latin typeface="Arial" pitchFamily="34" charset="0"/>
                <a:ea typeface="Arial" pitchFamily="34" charset="-122"/>
                <a:cs typeface="Arial" pitchFamily="34" charset="-120"/>
              </a:rPr>
              <a:t>Design choices</a:t>
            </a:r>
            <a:endParaRPr lang="en-US" sz="1300" dirty="0"/>
          </a:p>
        </p:txBody>
      </p:sp>
      <p:sp>
        <p:nvSpPr>
          <p:cNvPr id="33" name="Shape 30"/>
          <p:cNvSpPr/>
          <p:nvPr/>
        </p:nvSpPr>
        <p:spPr>
          <a:xfrm>
            <a:off x="2542032" y="5458968"/>
            <a:ext cx="82296" cy="82296"/>
          </a:xfrm>
          <a:prstGeom prst="ellipse">
            <a:avLst/>
          </a:prstGeom>
          <a:solidFill>
            <a:srgbClr val="5B2A86"/>
          </a:solidFill>
          <a:ln/>
        </p:spPr>
      </p:sp>
      <p:sp>
        <p:nvSpPr>
          <p:cNvPr id="34" name="Shape 31"/>
          <p:cNvSpPr/>
          <p:nvPr/>
        </p:nvSpPr>
        <p:spPr>
          <a:xfrm flipV="1">
            <a:off x="2651760" y="5367528"/>
            <a:ext cx="91440" cy="91440"/>
          </a:xfrm>
          <a:prstGeom prst="line">
            <a:avLst/>
          </a:prstGeom>
          <a:noFill/>
          <a:ln w="17780">
            <a:solidFill>
              <a:srgbClr val="5B2A86"/>
            </a:solidFill>
            <a:prstDash val="solid"/>
          </a:ln>
        </p:spPr>
      </p:sp>
      <p:sp>
        <p:nvSpPr>
          <p:cNvPr id="35" name="Shape 32"/>
          <p:cNvSpPr/>
          <p:nvPr/>
        </p:nvSpPr>
        <p:spPr>
          <a:xfrm>
            <a:off x="2651760" y="5477256"/>
            <a:ext cx="91440" cy="91440"/>
          </a:xfrm>
          <a:prstGeom prst="line">
            <a:avLst/>
          </a:prstGeom>
          <a:noFill/>
          <a:ln w="17780">
            <a:solidFill>
              <a:srgbClr val="5B2A86"/>
            </a:solidFill>
            <a:prstDash val="solid"/>
          </a:ln>
        </p:spPr>
      </p:sp>
      <p:sp>
        <p:nvSpPr>
          <p:cNvPr id="36" name="Shape 33"/>
          <p:cNvSpPr/>
          <p:nvPr/>
        </p:nvSpPr>
        <p:spPr>
          <a:xfrm flipV="1">
            <a:off x="2734056" y="5312664"/>
            <a:ext cx="82296" cy="109728"/>
          </a:xfrm>
          <a:prstGeom prst="line">
            <a:avLst/>
          </a:prstGeom>
          <a:noFill/>
          <a:ln w="17780">
            <a:solidFill>
              <a:srgbClr val="5B2A86"/>
            </a:solidFill>
            <a:prstDash val="solid"/>
          </a:ln>
        </p:spPr>
      </p:sp>
      <p:sp>
        <p:nvSpPr>
          <p:cNvPr id="37" name="Shape 34"/>
          <p:cNvSpPr/>
          <p:nvPr/>
        </p:nvSpPr>
        <p:spPr>
          <a:xfrm>
            <a:off x="2734056" y="5513832"/>
            <a:ext cx="82296" cy="109728"/>
          </a:xfrm>
          <a:prstGeom prst="line">
            <a:avLst/>
          </a:prstGeom>
          <a:noFill/>
          <a:ln w="17780">
            <a:solidFill>
              <a:srgbClr val="5B2A86"/>
            </a:solidFill>
            <a:prstDash val="solid"/>
          </a:ln>
        </p:spPr>
      </p:sp>
      <p:sp>
        <p:nvSpPr>
          <p:cNvPr id="38" name="Text 35"/>
          <p:cNvSpPr txBox="1"/>
          <p:nvPr/>
        </p:nvSpPr>
        <p:spPr>
          <a:xfrm>
            <a:off x="2898648" y="5257800"/>
            <a:ext cx="1377635" cy="384048"/>
          </a:xfrm>
          <a:prstGeom prst="rect">
            <a:avLst/>
          </a:prstGeom>
          <a:noFill/>
          <a:ln/>
        </p:spPr>
        <p:txBody>
          <a:bodyPr wrap="square" lIns="0" tIns="0" rIns="0" bIns="0" rtlCol="0" anchor="t"/>
          <a:lstStyle/>
          <a:p>
            <a:pPr indent="0" marL="0">
              <a:lnSpc>
                <a:spcPct val="95000"/>
              </a:lnSpc>
              <a:buNone/>
            </a:pPr>
            <a:r>
              <a:rPr lang="en-US" sz="950" b="1" dirty="0">
                <a:solidFill>
                  <a:srgbClr val="17131D"/>
                </a:solidFill>
                <a:latin typeface="Arial" pitchFamily="34" charset="0"/>
                <a:ea typeface="Arial" pitchFamily="34" charset="-122"/>
                <a:cs typeface="Arial" pitchFamily="34" charset="-120"/>
              </a:rPr>
              <a:t>Continuous sensing</a:t>
            </a:r>
            <a:endParaRPr lang="en-US" sz="950" dirty="0"/>
          </a:p>
        </p:txBody>
      </p:sp>
      <p:sp>
        <p:nvSpPr>
          <p:cNvPr id="39" name="Text 36"/>
          <p:cNvSpPr txBox="1"/>
          <p:nvPr/>
        </p:nvSpPr>
        <p:spPr>
          <a:xfrm>
            <a:off x="2898648" y="5660136"/>
            <a:ext cx="1377635" cy="384048"/>
          </a:xfrm>
          <a:prstGeom prst="rect">
            <a:avLst/>
          </a:prstGeom>
          <a:noFill/>
          <a:ln/>
        </p:spPr>
        <p:txBody>
          <a:bodyPr wrap="square" lIns="0" tIns="0" rIns="0" bIns="0" rtlCol="0" anchor="t"/>
          <a:lstStyle/>
          <a:p>
            <a:pPr indent="0" marL="0">
              <a:lnSpc>
                <a:spcPct val="98000"/>
              </a:lnSpc>
              <a:buNone/>
            </a:pPr>
            <a:r>
              <a:rPr lang="en-US" sz="850" dirty="0">
                <a:solidFill>
                  <a:srgbClr val="625D68"/>
                </a:solidFill>
                <a:latin typeface="Arial" pitchFamily="34" charset="0"/>
                <a:ea typeface="Arial" pitchFamily="34" charset="-122"/>
                <a:cs typeface="Arial" pitchFamily="34" charset="-120"/>
              </a:rPr>
              <a:t>no month-long blind windows</a:t>
            </a:r>
            <a:endParaRPr lang="en-US" sz="850" dirty="0"/>
          </a:p>
        </p:txBody>
      </p:sp>
      <p:sp>
        <p:nvSpPr>
          <p:cNvPr id="40" name="Shape 37"/>
          <p:cNvSpPr/>
          <p:nvPr/>
        </p:nvSpPr>
        <p:spPr>
          <a:xfrm>
            <a:off x="4367723" y="5440680"/>
            <a:ext cx="64008" cy="146304"/>
          </a:xfrm>
          <a:prstGeom prst="rect">
            <a:avLst/>
          </a:prstGeom>
          <a:solidFill>
            <a:srgbClr val="5B2A86"/>
          </a:solidFill>
          <a:ln/>
        </p:spPr>
      </p:sp>
      <p:sp>
        <p:nvSpPr>
          <p:cNvPr id="41" name="Shape 38"/>
          <p:cNvSpPr/>
          <p:nvPr/>
        </p:nvSpPr>
        <p:spPr>
          <a:xfrm>
            <a:off x="4468307" y="5349240"/>
            <a:ext cx="64008" cy="237744"/>
          </a:xfrm>
          <a:prstGeom prst="rect">
            <a:avLst/>
          </a:prstGeom>
          <a:solidFill>
            <a:srgbClr val="5B2A86"/>
          </a:solidFill>
          <a:ln/>
        </p:spPr>
      </p:sp>
      <p:sp>
        <p:nvSpPr>
          <p:cNvPr id="42" name="Shape 39"/>
          <p:cNvSpPr/>
          <p:nvPr/>
        </p:nvSpPr>
        <p:spPr>
          <a:xfrm>
            <a:off x="4568891" y="5394960"/>
            <a:ext cx="64008" cy="192024"/>
          </a:xfrm>
          <a:prstGeom prst="rect">
            <a:avLst/>
          </a:prstGeom>
          <a:solidFill>
            <a:srgbClr val="5B2A86"/>
          </a:solidFill>
          <a:ln/>
        </p:spPr>
      </p:sp>
      <p:sp>
        <p:nvSpPr>
          <p:cNvPr id="43" name="Text 40"/>
          <p:cNvSpPr txBox="1"/>
          <p:nvPr/>
        </p:nvSpPr>
        <p:spPr>
          <a:xfrm>
            <a:off x="4733483" y="5257800"/>
            <a:ext cx="1377635" cy="384048"/>
          </a:xfrm>
          <a:prstGeom prst="rect">
            <a:avLst/>
          </a:prstGeom>
          <a:noFill/>
          <a:ln/>
        </p:spPr>
        <p:txBody>
          <a:bodyPr wrap="square" lIns="0" tIns="0" rIns="0" bIns="0" rtlCol="0" anchor="t"/>
          <a:lstStyle/>
          <a:p>
            <a:pPr indent="0" marL="0">
              <a:lnSpc>
                <a:spcPct val="95000"/>
              </a:lnSpc>
              <a:buNone/>
            </a:pPr>
            <a:r>
              <a:rPr lang="en-US" sz="950" b="1" dirty="0">
                <a:solidFill>
                  <a:srgbClr val="17131D"/>
                </a:solidFill>
                <a:latin typeface="Arial" pitchFamily="34" charset="0"/>
                <a:ea typeface="Arial" pitchFamily="34" charset="-122"/>
                <a:cs typeface="Arial" pitchFamily="34" charset="-120"/>
              </a:rPr>
              <a:t>Explainable vibration features</a:t>
            </a:r>
            <a:endParaRPr lang="en-US" sz="950" dirty="0"/>
          </a:p>
        </p:txBody>
      </p:sp>
      <p:sp>
        <p:nvSpPr>
          <p:cNvPr id="44" name="Text 41"/>
          <p:cNvSpPr txBox="1"/>
          <p:nvPr/>
        </p:nvSpPr>
        <p:spPr>
          <a:xfrm>
            <a:off x="4733483" y="5660136"/>
            <a:ext cx="1377635" cy="384048"/>
          </a:xfrm>
          <a:prstGeom prst="rect">
            <a:avLst/>
          </a:prstGeom>
          <a:noFill/>
          <a:ln/>
        </p:spPr>
        <p:txBody>
          <a:bodyPr wrap="square" lIns="0" tIns="0" rIns="0" bIns="0" rtlCol="0" anchor="t"/>
          <a:lstStyle/>
          <a:p>
            <a:pPr indent="0" marL="0">
              <a:lnSpc>
                <a:spcPct val="98000"/>
              </a:lnSpc>
              <a:buNone/>
            </a:pPr>
            <a:r>
              <a:rPr lang="en-US" sz="850" dirty="0">
                <a:solidFill>
                  <a:srgbClr val="625D68"/>
                </a:solidFill>
                <a:latin typeface="Arial" pitchFamily="34" charset="0"/>
                <a:ea typeface="Arial" pitchFamily="34" charset="-122"/>
                <a:cs typeface="Arial" pitchFamily="34" charset="-120"/>
              </a:rPr>
              <a:t>auditable by plant engineers</a:t>
            </a:r>
            <a:endParaRPr lang="en-US" sz="850" dirty="0"/>
          </a:p>
        </p:txBody>
      </p:sp>
      <p:sp>
        <p:nvSpPr>
          <p:cNvPr id="45" name="Shape 42"/>
          <p:cNvSpPr/>
          <p:nvPr/>
        </p:nvSpPr>
        <p:spPr>
          <a:xfrm>
            <a:off x="6211702" y="5330952"/>
            <a:ext cx="256032" cy="256032"/>
          </a:xfrm>
          <a:prstGeom prst="rect">
            <a:avLst/>
          </a:prstGeom>
          <a:solidFill>
            <a:srgbClr val="FFFFFF"/>
          </a:solidFill>
          <a:ln w="17780">
            <a:solidFill>
              <a:srgbClr val="5B2A86"/>
            </a:solidFill>
            <a:prstDash val="solid"/>
          </a:ln>
        </p:spPr>
      </p:sp>
      <p:sp>
        <p:nvSpPr>
          <p:cNvPr id="46" name="Shape 43"/>
          <p:cNvSpPr/>
          <p:nvPr/>
        </p:nvSpPr>
        <p:spPr>
          <a:xfrm>
            <a:off x="6303142" y="5422392"/>
            <a:ext cx="73152" cy="73152"/>
          </a:xfrm>
          <a:prstGeom prst="ellipse">
            <a:avLst/>
          </a:prstGeom>
          <a:solidFill>
            <a:srgbClr val="5B2A86"/>
          </a:solidFill>
          <a:ln/>
        </p:spPr>
      </p:sp>
      <p:sp>
        <p:nvSpPr>
          <p:cNvPr id="47" name="Text 44"/>
          <p:cNvSpPr txBox="1"/>
          <p:nvPr/>
        </p:nvSpPr>
        <p:spPr>
          <a:xfrm>
            <a:off x="6568318" y="5257800"/>
            <a:ext cx="1377635" cy="384048"/>
          </a:xfrm>
          <a:prstGeom prst="rect">
            <a:avLst/>
          </a:prstGeom>
          <a:noFill/>
          <a:ln/>
        </p:spPr>
        <p:txBody>
          <a:bodyPr wrap="square" lIns="0" tIns="0" rIns="0" bIns="0" rtlCol="0" anchor="t"/>
          <a:lstStyle/>
          <a:p>
            <a:pPr indent="0" marL="0">
              <a:lnSpc>
                <a:spcPct val="95000"/>
              </a:lnSpc>
              <a:buNone/>
            </a:pPr>
            <a:r>
              <a:rPr lang="en-US" sz="950" b="1" dirty="0">
                <a:solidFill>
                  <a:srgbClr val="17131D"/>
                </a:solidFill>
                <a:latin typeface="Arial" pitchFamily="34" charset="0"/>
                <a:ea typeface="Arial" pitchFamily="34" charset="-122"/>
                <a:cs typeface="Arial" pitchFamily="34" charset="-120"/>
              </a:rPr>
              <a:t>Plant-controlled data</a:t>
            </a:r>
            <a:endParaRPr lang="en-US" sz="950" dirty="0"/>
          </a:p>
        </p:txBody>
      </p:sp>
      <p:sp>
        <p:nvSpPr>
          <p:cNvPr id="48" name="Text 45"/>
          <p:cNvSpPr txBox="1"/>
          <p:nvPr/>
        </p:nvSpPr>
        <p:spPr>
          <a:xfrm>
            <a:off x="6568318" y="5660136"/>
            <a:ext cx="1377635" cy="384048"/>
          </a:xfrm>
          <a:prstGeom prst="rect">
            <a:avLst/>
          </a:prstGeom>
          <a:noFill/>
          <a:ln/>
        </p:spPr>
        <p:txBody>
          <a:bodyPr wrap="square" lIns="0" tIns="0" rIns="0" bIns="0" rtlCol="0" anchor="t"/>
          <a:lstStyle/>
          <a:p>
            <a:pPr indent="0" marL="0">
              <a:lnSpc>
                <a:spcPct val="98000"/>
              </a:lnSpc>
              <a:buNone/>
            </a:pPr>
            <a:r>
              <a:rPr lang="en-US" sz="850" dirty="0">
                <a:solidFill>
                  <a:srgbClr val="625D68"/>
                </a:solidFill>
                <a:latin typeface="Arial" pitchFamily="34" charset="0"/>
                <a:ea typeface="Arial" pitchFamily="34" charset="-122"/>
                <a:cs typeface="Arial" pitchFamily="34" charset="-120"/>
              </a:rPr>
              <a:t>no vendor silo</a:t>
            </a:r>
            <a:endParaRPr lang="en-US" sz="850" dirty="0"/>
          </a:p>
        </p:txBody>
      </p:sp>
      <p:sp>
        <p:nvSpPr>
          <p:cNvPr id="49" name="Shape 46"/>
          <p:cNvSpPr/>
          <p:nvPr/>
        </p:nvSpPr>
        <p:spPr>
          <a:xfrm>
            <a:off x="8064825" y="5404104"/>
            <a:ext cx="219456" cy="182880"/>
          </a:xfrm>
          <a:prstGeom prst="ellipse">
            <a:avLst/>
          </a:prstGeom>
          <a:solidFill>
            <a:srgbClr val="FFFFFF"/>
          </a:solidFill>
          <a:ln w="17780">
            <a:solidFill>
              <a:srgbClr val="5B2A86"/>
            </a:solidFill>
            <a:prstDash val="solid"/>
          </a:ln>
        </p:spPr>
      </p:sp>
      <p:sp>
        <p:nvSpPr>
          <p:cNvPr id="50" name="Shape 47"/>
          <p:cNvSpPr/>
          <p:nvPr/>
        </p:nvSpPr>
        <p:spPr>
          <a:xfrm>
            <a:off x="8174553" y="5276088"/>
            <a:ext cx="0" cy="146304"/>
          </a:xfrm>
          <a:prstGeom prst="line">
            <a:avLst/>
          </a:prstGeom>
          <a:noFill/>
          <a:ln w="17780">
            <a:solidFill>
              <a:srgbClr val="5B2A86"/>
            </a:solidFill>
            <a:prstDash val="solid"/>
            <a:tailEnd type="triangle"/>
          </a:ln>
        </p:spPr>
      </p:sp>
      <p:sp>
        <p:nvSpPr>
          <p:cNvPr id="51" name="Text 48"/>
          <p:cNvSpPr txBox="1"/>
          <p:nvPr/>
        </p:nvSpPr>
        <p:spPr>
          <a:xfrm>
            <a:off x="8403153" y="5257800"/>
            <a:ext cx="1377635" cy="384048"/>
          </a:xfrm>
          <a:prstGeom prst="rect">
            <a:avLst/>
          </a:prstGeom>
          <a:noFill/>
          <a:ln/>
        </p:spPr>
        <p:txBody>
          <a:bodyPr wrap="square" lIns="0" tIns="0" rIns="0" bIns="0" rtlCol="0" anchor="t"/>
          <a:lstStyle/>
          <a:p>
            <a:pPr indent="0" marL="0">
              <a:lnSpc>
                <a:spcPct val="95000"/>
              </a:lnSpc>
              <a:buNone/>
            </a:pPr>
            <a:r>
              <a:rPr lang="en-US" sz="950" b="1" dirty="0">
                <a:solidFill>
                  <a:srgbClr val="17131D"/>
                </a:solidFill>
                <a:latin typeface="Arial" pitchFamily="34" charset="0"/>
                <a:ea typeface="Arial" pitchFamily="34" charset="-122"/>
                <a:cs typeface="Arial" pitchFamily="34" charset="-120"/>
              </a:rPr>
              <a:t>Retrofit installation</a:t>
            </a:r>
            <a:endParaRPr lang="en-US" sz="950" dirty="0"/>
          </a:p>
        </p:txBody>
      </p:sp>
      <p:sp>
        <p:nvSpPr>
          <p:cNvPr id="52" name="Text 49"/>
          <p:cNvSpPr txBox="1"/>
          <p:nvPr/>
        </p:nvSpPr>
        <p:spPr>
          <a:xfrm>
            <a:off x="8403153" y="5660136"/>
            <a:ext cx="1377635" cy="384048"/>
          </a:xfrm>
          <a:prstGeom prst="rect">
            <a:avLst/>
          </a:prstGeom>
          <a:noFill/>
          <a:ln/>
        </p:spPr>
        <p:txBody>
          <a:bodyPr wrap="square" lIns="0" tIns="0" rIns="0" bIns="0" rtlCol="0" anchor="t"/>
          <a:lstStyle/>
          <a:p>
            <a:pPr indent="0" marL="0">
              <a:lnSpc>
                <a:spcPct val="98000"/>
              </a:lnSpc>
              <a:buNone/>
            </a:pPr>
            <a:r>
              <a:rPr lang="en-US" sz="850" dirty="0">
                <a:solidFill>
                  <a:srgbClr val="625D68"/>
                </a:solidFill>
                <a:latin typeface="Arial" pitchFamily="34" charset="0"/>
                <a:ea typeface="Arial" pitchFamily="34" charset="-122"/>
                <a:cs typeface="Arial" pitchFamily="34" charset="-120"/>
              </a:rPr>
              <a:t>no shutdown, no cabling</a:t>
            </a:r>
            <a:endParaRPr lang="en-US" sz="850" dirty="0"/>
          </a:p>
        </p:txBody>
      </p:sp>
      <p:sp>
        <p:nvSpPr>
          <p:cNvPr id="53" name="Shape 50"/>
          <p:cNvSpPr/>
          <p:nvPr/>
        </p:nvSpPr>
        <p:spPr>
          <a:xfrm>
            <a:off x="9872228" y="5349240"/>
            <a:ext cx="109728" cy="91440"/>
          </a:xfrm>
          <a:prstGeom prst="rect">
            <a:avLst/>
          </a:prstGeom>
          <a:solidFill>
            <a:srgbClr val="FFFFFF"/>
          </a:solidFill>
          <a:ln w="17780">
            <a:solidFill>
              <a:srgbClr val="5B2A86"/>
            </a:solidFill>
            <a:prstDash val="solid"/>
          </a:ln>
        </p:spPr>
      </p:sp>
      <p:sp>
        <p:nvSpPr>
          <p:cNvPr id="54" name="Shape 51"/>
          <p:cNvSpPr/>
          <p:nvPr/>
        </p:nvSpPr>
        <p:spPr>
          <a:xfrm>
            <a:off x="10036820" y="5477256"/>
            <a:ext cx="109728" cy="91440"/>
          </a:xfrm>
          <a:prstGeom prst="rect">
            <a:avLst/>
          </a:prstGeom>
          <a:solidFill>
            <a:srgbClr val="FFFFFF"/>
          </a:solidFill>
          <a:ln w="17780">
            <a:solidFill>
              <a:srgbClr val="5B2A86"/>
            </a:solidFill>
            <a:prstDash val="solid"/>
          </a:ln>
        </p:spPr>
      </p:sp>
      <p:sp>
        <p:nvSpPr>
          <p:cNvPr id="55" name="Shape 52"/>
          <p:cNvSpPr/>
          <p:nvPr/>
        </p:nvSpPr>
        <p:spPr>
          <a:xfrm>
            <a:off x="9981956" y="5394960"/>
            <a:ext cx="82296" cy="128016"/>
          </a:xfrm>
          <a:prstGeom prst="line">
            <a:avLst/>
          </a:prstGeom>
          <a:noFill/>
          <a:ln w="17780">
            <a:solidFill>
              <a:srgbClr val="5B2A86"/>
            </a:solidFill>
            <a:prstDash val="solid"/>
          </a:ln>
        </p:spPr>
      </p:sp>
      <p:sp>
        <p:nvSpPr>
          <p:cNvPr id="56" name="Text 53"/>
          <p:cNvSpPr txBox="1"/>
          <p:nvPr/>
        </p:nvSpPr>
        <p:spPr>
          <a:xfrm>
            <a:off x="10237988" y="5257800"/>
            <a:ext cx="1377635" cy="384048"/>
          </a:xfrm>
          <a:prstGeom prst="rect">
            <a:avLst/>
          </a:prstGeom>
          <a:noFill/>
          <a:ln/>
        </p:spPr>
        <p:txBody>
          <a:bodyPr wrap="square" lIns="0" tIns="0" rIns="0" bIns="0" rtlCol="0" anchor="t"/>
          <a:lstStyle/>
          <a:p>
            <a:pPr indent="0" marL="0">
              <a:lnSpc>
                <a:spcPct val="95000"/>
              </a:lnSpc>
              <a:buNone/>
            </a:pPr>
            <a:r>
              <a:rPr lang="en-US" sz="950" b="1" dirty="0">
                <a:solidFill>
                  <a:srgbClr val="17131D"/>
                </a:solidFill>
                <a:latin typeface="Arial" pitchFamily="34" charset="0"/>
                <a:ea typeface="Arial" pitchFamily="34" charset="-122"/>
                <a:cs typeface="Arial" pitchFamily="34" charset="-120"/>
              </a:rPr>
              <a:t>Connection to the existing CMMS</a:t>
            </a:r>
            <a:endParaRPr lang="en-US" sz="950" dirty="0"/>
          </a:p>
        </p:txBody>
      </p:sp>
      <p:sp>
        <p:nvSpPr>
          <p:cNvPr id="57" name="Text 54"/>
          <p:cNvSpPr txBox="1"/>
          <p:nvPr/>
        </p:nvSpPr>
        <p:spPr>
          <a:xfrm>
            <a:off x="10237988" y="5660136"/>
            <a:ext cx="1377635" cy="384048"/>
          </a:xfrm>
          <a:prstGeom prst="rect">
            <a:avLst/>
          </a:prstGeom>
          <a:noFill/>
          <a:ln/>
        </p:spPr>
        <p:txBody>
          <a:bodyPr wrap="square" lIns="0" tIns="0" rIns="0" bIns="0" rtlCol="0" anchor="t"/>
          <a:lstStyle/>
          <a:p>
            <a:pPr indent="0" marL="0">
              <a:lnSpc>
                <a:spcPct val="98000"/>
              </a:lnSpc>
              <a:buNone/>
            </a:pPr>
            <a:r>
              <a:rPr lang="en-US" sz="850" dirty="0">
                <a:solidFill>
                  <a:srgbClr val="625D68"/>
                </a:solidFill>
                <a:latin typeface="Arial" pitchFamily="34" charset="0"/>
                <a:ea typeface="Arial" pitchFamily="34" charset="-122"/>
                <a:cs typeface="Arial" pitchFamily="34" charset="-120"/>
              </a:rPr>
              <a:t>alerts become work orders</a:t>
            </a:r>
            <a:endParaRPr lang="en-US" sz="850" dirty="0"/>
          </a:p>
        </p:txBody>
      </p:sp>
      <p:sp>
        <p:nvSpPr>
          <p:cNvPr id="58" name="Text 55"/>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850" dirty="0">
                <a:solidFill>
                  <a:srgbClr val="625D68"/>
                </a:solidFill>
                <a:latin typeface="Arial" pitchFamily="34" charset="0"/>
                <a:ea typeface="Arial" pitchFamily="34" charset="-122"/>
                <a:cs typeface="Arial" pitchFamily="34" charset="-120"/>
              </a:rPr>
              <a:t>India Chem 2026 · NIT Warangal</a:t>
            </a:r>
            <a:endParaRPr lang="en-US" sz="850" dirty="0"/>
          </a:p>
        </p:txBody>
      </p:sp>
      <p:sp>
        <p:nvSpPr>
          <p:cNvPr id="59" name="Text 56"/>
          <p:cNvSpPr txBox="1"/>
          <p:nvPr/>
        </p:nvSpPr>
        <p:spPr>
          <a:xfrm>
            <a:off x="10957255" y="6583680"/>
            <a:ext cx="731520" cy="182880"/>
          </a:xfrm>
          <a:prstGeom prst="rect">
            <a:avLst/>
          </a:prstGeom>
          <a:noFill/>
          <a:ln/>
        </p:spPr>
        <p:txBody>
          <a:bodyPr wrap="square" lIns="0" tIns="0" rIns="0" bIns="0" rtlCol="0" anchor="ctr"/>
          <a:lstStyle/>
          <a:p>
            <a:pPr algn="r" indent="0" marL="0">
              <a:buNone/>
            </a:pPr>
            <a:r>
              <a:rPr lang="en-US" sz="850" dirty="0">
                <a:solidFill>
                  <a:srgbClr val="625D68"/>
                </a:solidFill>
                <a:latin typeface="Arial" pitchFamily="34" charset="0"/>
                <a:ea typeface="Arial" pitchFamily="34" charset="-122"/>
                <a:cs typeface="Arial" pitchFamily="34" charset="-120"/>
              </a:rPr>
              <a:t>3 / 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5486400" cy="201168"/>
          </a:xfrm>
          <a:prstGeom prst="rect">
            <a:avLst/>
          </a:prstGeom>
          <a:noFill/>
          <a:ln/>
        </p:spPr>
        <p:txBody>
          <a:bodyPr wrap="square" lIns="0" tIns="0" rIns="0" bIns="0" rtlCol="0" anchor="ctr"/>
          <a:lstStyle/>
          <a:p>
            <a:pPr indent="0" marL="0">
              <a:buNone/>
            </a:pPr>
            <a:r>
              <a:rPr lang="en-US" sz="1000" b="1" dirty="0">
                <a:solidFill>
                  <a:srgbClr val="7A4AA5"/>
                </a:solidFill>
                <a:latin typeface="Arial" pitchFamily="34" charset="0"/>
                <a:ea typeface="Arial" pitchFamily="34" charset="-122"/>
                <a:cs typeface="Arial" pitchFamily="34" charset="-120"/>
              </a:rPr>
              <a:t>Proposed solution</a:t>
            </a:r>
            <a:endParaRPr lang="en-US" sz="1000" dirty="0"/>
          </a:p>
        </p:txBody>
      </p:sp>
      <p:sp>
        <p:nvSpPr>
          <p:cNvPr id="3" name="Text 1"/>
          <p:cNvSpPr txBox="1"/>
          <p:nvPr/>
        </p:nvSpPr>
        <p:spPr>
          <a:xfrm>
            <a:off x="502920" y="420624"/>
            <a:ext cx="11185855" cy="822960"/>
          </a:xfrm>
          <a:prstGeom prst="rect">
            <a:avLst/>
          </a:prstGeom>
          <a:noFill/>
          <a:ln/>
        </p:spPr>
        <p:txBody>
          <a:bodyPr wrap="square" lIns="0" tIns="0" rIns="0" bIns="0" rtlCol="0" anchor="t"/>
          <a:lstStyle/>
          <a:p>
            <a:pPr indent="0" marL="0">
              <a:lnSpc>
                <a:spcPct val="103000"/>
              </a:lnSpc>
              <a:buNone/>
            </a:pPr>
            <a:r>
              <a:rPr lang="en-US" sz="2600" b="1" dirty="0">
                <a:solidFill>
                  <a:srgbClr val="17131D"/>
                </a:solidFill>
                <a:latin typeface="Arial" pitchFamily="34" charset="0"/>
                <a:ea typeface="Arial" pitchFamily="34" charset="-122"/>
                <a:cs typeface="Arial" pitchFamily="34" charset="-120"/>
              </a:rPr>
              <a:t>NAADI links vibration sensing to maintenance action </a:t>
            </a:r>
            <a:pPr indent="0" marL="0">
              <a:lnSpc>
                <a:spcPct val="103000"/>
              </a:lnSpc>
              <a:buNone/>
            </a:pPr>
            <a:r>
              <a:rPr lang="en-US" sz="2600" b="1" dirty="0">
                <a:solidFill>
                  <a:srgbClr val="5B2A86"/>
                </a:solidFill>
                <a:latin typeface="Arial" pitchFamily="34" charset="0"/>
                <a:ea typeface="Arial" pitchFamily="34" charset="-122"/>
                <a:cs typeface="Arial" pitchFamily="34" charset="-120"/>
              </a:rPr>
              <a:t>while keeping operational data on site</a:t>
            </a:r>
            <a:endParaRPr lang="en-US" sz="2600" dirty="0"/>
          </a:p>
        </p:txBody>
      </p:sp>
      <p:sp>
        <p:nvSpPr>
          <p:cNvPr id="4" name="Shape 2"/>
          <p:cNvSpPr/>
          <p:nvPr/>
        </p:nvSpPr>
        <p:spPr>
          <a:xfrm>
            <a:off x="502920" y="1463040"/>
            <a:ext cx="11185855" cy="3566160"/>
          </a:xfrm>
          <a:prstGeom prst="rect">
            <a:avLst/>
          </a:prstGeom>
          <a:solidFill>
            <a:srgbClr val="F8F5FA"/>
          </a:solidFill>
          <a:ln/>
        </p:spPr>
      </p:sp>
      <p:sp>
        <p:nvSpPr>
          <p:cNvPr id="5" name="Shape 3"/>
          <p:cNvSpPr/>
          <p:nvPr/>
        </p:nvSpPr>
        <p:spPr>
          <a:xfrm>
            <a:off x="502920" y="1463040"/>
            <a:ext cx="11185855" cy="3566160"/>
          </a:xfrm>
          <a:prstGeom prst="rect">
            <a:avLst/>
          </a:prstGeom>
          <a:ln w="12700">
            <a:solidFill>
              <a:srgbClr val="DED9E5"/>
            </a:solidFill>
            <a:prstDash val="dash"/>
          </a:ln>
        </p:spPr>
      </p:sp>
      <p:sp>
        <p:nvSpPr>
          <p:cNvPr id="6" name="Text 4"/>
          <p:cNvSpPr txBox="1"/>
          <p:nvPr/>
        </p:nvSpPr>
        <p:spPr>
          <a:xfrm>
            <a:off x="8579815" y="1554480"/>
            <a:ext cx="2971800" cy="182880"/>
          </a:xfrm>
          <a:prstGeom prst="rect">
            <a:avLst/>
          </a:prstGeom>
          <a:noFill/>
          <a:ln/>
        </p:spPr>
        <p:txBody>
          <a:bodyPr wrap="square" lIns="0" tIns="0" rIns="0" bIns="0" rtlCol="0" anchor="t"/>
          <a:lstStyle/>
          <a:p>
            <a:pPr algn="r" indent="0" marL="0">
              <a:lnSpc>
                <a:spcPct val="105000"/>
              </a:lnSpc>
              <a:buNone/>
            </a:pPr>
            <a:r>
              <a:rPr lang="en-US" sz="900" dirty="0">
                <a:solidFill>
                  <a:srgbClr val="625D68"/>
                </a:solidFill>
                <a:latin typeface="Arial" pitchFamily="34" charset="0"/>
                <a:ea typeface="Arial" pitchFamily="34" charset="-122"/>
                <a:cs typeface="Arial" pitchFamily="34" charset="-120"/>
              </a:rPr>
              <a:t>All data and models stay on the plant network</a:t>
            </a:r>
            <a:endParaRPr lang="en-US" sz="900" dirty="0"/>
          </a:p>
        </p:txBody>
      </p:sp>
      <p:sp>
        <p:nvSpPr>
          <p:cNvPr id="7" name="Shape 5"/>
          <p:cNvSpPr/>
          <p:nvPr/>
        </p:nvSpPr>
        <p:spPr>
          <a:xfrm>
            <a:off x="777240" y="2141982"/>
            <a:ext cx="738378" cy="738378"/>
          </a:xfrm>
          <a:prstGeom prst="ellipse">
            <a:avLst/>
          </a:prstGeom>
          <a:solidFill>
            <a:srgbClr val="FFFFFF"/>
          </a:solidFill>
          <a:ln w="17780">
            <a:solidFill>
              <a:srgbClr val="625D68"/>
            </a:solidFill>
            <a:prstDash val="solid"/>
          </a:ln>
        </p:spPr>
      </p:sp>
      <p:sp>
        <p:nvSpPr>
          <p:cNvPr id="8" name="Shape 6"/>
          <p:cNvSpPr/>
          <p:nvPr/>
        </p:nvSpPr>
        <p:spPr>
          <a:xfrm>
            <a:off x="1037844" y="2402586"/>
            <a:ext cx="217170" cy="217170"/>
          </a:xfrm>
          <a:prstGeom prst="ellipse">
            <a:avLst/>
          </a:prstGeom>
          <a:solidFill>
            <a:srgbClr val="EFE8F6"/>
          </a:solidFill>
          <a:ln w="12700">
            <a:solidFill>
              <a:srgbClr val="625D68"/>
            </a:solidFill>
            <a:prstDash val="solid"/>
          </a:ln>
        </p:spPr>
      </p:sp>
      <p:sp>
        <p:nvSpPr>
          <p:cNvPr id="9" name="Shape 7"/>
          <p:cNvSpPr/>
          <p:nvPr/>
        </p:nvSpPr>
        <p:spPr>
          <a:xfrm>
            <a:off x="1037844" y="2011680"/>
            <a:ext cx="217170" cy="156362"/>
          </a:xfrm>
          <a:prstGeom prst="rect">
            <a:avLst/>
          </a:prstGeom>
          <a:solidFill>
            <a:srgbClr val="FFFFFF"/>
          </a:solidFill>
          <a:ln w="17780">
            <a:solidFill>
              <a:srgbClr val="625D68"/>
            </a:solidFill>
            <a:prstDash val="solid"/>
          </a:ln>
        </p:spPr>
      </p:sp>
      <p:sp>
        <p:nvSpPr>
          <p:cNvPr id="10" name="Shape 8"/>
          <p:cNvSpPr/>
          <p:nvPr/>
        </p:nvSpPr>
        <p:spPr>
          <a:xfrm>
            <a:off x="1515618" y="2446020"/>
            <a:ext cx="477774" cy="121615"/>
          </a:xfrm>
          <a:prstGeom prst="rect">
            <a:avLst/>
          </a:prstGeom>
          <a:solidFill>
            <a:srgbClr val="FFFFFF"/>
          </a:solidFill>
          <a:ln w="17780">
            <a:solidFill>
              <a:srgbClr val="625D68"/>
            </a:solidFill>
            <a:prstDash val="solid"/>
          </a:ln>
        </p:spPr>
      </p:sp>
      <p:sp>
        <p:nvSpPr>
          <p:cNvPr id="11" name="Shape 9"/>
          <p:cNvSpPr/>
          <p:nvPr/>
        </p:nvSpPr>
        <p:spPr>
          <a:xfrm>
            <a:off x="1993392" y="2289658"/>
            <a:ext cx="434340" cy="434340"/>
          </a:xfrm>
          <a:prstGeom prst="rect">
            <a:avLst/>
          </a:prstGeom>
          <a:solidFill>
            <a:srgbClr val="F8F5FA"/>
          </a:solidFill>
          <a:ln w="17780">
            <a:solidFill>
              <a:srgbClr val="625D68"/>
            </a:solidFill>
            <a:prstDash val="solid"/>
          </a:ln>
        </p:spPr>
      </p:sp>
      <p:sp>
        <p:nvSpPr>
          <p:cNvPr id="12" name="Shape 10"/>
          <p:cNvSpPr/>
          <p:nvPr/>
        </p:nvSpPr>
        <p:spPr>
          <a:xfrm>
            <a:off x="1541678" y="2324405"/>
            <a:ext cx="86868" cy="86868"/>
          </a:xfrm>
          <a:prstGeom prst="ellipse">
            <a:avLst/>
          </a:prstGeom>
          <a:solidFill>
            <a:srgbClr val="5B2A86"/>
          </a:solidFill>
          <a:ln/>
        </p:spPr>
      </p:sp>
      <p:sp>
        <p:nvSpPr>
          <p:cNvPr id="13" name="Shape 11"/>
          <p:cNvSpPr/>
          <p:nvPr/>
        </p:nvSpPr>
        <p:spPr>
          <a:xfrm>
            <a:off x="2323490" y="2185416"/>
            <a:ext cx="86868" cy="86868"/>
          </a:xfrm>
          <a:prstGeom prst="ellipse">
            <a:avLst/>
          </a:prstGeom>
          <a:solidFill>
            <a:srgbClr val="5B2A86"/>
          </a:solidFill>
          <a:ln/>
        </p:spPr>
      </p:sp>
      <p:sp>
        <p:nvSpPr>
          <p:cNvPr id="14" name="Text 12"/>
          <p:cNvSpPr txBox="1"/>
          <p:nvPr/>
        </p:nvSpPr>
        <p:spPr>
          <a:xfrm>
            <a:off x="731520" y="3017520"/>
            <a:ext cx="1828800" cy="320040"/>
          </a:xfrm>
          <a:prstGeom prst="rect">
            <a:avLst/>
          </a:prstGeom>
          <a:noFill/>
          <a:ln/>
        </p:spPr>
        <p:txBody>
          <a:bodyPr wrap="square" lIns="0" tIns="0" rIns="0" bIns="0" rtlCol="0" anchor="t"/>
          <a:lstStyle/>
          <a:p>
            <a:pPr indent="0" marL="0">
              <a:lnSpc>
                <a:spcPct val="100000"/>
              </a:lnSpc>
              <a:buNone/>
            </a:pPr>
            <a:r>
              <a:rPr lang="en-US" sz="800" dirty="0">
                <a:solidFill>
                  <a:srgbClr val="625D68"/>
                </a:solidFill>
                <a:latin typeface="Arial" pitchFamily="34" charset="0"/>
                <a:ea typeface="Arial" pitchFamily="34" charset="-122"/>
                <a:cs typeface="Arial" pitchFamily="34" charset="-120"/>
              </a:rPr>
              <a:t>critical pump, DE and NDE sensor points</a:t>
            </a:r>
            <a:endParaRPr lang="en-US" sz="800" dirty="0"/>
          </a:p>
        </p:txBody>
      </p:sp>
      <p:sp>
        <p:nvSpPr>
          <p:cNvPr id="15" name="Shape 13"/>
          <p:cNvSpPr/>
          <p:nvPr/>
        </p:nvSpPr>
        <p:spPr>
          <a:xfrm>
            <a:off x="2651760" y="2423160"/>
            <a:ext cx="320040" cy="0"/>
          </a:xfrm>
          <a:prstGeom prst="line">
            <a:avLst/>
          </a:prstGeom>
          <a:noFill/>
          <a:ln w="22225">
            <a:solidFill>
              <a:srgbClr val="5B2A86"/>
            </a:solidFill>
            <a:prstDash val="solid"/>
            <a:tailEnd type="triangle"/>
          </a:ln>
        </p:spPr>
      </p:sp>
      <p:sp>
        <p:nvSpPr>
          <p:cNvPr id="16" name="Shape 14"/>
          <p:cNvSpPr/>
          <p:nvPr/>
        </p:nvSpPr>
        <p:spPr>
          <a:xfrm>
            <a:off x="3017520" y="1965960"/>
            <a:ext cx="1993392" cy="932688"/>
          </a:xfrm>
          <a:prstGeom prst="rect">
            <a:avLst/>
          </a:prstGeom>
          <a:solidFill>
            <a:srgbClr val="FFFFFF"/>
          </a:solidFill>
          <a:ln w="11430">
            <a:solidFill>
              <a:srgbClr val="DED9E5"/>
            </a:solidFill>
            <a:prstDash val="solid"/>
          </a:ln>
        </p:spPr>
      </p:sp>
      <p:sp>
        <p:nvSpPr>
          <p:cNvPr id="17" name="Text 15"/>
          <p:cNvSpPr txBox="1"/>
          <p:nvPr/>
        </p:nvSpPr>
        <p:spPr>
          <a:xfrm>
            <a:off x="3118104" y="2039112"/>
            <a:ext cx="1792224" cy="365760"/>
          </a:xfrm>
          <a:prstGeom prst="rect">
            <a:avLst/>
          </a:prstGeom>
          <a:noFill/>
          <a:ln/>
        </p:spPr>
        <p:txBody>
          <a:bodyPr wrap="square" lIns="0" tIns="0" rIns="0" bIns="0" rtlCol="0" anchor="t"/>
          <a:lstStyle/>
          <a:p>
            <a:pPr indent="0" marL="0">
              <a:lnSpc>
                <a:spcPct val="95000"/>
              </a:lnSpc>
              <a:buNone/>
            </a:pPr>
            <a:r>
              <a:rPr lang="en-US" sz="1050" b="1" dirty="0">
                <a:solidFill>
                  <a:srgbClr val="17131D"/>
                </a:solidFill>
                <a:latin typeface="Arial" pitchFamily="34" charset="0"/>
                <a:ea typeface="Arial" pitchFamily="34" charset="-122"/>
                <a:cs typeface="Arial" pitchFamily="34" charset="-120"/>
              </a:rPr>
              <a:t>Vibration + temperature sensors</a:t>
            </a:r>
            <a:endParaRPr lang="en-US" sz="1050" dirty="0"/>
          </a:p>
        </p:txBody>
      </p:sp>
      <p:sp>
        <p:nvSpPr>
          <p:cNvPr id="18" name="Text 16"/>
          <p:cNvSpPr txBox="1"/>
          <p:nvPr/>
        </p:nvSpPr>
        <p:spPr>
          <a:xfrm>
            <a:off x="3118104" y="2386584"/>
            <a:ext cx="1792224" cy="475488"/>
          </a:xfrm>
          <a:prstGeom prst="rect">
            <a:avLst/>
          </a:prstGeom>
          <a:noFill/>
          <a:ln/>
        </p:spPr>
        <p:txBody>
          <a:bodyPr wrap="square" lIns="0" tIns="0" rIns="0" bIns="0" rtlCol="0" anchor="t"/>
          <a:lstStyle/>
          <a:p>
            <a:pPr indent="0" marL="0">
              <a:lnSpc>
                <a:spcPct val="100000"/>
              </a:lnSpc>
              <a:buNone/>
            </a:pPr>
            <a:r>
              <a:rPr lang="en-US" sz="800" dirty="0">
                <a:solidFill>
                  <a:srgbClr val="625D68"/>
                </a:solidFill>
                <a:latin typeface="Arial" pitchFamily="34" charset="0"/>
                <a:ea typeface="Arial" pitchFamily="34" charset="-122"/>
                <a:cs typeface="Arial" pitchFamily="34" charset="-120"/>
              </a:rPr>
              <a:t>wireless, on both bearing housings; hardware meeting applicable PESO and IECEx requirements [6]</a:t>
            </a:r>
            <a:endParaRPr lang="en-US" sz="800" dirty="0"/>
          </a:p>
        </p:txBody>
      </p:sp>
      <p:sp>
        <p:nvSpPr>
          <p:cNvPr id="19" name="Shape 17"/>
          <p:cNvSpPr/>
          <p:nvPr/>
        </p:nvSpPr>
        <p:spPr>
          <a:xfrm>
            <a:off x="5038344" y="2423160"/>
            <a:ext cx="402336" cy="0"/>
          </a:xfrm>
          <a:prstGeom prst="line">
            <a:avLst/>
          </a:prstGeom>
          <a:noFill/>
          <a:ln w="22225">
            <a:solidFill>
              <a:srgbClr val="5B2A86"/>
            </a:solidFill>
            <a:prstDash val="solid"/>
            <a:tailEnd type="triangle"/>
          </a:ln>
        </p:spPr>
      </p:sp>
      <p:sp>
        <p:nvSpPr>
          <p:cNvPr id="20" name="Shape 18"/>
          <p:cNvSpPr/>
          <p:nvPr/>
        </p:nvSpPr>
        <p:spPr>
          <a:xfrm>
            <a:off x="5468112" y="1965960"/>
            <a:ext cx="1993392" cy="932688"/>
          </a:xfrm>
          <a:prstGeom prst="rect">
            <a:avLst/>
          </a:prstGeom>
          <a:solidFill>
            <a:srgbClr val="FFFFFF"/>
          </a:solidFill>
          <a:ln w="11430">
            <a:solidFill>
              <a:srgbClr val="DED9E5"/>
            </a:solidFill>
            <a:prstDash val="solid"/>
          </a:ln>
        </p:spPr>
      </p:sp>
      <p:sp>
        <p:nvSpPr>
          <p:cNvPr id="21" name="Text 19"/>
          <p:cNvSpPr txBox="1"/>
          <p:nvPr/>
        </p:nvSpPr>
        <p:spPr>
          <a:xfrm>
            <a:off x="5568696" y="2039112"/>
            <a:ext cx="1792224" cy="365760"/>
          </a:xfrm>
          <a:prstGeom prst="rect">
            <a:avLst/>
          </a:prstGeom>
          <a:noFill/>
          <a:ln/>
        </p:spPr>
        <p:txBody>
          <a:bodyPr wrap="square" lIns="0" tIns="0" rIns="0" bIns="0" rtlCol="0" anchor="t"/>
          <a:lstStyle/>
          <a:p>
            <a:pPr indent="0" marL="0">
              <a:lnSpc>
                <a:spcPct val="95000"/>
              </a:lnSpc>
              <a:buNone/>
            </a:pPr>
            <a:r>
              <a:rPr lang="en-US" sz="1050" b="1" dirty="0">
                <a:solidFill>
                  <a:srgbClr val="17131D"/>
                </a:solidFill>
                <a:latin typeface="Arial" pitchFamily="34" charset="0"/>
                <a:ea typeface="Arial" pitchFamily="34" charset="-122"/>
                <a:cs typeface="Arial" pitchFamily="34" charset="-120"/>
              </a:rPr>
              <a:t>Area gateway</a:t>
            </a:r>
            <a:endParaRPr lang="en-US" sz="1050" dirty="0"/>
          </a:p>
        </p:txBody>
      </p:sp>
      <p:sp>
        <p:nvSpPr>
          <p:cNvPr id="22" name="Text 20"/>
          <p:cNvSpPr txBox="1"/>
          <p:nvPr/>
        </p:nvSpPr>
        <p:spPr>
          <a:xfrm>
            <a:off x="5568696" y="2386584"/>
            <a:ext cx="1792224" cy="475488"/>
          </a:xfrm>
          <a:prstGeom prst="rect">
            <a:avLst/>
          </a:prstGeom>
          <a:noFill/>
          <a:ln/>
        </p:spPr>
        <p:txBody>
          <a:bodyPr wrap="square" lIns="0" tIns="0" rIns="0" bIns="0" rtlCol="0" anchor="t"/>
          <a:lstStyle/>
          <a:p>
            <a:pPr indent="0" marL="0">
              <a:lnSpc>
                <a:spcPct val="100000"/>
              </a:lnSpc>
              <a:buNone/>
            </a:pPr>
            <a:r>
              <a:rPr lang="en-US" sz="800" dirty="0">
                <a:solidFill>
                  <a:srgbClr val="625D68"/>
                </a:solidFill>
                <a:latin typeface="Arial" pitchFamily="34" charset="0"/>
                <a:ea typeface="Arial" pitchFamily="34" charset="-122"/>
                <a:cs typeface="Arial" pitchFamily="34" charset="-120"/>
              </a:rPr>
              <a:t>one per plant area; buffers data locally</a:t>
            </a:r>
            <a:endParaRPr lang="en-US" sz="800" dirty="0"/>
          </a:p>
        </p:txBody>
      </p:sp>
      <p:sp>
        <p:nvSpPr>
          <p:cNvPr id="23" name="Shape 21"/>
          <p:cNvSpPr/>
          <p:nvPr/>
        </p:nvSpPr>
        <p:spPr>
          <a:xfrm>
            <a:off x="7488936" y="2423160"/>
            <a:ext cx="402336" cy="0"/>
          </a:xfrm>
          <a:prstGeom prst="line">
            <a:avLst/>
          </a:prstGeom>
          <a:noFill/>
          <a:ln w="22225">
            <a:solidFill>
              <a:srgbClr val="5B2A86"/>
            </a:solidFill>
            <a:prstDash val="solid"/>
            <a:tailEnd type="triangle"/>
          </a:ln>
        </p:spPr>
      </p:sp>
      <p:sp>
        <p:nvSpPr>
          <p:cNvPr id="24" name="Shape 22"/>
          <p:cNvSpPr/>
          <p:nvPr/>
        </p:nvSpPr>
        <p:spPr>
          <a:xfrm>
            <a:off x="7918704" y="1965960"/>
            <a:ext cx="1993392" cy="932688"/>
          </a:xfrm>
          <a:prstGeom prst="rect">
            <a:avLst/>
          </a:prstGeom>
          <a:solidFill>
            <a:srgbClr val="FFFFFF"/>
          </a:solidFill>
          <a:ln w="11430">
            <a:solidFill>
              <a:srgbClr val="DED9E5"/>
            </a:solidFill>
            <a:prstDash val="solid"/>
          </a:ln>
        </p:spPr>
      </p:sp>
      <p:sp>
        <p:nvSpPr>
          <p:cNvPr id="25" name="Text 23"/>
          <p:cNvSpPr txBox="1"/>
          <p:nvPr/>
        </p:nvSpPr>
        <p:spPr>
          <a:xfrm>
            <a:off x="8019288" y="2039112"/>
            <a:ext cx="1792224" cy="365760"/>
          </a:xfrm>
          <a:prstGeom prst="rect">
            <a:avLst/>
          </a:prstGeom>
          <a:noFill/>
          <a:ln/>
        </p:spPr>
        <p:txBody>
          <a:bodyPr wrap="square" lIns="0" tIns="0" rIns="0" bIns="0" rtlCol="0" anchor="t"/>
          <a:lstStyle/>
          <a:p>
            <a:pPr indent="0" marL="0">
              <a:lnSpc>
                <a:spcPct val="95000"/>
              </a:lnSpc>
              <a:buNone/>
            </a:pPr>
            <a:r>
              <a:rPr lang="en-US" sz="1050" b="1" dirty="0">
                <a:solidFill>
                  <a:srgbClr val="17131D"/>
                </a:solidFill>
                <a:latin typeface="Arial" pitchFamily="34" charset="0"/>
                <a:ea typeface="Arial" pitchFamily="34" charset="-122"/>
                <a:cs typeface="Arial" pitchFamily="34" charset="-120"/>
              </a:rPr>
              <a:t>Edge feature extraction</a:t>
            </a:r>
            <a:endParaRPr lang="en-US" sz="1050" dirty="0"/>
          </a:p>
        </p:txBody>
      </p:sp>
      <p:sp>
        <p:nvSpPr>
          <p:cNvPr id="26" name="Text 24"/>
          <p:cNvSpPr txBox="1"/>
          <p:nvPr/>
        </p:nvSpPr>
        <p:spPr>
          <a:xfrm>
            <a:off x="8019288" y="2386584"/>
            <a:ext cx="1792224" cy="475488"/>
          </a:xfrm>
          <a:prstGeom prst="rect">
            <a:avLst/>
          </a:prstGeom>
          <a:noFill/>
          <a:ln/>
        </p:spPr>
        <p:txBody>
          <a:bodyPr wrap="square" lIns="0" tIns="0" rIns="0" bIns="0" rtlCol="0" anchor="t"/>
          <a:lstStyle/>
          <a:p>
            <a:pPr indent="0" marL="0">
              <a:lnSpc>
                <a:spcPct val="100000"/>
              </a:lnSpc>
              <a:buNone/>
            </a:pPr>
            <a:r>
              <a:rPr lang="en-US" sz="800" dirty="0">
                <a:solidFill>
                  <a:srgbClr val="625D68"/>
                </a:solidFill>
                <a:latin typeface="Arial" pitchFamily="34" charset="0"/>
                <a:ea typeface="Arial" pitchFamily="34" charset="-122"/>
                <a:cs typeface="Arial" pitchFamily="34" charset="-120"/>
              </a:rPr>
              <a:t>16 vibration indicators per window, per ISO 13374 [5]</a:t>
            </a:r>
            <a:endParaRPr lang="en-US" sz="800" dirty="0"/>
          </a:p>
        </p:txBody>
      </p:sp>
      <p:sp>
        <p:nvSpPr>
          <p:cNvPr id="27" name="Shape 25"/>
          <p:cNvSpPr/>
          <p:nvPr/>
        </p:nvSpPr>
        <p:spPr>
          <a:xfrm>
            <a:off x="9939528" y="2423160"/>
            <a:ext cx="265176" cy="0"/>
          </a:xfrm>
          <a:prstGeom prst="line">
            <a:avLst/>
          </a:prstGeom>
          <a:noFill/>
          <a:ln w="22225">
            <a:solidFill>
              <a:srgbClr val="5B2A86"/>
            </a:solidFill>
            <a:prstDash val="solid"/>
          </a:ln>
        </p:spPr>
      </p:sp>
      <p:sp>
        <p:nvSpPr>
          <p:cNvPr id="28" name="Shape 26"/>
          <p:cNvSpPr/>
          <p:nvPr/>
        </p:nvSpPr>
        <p:spPr>
          <a:xfrm>
            <a:off x="10204704" y="2423160"/>
            <a:ext cx="0" cy="1600200"/>
          </a:xfrm>
          <a:prstGeom prst="line">
            <a:avLst/>
          </a:prstGeom>
          <a:noFill/>
          <a:ln w="22225">
            <a:solidFill>
              <a:srgbClr val="5B2A86"/>
            </a:solidFill>
            <a:prstDash val="solid"/>
          </a:ln>
        </p:spPr>
      </p:sp>
      <p:sp>
        <p:nvSpPr>
          <p:cNvPr id="29" name="Shape 27"/>
          <p:cNvSpPr/>
          <p:nvPr/>
        </p:nvSpPr>
        <p:spPr>
          <a:xfrm>
            <a:off x="9966960" y="4023360"/>
            <a:ext cx="237744" cy="0"/>
          </a:xfrm>
          <a:prstGeom prst="line">
            <a:avLst/>
          </a:prstGeom>
          <a:noFill/>
          <a:ln w="22225">
            <a:solidFill>
              <a:srgbClr val="5B2A86"/>
            </a:solidFill>
            <a:prstDash val="solid"/>
            <a:headEnd type="triangle"/>
          </a:ln>
        </p:spPr>
      </p:sp>
      <p:sp>
        <p:nvSpPr>
          <p:cNvPr id="30" name="Shape 28"/>
          <p:cNvSpPr/>
          <p:nvPr/>
        </p:nvSpPr>
        <p:spPr>
          <a:xfrm>
            <a:off x="7918704" y="3566160"/>
            <a:ext cx="1993392" cy="932688"/>
          </a:xfrm>
          <a:prstGeom prst="rect">
            <a:avLst/>
          </a:prstGeom>
          <a:solidFill>
            <a:srgbClr val="FFFFFF"/>
          </a:solidFill>
          <a:ln w="11430">
            <a:solidFill>
              <a:srgbClr val="DED9E5"/>
            </a:solidFill>
            <a:prstDash val="solid"/>
          </a:ln>
        </p:spPr>
      </p:sp>
      <p:sp>
        <p:nvSpPr>
          <p:cNvPr id="31" name="Text 29"/>
          <p:cNvSpPr txBox="1"/>
          <p:nvPr/>
        </p:nvSpPr>
        <p:spPr>
          <a:xfrm>
            <a:off x="8019288" y="3639312"/>
            <a:ext cx="1792224" cy="365760"/>
          </a:xfrm>
          <a:prstGeom prst="rect">
            <a:avLst/>
          </a:prstGeom>
          <a:noFill/>
          <a:ln/>
        </p:spPr>
        <p:txBody>
          <a:bodyPr wrap="square" lIns="0" tIns="0" rIns="0" bIns="0" rtlCol="0" anchor="t"/>
          <a:lstStyle/>
          <a:p>
            <a:pPr indent="0" marL="0">
              <a:lnSpc>
                <a:spcPct val="95000"/>
              </a:lnSpc>
              <a:buNone/>
            </a:pPr>
            <a:r>
              <a:rPr lang="en-US" sz="1050" b="1" dirty="0">
                <a:solidFill>
                  <a:srgbClr val="17131D"/>
                </a:solidFill>
                <a:latin typeface="Arial" pitchFamily="34" charset="0"/>
                <a:ea typeface="Arial" pitchFamily="34" charset="-122"/>
                <a:cs typeface="Arial" pitchFamily="34" charset="-120"/>
              </a:rPr>
              <a:t>Anomaly + fault classification</a:t>
            </a:r>
            <a:endParaRPr lang="en-US" sz="1050" dirty="0"/>
          </a:p>
        </p:txBody>
      </p:sp>
      <p:sp>
        <p:nvSpPr>
          <p:cNvPr id="32" name="Text 30"/>
          <p:cNvSpPr txBox="1"/>
          <p:nvPr/>
        </p:nvSpPr>
        <p:spPr>
          <a:xfrm>
            <a:off x="8019288" y="3986784"/>
            <a:ext cx="1792224" cy="475488"/>
          </a:xfrm>
          <a:prstGeom prst="rect">
            <a:avLst/>
          </a:prstGeom>
          <a:noFill/>
          <a:ln/>
        </p:spPr>
        <p:txBody>
          <a:bodyPr wrap="square" lIns="0" tIns="0" rIns="0" bIns="0" rtlCol="0" anchor="t"/>
          <a:lstStyle/>
          <a:p>
            <a:pPr indent="0" marL="0">
              <a:lnSpc>
                <a:spcPct val="100000"/>
              </a:lnSpc>
              <a:buNone/>
            </a:pPr>
            <a:r>
              <a:rPr lang="en-US" sz="800" dirty="0">
                <a:solidFill>
                  <a:srgbClr val="625D68"/>
                </a:solidFill>
                <a:latin typeface="Arial" pitchFamily="34" charset="0"/>
                <a:ea typeface="Arial" pitchFamily="34" charset="-122"/>
                <a:cs typeface="Arial" pitchFamily="34" charset="-120"/>
              </a:rPr>
              <a:t>anomaly score and fault type per pump; benchmark on slide 5 [10]; the pilot tests it on real plant data</a:t>
            </a:r>
            <a:endParaRPr lang="en-US" sz="800" dirty="0"/>
          </a:p>
        </p:txBody>
      </p:sp>
      <p:sp>
        <p:nvSpPr>
          <p:cNvPr id="33" name="Shape 31"/>
          <p:cNvSpPr/>
          <p:nvPr/>
        </p:nvSpPr>
        <p:spPr>
          <a:xfrm>
            <a:off x="5468112" y="3566160"/>
            <a:ext cx="1993392" cy="932688"/>
          </a:xfrm>
          <a:prstGeom prst="rect">
            <a:avLst/>
          </a:prstGeom>
          <a:solidFill>
            <a:srgbClr val="FFFFFF"/>
          </a:solidFill>
          <a:ln w="11430">
            <a:solidFill>
              <a:srgbClr val="DED9E5"/>
            </a:solidFill>
            <a:prstDash val="solid"/>
          </a:ln>
        </p:spPr>
      </p:sp>
      <p:sp>
        <p:nvSpPr>
          <p:cNvPr id="34" name="Text 32"/>
          <p:cNvSpPr txBox="1"/>
          <p:nvPr/>
        </p:nvSpPr>
        <p:spPr>
          <a:xfrm>
            <a:off x="5568696" y="3639312"/>
            <a:ext cx="1792224" cy="365760"/>
          </a:xfrm>
          <a:prstGeom prst="rect">
            <a:avLst/>
          </a:prstGeom>
          <a:noFill/>
          <a:ln/>
        </p:spPr>
        <p:txBody>
          <a:bodyPr wrap="square" lIns="0" tIns="0" rIns="0" bIns="0" rtlCol="0" anchor="t"/>
          <a:lstStyle/>
          <a:p>
            <a:pPr indent="0" marL="0">
              <a:lnSpc>
                <a:spcPct val="95000"/>
              </a:lnSpc>
              <a:buNone/>
            </a:pPr>
            <a:r>
              <a:rPr lang="en-US" sz="1050" b="1" dirty="0">
                <a:solidFill>
                  <a:srgbClr val="17131D"/>
                </a:solidFill>
                <a:latin typeface="Arial" pitchFamily="34" charset="0"/>
                <a:ea typeface="Arial" pitchFamily="34" charset="-122"/>
                <a:cs typeface="Arial" pitchFamily="34" charset="-120"/>
              </a:rPr>
              <a:t>Reliability dashboard</a:t>
            </a:r>
            <a:endParaRPr lang="en-US" sz="1050" dirty="0"/>
          </a:p>
        </p:txBody>
      </p:sp>
      <p:sp>
        <p:nvSpPr>
          <p:cNvPr id="35" name="Text 33"/>
          <p:cNvSpPr txBox="1"/>
          <p:nvPr/>
        </p:nvSpPr>
        <p:spPr>
          <a:xfrm>
            <a:off x="5568696" y="3986784"/>
            <a:ext cx="1792224" cy="475488"/>
          </a:xfrm>
          <a:prstGeom prst="rect">
            <a:avLst/>
          </a:prstGeom>
          <a:noFill/>
          <a:ln/>
        </p:spPr>
        <p:txBody>
          <a:bodyPr wrap="square" lIns="0" tIns="0" rIns="0" bIns="0" rtlCol="0" anchor="t"/>
          <a:lstStyle/>
          <a:p>
            <a:pPr indent="0" marL="0">
              <a:lnSpc>
                <a:spcPct val="100000"/>
              </a:lnSpc>
              <a:buNone/>
            </a:pPr>
            <a:r>
              <a:rPr lang="en-US" sz="800" dirty="0">
                <a:solidFill>
                  <a:srgbClr val="625D68"/>
                </a:solidFill>
                <a:latin typeface="Arial" pitchFamily="34" charset="0"/>
                <a:ea typeface="Arial" pitchFamily="34" charset="-122"/>
                <a:cs typeface="Arial" pitchFamily="34" charset="-120"/>
              </a:rPr>
              <a:t>trends, alarm zones per ISO 20816-3 [5]</a:t>
            </a:r>
            <a:endParaRPr lang="en-US" sz="800" dirty="0"/>
          </a:p>
        </p:txBody>
      </p:sp>
      <p:sp>
        <p:nvSpPr>
          <p:cNvPr id="36" name="Shape 34"/>
          <p:cNvSpPr/>
          <p:nvPr/>
        </p:nvSpPr>
        <p:spPr>
          <a:xfrm>
            <a:off x="3017520" y="3566160"/>
            <a:ext cx="1993392" cy="932688"/>
          </a:xfrm>
          <a:prstGeom prst="rect">
            <a:avLst/>
          </a:prstGeom>
          <a:solidFill>
            <a:srgbClr val="FFFFFF"/>
          </a:solidFill>
          <a:ln w="11430">
            <a:solidFill>
              <a:srgbClr val="DED9E5"/>
            </a:solidFill>
            <a:prstDash val="solid"/>
          </a:ln>
        </p:spPr>
      </p:sp>
      <p:sp>
        <p:nvSpPr>
          <p:cNvPr id="37" name="Text 35"/>
          <p:cNvSpPr txBox="1"/>
          <p:nvPr/>
        </p:nvSpPr>
        <p:spPr>
          <a:xfrm>
            <a:off x="3118104" y="3639312"/>
            <a:ext cx="1792224" cy="365760"/>
          </a:xfrm>
          <a:prstGeom prst="rect">
            <a:avLst/>
          </a:prstGeom>
          <a:noFill/>
          <a:ln/>
        </p:spPr>
        <p:txBody>
          <a:bodyPr wrap="square" lIns="0" tIns="0" rIns="0" bIns="0" rtlCol="0" anchor="t"/>
          <a:lstStyle/>
          <a:p>
            <a:pPr indent="0" marL="0">
              <a:lnSpc>
                <a:spcPct val="95000"/>
              </a:lnSpc>
              <a:buNone/>
            </a:pPr>
            <a:r>
              <a:rPr lang="en-US" sz="1050" b="1" dirty="0">
                <a:solidFill>
                  <a:srgbClr val="17131D"/>
                </a:solidFill>
                <a:latin typeface="Arial" pitchFamily="34" charset="0"/>
                <a:ea typeface="Arial" pitchFamily="34" charset="-122"/>
                <a:cs typeface="Arial" pitchFamily="34" charset="-120"/>
              </a:rPr>
              <a:t>CMMS work order</a:t>
            </a:r>
            <a:endParaRPr lang="en-US" sz="1050" dirty="0"/>
          </a:p>
        </p:txBody>
      </p:sp>
      <p:sp>
        <p:nvSpPr>
          <p:cNvPr id="38" name="Text 36"/>
          <p:cNvSpPr txBox="1"/>
          <p:nvPr/>
        </p:nvSpPr>
        <p:spPr>
          <a:xfrm>
            <a:off x="3118104" y="3986784"/>
            <a:ext cx="1792224" cy="475488"/>
          </a:xfrm>
          <a:prstGeom prst="rect">
            <a:avLst/>
          </a:prstGeom>
          <a:noFill/>
          <a:ln/>
        </p:spPr>
        <p:txBody>
          <a:bodyPr wrap="square" lIns="0" tIns="0" rIns="0" bIns="0" rtlCol="0" anchor="t"/>
          <a:lstStyle/>
          <a:p>
            <a:pPr indent="0" marL="0">
              <a:lnSpc>
                <a:spcPct val="100000"/>
              </a:lnSpc>
              <a:buNone/>
            </a:pPr>
            <a:r>
              <a:rPr lang="en-US" sz="800" dirty="0">
                <a:solidFill>
                  <a:srgbClr val="625D68"/>
                </a:solidFill>
                <a:latin typeface="Arial" pitchFamily="34" charset="0"/>
                <a:ea typeface="Arial" pitchFamily="34" charset="-122"/>
                <a:cs typeface="Arial" pitchFamily="34" charset="-120"/>
              </a:rPr>
              <a:t>drafted automatically in the plant's existing system</a:t>
            </a:r>
            <a:endParaRPr lang="en-US" sz="800" dirty="0"/>
          </a:p>
        </p:txBody>
      </p:sp>
      <p:sp>
        <p:nvSpPr>
          <p:cNvPr id="39" name="Shape 37"/>
          <p:cNvSpPr/>
          <p:nvPr/>
        </p:nvSpPr>
        <p:spPr>
          <a:xfrm>
            <a:off x="566928" y="3566160"/>
            <a:ext cx="1993392" cy="932688"/>
          </a:xfrm>
          <a:prstGeom prst="rect">
            <a:avLst/>
          </a:prstGeom>
          <a:solidFill>
            <a:srgbClr val="FFFFFF"/>
          </a:solidFill>
          <a:ln w="19050">
            <a:solidFill>
              <a:srgbClr val="2F7D69"/>
            </a:solidFill>
            <a:prstDash val="solid"/>
          </a:ln>
        </p:spPr>
      </p:sp>
      <p:sp>
        <p:nvSpPr>
          <p:cNvPr id="40" name="Text 38"/>
          <p:cNvSpPr txBox="1"/>
          <p:nvPr/>
        </p:nvSpPr>
        <p:spPr>
          <a:xfrm>
            <a:off x="667512" y="3639312"/>
            <a:ext cx="1792224" cy="365760"/>
          </a:xfrm>
          <a:prstGeom prst="rect">
            <a:avLst/>
          </a:prstGeom>
          <a:noFill/>
          <a:ln/>
        </p:spPr>
        <p:txBody>
          <a:bodyPr wrap="square" lIns="0" tIns="0" rIns="0" bIns="0" rtlCol="0" anchor="t"/>
          <a:lstStyle/>
          <a:p>
            <a:pPr indent="0" marL="0">
              <a:lnSpc>
                <a:spcPct val="95000"/>
              </a:lnSpc>
              <a:buNone/>
            </a:pPr>
            <a:r>
              <a:rPr lang="en-US" sz="1050" b="1" dirty="0">
                <a:solidFill>
                  <a:srgbClr val="17131D"/>
                </a:solidFill>
                <a:latin typeface="Arial" pitchFamily="34" charset="0"/>
                <a:ea typeface="Arial" pitchFamily="34" charset="-122"/>
                <a:cs typeface="Arial" pitchFamily="34" charset="-120"/>
              </a:rPr>
              <a:t>Engineer validation</a:t>
            </a:r>
            <a:endParaRPr lang="en-US" sz="1050" dirty="0"/>
          </a:p>
        </p:txBody>
      </p:sp>
      <p:sp>
        <p:nvSpPr>
          <p:cNvPr id="41" name="Text 39"/>
          <p:cNvSpPr txBox="1"/>
          <p:nvPr/>
        </p:nvSpPr>
        <p:spPr>
          <a:xfrm>
            <a:off x="667512" y="3986784"/>
            <a:ext cx="1792224" cy="475488"/>
          </a:xfrm>
          <a:prstGeom prst="rect">
            <a:avLst/>
          </a:prstGeom>
          <a:noFill/>
          <a:ln/>
        </p:spPr>
        <p:txBody>
          <a:bodyPr wrap="square" lIns="0" tIns="0" rIns="0" bIns="0" rtlCol="0" anchor="t"/>
          <a:lstStyle/>
          <a:p>
            <a:pPr indent="0" marL="0">
              <a:lnSpc>
                <a:spcPct val="100000"/>
              </a:lnSpc>
              <a:buNone/>
            </a:pPr>
            <a:r>
              <a:rPr lang="en-US" sz="800" dirty="0">
                <a:solidFill>
                  <a:srgbClr val="625D68"/>
                </a:solidFill>
                <a:latin typeface="Arial" pitchFamily="34" charset="0"/>
                <a:ea typeface="Arial" pitchFamily="34" charset="-122"/>
                <a:cs typeface="Arial" pitchFamily="34" charset="-120"/>
              </a:rPr>
              <a:t>accepts or rejects every action; nothing is automatic</a:t>
            </a:r>
            <a:endParaRPr lang="en-US" sz="800" dirty="0"/>
          </a:p>
        </p:txBody>
      </p:sp>
      <p:sp>
        <p:nvSpPr>
          <p:cNvPr id="42" name="Shape 40"/>
          <p:cNvSpPr/>
          <p:nvPr/>
        </p:nvSpPr>
        <p:spPr>
          <a:xfrm>
            <a:off x="2212848" y="3803904"/>
            <a:ext cx="82296" cy="82296"/>
          </a:xfrm>
          <a:prstGeom prst="line">
            <a:avLst/>
          </a:prstGeom>
          <a:noFill/>
          <a:ln w="22860">
            <a:solidFill>
              <a:srgbClr val="2F7D69"/>
            </a:solidFill>
            <a:prstDash val="solid"/>
          </a:ln>
        </p:spPr>
      </p:sp>
      <p:sp>
        <p:nvSpPr>
          <p:cNvPr id="43" name="Shape 41"/>
          <p:cNvSpPr/>
          <p:nvPr/>
        </p:nvSpPr>
        <p:spPr>
          <a:xfrm flipV="1">
            <a:off x="2286000" y="3694176"/>
            <a:ext cx="146304" cy="192024"/>
          </a:xfrm>
          <a:prstGeom prst="line">
            <a:avLst/>
          </a:prstGeom>
          <a:noFill/>
          <a:ln w="22860">
            <a:solidFill>
              <a:srgbClr val="2F7D69"/>
            </a:solidFill>
            <a:prstDash val="solid"/>
          </a:ln>
        </p:spPr>
      </p:sp>
      <p:sp>
        <p:nvSpPr>
          <p:cNvPr id="44" name="Shape 42"/>
          <p:cNvSpPr/>
          <p:nvPr/>
        </p:nvSpPr>
        <p:spPr>
          <a:xfrm>
            <a:off x="7516368" y="4023360"/>
            <a:ext cx="347472" cy="0"/>
          </a:xfrm>
          <a:prstGeom prst="line">
            <a:avLst/>
          </a:prstGeom>
          <a:noFill/>
          <a:ln w="22225">
            <a:solidFill>
              <a:srgbClr val="5B2A86"/>
            </a:solidFill>
            <a:prstDash val="solid"/>
            <a:headEnd type="triangle"/>
          </a:ln>
        </p:spPr>
      </p:sp>
      <p:sp>
        <p:nvSpPr>
          <p:cNvPr id="45" name="Shape 43"/>
          <p:cNvSpPr/>
          <p:nvPr/>
        </p:nvSpPr>
        <p:spPr>
          <a:xfrm>
            <a:off x="5065776" y="4023360"/>
            <a:ext cx="347472" cy="0"/>
          </a:xfrm>
          <a:prstGeom prst="line">
            <a:avLst/>
          </a:prstGeom>
          <a:noFill/>
          <a:ln w="22225">
            <a:solidFill>
              <a:srgbClr val="5B2A86"/>
            </a:solidFill>
            <a:prstDash val="solid"/>
            <a:headEnd type="triangle"/>
          </a:ln>
        </p:spPr>
      </p:sp>
      <p:sp>
        <p:nvSpPr>
          <p:cNvPr id="46" name="Shape 44"/>
          <p:cNvSpPr/>
          <p:nvPr/>
        </p:nvSpPr>
        <p:spPr>
          <a:xfrm>
            <a:off x="2615184" y="4023360"/>
            <a:ext cx="347472" cy="0"/>
          </a:xfrm>
          <a:prstGeom prst="line">
            <a:avLst/>
          </a:prstGeom>
          <a:noFill/>
          <a:ln w="22225">
            <a:solidFill>
              <a:srgbClr val="5B2A86"/>
            </a:solidFill>
            <a:prstDash val="solid"/>
            <a:headEnd type="triangle"/>
          </a:ln>
        </p:spPr>
      </p:sp>
      <p:sp>
        <p:nvSpPr>
          <p:cNvPr id="47" name="Shape 45"/>
          <p:cNvSpPr/>
          <p:nvPr/>
        </p:nvSpPr>
        <p:spPr>
          <a:xfrm>
            <a:off x="1024128" y="4553712"/>
            <a:ext cx="0" cy="256032"/>
          </a:xfrm>
          <a:prstGeom prst="line">
            <a:avLst/>
          </a:prstGeom>
          <a:noFill/>
          <a:ln w="15875">
            <a:solidFill>
              <a:srgbClr val="7A4AA5"/>
            </a:solidFill>
            <a:prstDash val="dash"/>
          </a:ln>
        </p:spPr>
      </p:sp>
      <p:sp>
        <p:nvSpPr>
          <p:cNvPr id="48" name="Shape 46"/>
          <p:cNvSpPr/>
          <p:nvPr/>
        </p:nvSpPr>
        <p:spPr>
          <a:xfrm>
            <a:off x="1024128" y="4809744"/>
            <a:ext cx="7991856" cy="0"/>
          </a:xfrm>
          <a:prstGeom prst="line">
            <a:avLst/>
          </a:prstGeom>
          <a:noFill/>
          <a:ln w="15875">
            <a:solidFill>
              <a:srgbClr val="7A4AA5"/>
            </a:solidFill>
            <a:prstDash val="dash"/>
          </a:ln>
        </p:spPr>
      </p:sp>
      <p:sp>
        <p:nvSpPr>
          <p:cNvPr id="49" name="Shape 47"/>
          <p:cNvSpPr/>
          <p:nvPr/>
        </p:nvSpPr>
        <p:spPr>
          <a:xfrm>
            <a:off x="9015984" y="4553712"/>
            <a:ext cx="0" cy="256032"/>
          </a:xfrm>
          <a:prstGeom prst="line">
            <a:avLst/>
          </a:prstGeom>
          <a:noFill/>
          <a:ln w="15875">
            <a:solidFill>
              <a:srgbClr val="7A4AA5"/>
            </a:solidFill>
            <a:prstDash val="dash"/>
            <a:headEnd type="triangle"/>
          </a:ln>
        </p:spPr>
      </p:sp>
      <p:sp>
        <p:nvSpPr>
          <p:cNvPr id="50" name="Text 48"/>
          <p:cNvSpPr txBox="1"/>
          <p:nvPr/>
        </p:nvSpPr>
        <p:spPr>
          <a:xfrm>
            <a:off x="1252728" y="4645152"/>
            <a:ext cx="4937760" cy="182880"/>
          </a:xfrm>
          <a:prstGeom prst="rect">
            <a:avLst/>
          </a:prstGeom>
          <a:noFill/>
          <a:ln/>
        </p:spPr>
        <p:txBody>
          <a:bodyPr wrap="square" lIns="0" tIns="0" rIns="0" bIns="0" rtlCol="0" anchor="t"/>
          <a:lstStyle/>
          <a:p>
            <a:pPr indent="0" marL="0">
              <a:lnSpc>
                <a:spcPct val="105000"/>
              </a:lnSpc>
              <a:buNone/>
            </a:pPr>
            <a:r>
              <a:rPr lang="en-US" sz="850" dirty="0">
                <a:solidFill>
                  <a:srgbClr val="625D68"/>
                </a:solidFill>
                <a:latin typeface="Arial" pitchFamily="34" charset="0"/>
                <a:ea typeface="Arial" pitchFamily="34" charset="-122"/>
                <a:cs typeface="Arial" pitchFamily="34" charset="-120"/>
              </a:rPr>
              <a:t>confirmed maintenance findings retrain the model and tighten alarm limits</a:t>
            </a:r>
            <a:endParaRPr lang="en-US" sz="850" dirty="0"/>
          </a:p>
        </p:txBody>
      </p:sp>
      <p:sp>
        <p:nvSpPr>
          <p:cNvPr id="51" name="Shape 49"/>
          <p:cNvSpPr/>
          <p:nvPr/>
        </p:nvSpPr>
        <p:spPr>
          <a:xfrm>
            <a:off x="530352" y="5440680"/>
            <a:ext cx="256032" cy="256032"/>
          </a:xfrm>
          <a:prstGeom prst="rect">
            <a:avLst/>
          </a:prstGeom>
          <a:solidFill>
            <a:srgbClr val="FFFFFF"/>
          </a:solidFill>
          <a:ln w="17780">
            <a:solidFill>
              <a:srgbClr val="5B2A86"/>
            </a:solidFill>
            <a:prstDash val="solid"/>
          </a:ln>
        </p:spPr>
      </p:sp>
      <p:sp>
        <p:nvSpPr>
          <p:cNvPr id="52" name="Shape 50"/>
          <p:cNvSpPr/>
          <p:nvPr/>
        </p:nvSpPr>
        <p:spPr>
          <a:xfrm>
            <a:off x="621792" y="5532120"/>
            <a:ext cx="73152" cy="73152"/>
          </a:xfrm>
          <a:prstGeom prst="ellipse">
            <a:avLst/>
          </a:prstGeom>
          <a:solidFill>
            <a:srgbClr val="5B2A86"/>
          </a:solidFill>
          <a:ln/>
        </p:spPr>
      </p:sp>
      <p:sp>
        <p:nvSpPr>
          <p:cNvPr id="53" name="Text 51"/>
          <p:cNvSpPr txBox="1"/>
          <p:nvPr/>
        </p:nvSpPr>
        <p:spPr>
          <a:xfrm>
            <a:off x="905256" y="5349240"/>
            <a:ext cx="3027578" cy="219456"/>
          </a:xfrm>
          <a:prstGeom prst="rect">
            <a:avLst/>
          </a:prstGeom>
          <a:noFill/>
          <a:ln/>
        </p:spPr>
        <p:txBody>
          <a:bodyPr wrap="square" lIns="0" tIns="0" rIns="0" bIns="0" rtlCol="0" anchor="t"/>
          <a:lstStyle/>
          <a:p>
            <a:pPr indent="0" marL="0">
              <a:lnSpc>
                <a:spcPct val="105000"/>
              </a:lnSpc>
              <a:buNone/>
            </a:pPr>
            <a:r>
              <a:rPr lang="en-US" sz="1150" b="1" dirty="0">
                <a:solidFill>
                  <a:srgbClr val="17131D"/>
                </a:solidFill>
                <a:latin typeface="Arial" pitchFamily="34" charset="0"/>
                <a:ea typeface="Arial" pitchFamily="34" charset="-122"/>
                <a:cs typeface="Arial" pitchFamily="34" charset="-120"/>
              </a:rPr>
              <a:t>Open data protocols</a:t>
            </a:r>
            <a:endParaRPr lang="en-US" sz="1150" dirty="0"/>
          </a:p>
        </p:txBody>
      </p:sp>
      <p:sp>
        <p:nvSpPr>
          <p:cNvPr id="54" name="Text 52"/>
          <p:cNvSpPr txBox="1"/>
          <p:nvPr/>
        </p:nvSpPr>
        <p:spPr>
          <a:xfrm>
            <a:off x="905256" y="5586984"/>
            <a:ext cx="3027578" cy="548640"/>
          </a:xfrm>
          <a:prstGeom prst="rect">
            <a:avLst/>
          </a:prstGeom>
          <a:noFill/>
          <a:ln/>
        </p:spPr>
        <p:txBody>
          <a:bodyPr wrap="square" lIns="0" tIns="0" rIns="0" bIns="0" rtlCol="0" anchor="t"/>
          <a:lstStyle/>
          <a:p>
            <a:pPr indent="0" marL="0">
              <a:lnSpc>
                <a:spcPct val="105000"/>
              </a:lnSpc>
              <a:buNone/>
            </a:pPr>
            <a:r>
              <a:rPr lang="en-US" sz="950" dirty="0">
                <a:solidFill>
                  <a:srgbClr val="625D68"/>
                </a:solidFill>
                <a:latin typeface="Arial" pitchFamily="34" charset="0"/>
                <a:ea typeface="Arial" pitchFamily="34" charset="-122"/>
                <a:cs typeface="Arial" pitchFamily="34" charset="-120"/>
              </a:rPr>
              <a:t>OPC UA and standard historian interfaces; nothing proprietary between plant and models</a:t>
            </a:r>
            <a:endParaRPr lang="en-US" sz="950" dirty="0"/>
          </a:p>
        </p:txBody>
      </p:sp>
      <p:sp>
        <p:nvSpPr>
          <p:cNvPr id="55" name="Shape 53"/>
          <p:cNvSpPr/>
          <p:nvPr/>
        </p:nvSpPr>
        <p:spPr>
          <a:xfrm>
            <a:off x="4371746" y="5550408"/>
            <a:ext cx="64008" cy="146304"/>
          </a:xfrm>
          <a:prstGeom prst="rect">
            <a:avLst/>
          </a:prstGeom>
          <a:solidFill>
            <a:srgbClr val="5B2A86"/>
          </a:solidFill>
          <a:ln/>
        </p:spPr>
      </p:sp>
      <p:sp>
        <p:nvSpPr>
          <p:cNvPr id="56" name="Shape 54"/>
          <p:cNvSpPr/>
          <p:nvPr/>
        </p:nvSpPr>
        <p:spPr>
          <a:xfrm>
            <a:off x="4472330" y="5458968"/>
            <a:ext cx="64008" cy="237744"/>
          </a:xfrm>
          <a:prstGeom prst="rect">
            <a:avLst/>
          </a:prstGeom>
          <a:solidFill>
            <a:srgbClr val="5B2A86"/>
          </a:solidFill>
          <a:ln/>
        </p:spPr>
      </p:sp>
      <p:sp>
        <p:nvSpPr>
          <p:cNvPr id="57" name="Shape 55"/>
          <p:cNvSpPr/>
          <p:nvPr/>
        </p:nvSpPr>
        <p:spPr>
          <a:xfrm>
            <a:off x="4572914" y="5504688"/>
            <a:ext cx="64008" cy="192024"/>
          </a:xfrm>
          <a:prstGeom prst="rect">
            <a:avLst/>
          </a:prstGeom>
          <a:solidFill>
            <a:srgbClr val="5B2A86"/>
          </a:solidFill>
          <a:ln/>
        </p:spPr>
      </p:sp>
      <p:sp>
        <p:nvSpPr>
          <p:cNvPr id="58" name="Text 56"/>
          <p:cNvSpPr txBox="1"/>
          <p:nvPr/>
        </p:nvSpPr>
        <p:spPr>
          <a:xfrm>
            <a:off x="4755794" y="5349240"/>
            <a:ext cx="3027578" cy="219456"/>
          </a:xfrm>
          <a:prstGeom prst="rect">
            <a:avLst/>
          </a:prstGeom>
          <a:noFill/>
          <a:ln/>
        </p:spPr>
        <p:txBody>
          <a:bodyPr wrap="square" lIns="0" tIns="0" rIns="0" bIns="0" rtlCol="0" anchor="t"/>
          <a:lstStyle/>
          <a:p>
            <a:pPr indent="0" marL="0">
              <a:lnSpc>
                <a:spcPct val="105000"/>
              </a:lnSpc>
              <a:buNone/>
            </a:pPr>
            <a:r>
              <a:rPr lang="en-US" sz="1150" b="1" dirty="0">
                <a:solidFill>
                  <a:srgbClr val="17131D"/>
                </a:solidFill>
                <a:latin typeface="Arial" pitchFamily="34" charset="0"/>
                <a:ea typeface="Arial" pitchFamily="34" charset="-122"/>
                <a:cs typeface="Arial" pitchFamily="34" charset="-120"/>
              </a:rPr>
              <a:t>Interpretable features</a:t>
            </a:r>
            <a:endParaRPr lang="en-US" sz="1150" dirty="0"/>
          </a:p>
        </p:txBody>
      </p:sp>
      <p:sp>
        <p:nvSpPr>
          <p:cNvPr id="59" name="Text 57"/>
          <p:cNvSpPr txBox="1"/>
          <p:nvPr/>
        </p:nvSpPr>
        <p:spPr>
          <a:xfrm>
            <a:off x="4755794" y="5586984"/>
            <a:ext cx="3027578" cy="548640"/>
          </a:xfrm>
          <a:prstGeom prst="rect">
            <a:avLst/>
          </a:prstGeom>
          <a:noFill/>
          <a:ln/>
        </p:spPr>
        <p:txBody>
          <a:bodyPr wrap="square" lIns="0" tIns="0" rIns="0" bIns="0" rtlCol="0" anchor="t"/>
          <a:lstStyle/>
          <a:p>
            <a:pPr indent="0" marL="0">
              <a:lnSpc>
                <a:spcPct val="105000"/>
              </a:lnSpc>
              <a:buNone/>
            </a:pPr>
            <a:r>
              <a:rPr lang="en-US" sz="950" dirty="0">
                <a:solidFill>
                  <a:srgbClr val="625D68"/>
                </a:solidFill>
                <a:latin typeface="Arial" pitchFamily="34" charset="0"/>
                <a:ea typeface="Arial" pitchFamily="34" charset="-122"/>
                <a:cs typeface="Arial" pitchFamily="34" charset="-120"/>
              </a:rPr>
              <a:t>every model input is a standard vibration indicator an engineer can check</a:t>
            </a:r>
            <a:endParaRPr lang="en-US" sz="950" dirty="0"/>
          </a:p>
        </p:txBody>
      </p:sp>
      <p:sp>
        <p:nvSpPr>
          <p:cNvPr id="60" name="Shape 58"/>
          <p:cNvSpPr/>
          <p:nvPr/>
        </p:nvSpPr>
        <p:spPr>
          <a:xfrm>
            <a:off x="8240573" y="5568696"/>
            <a:ext cx="82296" cy="82296"/>
          </a:xfrm>
          <a:prstGeom prst="line">
            <a:avLst/>
          </a:prstGeom>
          <a:noFill/>
          <a:ln w="22860">
            <a:solidFill>
              <a:srgbClr val="2F7D69"/>
            </a:solidFill>
            <a:prstDash val="solid"/>
          </a:ln>
        </p:spPr>
      </p:sp>
      <p:sp>
        <p:nvSpPr>
          <p:cNvPr id="61" name="Shape 59"/>
          <p:cNvSpPr/>
          <p:nvPr/>
        </p:nvSpPr>
        <p:spPr>
          <a:xfrm flipV="1">
            <a:off x="8313725" y="5458968"/>
            <a:ext cx="146304" cy="192024"/>
          </a:xfrm>
          <a:prstGeom prst="line">
            <a:avLst/>
          </a:prstGeom>
          <a:noFill/>
          <a:ln w="22860">
            <a:solidFill>
              <a:srgbClr val="2F7D69"/>
            </a:solidFill>
            <a:prstDash val="solid"/>
          </a:ln>
        </p:spPr>
      </p:sp>
      <p:sp>
        <p:nvSpPr>
          <p:cNvPr id="62" name="Text 60"/>
          <p:cNvSpPr txBox="1"/>
          <p:nvPr/>
        </p:nvSpPr>
        <p:spPr>
          <a:xfrm>
            <a:off x="8606333" y="5349240"/>
            <a:ext cx="3027578" cy="219456"/>
          </a:xfrm>
          <a:prstGeom prst="rect">
            <a:avLst/>
          </a:prstGeom>
          <a:noFill/>
          <a:ln/>
        </p:spPr>
        <p:txBody>
          <a:bodyPr wrap="square" lIns="0" tIns="0" rIns="0" bIns="0" rtlCol="0" anchor="t"/>
          <a:lstStyle/>
          <a:p>
            <a:pPr indent="0" marL="0">
              <a:lnSpc>
                <a:spcPct val="105000"/>
              </a:lnSpc>
              <a:buNone/>
            </a:pPr>
            <a:r>
              <a:rPr lang="en-US" sz="1150" b="1" dirty="0">
                <a:solidFill>
                  <a:srgbClr val="17131D"/>
                </a:solidFill>
                <a:latin typeface="Arial" pitchFamily="34" charset="0"/>
                <a:ea typeface="Arial" pitchFamily="34" charset="-122"/>
                <a:cs typeface="Arial" pitchFamily="34" charset="-120"/>
              </a:rPr>
              <a:t>Human-approved action</a:t>
            </a:r>
            <a:endParaRPr lang="en-US" sz="1150" dirty="0"/>
          </a:p>
        </p:txBody>
      </p:sp>
      <p:sp>
        <p:nvSpPr>
          <p:cNvPr id="63" name="Text 61"/>
          <p:cNvSpPr txBox="1"/>
          <p:nvPr/>
        </p:nvSpPr>
        <p:spPr>
          <a:xfrm>
            <a:off x="8606333" y="5586984"/>
            <a:ext cx="3027578" cy="548640"/>
          </a:xfrm>
          <a:prstGeom prst="rect">
            <a:avLst/>
          </a:prstGeom>
          <a:noFill/>
          <a:ln/>
        </p:spPr>
        <p:txBody>
          <a:bodyPr wrap="square" lIns="0" tIns="0" rIns="0" bIns="0" rtlCol="0" anchor="t"/>
          <a:lstStyle/>
          <a:p>
            <a:pPr indent="0" marL="0">
              <a:lnSpc>
                <a:spcPct val="105000"/>
              </a:lnSpc>
              <a:buNone/>
            </a:pPr>
            <a:r>
              <a:rPr lang="en-US" sz="950" dirty="0">
                <a:solidFill>
                  <a:srgbClr val="625D68"/>
                </a:solidFill>
                <a:latin typeface="Arial" pitchFamily="34" charset="0"/>
                <a:ea typeface="Arial" pitchFamily="34" charset="-122"/>
                <a:cs typeface="Arial" pitchFamily="34" charset="-120"/>
              </a:rPr>
              <a:t>no maintenance decision changes without the reliability engineer's sign-off</a:t>
            </a:r>
            <a:endParaRPr lang="en-US" sz="950" dirty="0"/>
          </a:p>
        </p:txBody>
      </p:sp>
      <p:sp>
        <p:nvSpPr>
          <p:cNvPr id="64" name="Text 62"/>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850" dirty="0">
                <a:solidFill>
                  <a:srgbClr val="625D68"/>
                </a:solidFill>
                <a:latin typeface="Arial" pitchFamily="34" charset="0"/>
                <a:ea typeface="Arial" pitchFamily="34" charset="-122"/>
                <a:cs typeface="Arial" pitchFamily="34" charset="-120"/>
              </a:rPr>
              <a:t>India Chem 2026 · NIT Warangal</a:t>
            </a:r>
            <a:endParaRPr lang="en-US" sz="850" dirty="0"/>
          </a:p>
        </p:txBody>
      </p:sp>
      <p:sp>
        <p:nvSpPr>
          <p:cNvPr id="65" name="Text 63"/>
          <p:cNvSpPr txBox="1"/>
          <p:nvPr/>
        </p:nvSpPr>
        <p:spPr>
          <a:xfrm>
            <a:off x="10957255" y="6583680"/>
            <a:ext cx="731520" cy="182880"/>
          </a:xfrm>
          <a:prstGeom prst="rect">
            <a:avLst/>
          </a:prstGeom>
          <a:noFill/>
          <a:ln/>
        </p:spPr>
        <p:txBody>
          <a:bodyPr wrap="square" lIns="0" tIns="0" rIns="0" bIns="0" rtlCol="0" anchor="ctr"/>
          <a:lstStyle/>
          <a:p>
            <a:pPr algn="r" indent="0" marL="0">
              <a:buNone/>
            </a:pPr>
            <a:r>
              <a:rPr lang="en-US" sz="850" dirty="0">
                <a:solidFill>
                  <a:srgbClr val="625D68"/>
                </a:solidFill>
                <a:latin typeface="Arial" pitchFamily="34" charset="0"/>
                <a:ea typeface="Arial" pitchFamily="34" charset="-122"/>
                <a:cs typeface="Arial" pitchFamily="34" charset="-120"/>
              </a:rPr>
              <a:t>4 / 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5486400" cy="201168"/>
          </a:xfrm>
          <a:prstGeom prst="rect">
            <a:avLst/>
          </a:prstGeom>
          <a:noFill/>
          <a:ln/>
        </p:spPr>
        <p:txBody>
          <a:bodyPr wrap="square" lIns="0" tIns="0" rIns="0" bIns="0" rtlCol="0" anchor="ctr"/>
          <a:lstStyle/>
          <a:p>
            <a:pPr indent="0" marL="0">
              <a:buNone/>
            </a:pPr>
            <a:r>
              <a:rPr lang="en-US" sz="1000" b="1" dirty="0">
                <a:solidFill>
                  <a:srgbClr val="7A4AA5"/>
                </a:solidFill>
                <a:latin typeface="Arial" pitchFamily="34" charset="0"/>
                <a:ea typeface="Arial" pitchFamily="34" charset="-122"/>
                <a:cs typeface="Arial" pitchFamily="34" charset="-120"/>
              </a:rPr>
              <a:t>Technical feasibility</a:t>
            </a:r>
            <a:endParaRPr lang="en-US" sz="1000" dirty="0"/>
          </a:p>
        </p:txBody>
      </p:sp>
      <p:sp>
        <p:nvSpPr>
          <p:cNvPr id="3" name="Text 1"/>
          <p:cNvSpPr txBox="1"/>
          <p:nvPr/>
        </p:nvSpPr>
        <p:spPr>
          <a:xfrm>
            <a:off x="502920" y="420624"/>
            <a:ext cx="11185855" cy="868680"/>
          </a:xfrm>
          <a:prstGeom prst="rect">
            <a:avLst/>
          </a:prstGeom>
          <a:noFill/>
          <a:ln/>
        </p:spPr>
        <p:txBody>
          <a:bodyPr wrap="square" lIns="0" tIns="0" rIns="0" bIns="0" rtlCol="0" anchor="t"/>
          <a:lstStyle/>
          <a:p>
            <a:pPr indent="0" marL="0">
              <a:lnSpc>
                <a:spcPct val="103000"/>
              </a:lnSpc>
              <a:buNone/>
            </a:pPr>
            <a:r>
              <a:rPr lang="en-US" sz="2500" b="1" dirty="0">
                <a:solidFill>
                  <a:srgbClr val="17131D"/>
                </a:solidFill>
                <a:latin typeface="Arial" pitchFamily="34" charset="0"/>
                <a:ea typeface="Arial" pitchFamily="34" charset="-122"/>
                <a:cs typeface="Arial" pitchFamily="34" charset="-120"/>
              </a:rPr>
              <a:t>The benchmark result is promising; </a:t>
            </a:r>
            <a:pPr indent="0" marL="0">
              <a:lnSpc>
                <a:spcPct val="103000"/>
              </a:lnSpc>
              <a:buNone/>
            </a:pPr>
            <a:r>
              <a:rPr lang="en-US" sz="2500" b="1" dirty="0">
                <a:solidFill>
                  <a:srgbClr val="5B2A86"/>
                </a:solidFill>
                <a:latin typeface="Arial" pitchFamily="34" charset="0"/>
                <a:ea typeface="Arial" pitchFamily="34" charset="-122"/>
                <a:cs typeface="Arial" pitchFamily="34" charset="-120"/>
              </a:rPr>
              <a:t>the plant pilot must now test performance</a:t>
            </a:r>
            <a:pPr indent="0" marL="0">
              <a:lnSpc>
                <a:spcPct val="103000"/>
              </a:lnSpc>
              <a:buNone/>
            </a:pPr>
            <a:r>
              <a:rPr lang="en-US" sz="2500" b="1" dirty="0">
                <a:solidFill>
                  <a:srgbClr val="17131D"/>
                </a:solidFill>
                <a:latin typeface="Arial" pitchFamily="34" charset="0"/>
                <a:ea typeface="Arial" pitchFamily="34" charset="-122"/>
                <a:cs typeface="Arial" pitchFamily="34" charset="-120"/>
              </a:rPr>
              <a:t> under real operating conditions</a:t>
            </a:r>
            <a:endParaRPr lang="en-US" sz="2500" dirty="0"/>
          </a:p>
        </p:txBody>
      </p:sp>
      <p:sp>
        <p:nvSpPr>
          <p:cNvPr id="4" name="Text 2"/>
          <p:cNvSpPr txBox="1"/>
          <p:nvPr/>
        </p:nvSpPr>
        <p:spPr>
          <a:xfrm>
            <a:off x="502920" y="1335024"/>
            <a:ext cx="3657600" cy="201168"/>
          </a:xfrm>
          <a:prstGeom prst="rect">
            <a:avLst/>
          </a:prstGeom>
          <a:noFill/>
          <a:ln/>
        </p:spPr>
        <p:txBody>
          <a:bodyPr wrap="square" lIns="0" tIns="0" rIns="0" bIns="0" rtlCol="0" anchor="t"/>
          <a:lstStyle/>
          <a:p>
            <a:pPr indent="0" marL="0">
              <a:lnSpc>
                <a:spcPct val="105000"/>
              </a:lnSpc>
              <a:buNone/>
            </a:pPr>
            <a:r>
              <a:rPr lang="en-US" sz="1200" b="1" dirty="0">
                <a:solidFill>
                  <a:srgbClr val="17131D"/>
                </a:solidFill>
                <a:latin typeface="Arial" pitchFamily="34" charset="0"/>
                <a:ea typeface="Arial" pitchFamily="34" charset="-122"/>
                <a:cs typeface="Arial" pitchFamily="34" charset="-120"/>
              </a:rPr>
              <a:t>Feature pipeline</a:t>
            </a:r>
            <a:endParaRPr lang="en-US" sz="1200" dirty="0"/>
          </a:p>
        </p:txBody>
      </p:sp>
      <p:sp>
        <p:nvSpPr>
          <p:cNvPr id="5" name="Shape 3"/>
          <p:cNvSpPr/>
          <p:nvPr/>
        </p:nvSpPr>
        <p:spPr>
          <a:xfrm>
            <a:off x="502920" y="1572768"/>
            <a:ext cx="1965960" cy="804672"/>
          </a:xfrm>
          <a:prstGeom prst="rect">
            <a:avLst/>
          </a:prstGeom>
          <a:solidFill>
            <a:srgbClr val="FFFFFF"/>
          </a:solidFill>
          <a:ln w="11430">
            <a:solidFill>
              <a:srgbClr val="DED9E5"/>
            </a:solidFill>
            <a:prstDash val="solid"/>
          </a:ln>
        </p:spPr>
      </p:sp>
      <p:sp>
        <p:nvSpPr>
          <p:cNvPr id="6" name="Text 4"/>
          <p:cNvSpPr txBox="1"/>
          <p:nvPr/>
        </p:nvSpPr>
        <p:spPr>
          <a:xfrm>
            <a:off x="594360" y="1645920"/>
            <a:ext cx="1783080" cy="329184"/>
          </a:xfrm>
          <a:prstGeom prst="rect">
            <a:avLst/>
          </a:prstGeom>
          <a:noFill/>
          <a:ln/>
        </p:spPr>
        <p:txBody>
          <a:bodyPr wrap="square" lIns="0" tIns="0" rIns="0" bIns="0" rtlCol="0" anchor="t"/>
          <a:lstStyle/>
          <a:p>
            <a:pPr indent="0" marL="0">
              <a:lnSpc>
                <a:spcPct val="95000"/>
              </a:lnSpc>
              <a:buNone/>
            </a:pPr>
            <a:r>
              <a:rPr lang="en-US" sz="1000" b="1" dirty="0">
                <a:solidFill>
                  <a:srgbClr val="17131D"/>
                </a:solidFill>
                <a:latin typeface="Arial" pitchFamily="34" charset="0"/>
                <a:ea typeface="Arial" pitchFamily="34" charset="-122"/>
                <a:cs typeface="Arial" pitchFamily="34" charset="-120"/>
              </a:rPr>
              <a:t>Raw vibration signal</a:t>
            </a:r>
            <a:endParaRPr lang="en-US" sz="1000" dirty="0"/>
          </a:p>
        </p:txBody>
      </p:sp>
      <p:sp>
        <p:nvSpPr>
          <p:cNvPr id="7" name="Shape 5"/>
          <p:cNvSpPr/>
          <p:nvPr/>
        </p:nvSpPr>
        <p:spPr>
          <a:xfrm>
            <a:off x="640080" y="2139696"/>
            <a:ext cx="172720" cy="28804"/>
          </a:xfrm>
          <a:prstGeom prst="line">
            <a:avLst/>
          </a:prstGeom>
          <a:noFill/>
          <a:ln w="15240">
            <a:solidFill>
              <a:srgbClr val="7A4AA5"/>
            </a:solidFill>
            <a:prstDash val="solid"/>
          </a:ln>
        </p:spPr>
      </p:sp>
      <p:sp>
        <p:nvSpPr>
          <p:cNvPr id="8" name="Shape 6"/>
          <p:cNvSpPr/>
          <p:nvPr/>
        </p:nvSpPr>
        <p:spPr>
          <a:xfrm flipV="1">
            <a:off x="812800" y="2098548"/>
            <a:ext cx="172720" cy="69952"/>
          </a:xfrm>
          <a:prstGeom prst="line">
            <a:avLst/>
          </a:prstGeom>
          <a:noFill/>
          <a:ln w="15240">
            <a:solidFill>
              <a:srgbClr val="7A4AA5"/>
            </a:solidFill>
            <a:prstDash val="solid"/>
          </a:ln>
        </p:spPr>
      </p:sp>
      <p:sp>
        <p:nvSpPr>
          <p:cNvPr id="9" name="Shape 7"/>
          <p:cNvSpPr/>
          <p:nvPr/>
        </p:nvSpPr>
        <p:spPr>
          <a:xfrm>
            <a:off x="985520" y="2098548"/>
            <a:ext cx="172720" cy="106985"/>
          </a:xfrm>
          <a:prstGeom prst="line">
            <a:avLst/>
          </a:prstGeom>
          <a:noFill/>
          <a:ln w="15240">
            <a:solidFill>
              <a:srgbClr val="7A4AA5"/>
            </a:solidFill>
            <a:prstDash val="solid"/>
          </a:ln>
        </p:spPr>
      </p:sp>
      <p:sp>
        <p:nvSpPr>
          <p:cNvPr id="10" name="Shape 8"/>
          <p:cNvSpPr/>
          <p:nvPr/>
        </p:nvSpPr>
        <p:spPr>
          <a:xfrm flipV="1">
            <a:off x="1158240" y="2057400"/>
            <a:ext cx="172720" cy="148133"/>
          </a:xfrm>
          <a:prstGeom prst="line">
            <a:avLst/>
          </a:prstGeom>
          <a:noFill/>
          <a:ln w="15240">
            <a:solidFill>
              <a:srgbClr val="7A4AA5"/>
            </a:solidFill>
            <a:prstDash val="solid"/>
          </a:ln>
        </p:spPr>
      </p:sp>
      <p:sp>
        <p:nvSpPr>
          <p:cNvPr id="11" name="Shape 9"/>
          <p:cNvSpPr/>
          <p:nvPr/>
        </p:nvSpPr>
        <p:spPr>
          <a:xfrm>
            <a:off x="1330960" y="2057400"/>
            <a:ext cx="172720" cy="164592"/>
          </a:xfrm>
          <a:prstGeom prst="line">
            <a:avLst/>
          </a:prstGeom>
          <a:noFill/>
          <a:ln w="15240">
            <a:solidFill>
              <a:srgbClr val="7A4AA5"/>
            </a:solidFill>
            <a:prstDash val="solid"/>
          </a:ln>
        </p:spPr>
      </p:sp>
      <p:sp>
        <p:nvSpPr>
          <p:cNvPr id="12" name="Shape 10"/>
          <p:cNvSpPr/>
          <p:nvPr/>
        </p:nvSpPr>
        <p:spPr>
          <a:xfrm flipV="1">
            <a:off x="1503680" y="2106778"/>
            <a:ext cx="172720" cy="115214"/>
          </a:xfrm>
          <a:prstGeom prst="line">
            <a:avLst/>
          </a:prstGeom>
          <a:noFill/>
          <a:ln w="15240">
            <a:solidFill>
              <a:srgbClr val="7A4AA5"/>
            </a:solidFill>
            <a:prstDash val="solid"/>
          </a:ln>
        </p:spPr>
      </p:sp>
      <p:sp>
        <p:nvSpPr>
          <p:cNvPr id="13" name="Shape 11"/>
          <p:cNvSpPr/>
          <p:nvPr/>
        </p:nvSpPr>
        <p:spPr>
          <a:xfrm>
            <a:off x="1676400" y="2106778"/>
            <a:ext cx="172720" cy="78181"/>
          </a:xfrm>
          <a:prstGeom prst="line">
            <a:avLst/>
          </a:prstGeom>
          <a:noFill/>
          <a:ln w="15240">
            <a:solidFill>
              <a:srgbClr val="7A4AA5"/>
            </a:solidFill>
            <a:prstDash val="solid"/>
          </a:ln>
        </p:spPr>
      </p:sp>
      <p:sp>
        <p:nvSpPr>
          <p:cNvPr id="14" name="Shape 12"/>
          <p:cNvSpPr/>
          <p:nvPr/>
        </p:nvSpPr>
        <p:spPr>
          <a:xfrm flipV="1">
            <a:off x="1849120" y="2082089"/>
            <a:ext cx="172720" cy="102870"/>
          </a:xfrm>
          <a:prstGeom prst="line">
            <a:avLst/>
          </a:prstGeom>
          <a:noFill/>
          <a:ln w="15240">
            <a:solidFill>
              <a:srgbClr val="7A4AA5"/>
            </a:solidFill>
            <a:prstDash val="solid"/>
          </a:ln>
        </p:spPr>
      </p:sp>
      <p:sp>
        <p:nvSpPr>
          <p:cNvPr id="15" name="Shape 13"/>
          <p:cNvSpPr/>
          <p:nvPr/>
        </p:nvSpPr>
        <p:spPr>
          <a:xfrm>
            <a:off x="2021840" y="2082089"/>
            <a:ext cx="172720" cy="74066"/>
          </a:xfrm>
          <a:prstGeom prst="line">
            <a:avLst/>
          </a:prstGeom>
          <a:noFill/>
          <a:ln w="15240">
            <a:solidFill>
              <a:srgbClr val="7A4AA5"/>
            </a:solidFill>
            <a:prstDash val="solid"/>
          </a:ln>
        </p:spPr>
      </p:sp>
      <p:sp>
        <p:nvSpPr>
          <p:cNvPr id="16" name="Shape 14"/>
          <p:cNvSpPr/>
          <p:nvPr/>
        </p:nvSpPr>
        <p:spPr>
          <a:xfrm>
            <a:off x="2505456" y="1975104"/>
            <a:ext cx="310896" cy="0"/>
          </a:xfrm>
          <a:prstGeom prst="line">
            <a:avLst/>
          </a:prstGeom>
          <a:noFill/>
          <a:ln w="22225">
            <a:solidFill>
              <a:srgbClr val="5B2A86"/>
            </a:solidFill>
            <a:prstDash val="solid"/>
            <a:tailEnd type="triangle"/>
          </a:ln>
        </p:spPr>
      </p:sp>
      <p:sp>
        <p:nvSpPr>
          <p:cNvPr id="17" name="Shape 15"/>
          <p:cNvSpPr/>
          <p:nvPr/>
        </p:nvSpPr>
        <p:spPr>
          <a:xfrm>
            <a:off x="2852928" y="1572768"/>
            <a:ext cx="1965960" cy="804672"/>
          </a:xfrm>
          <a:prstGeom prst="rect">
            <a:avLst/>
          </a:prstGeom>
          <a:solidFill>
            <a:srgbClr val="FFFFFF"/>
          </a:solidFill>
          <a:ln w="11430">
            <a:solidFill>
              <a:srgbClr val="DED9E5"/>
            </a:solidFill>
            <a:prstDash val="solid"/>
          </a:ln>
        </p:spPr>
      </p:sp>
      <p:sp>
        <p:nvSpPr>
          <p:cNvPr id="18" name="Text 16"/>
          <p:cNvSpPr txBox="1"/>
          <p:nvPr/>
        </p:nvSpPr>
        <p:spPr>
          <a:xfrm>
            <a:off x="2944368" y="1645920"/>
            <a:ext cx="1783080" cy="329184"/>
          </a:xfrm>
          <a:prstGeom prst="rect">
            <a:avLst/>
          </a:prstGeom>
          <a:noFill/>
          <a:ln/>
        </p:spPr>
        <p:txBody>
          <a:bodyPr wrap="square" lIns="0" tIns="0" rIns="0" bIns="0" rtlCol="0" anchor="t"/>
          <a:lstStyle/>
          <a:p>
            <a:pPr indent="0" marL="0">
              <a:lnSpc>
                <a:spcPct val="95000"/>
              </a:lnSpc>
              <a:buNone/>
            </a:pPr>
            <a:r>
              <a:rPr lang="en-US" sz="1000" b="1" dirty="0">
                <a:solidFill>
                  <a:srgbClr val="17131D"/>
                </a:solidFill>
                <a:latin typeface="Arial" pitchFamily="34" charset="0"/>
                <a:ea typeface="Arial" pitchFamily="34" charset="-122"/>
                <a:cs typeface="Arial" pitchFamily="34" charset="-120"/>
              </a:rPr>
              <a:t>Windowing</a:t>
            </a:r>
            <a:endParaRPr lang="en-US" sz="1000" dirty="0"/>
          </a:p>
        </p:txBody>
      </p:sp>
      <p:sp>
        <p:nvSpPr>
          <p:cNvPr id="19" name="Text 17"/>
          <p:cNvSpPr txBox="1"/>
          <p:nvPr/>
        </p:nvSpPr>
        <p:spPr>
          <a:xfrm>
            <a:off x="2944368" y="2029968"/>
            <a:ext cx="1783080" cy="310896"/>
          </a:xfrm>
          <a:prstGeom prst="rect">
            <a:avLst/>
          </a:prstGeom>
          <a:noFill/>
          <a:ln/>
        </p:spPr>
        <p:txBody>
          <a:bodyPr wrap="square" lIns="0" tIns="0" rIns="0" bIns="0" rtlCol="0" anchor="t"/>
          <a:lstStyle/>
          <a:p>
            <a:pPr indent="0" marL="0">
              <a:lnSpc>
                <a:spcPct val="100000"/>
              </a:lnSpc>
              <a:buNone/>
            </a:pPr>
            <a:r>
              <a:rPr lang="en-US" sz="850" dirty="0">
                <a:solidFill>
                  <a:srgbClr val="625D68"/>
                </a:solidFill>
                <a:latin typeface="Arial" pitchFamily="34" charset="0"/>
                <a:ea typeface="Arial" pitchFamily="34" charset="-122"/>
                <a:cs typeface="Arial" pitchFamily="34" charset="-120"/>
              </a:rPr>
              <a:t>2,048 samples, 0.17 s</a:t>
            </a:r>
            <a:endParaRPr lang="en-US" sz="850" dirty="0"/>
          </a:p>
        </p:txBody>
      </p:sp>
      <p:sp>
        <p:nvSpPr>
          <p:cNvPr id="20" name="Shape 18"/>
          <p:cNvSpPr/>
          <p:nvPr/>
        </p:nvSpPr>
        <p:spPr>
          <a:xfrm>
            <a:off x="4855464" y="1975104"/>
            <a:ext cx="310896" cy="0"/>
          </a:xfrm>
          <a:prstGeom prst="line">
            <a:avLst/>
          </a:prstGeom>
          <a:noFill/>
          <a:ln w="22225">
            <a:solidFill>
              <a:srgbClr val="5B2A86"/>
            </a:solidFill>
            <a:prstDash val="solid"/>
            <a:tailEnd type="triangle"/>
          </a:ln>
        </p:spPr>
      </p:sp>
      <p:sp>
        <p:nvSpPr>
          <p:cNvPr id="21" name="Shape 19"/>
          <p:cNvSpPr/>
          <p:nvPr/>
        </p:nvSpPr>
        <p:spPr>
          <a:xfrm>
            <a:off x="5202936" y="1572768"/>
            <a:ext cx="1965960" cy="804672"/>
          </a:xfrm>
          <a:prstGeom prst="rect">
            <a:avLst/>
          </a:prstGeom>
          <a:solidFill>
            <a:srgbClr val="EFE8F6"/>
          </a:solidFill>
          <a:ln/>
        </p:spPr>
      </p:sp>
      <p:sp>
        <p:nvSpPr>
          <p:cNvPr id="22" name="Text 20"/>
          <p:cNvSpPr txBox="1"/>
          <p:nvPr/>
        </p:nvSpPr>
        <p:spPr>
          <a:xfrm>
            <a:off x="5294376" y="1645920"/>
            <a:ext cx="1783080" cy="329184"/>
          </a:xfrm>
          <a:prstGeom prst="rect">
            <a:avLst/>
          </a:prstGeom>
          <a:noFill/>
          <a:ln/>
        </p:spPr>
        <p:txBody>
          <a:bodyPr wrap="square" lIns="0" tIns="0" rIns="0" bIns="0" rtlCol="0" anchor="t"/>
          <a:lstStyle/>
          <a:p>
            <a:pPr indent="0" marL="0">
              <a:lnSpc>
                <a:spcPct val="95000"/>
              </a:lnSpc>
              <a:buNone/>
            </a:pPr>
            <a:r>
              <a:rPr lang="en-US" sz="1000" b="1" dirty="0">
                <a:solidFill>
                  <a:srgbClr val="17131D"/>
                </a:solidFill>
                <a:latin typeface="Arial" pitchFamily="34" charset="0"/>
                <a:ea typeface="Arial" pitchFamily="34" charset="-122"/>
                <a:cs typeface="Arial" pitchFamily="34" charset="-120"/>
              </a:rPr>
              <a:t>16 engineering features</a:t>
            </a:r>
            <a:endParaRPr lang="en-US" sz="1000" dirty="0"/>
          </a:p>
        </p:txBody>
      </p:sp>
      <p:sp>
        <p:nvSpPr>
          <p:cNvPr id="23" name="Text 21"/>
          <p:cNvSpPr txBox="1"/>
          <p:nvPr/>
        </p:nvSpPr>
        <p:spPr>
          <a:xfrm>
            <a:off x="5294376" y="1975104"/>
            <a:ext cx="1783080" cy="365760"/>
          </a:xfrm>
          <a:prstGeom prst="rect">
            <a:avLst/>
          </a:prstGeom>
          <a:noFill/>
          <a:ln/>
        </p:spPr>
        <p:txBody>
          <a:bodyPr wrap="square" lIns="0" tIns="0" rIns="0" bIns="0" rtlCol="0" anchor="t"/>
          <a:lstStyle/>
          <a:p>
            <a:pPr indent="0" marL="0">
              <a:lnSpc>
                <a:spcPct val="100000"/>
              </a:lnSpc>
              <a:buNone/>
            </a:pPr>
            <a:r>
              <a:rPr lang="en-US" sz="800" b="1" dirty="0">
                <a:solidFill>
                  <a:srgbClr val="5B2A86"/>
                </a:solidFill>
                <a:latin typeface="Arial" pitchFamily="34" charset="0"/>
                <a:ea typeface="Arial" pitchFamily="34" charset="-122"/>
                <a:cs typeface="Arial" pitchFamily="34" charset="-120"/>
              </a:rPr>
              <a:t>RMS · kurtosis · crest factor · band energy</a:t>
            </a:r>
            <a:endParaRPr lang="en-US" sz="800" dirty="0"/>
          </a:p>
        </p:txBody>
      </p:sp>
      <p:sp>
        <p:nvSpPr>
          <p:cNvPr id="24" name="Shape 22"/>
          <p:cNvSpPr/>
          <p:nvPr/>
        </p:nvSpPr>
        <p:spPr>
          <a:xfrm>
            <a:off x="7205472" y="1975104"/>
            <a:ext cx="310896" cy="0"/>
          </a:xfrm>
          <a:prstGeom prst="line">
            <a:avLst/>
          </a:prstGeom>
          <a:noFill/>
          <a:ln w="22225">
            <a:solidFill>
              <a:srgbClr val="5B2A86"/>
            </a:solidFill>
            <a:prstDash val="solid"/>
            <a:tailEnd type="triangle"/>
          </a:ln>
        </p:spPr>
      </p:sp>
      <p:sp>
        <p:nvSpPr>
          <p:cNvPr id="25" name="Shape 23"/>
          <p:cNvSpPr/>
          <p:nvPr/>
        </p:nvSpPr>
        <p:spPr>
          <a:xfrm>
            <a:off x="7552944" y="1572768"/>
            <a:ext cx="1965960" cy="804672"/>
          </a:xfrm>
          <a:prstGeom prst="rect">
            <a:avLst/>
          </a:prstGeom>
          <a:solidFill>
            <a:srgbClr val="FFFFFF"/>
          </a:solidFill>
          <a:ln w="11430">
            <a:solidFill>
              <a:srgbClr val="DED9E5"/>
            </a:solidFill>
            <a:prstDash val="solid"/>
          </a:ln>
        </p:spPr>
      </p:sp>
      <p:sp>
        <p:nvSpPr>
          <p:cNvPr id="26" name="Text 24"/>
          <p:cNvSpPr txBox="1"/>
          <p:nvPr/>
        </p:nvSpPr>
        <p:spPr>
          <a:xfrm>
            <a:off x="7644384" y="1645920"/>
            <a:ext cx="1783080" cy="329184"/>
          </a:xfrm>
          <a:prstGeom prst="rect">
            <a:avLst/>
          </a:prstGeom>
          <a:noFill/>
          <a:ln/>
        </p:spPr>
        <p:txBody>
          <a:bodyPr wrap="square" lIns="0" tIns="0" rIns="0" bIns="0" rtlCol="0" anchor="t"/>
          <a:lstStyle/>
          <a:p>
            <a:pPr indent="0" marL="0">
              <a:lnSpc>
                <a:spcPct val="95000"/>
              </a:lnSpc>
              <a:buNone/>
            </a:pPr>
            <a:r>
              <a:rPr lang="en-US" sz="1000" b="1" dirty="0">
                <a:solidFill>
                  <a:srgbClr val="17131D"/>
                </a:solidFill>
                <a:latin typeface="Arial" pitchFamily="34" charset="0"/>
                <a:ea typeface="Arial" pitchFamily="34" charset="-122"/>
                <a:cs typeface="Arial" pitchFamily="34" charset="-120"/>
              </a:rPr>
              <a:t>Random forest</a:t>
            </a:r>
            <a:endParaRPr lang="en-US" sz="1000" dirty="0"/>
          </a:p>
        </p:txBody>
      </p:sp>
      <p:sp>
        <p:nvSpPr>
          <p:cNvPr id="27" name="Text 25"/>
          <p:cNvSpPr txBox="1"/>
          <p:nvPr/>
        </p:nvSpPr>
        <p:spPr>
          <a:xfrm>
            <a:off x="7644384" y="2029968"/>
            <a:ext cx="1783080" cy="310896"/>
          </a:xfrm>
          <a:prstGeom prst="rect">
            <a:avLst/>
          </a:prstGeom>
          <a:noFill/>
          <a:ln/>
        </p:spPr>
        <p:txBody>
          <a:bodyPr wrap="square" lIns="0" tIns="0" rIns="0" bIns="0" rtlCol="0" anchor="t"/>
          <a:lstStyle/>
          <a:p>
            <a:pPr indent="0" marL="0">
              <a:lnSpc>
                <a:spcPct val="100000"/>
              </a:lnSpc>
              <a:buNone/>
            </a:pPr>
            <a:r>
              <a:rPr lang="en-US" sz="850" dirty="0">
                <a:solidFill>
                  <a:srgbClr val="625D68"/>
                </a:solidFill>
                <a:latin typeface="Arial" pitchFamily="34" charset="0"/>
                <a:ea typeface="Arial" pitchFamily="34" charset="-122"/>
                <a:cs typeface="Arial" pitchFamily="34" charset="-120"/>
              </a:rPr>
              <a:t>300 trees</a:t>
            </a:r>
            <a:endParaRPr lang="en-US" sz="850" dirty="0"/>
          </a:p>
        </p:txBody>
      </p:sp>
      <p:sp>
        <p:nvSpPr>
          <p:cNvPr id="28" name="Shape 26"/>
          <p:cNvSpPr/>
          <p:nvPr/>
        </p:nvSpPr>
        <p:spPr>
          <a:xfrm>
            <a:off x="9555480" y="1975104"/>
            <a:ext cx="310896" cy="0"/>
          </a:xfrm>
          <a:prstGeom prst="line">
            <a:avLst/>
          </a:prstGeom>
          <a:noFill/>
          <a:ln w="22225">
            <a:solidFill>
              <a:srgbClr val="5B2A86"/>
            </a:solidFill>
            <a:prstDash val="solid"/>
            <a:tailEnd type="triangle"/>
          </a:ln>
        </p:spPr>
      </p:sp>
      <p:sp>
        <p:nvSpPr>
          <p:cNvPr id="29" name="Shape 27"/>
          <p:cNvSpPr/>
          <p:nvPr/>
        </p:nvSpPr>
        <p:spPr>
          <a:xfrm>
            <a:off x="9902952" y="1572768"/>
            <a:ext cx="1965960" cy="804672"/>
          </a:xfrm>
          <a:prstGeom prst="rect">
            <a:avLst/>
          </a:prstGeom>
          <a:solidFill>
            <a:srgbClr val="FFFFFF"/>
          </a:solidFill>
          <a:ln w="11430">
            <a:solidFill>
              <a:srgbClr val="DED9E5"/>
            </a:solidFill>
            <a:prstDash val="solid"/>
          </a:ln>
        </p:spPr>
      </p:sp>
      <p:sp>
        <p:nvSpPr>
          <p:cNvPr id="30" name="Text 28"/>
          <p:cNvSpPr txBox="1"/>
          <p:nvPr/>
        </p:nvSpPr>
        <p:spPr>
          <a:xfrm>
            <a:off x="9994392" y="1645920"/>
            <a:ext cx="1783080" cy="329184"/>
          </a:xfrm>
          <a:prstGeom prst="rect">
            <a:avLst/>
          </a:prstGeom>
          <a:noFill/>
          <a:ln/>
        </p:spPr>
        <p:txBody>
          <a:bodyPr wrap="square" lIns="0" tIns="0" rIns="0" bIns="0" rtlCol="0" anchor="t"/>
          <a:lstStyle/>
          <a:p>
            <a:pPr indent="0" marL="0">
              <a:lnSpc>
                <a:spcPct val="95000"/>
              </a:lnSpc>
              <a:buNone/>
            </a:pPr>
            <a:r>
              <a:rPr lang="en-US" sz="1000" b="1" dirty="0">
                <a:solidFill>
                  <a:srgbClr val="17131D"/>
                </a:solidFill>
                <a:latin typeface="Arial" pitchFamily="34" charset="0"/>
                <a:ea typeface="Arial" pitchFamily="34" charset="-122"/>
                <a:cs typeface="Arial" pitchFamily="34" charset="-120"/>
              </a:rPr>
              <a:t>Output</a:t>
            </a:r>
            <a:endParaRPr lang="en-US" sz="1000" dirty="0"/>
          </a:p>
        </p:txBody>
      </p:sp>
      <p:sp>
        <p:nvSpPr>
          <p:cNvPr id="31" name="Text 29"/>
          <p:cNvSpPr txBox="1"/>
          <p:nvPr/>
        </p:nvSpPr>
        <p:spPr>
          <a:xfrm>
            <a:off x="9994392" y="2029968"/>
            <a:ext cx="1783080" cy="310896"/>
          </a:xfrm>
          <a:prstGeom prst="rect">
            <a:avLst/>
          </a:prstGeom>
          <a:noFill/>
          <a:ln/>
        </p:spPr>
        <p:txBody>
          <a:bodyPr wrap="square" lIns="0" tIns="0" rIns="0" bIns="0" rtlCol="0" anchor="t"/>
          <a:lstStyle/>
          <a:p>
            <a:pPr indent="0" marL="0">
              <a:lnSpc>
                <a:spcPct val="100000"/>
              </a:lnSpc>
              <a:buNone/>
            </a:pPr>
            <a:r>
              <a:rPr lang="en-US" sz="850" dirty="0">
                <a:solidFill>
                  <a:srgbClr val="625D68"/>
                </a:solidFill>
                <a:latin typeface="Arial" pitchFamily="34" charset="0"/>
                <a:ea typeface="Arial" pitchFamily="34" charset="-122"/>
                <a:cs typeface="Arial" pitchFamily="34" charset="-120"/>
              </a:rPr>
              <a:t>fault category + anomaly score</a:t>
            </a:r>
            <a:endParaRPr lang="en-US" sz="850" dirty="0"/>
          </a:p>
        </p:txBody>
      </p:sp>
      <p:sp>
        <p:nvSpPr>
          <p:cNvPr id="32" name="Text 30"/>
          <p:cNvSpPr txBox="1"/>
          <p:nvPr/>
        </p:nvSpPr>
        <p:spPr>
          <a:xfrm>
            <a:off x="502920" y="2551176"/>
            <a:ext cx="4572000" cy="201168"/>
          </a:xfrm>
          <a:prstGeom prst="rect">
            <a:avLst/>
          </a:prstGeom>
          <a:noFill/>
          <a:ln/>
        </p:spPr>
        <p:txBody>
          <a:bodyPr wrap="square" lIns="0" tIns="0" rIns="0" bIns="0" rtlCol="0" anchor="t"/>
          <a:lstStyle/>
          <a:p>
            <a:pPr indent="0" marL="0">
              <a:lnSpc>
                <a:spcPct val="105000"/>
              </a:lnSpc>
              <a:buNone/>
            </a:pPr>
            <a:r>
              <a:rPr lang="en-US" sz="1200" b="1" dirty="0">
                <a:solidFill>
                  <a:srgbClr val="17131D"/>
                </a:solidFill>
                <a:latin typeface="Arial" pitchFamily="34" charset="0"/>
                <a:ea typeface="Arial" pitchFamily="34" charset="-122"/>
                <a:cs typeface="Arial" pitchFamily="34" charset="-120"/>
              </a:rPr>
              <a:t>Prototype benchmark results</a:t>
            </a:r>
            <a:endParaRPr lang="en-US" sz="1200" dirty="0"/>
          </a:p>
        </p:txBody>
      </p:sp>
      <p:sp>
        <p:nvSpPr>
          <p:cNvPr id="33" name="Shape 31"/>
          <p:cNvSpPr/>
          <p:nvPr/>
        </p:nvSpPr>
        <p:spPr>
          <a:xfrm>
            <a:off x="502920" y="2788920"/>
            <a:ext cx="2084832" cy="969264"/>
          </a:xfrm>
          <a:prstGeom prst="rect">
            <a:avLst/>
          </a:prstGeom>
          <a:solidFill>
            <a:srgbClr val="FFFFFF"/>
          </a:solidFill>
          <a:ln w="11430">
            <a:solidFill>
              <a:srgbClr val="DED9E5"/>
            </a:solidFill>
            <a:prstDash val="solid"/>
          </a:ln>
        </p:spPr>
      </p:sp>
      <p:sp>
        <p:nvSpPr>
          <p:cNvPr id="34" name="Text 32"/>
          <p:cNvSpPr txBox="1"/>
          <p:nvPr/>
        </p:nvSpPr>
        <p:spPr>
          <a:xfrm>
            <a:off x="612648" y="2862072"/>
            <a:ext cx="1865376" cy="365760"/>
          </a:xfrm>
          <a:prstGeom prst="rect">
            <a:avLst/>
          </a:prstGeom>
          <a:noFill/>
          <a:ln/>
        </p:spPr>
        <p:txBody>
          <a:bodyPr wrap="square" lIns="0" tIns="0" rIns="0" bIns="0" rtlCol="0" anchor="t"/>
          <a:lstStyle/>
          <a:p>
            <a:pPr indent="0" marL="0">
              <a:lnSpc>
                <a:spcPct val="105000"/>
              </a:lnSpc>
              <a:buNone/>
            </a:pPr>
            <a:r>
              <a:rPr lang="en-US" sz="2200" b="1" dirty="0">
                <a:solidFill>
                  <a:srgbClr val="5B2A86"/>
                </a:solidFill>
                <a:latin typeface="Arial" pitchFamily="34" charset="0"/>
                <a:ea typeface="Arial" pitchFamily="34" charset="-122"/>
                <a:cs typeface="Arial" pitchFamily="34" charset="-120"/>
              </a:rPr>
              <a:t>97.9%</a:t>
            </a:r>
            <a:endParaRPr lang="en-US" sz="2200" dirty="0"/>
          </a:p>
        </p:txBody>
      </p:sp>
      <p:sp>
        <p:nvSpPr>
          <p:cNvPr id="35" name="Text 33"/>
          <p:cNvSpPr txBox="1"/>
          <p:nvPr/>
        </p:nvSpPr>
        <p:spPr>
          <a:xfrm>
            <a:off x="612648" y="3264408"/>
            <a:ext cx="1865376" cy="457200"/>
          </a:xfrm>
          <a:prstGeom prst="rect">
            <a:avLst/>
          </a:prstGeom>
          <a:noFill/>
          <a:ln/>
        </p:spPr>
        <p:txBody>
          <a:bodyPr wrap="square" lIns="0" tIns="0" rIns="0" bIns="0" rtlCol="0" anchor="t"/>
          <a:lstStyle/>
          <a:p>
            <a:pPr indent="0" marL="0">
              <a:lnSpc>
                <a:spcPct val="102000"/>
              </a:lnSpc>
              <a:buNone/>
            </a:pPr>
            <a:r>
              <a:rPr lang="en-US" sz="850" dirty="0">
                <a:solidFill>
                  <a:srgbClr val="625D68"/>
                </a:solidFill>
                <a:latin typeface="Arial" pitchFamily="34" charset="0"/>
                <a:ea typeface="Arial" pitchFamily="34" charset="-122"/>
                <a:cs typeface="Arial" pitchFamily="34" charset="-120"/>
              </a:rPr>
              <a:t>four-class benchmark accuracy, unseen 3 hp load [10]</a:t>
            </a:r>
            <a:endParaRPr lang="en-US" sz="850" dirty="0"/>
          </a:p>
        </p:txBody>
      </p:sp>
      <p:sp>
        <p:nvSpPr>
          <p:cNvPr id="36" name="Shape 34"/>
          <p:cNvSpPr/>
          <p:nvPr/>
        </p:nvSpPr>
        <p:spPr>
          <a:xfrm>
            <a:off x="2788920" y="2788920"/>
            <a:ext cx="2084832" cy="969264"/>
          </a:xfrm>
          <a:prstGeom prst="rect">
            <a:avLst/>
          </a:prstGeom>
          <a:solidFill>
            <a:srgbClr val="FFFFFF"/>
          </a:solidFill>
          <a:ln w="11430">
            <a:solidFill>
              <a:srgbClr val="DED9E5"/>
            </a:solidFill>
            <a:prstDash val="solid"/>
          </a:ln>
        </p:spPr>
      </p:sp>
      <p:sp>
        <p:nvSpPr>
          <p:cNvPr id="37" name="Text 35"/>
          <p:cNvSpPr txBox="1"/>
          <p:nvPr/>
        </p:nvSpPr>
        <p:spPr>
          <a:xfrm>
            <a:off x="2898648" y="2862072"/>
            <a:ext cx="1865376" cy="365760"/>
          </a:xfrm>
          <a:prstGeom prst="rect">
            <a:avLst/>
          </a:prstGeom>
          <a:noFill/>
          <a:ln/>
        </p:spPr>
        <p:txBody>
          <a:bodyPr wrap="square" lIns="0" tIns="0" rIns="0" bIns="0" rtlCol="0" anchor="t"/>
          <a:lstStyle/>
          <a:p>
            <a:pPr indent="0" marL="0">
              <a:lnSpc>
                <a:spcPct val="105000"/>
              </a:lnSpc>
              <a:buNone/>
            </a:pPr>
            <a:r>
              <a:rPr lang="en-US" sz="2200" b="1" dirty="0">
                <a:solidFill>
                  <a:srgbClr val="5B2A86"/>
                </a:solidFill>
                <a:latin typeface="Arial" pitchFamily="34" charset="0"/>
                <a:ea typeface="Arial" pitchFamily="34" charset="-122"/>
                <a:cs typeface="Arial" pitchFamily="34" charset="-120"/>
              </a:rPr>
              <a:t>0 of 237</a:t>
            </a:r>
            <a:endParaRPr lang="en-US" sz="2200" dirty="0"/>
          </a:p>
        </p:txBody>
      </p:sp>
      <p:sp>
        <p:nvSpPr>
          <p:cNvPr id="38" name="Text 36"/>
          <p:cNvSpPr txBox="1"/>
          <p:nvPr/>
        </p:nvSpPr>
        <p:spPr>
          <a:xfrm>
            <a:off x="2898648" y="3264408"/>
            <a:ext cx="1865376" cy="457200"/>
          </a:xfrm>
          <a:prstGeom prst="rect">
            <a:avLst/>
          </a:prstGeom>
          <a:noFill/>
          <a:ln/>
        </p:spPr>
        <p:txBody>
          <a:bodyPr wrap="square" lIns="0" tIns="0" rIns="0" bIns="0" rtlCol="0" anchor="t"/>
          <a:lstStyle/>
          <a:p>
            <a:pPr indent="0" marL="0">
              <a:lnSpc>
                <a:spcPct val="102000"/>
              </a:lnSpc>
              <a:buNone/>
            </a:pPr>
            <a:r>
              <a:rPr lang="en-US" sz="850" dirty="0">
                <a:solidFill>
                  <a:srgbClr val="625D68"/>
                </a:solidFill>
                <a:latin typeface="Arial" pitchFamily="34" charset="0"/>
                <a:ea typeface="Arial" pitchFamily="34" charset="-122"/>
                <a:cs typeface="Arial" pitchFamily="34" charset="-120"/>
              </a:rPr>
              <a:t>healthy benchmark windows misclassified [10]</a:t>
            </a:r>
            <a:endParaRPr lang="en-US" sz="850" dirty="0"/>
          </a:p>
        </p:txBody>
      </p:sp>
      <p:sp>
        <p:nvSpPr>
          <p:cNvPr id="39" name="Shape 37"/>
          <p:cNvSpPr/>
          <p:nvPr/>
        </p:nvSpPr>
        <p:spPr>
          <a:xfrm>
            <a:off x="5074920" y="2788920"/>
            <a:ext cx="2084832" cy="969264"/>
          </a:xfrm>
          <a:prstGeom prst="rect">
            <a:avLst/>
          </a:prstGeom>
          <a:solidFill>
            <a:srgbClr val="FFFFFF"/>
          </a:solidFill>
          <a:ln w="11430">
            <a:solidFill>
              <a:srgbClr val="DED9E5"/>
            </a:solidFill>
            <a:prstDash val="solid"/>
          </a:ln>
        </p:spPr>
      </p:sp>
      <p:sp>
        <p:nvSpPr>
          <p:cNvPr id="40" name="Text 38"/>
          <p:cNvSpPr txBox="1"/>
          <p:nvPr/>
        </p:nvSpPr>
        <p:spPr>
          <a:xfrm>
            <a:off x="5184648" y="2862072"/>
            <a:ext cx="1865376" cy="365760"/>
          </a:xfrm>
          <a:prstGeom prst="rect">
            <a:avLst/>
          </a:prstGeom>
          <a:noFill/>
          <a:ln/>
        </p:spPr>
        <p:txBody>
          <a:bodyPr wrap="square" lIns="0" tIns="0" rIns="0" bIns="0" rtlCol="0" anchor="t"/>
          <a:lstStyle/>
          <a:p>
            <a:pPr indent="0" marL="0">
              <a:lnSpc>
                <a:spcPct val="105000"/>
              </a:lnSpc>
              <a:buNone/>
            </a:pPr>
            <a:r>
              <a:rPr lang="en-US" sz="2200" b="1" dirty="0">
                <a:solidFill>
                  <a:srgbClr val="5B2A86"/>
                </a:solidFill>
                <a:latin typeface="Arial" pitchFamily="34" charset="0"/>
                <a:ea typeface="Arial" pitchFamily="34" charset="-122"/>
                <a:cs typeface="Arial" pitchFamily="34" charset="-120"/>
              </a:rPr>
              <a:t>98.9%</a:t>
            </a:r>
            <a:endParaRPr lang="en-US" sz="2200" dirty="0"/>
          </a:p>
        </p:txBody>
      </p:sp>
      <p:sp>
        <p:nvSpPr>
          <p:cNvPr id="41" name="Text 39"/>
          <p:cNvSpPr txBox="1"/>
          <p:nvPr/>
        </p:nvSpPr>
        <p:spPr>
          <a:xfrm>
            <a:off x="5184648" y="3264408"/>
            <a:ext cx="1865376" cy="457200"/>
          </a:xfrm>
          <a:prstGeom prst="rect">
            <a:avLst/>
          </a:prstGeom>
          <a:noFill/>
          <a:ln/>
        </p:spPr>
        <p:txBody>
          <a:bodyPr wrap="square" lIns="0" tIns="0" rIns="0" bIns="0" rtlCol="0" anchor="t"/>
          <a:lstStyle/>
          <a:p>
            <a:pPr indent="0" marL="0">
              <a:lnSpc>
                <a:spcPct val="102000"/>
              </a:lnSpc>
              <a:buNone/>
            </a:pPr>
            <a:r>
              <a:rPr lang="en-US" sz="850" dirty="0">
                <a:solidFill>
                  <a:srgbClr val="625D68"/>
                </a:solidFill>
                <a:latin typeface="Arial" pitchFamily="34" charset="0"/>
                <a:ea typeface="Arial" pitchFamily="34" charset="-122"/>
                <a:cs typeface="Arial" pitchFamily="34" charset="-120"/>
              </a:rPr>
              <a:t>grouped cross-validation accuracy [10]</a:t>
            </a:r>
            <a:endParaRPr lang="en-US" sz="850" dirty="0"/>
          </a:p>
        </p:txBody>
      </p:sp>
      <p:sp>
        <p:nvSpPr>
          <p:cNvPr id="42" name="Shape 40"/>
          <p:cNvSpPr/>
          <p:nvPr/>
        </p:nvSpPr>
        <p:spPr>
          <a:xfrm>
            <a:off x="502920" y="3904488"/>
            <a:ext cx="6656832" cy="566928"/>
          </a:xfrm>
          <a:prstGeom prst="rect">
            <a:avLst/>
          </a:prstGeom>
          <a:solidFill>
            <a:srgbClr val="F8F5FA"/>
          </a:solidFill>
          <a:ln/>
        </p:spPr>
      </p:sp>
      <p:sp>
        <p:nvSpPr>
          <p:cNvPr id="43" name="Text 41"/>
          <p:cNvSpPr txBox="1"/>
          <p:nvPr/>
        </p:nvSpPr>
        <p:spPr>
          <a:xfrm>
            <a:off x="630936" y="3977640"/>
            <a:ext cx="6437376" cy="438912"/>
          </a:xfrm>
          <a:prstGeom prst="rect">
            <a:avLst/>
          </a:prstGeom>
          <a:noFill/>
          <a:ln/>
        </p:spPr>
        <p:txBody>
          <a:bodyPr wrap="square" lIns="0" tIns="0" rIns="0" bIns="0" rtlCol="0" anchor="ctr"/>
          <a:lstStyle/>
          <a:p>
            <a:pPr indent="0" marL="0">
              <a:lnSpc>
                <a:spcPct val="105000"/>
              </a:lnSpc>
              <a:buNone/>
            </a:pPr>
            <a:r>
              <a:rPr lang="en-US" sz="1000" dirty="0">
                <a:solidFill>
                  <a:srgbClr val="17131D"/>
                </a:solidFill>
                <a:latin typeface="Arial" pitchFamily="34" charset="0"/>
                <a:ea typeface="Arial" pitchFamily="34" charset="-122"/>
                <a:cs typeface="Arial" pitchFamily="34" charset="-120"/>
              </a:rPr>
              <a:t>CWRU is a controlled test-rig dataset with seeded faults. These results do not represent proven chemical-plant performance.</a:t>
            </a:r>
            <a:endParaRPr lang="en-US" sz="1000" dirty="0"/>
          </a:p>
        </p:txBody>
      </p:sp>
      <p:sp>
        <p:nvSpPr>
          <p:cNvPr id="44" name="Text 42"/>
          <p:cNvSpPr txBox="1"/>
          <p:nvPr/>
        </p:nvSpPr>
        <p:spPr>
          <a:xfrm>
            <a:off x="502920" y="4572000"/>
            <a:ext cx="6656832" cy="384048"/>
          </a:xfrm>
          <a:prstGeom prst="rect">
            <a:avLst/>
          </a:prstGeom>
          <a:noFill/>
          <a:ln/>
        </p:spPr>
        <p:txBody>
          <a:bodyPr wrap="square" lIns="0" tIns="0" rIns="0" bIns="0" rtlCol="0" anchor="t"/>
          <a:lstStyle/>
          <a:p>
            <a:pPr indent="0" marL="0">
              <a:lnSpc>
                <a:spcPct val="105000"/>
              </a:lnSpc>
              <a:buNone/>
            </a:pPr>
            <a:r>
              <a:rPr lang="en-US" sz="850" dirty="0">
                <a:solidFill>
                  <a:srgbClr val="625D68"/>
                </a:solidFill>
                <a:latin typeface="Arial" pitchFamily="34" charset="0"/>
                <a:ea typeface="Arial" pitchFamily="34" charset="-122"/>
                <a:cs typeface="Arial" pitchFamily="34" charset="-120"/>
              </a:rPr>
              <a:t>Evaluation note: whole recordings and one entire motor load were held out; windows from one recording never appear in both training and test.</a:t>
            </a:r>
            <a:endParaRPr lang="en-US" sz="850" dirty="0"/>
          </a:p>
        </p:txBody>
      </p:sp>
      <p:sp>
        <p:nvSpPr>
          <p:cNvPr id="45" name="Text 43"/>
          <p:cNvSpPr txBox="1"/>
          <p:nvPr/>
        </p:nvSpPr>
        <p:spPr>
          <a:xfrm>
            <a:off x="7818120" y="2459736"/>
            <a:ext cx="3840480" cy="201168"/>
          </a:xfrm>
          <a:prstGeom prst="rect">
            <a:avLst/>
          </a:prstGeom>
          <a:noFill/>
          <a:ln/>
        </p:spPr>
        <p:txBody>
          <a:bodyPr wrap="square" lIns="0" tIns="0" rIns="0" bIns="0" rtlCol="0" anchor="t"/>
          <a:lstStyle/>
          <a:p>
            <a:pPr indent="0" marL="0">
              <a:lnSpc>
                <a:spcPct val="105000"/>
              </a:lnSpc>
              <a:buNone/>
            </a:pPr>
            <a:r>
              <a:rPr lang="en-US" sz="1200" b="1" dirty="0">
                <a:solidFill>
                  <a:srgbClr val="17131D"/>
                </a:solidFill>
                <a:latin typeface="Arial" pitchFamily="34" charset="0"/>
                <a:ea typeface="Arial" pitchFamily="34" charset="-122"/>
                <a:cs typeface="Arial" pitchFamily="34" charset="-120"/>
              </a:rPr>
              <a:t>Confusion matrix, unseen 3 hp load [10]</a:t>
            </a:r>
            <a:endParaRPr lang="en-US" sz="1200" dirty="0"/>
          </a:p>
        </p:txBody>
      </p:sp>
      <p:sp>
        <p:nvSpPr>
          <p:cNvPr id="46" name="Text 44"/>
          <p:cNvSpPr txBox="1"/>
          <p:nvPr/>
        </p:nvSpPr>
        <p:spPr>
          <a:xfrm>
            <a:off x="7891272" y="2843784"/>
            <a:ext cx="685800" cy="182880"/>
          </a:xfrm>
          <a:prstGeom prst="rect">
            <a:avLst/>
          </a:prstGeom>
          <a:noFill/>
          <a:ln/>
        </p:spPr>
        <p:txBody>
          <a:bodyPr wrap="square" lIns="0" tIns="0" rIns="0" bIns="0" rtlCol="0" anchor="t"/>
          <a:lstStyle/>
          <a:p>
            <a:pPr indent="0" marL="0">
              <a:lnSpc>
                <a:spcPct val="105000"/>
              </a:lnSpc>
              <a:buNone/>
            </a:pPr>
            <a:r>
              <a:rPr lang="en-US" sz="800" dirty="0">
                <a:solidFill>
                  <a:srgbClr val="625D68"/>
                </a:solidFill>
                <a:latin typeface="Arial" pitchFamily="34" charset="0"/>
                <a:ea typeface="Arial" pitchFamily="34" charset="-122"/>
                <a:cs typeface="Arial" pitchFamily="34" charset="-120"/>
              </a:rPr>
              <a:t>actual</a:t>
            </a:r>
            <a:endParaRPr lang="en-US" sz="800" dirty="0"/>
          </a:p>
        </p:txBody>
      </p:sp>
      <p:sp>
        <p:nvSpPr>
          <p:cNvPr id="47" name="Text 45"/>
          <p:cNvSpPr txBox="1"/>
          <p:nvPr/>
        </p:nvSpPr>
        <p:spPr>
          <a:xfrm>
            <a:off x="8595360" y="2743200"/>
            <a:ext cx="676656" cy="274320"/>
          </a:xfrm>
          <a:prstGeom prst="rect">
            <a:avLst/>
          </a:prstGeom>
          <a:noFill/>
          <a:ln/>
        </p:spPr>
        <p:txBody>
          <a:bodyPr wrap="square" lIns="0" tIns="0" rIns="0" bIns="0" rtlCol="0" anchor="t"/>
          <a:lstStyle/>
          <a:p>
            <a:pPr algn="ctr" indent="0" marL="0">
              <a:lnSpc>
                <a:spcPct val="90000"/>
              </a:lnSpc>
              <a:buNone/>
            </a:pPr>
            <a:r>
              <a:rPr lang="en-US" sz="800" dirty="0">
                <a:solidFill>
                  <a:srgbClr val="625D68"/>
                </a:solidFill>
                <a:latin typeface="Arial" pitchFamily="34" charset="0"/>
                <a:ea typeface="Arial" pitchFamily="34" charset="-122"/>
                <a:cs typeface="Arial" pitchFamily="34" charset="-120"/>
              </a:rPr>
              <a:t>Normal</a:t>
            </a:r>
            <a:endParaRPr lang="en-US" sz="800" dirty="0"/>
          </a:p>
        </p:txBody>
      </p:sp>
      <p:sp>
        <p:nvSpPr>
          <p:cNvPr id="48" name="Text 46"/>
          <p:cNvSpPr txBox="1"/>
          <p:nvPr/>
        </p:nvSpPr>
        <p:spPr>
          <a:xfrm>
            <a:off x="9308592" y="2743200"/>
            <a:ext cx="676656" cy="274320"/>
          </a:xfrm>
          <a:prstGeom prst="rect">
            <a:avLst/>
          </a:prstGeom>
          <a:noFill/>
          <a:ln/>
        </p:spPr>
        <p:txBody>
          <a:bodyPr wrap="square" lIns="0" tIns="0" rIns="0" bIns="0" rtlCol="0" anchor="t"/>
          <a:lstStyle/>
          <a:p>
            <a:pPr algn="ctr" indent="0" marL="0">
              <a:lnSpc>
                <a:spcPct val="90000"/>
              </a:lnSpc>
              <a:buNone/>
            </a:pPr>
            <a:r>
              <a:rPr lang="en-US" sz="800" dirty="0">
                <a:solidFill>
                  <a:srgbClr val="625D68"/>
                </a:solidFill>
                <a:latin typeface="Arial" pitchFamily="34" charset="0"/>
                <a:ea typeface="Arial" pitchFamily="34" charset="-122"/>
                <a:cs typeface="Arial" pitchFamily="34" charset="-120"/>
              </a:rPr>
              <a:t>Inner race</a:t>
            </a:r>
            <a:endParaRPr lang="en-US" sz="800" dirty="0"/>
          </a:p>
        </p:txBody>
      </p:sp>
      <p:sp>
        <p:nvSpPr>
          <p:cNvPr id="49" name="Text 47"/>
          <p:cNvSpPr txBox="1"/>
          <p:nvPr/>
        </p:nvSpPr>
        <p:spPr>
          <a:xfrm>
            <a:off x="10021824" y="2743200"/>
            <a:ext cx="676656" cy="274320"/>
          </a:xfrm>
          <a:prstGeom prst="rect">
            <a:avLst/>
          </a:prstGeom>
          <a:noFill/>
          <a:ln/>
        </p:spPr>
        <p:txBody>
          <a:bodyPr wrap="square" lIns="0" tIns="0" rIns="0" bIns="0" rtlCol="0" anchor="t"/>
          <a:lstStyle/>
          <a:p>
            <a:pPr algn="ctr" indent="0" marL="0">
              <a:lnSpc>
                <a:spcPct val="90000"/>
              </a:lnSpc>
              <a:buNone/>
            </a:pPr>
            <a:r>
              <a:rPr lang="en-US" sz="800" dirty="0">
                <a:solidFill>
                  <a:srgbClr val="625D68"/>
                </a:solidFill>
                <a:latin typeface="Arial" pitchFamily="34" charset="0"/>
                <a:ea typeface="Arial" pitchFamily="34" charset="-122"/>
                <a:cs typeface="Arial" pitchFamily="34" charset="-120"/>
              </a:rPr>
              <a:t>Ball</a:t>
            </a:r>
            <a:endParaRPr lang="en-US" sz="800" dirty="0"/>
          </a:p>
        </p:txBody>
      </p:sp>
      <p:sp>
        <p:nvSpPr>
          <p:cNvPr id="50" name="Text 48"/>
          <p:cNvSpPr txBox="1"/>
          <p:nvPr/>
        </p:nvSpPr>
        <p:spPr>
          <a:xfrm>
            <a:off x="10735056" y="2743200"/>
            <a:ext cx="676656" cy="274320"/>
          </a:xfrm>
          <a:prstGeom prst="rect">
            <a:avLst/>
          </a:prstGeom>
          <a:noFill/>
          <a:ln/>
        </p:spPr>
        <p:txBody>
          <a:bodyPr wrap="square" lIns="0" tIns="0" rIns="0" bIns="0" rtlCol="0" anchor="t"/>
          <a:lstStyle/>
          <a:p>
            <a:pPr algn="ctr" indent="0" marL="0">
              <a:lnSpc>
                <a:spcPct val="90000"/>
              </a:lnSpc>
              <a:buNone/>
            </a:pPr>
            <a:r>
              <a:rPr lang="en-US" sz="800" dirty="0">
                <a:solidFill>
                  <a:srgbClr val="625D68"/>
                </a:solidFill>
                <a:latin typeface="Arial" pitchFamily="34" charset="0"/>
                <a:ea typeface="Arial" pitchFamily="34" charset="-122"/>
                <a:cs typeface="Arial" pitchFamily="34" charset="-120"/>
              </a:rPr>
              <a:t>Outer race</a:t>
            </a:r>
            <a:endParaRPr lang="en-US" sz="800" dirty="0"/>
          </a:p>
        </p:txBody>
      </p:sp>
      <p:sp>
        <p:nvSpPr>
          <p:cNvPr id="51" name="Text 49"/>
          <p:cNvSpPr txBox="1"/>
          <p:nvPr/>
        </p:nvSpPr>
        <p:spPr>
          <a:xfrm>
            <a:off x="7891272" y="3172968"/>
            <a:ext cx="685800" cy="274320"/>
          </a:xfrm>
          <a:prstGeom prst="rect">
            <a:avLst/>
          </a:prstGeom>
          <a:noFill/>
          <a:ln/>
        </p:spPr>
        <p:txBody>
          <a:bodyPr wrap="square" lIns="0" tIns="0" rIns="0" bIns="0" rtlCol="0" anchor="t"/>
          <a:lstStyle/>
          <a:p>
            <a:pPr indent="0" marL="0">
              <a:lnSpc>
                <a:spcPct val="90000"/>
              </a:lnSpc>
              <a:buNone/>
            </a:pPr>
            <a:r>
              <a:rPr lang="en-US" sz="800" dirty="0">
                <a:solidFill>
                  <a:srgbClr val="625D68"/>
                </a:solidFill>
                <a:latin typeface="Arial" pitchFamily="34" charset="0"/>
                <a:ea typeface="Arial" pitchFamily="34" charset="-122"/>
                <a:cs typeface="Arial" pitchFamily="34" charset="-120"/>
              </a:rPr>
              <a:t>Normal</a:t>
            </a:r>
            <a:endParaRPr lang="en-US" sz="800" dirty="0"/>
          </a:p>
        </p:txBody>
      </p:sp>
      <p:sp>
        <p:nvSpPr>
          <p:cNvPr id="52" name="Shape 50"/>
          <p:cNvSpPr/>
          <p:nvPr/>
        </p:nvSpPr>
        <p:spPr>
          <a:xfrm>
            <a:off x="8595360" y="3081528"/>
            <a:ext cx="685800" cy="374904"/>
          </a:xfrm>
          <a:prstGeom prst="rect">
            <a:avLst/>
          </a:prstGeom>
          <a:solidFill>
            <a:srgbClr val="EFE8F6"/>
          </a:solidFill>
          <a:ln w="7620">
            <a:solidFill>
              <a:srgbClr val="DED9E5"/>
            </a:solidFill>
            <a:prstDash val="solid"/>
          </a:ln>
        </p:spPr>
      </p:sp>
      <p:sp>
        <p:nvSpPr>
          <p:cNvPr id="53" name="Text 51"/>
          <p:cNvSpPr txBox="1"/>
          <p:nvPr/>
        </p:nvSpPr>
        <p:spPr>
          <a:xfrm>
            <a:off x="8595360" y="3154680"/>
            <a:ext cx="685800" cy="256032"/>
          </a:xfrm>
          <a:prstGeom prst="rect">
            <a:avLst/>
          </a:prstGeom>
          <a:noFill/>
          <a:ln/>
        </p:spPr>
        <p:txBody>
          <a:bodyPr wrap="square" lIns="0" tIns="0" rIns="0" bIns="0" rtlCol="0" anchor="t"/>
          <a:lstStyle/>
          <a:p>
            <a:pPr algn="ctr" indent="0" marL="0">
              <a:lnSpc>
                <a:spcPct val="105000"/>
              </a:lnSpc>
              <a:buNone/>
            </a:pPr>
            <a:r>
              <a:rPr lang="en-US" sz="1050" b="1" dirty="0">
                <a:solidFill>
                  <a:srgbClr val="5B2A86"/>
                </a:solidFill>
                <a:latin typeface="Arial" pitchFamily="34" charset="0"/>
                <a:ea typeface="Arial" pitchFamily="34" charset="-122"/>
                <a:cs typeface="Arial" pitchFamily="34" charset="-120"/>
              </a:rPr>
              <a:t>237</a:t>
            </a:r>
            <a:endParaRPr lang="en-US" sz="1050" dirty="0"/>
          </a:p>
        </p:txBody>
      </p:sp>
      <p:sp>
        <p:nvSpPr>
          <p:cNvPr id="54" name="Shape 52"/>
          <p:cNvSpPr/>
          <p:nvPr/>
        </p:nvSpPr>
        <p:spPr>
          <a:xfrm>
            <a:off x="9308592" y="3081528"/>
            <a:ext cx="685800" cy="374904"/>
          </a:xfrm>
          <a:prstGeom prst="rect">
            <a:avLst/>
          </a:prstGeom>
          <a:solidFill>
            <a:srgbClr val="FFFFFF"/>
          </a:solidFill>
          <a:ln w="7620">
            <a:solidFill>
              <a:srgbClr val="DED9E5"/>
            </a:solidFill>
            <a:prstDash val="solid"/>
          </a:ln>
        </p:spPr>
      </p:sp>
      <p:sp>
        <p:nvSpPr>
          <p:cNvPr id="55" name="Text 53"/>
          <p:cNvSpPr txBox="1"/>
          <p:nvPr/>
        </p:nvSpPr>
        <p:spPr>
          <a:xfrm>
            <a:off x="9308592" y="3154680"/>
            <a:ext cx="685800" cy="256032"/>
          </a:xfrm>
          <a:prstGeom prst="rect">
            <a:avLst/>
          </a:prstGeom>
          <a:noFill/>
          <a:ln/>
        </p:spPr>
        <p:txBody>
          <a:bodyPr wrap="square" lIns="0" tIns="0" rIns="0" bIns="0" rtlCol="0" anchor="t"/>
          <a:lstStyle/>
          <a:p>
            <a:pPr algn="ctr" indent="0" marL="0">
              <a:lnSpc>
                <a:spcPct val="105000"/>
              </a:lnSpc>
              <a:buNone/>
            </a:pPr>
            <a:r>
              <a:rPr lang="en-US" sz="1050" dirty="0">
                <a:solidFill>
                  <a:srgbClr val="DED9E5"/>
                </a:solidFill>
                <a:latin typeface="Arial" pitchFamily="34" charset="0"/>
                <a:ea typeface="Arial" pitchFamily="34" charset="-122"/>
                <a:cs typeface="Arial" pitchFamily="34" charset="-120"/>
              </a:rPr>
              <a:t>0</a:t>
            </a:r>
            <a:endParaRPr lang="en-US" sz="1050" dirty="0"/>
          </a:p>
        </p:txBody>
      </p:sp>
      <p:sp>
        <p:nvSpPr>
          <p:cNvPr id="56" name="Shape 54"/>
          <p:cNvSpPr/>
          <p:nvPr/>
        </p:nvSpPr>
        <p:spPr>
          <a:xfrm>
            <a:off x="10021824" y="3081528"/>
            <a:ext cx="685800" cy="374904"/>
          </a:xfrm>
          <a:prstGeom prst="rect">
            <a:avLst/>
          </a:prstGeom>
          <a:solidFill>
            <a:srgbClr val="FFFFFF"/>
          </a:solidFill>
          <a:ln w="7620">
            <a:solidFill>
              <a:srgbClr val="DED9E5"/>
            </a:solidFill>
            <a:prstDash val="solid"/>
          </a:ln>
        </p:spPr>
      </p:sp>
      <p:sp>
        <p:nvSpPr>
          <p:cNvPr id="57" name="Text 55"/>
          <p:cNvSpPr txBox="1"/>
          <p:nvPr/>
        </p:nvSpPr>
        <p:spPr>
          <a:xfrm>
            <a:off x="10021824" y="3154680"/>
            <a:ext cx="685800" cy="256032"/>
          </a:xfrm>
          <a:prstGeom prst="rect">
            <a:avLst/>
          </a:prstGeom>
          <a:noFill/>
          <a:ln/>
        </p:spPr>
        <p:txBody>
          <a:bodyPr wrap="square" lIns="0" tIns="0" rIns="0" bIns="0" rtlCol="0" anchor="t"/>
          <a:lstStyle/>
          <a:p>
            <a:pPr algn="ctr" indent="0" marL="0">
              <a:lnSpc>
                <a:spcPct val="105000"/>
              </a:lnSpc>
              <a:buNone/>
            </a:pPr>
            <a:r>
              <a:rPr lang="en-US" sz="1050" dirty="0">
                <a:solidFill>
                  <a:srgbClr val="DED9E5"/>
                </a:solidFill>
                <a:latin typeface="Arial" pitchFamily="34" charset="0"/>
                <a:ea typeface="Arial" pitchFamily="34" charset="-122"/>
                <a:cs typeface="Arial" pitchFamily="34" charset="-120"/>
              </a:rPr>
              <a:t>0</a:t>
            </a:r>
            <a:endParaRPr lang="en-US" sz="1050" dirty="0"/>
          </a:p>
        </p:txBody>
      </p:sp>
      <p:sp>
        <p:nvSpPr>
          <p:cNvPr id="58" name="Shape 56"/>
          <p:cNvSpPr/>
          <p:nvPr/>
        </p:nvSpPr>
        <p:spPr>
          <a:xfrm>
            <a:off x="10735056" y="3081528"/>
            <a:ext cx="685800" cy="374904"/>
          </a:xfrm>
          <a:prstGeom prst="rect">
            <a:avLst/>
          </a:prstGeom>
          <a:solidFill>
            <a:srgbClr val="FFFFFF"/>
          </a:solidFill>
          <a:ln w="7620">
            <a:solidFill>
              <a:srgbClr val="DED9E5"/>
            </a:solidFill>
            <a:prstDash val="solid"/>
          </a:ln>
        </p:spPr>
      </p:sp>
      <p:sp>
        <p:nvSpPr>
          <p:cNvPr id="59" name="Text 57"/>
          <p:cNvSpPr txBox="1"/>
          <p:nvPr/>
        </p:nvSpPr>
        <p:spPr>
          <a:xfrm>
            <a:off x="10735056" y="3154680"/>
            <a:ext cx="685800" cy="256032"/>
          </a:xfrm>
          <a:prstGeom prst="rect">
            <a:avLst/>
          </a:prstGeom>
          <a:noFill/>
          <a:ln/>
        </p:spPr>
        <p:txBody>
          <a:bodyPr wrap="square" lIns="0" tIns="0" rIns="0" bIns="0" rtlCol="0" anchor="t"/>
          <a:lstStyle/>
          <a:p>
            <a:pPr algn="ctr" indent="0" marL="0">
              <a:lnSpc>
                <a:spcPct val="105000"/>
              </a:lnSpc>
              <a:buNone/>
            </a:pPr>
            <a:r>
              <a:rPr lang="en-US" sz="1050" dirty="0">
                <a:solidFill>
                  <a:srgbClr val="DED9E5"/>
                </a:solidFill>
                <a:latin typeface="Arial" pitchFamily="34" charset="0"/>
                <a:ea typeface="Arial" pitchFamily="34" charset="-122"/>
                <a:cs typeface="Arial" pitchFamily="34" charset="-120"/>
              </a:rPr>
              <a:t>0</a:t>
            </a:r>
            <a:endParaRPr lang="en-US" sz="1050" dirty="0"/>
          </a:p>
        </p:txBody>
      </p:sp>
      <p:sp>
        <p:nvSpPr>
          <p:cNvPr id="60" name="Text 58"/>
          <p:cNvSpPr txBox="1"/>
          <p:nvPr/>
        </p:nvSpPr>
        <p:spPr>
          <a:xfrm>
            <a:off x="7891272" y="3575304"/>
            <a:ext cx="685800" cy="274320"/>
          </a:xfrm>
          <a:prstGeom prst="rect">
            <a:avLst/>
          </a:prstGeom>
          <a:noFill/>
          <a:ln/>
        </p:spPr>
        <p:txBody>
          <a:bodyPr wrap="square" lIns="0" tIns="0" rIns="0" bIns="0" rtlCol="0" anchor="t"/>
          <a:lstStyle/>
          <a:p>
            <a:pPr indent="0" marL="0">
              <a:lnSpc>
                <a:spcPct val="90000"/>
              </a:lnSpc>
              <a:buNone/>
            </a:pPr>
            <a:r>
              <a:rPr lang="en-US" sz="800" dirty="0">
                <a:solidFill>
                  <a:srgbClr val="625D68"/>
                </a:solidFill>
                <a:latin typeface="Arial" pitchFamily="34" charset="0"/>
                <a:ea typeface="Arial" pitchFamily="34" charset="-122"/>
                <a:cs typeface="Arial" pitchFamily="34" charset="-120"/>
              </a:rPr>
              <a:t>Inner race</a:t>
            </a:r>
            <a:endParaRPr lang="en-US" sz="800" dirty="0"/>
          </a:p>
        </p:txBody>
      </p:sp>
      <p:sp>
        <p:nvSpPr>
          <p:cNvPr id="61" name="Shape 59"/>
          <p:cNvSpPr/>
          <p:nvPr/>
        </p:nvSpPr>
        <p:spPr>
          <a:xfrm>
            <a:off x="8595360" y="3483864"/>
            <a:ext cx="685800" cy="374904"/>
          </a:xfrm>
          <a:prstGeom prst="rect">
            <a:avLst/>
          </a:prstGeom>
          <a:solidFill>
            <a:srgbClr val="FFFFFF"/>
          </a:solidFill>
          <a:ln w="7620">
            <a:solidFill>
              <a:srgbClr val="DED9E5"/>
            </a:solidFill>
            <a:prstDash val="solid"/>
          </a:ln>
        </p:spPr>
      </p:sp>
      <p:sp>
        <p:nvSpPr>
          <p:cNvPr id="62" name="Text 60"/>
          <p:cNvSpPr txBox="1"/>
          <p:nvPr/>
        </p:nvSpPr>
        <p:spPr>
          <a:xfrm>
            <a:off x="8595360" y="3557016"/>
            <a:ext cx="685800" cy="256032"/>
          </a:xfrm>
          <a:prstGeom prst="rect">
            <a:avLst/>
          </a:prstGeom>
          <a:noFill/>
          <a:ln/>
        </p:spPr>
        <p:txBody>
          <a:bodyPr wrap="square" lIns="0" tIns="0" rIns="0" bIns="0" rtlCol="0" anchor="t"/>
          <a:lstStyle/>
          <a:p>
            <a:pPr algn="ctr" indent="0" marL="0">
              <a:lnSpc>
                <a:spcPct val="105000"/>
              </a:lnSpc>
              <a:buNone/>
            </a:pPr>
            <a:r>
              <a:rPr lang="en-US" sz="1050" dirty="0">
                <a:solidFill>
                  <a:srgbClr val="DED9E5"/>
                </a:solidFill>
                <a:latin typeface="Arial" pitchFamily="34" charset="0"/>
                <a:ea typeface="Arial" pitchFamily="34" charset="-122"/>
                <a:cs typeface="Arial" pitchFamily="34" charset="-120"/>
              </a:rPr>
              <a:t>0</a:t>
            </a:r>
            <a:endParaRPr lang="en-US" sz="1050" dirty="0"/>
          </a:p>
        </p:txBody>
      </p:sp>
      <p:sp>
        <p:nvSpPr>
          <p:cNvPr id="63" name="Shape 61"/>
          <p:cNvSpPr/>
          <p:nvPr/>
        </p:nvSpPr>
        <p:spPr>
          <a:xfrm>
            <a:off x="9308592" y="3483864"/>
            <a:ext cx="685800" cy="374904"/>
          </a:xfrm>
          <a:prstGeom prst="rect">
            <a:avLst/>
          </a:prstGeom>
          <a:solidFill>
            <a:srgbClr val="EFE8F6"/>
          </a:solidFill>
          <a:ln w="7620">
            <a:solidFill>
              <a:srgbClr val="DED9E5"/>
            </a:solidFill>
            <a:prstDash val="solid"/>
          </a:ln>
        </p:spPr>
      </p:sp>
      <p:sp>
        <p:nvSpPr>
          <p:cNvPr id="64" name="Text 62"/>
          <p:cNvSpPr txBox="1"/>
          <p:nvPr/>
        </p:nvSpPr>
        <p:spPr>
          <a:xfrm>
            <a:off x="9308592" y="3557016"/>
            <a:ext cx="685800" cy="256032"/>
          </a:xfrm>
          <a:prstGeom prst="rect">
            <a:avLst/>
          </a:prstGeom>
          <a:noFill/>
          <a:ln/>
        </p:spPr>
        <p:txBody>
          <a:bodyPr wrap="square" lIns="0" tIns="0" rIns="0" bIns="0" rtlCol="0" anchor="t"/>
          <a:lstStyle/>
          <a:p>
            <a:pPr algn="ctr" indent="0" marL="0">
              <a:lnSpc>
                <a:spcPct val="105000"/>
              </a:lnSpc>
              <a:buNone/>
            </a:pPr>
            <a:r>
              <a:rPr lang="en-US" sz="1050" b="1" dirty="0">
                <a:solidFill>
                  <a:srgbClr val="5B2A86"/>
                </a:solidFill>
                <a:latin typeface="Arial" pitchFamily="34" charset="0"/>
                <a:ea typeface="Arial" pitchFamily="34" charset="-122"/>
                <a:cs typeface="Arial" pitchFamily="34" charset="-120"/>
              </a:rPr>
              <a:t>216</a:t>
            </a:r>
            <a:endParaRPr lang="en-US" sz="1050" dirty="0"/>
          </a:p>
        </p:txBody>
      </p:sp>
      <p:sp>
        <p:nvSpPr>
          <p:cNvPr id="65" name="Shape 63"/>
          <p:cNvSpPr/>
          <p:nvPr/>
        </p:nvSpPr>
        <p:spPr>
          <a:xfrm>
            <a:off x="10021824" y="3483864"/>
            <a:ext cx="685800" cy="374904"/>
          </a:xfrm>
          <a:prstGeom prst="rect">
            <a:avLst/>
          </a:prstGeom>
          <a:solidFill>
            <a:srgbClr val="FFFFFF"/>
          </a:solidFill>
          <a:ln w="7620">
            <a:solidFill>
              <a:srgbClr val="DED9E5"/>
            </a:solidFill>
            <a:prstDash val="solid"/>
          </a:ln>
        </p:spPr>
      </p:sp>
      <p:sp>
        <p:nvSpPr>
          <p:cNvPr id="66" name="Text 64"/>
          <p:cNvSpPr txBox="1"/>
          <p:nvPr/>
        </p:nvSpPr>
        <p:spPr>
          <a:xfrm>
            <a:off x="10021824" y="3557016"/>
            <a:ext cx="685800" cy="256032"/>
          </a:xfrm>
          <a:prstGeom prst="rect">
            <a:avLst/>
          </a:prstGeom>
          <a:noFill/>
          <a:ln/>
        </p:spPr>
        <p:txBody>
          <a:bodyPr wrap="square" lIns="0" tIns="0" rIns="0" bIns="0" rtlCol="0" anchor="t"/>
          <a:lstStyle/>
          <a:p>
            <a:pPr algn="ctr" indent="0" marL="0">
              <a:lnSpc>
                <a:spcPct val="105000"/>
              </a:lnSpc>
              <a:buNone/>
            </a:pPr>
            <a:r>
              <a:rPr lang="en-US" sz="1050" b="1" dirty="0">
                <a:solidFill>
                  <a:srgbClr val="C8792A"/>
                </a:solidFill>
                <a:latin typeface="Arial" pitchFamily="34" charset="0"/>
                <a:ea typeface="Arial" pitchFamily="34" charset="-122"/>
                <a:cs typeface="Arial" pitchFamily="34" charset="-120"/>
              </a:rPr>
              <a:t>21</a:t>
            </a:r>
            <a:endParaRPr lang="en-US" sz="1050" dirty="0"/>
          </a:p>
        </p:txBody>
      </p:sp>
      <p:sp>
        <p:nvSpPr>
          <p:cNvPr id="67" name="Shape 65"/>
          <p:cNvSpPr/>
          <p:nvPr/>
        </p:nvSpPr>
        <p:spPr>
          <a:xfrm>
            <a:off x="10735056" y="3483864"/>
            <a:ext cx="685800" cy="374904"/>
          </a:xfrm>
          <a:prstGeom prst="rect">
            <a:avLst/>
          </a:prstGeom>
          <a:solidFill>
            <a:srgbClr val="FFFFFF"/>
          </a:solidFill>
          <a:ln w="7620">
            <a:solidFill>
              <a:srgbClr val="DED9E5"/>
            </a:solidFill>
            <a:prstDash val="solid"/>
          </a:ln>
        </p:spPr>
      </p:sp>
      <p:sp>
        <p:nvSpPr>
          <p:cNvPr id="68" name="Text 66"/>
          <p:cNvSpPr txBox="1"/>
          <p:nvPr/>
        </p:nvSpPr>
        <p:spPr>
          <a:xfrm>
            <a:off x="10735056" y="3557016"/>
            <a:ext cx="685800" cy="256032"/>
          </a:xfrm>
          <a:prstGeom prst="rect">
            <a:avLst/>
          </a:prstGeom>
          <a:noFill/>
          <a:ln/>
        </p:spPr>
        <p:txBody>
          <a:bodyPr wrap="square" lIns="0" tIns="0" rIns="0" bIns="0" rtlCol="0" anchor="t"/>
          <a:lstStyle/>
          <a:p>
            <a:pPr algn="ctr" indent="0" marL="0">
              <a:lnSpc>
                <a:spcPct val="105000"/>
              </a:lnSpc>
              <a:buNone/>
            </a:pPr>
            <a:r>
              <a:rPr lang="en-US" sz="1050" dirty="0">
                <a:solidFill>
                  <a:srgbClr val="DED9E5"/>
                </a:solidFill>
                <a:latin typeface="Arial" pitchFamily="34" charset="0"/>
                <a:ea typeface="Arial" pitchFamily="34" charset="-122"/>
                <a:cs typeface="Arial" pitchFamily="34" charset="-120"/>
              </a:rPr>
              <a:t>0</a:t>
            </a:r>
            <a:endParaRPr lang="en-US" sz="1050" dirty="0"/>
          </a:p>
        </p:txBody>
      </p:sp>
      <p:sp>
        <p:nvSpPr>
          <p:cNvPr id="69" name="Text 67"/>
          <p:cNvSpPr txBox="1"/>
          <p:nvPr/>
        </p:nvSpPr>
        <p:spPr>
          <a:xfrm>
            <a:off x="7891272" y="3977640"/>
            <a:ext cx="685800" cy="274320"/>
          </a:xfrm>
          <a:prstGeom prst="rect">
            <a:avLst/>
          </a:prstGeom>
          <a:noFill/>
          <a:ln/>
        </p:spPr>
        <p:txBody>
          <a:bodyPr wrap="square" lIns="0" tIns="0" rIns="0" bIns="0" rtlCol="0" anchor="t"/>
          <a:lstStyle/>
          <a:p>
            <a:pPr indent="0" marL="0">
              <a:lnSpc>
                <a:spcPct val="90000"/>
              </a:lnSpc>
              <a:buNone/>
            </a:pPr>
            <a:r>
              <a:rPr lang="en-US" sz="800" dirty="0">
                <a:solidFill>
                  <a:srgbClr val="625D68"/>
                </a:solidFill>
                <a:latin typeface="Arial" pitchFamily="34" charset="0"/>
                <a:ea typeface="Arial" pitchFamily="34" charset="-122"/>
                <a:cs typeface="Arial" pitchFamily="34" charset="-120"/>
              </a:rPr>
              <a:t>Ball</a:t>
            </a:r>
            <a:endParaRPr lang="en-US" sz="800" dirty="0"/>
          </a:p>
        </p:txBody>
      </p:sp>
      <p:sp>
        <p:nvSpPr>
          <p:cNvPr id="70" name="Shape 68"/>
          <p:cNvSpPr/>
          <p:nvPr/>
        </p:nvSpPr>
        <p:spPr>
          <a:xfrm>
            <a:off x="8595360" y="3886200"/>
            <a:ext cx="685800" cy="374904"/>
          </a:xfrm>
          <a:prstGeom prst="rect">
            <a:avLst/>
          </a:prstGeom>
          <a:solidFill>
            <a:srgbClr val="FFFFFF"/>
          </a:solidFill>
          <a:ln w="7620">
            <a:solidFill>
              <a:srgbClr val="DED9E5"/>
            </a:solidFill>
            <a:prstDash val="solid"/>
          </a:ln>
        </p:spPr>
      </p:sp>
      <p:sp>
        <p:nvSpPr>
          <p:cNvPr id="71" name="Text 69"/>
          <p:cNvSpPr txBox="1"/>
          <p:nvPr/>
        </p:nvSpPr>
        <p:spPr>
          <a:xfrm>
            <a:off x="8595360" y="3959352"/>
            <a:ext cx="685800" cy="256032"/>
          </a:xfrm>
          <a:prstGeom prst="rect">
            <a:avLst/>
          </a:prstGeom>
          <a:noFill/>
          <a:ln/>
        </p:spPr>
        <p:txBody>
          <a:bodyPr wrap="square" lIns="0" tIns="0" rIns="0" bIns="0" rtlCol="0" anchor="t"/>
          <a:lstStyle/>
          <a:p>
            <a:pPr algn="ctr" indent="0" marL="0">
              <a:lnSpc>
                <a:spcPct val="105000"/>
              </a:lnSpc>
              <a:buNone/>
            </a:pPr>
            <a:r>
              <a:rPr lang="en-US" sz="1050" dirty="0">
                <a:solidFill>
                  <a:srgbClr val="DED9E5"/>
                </a:solidFill>
                <a:latin typeface="Arial" pitchFamily="34" charset="0"/>
                <a:ea typeface="Arial" pitchFamily="34" charset="-122"/>
                <a:cs typeface="Arial" pitchFamily="34" charset="-120"/>
              </a:rPr>
              <a:t>0</a:t>
            </a:r>
            <a:endParaRPr lang="en-US" sz="1050" dirty="0"/>
          </a:p>
        </p:txBody>
      </p:sp>
      <p:sp>
        <p:nvSpPr>
          <p:cNvPr id="72" name="Shape 70"/>
          <p:cNvSpPr/>
          <p:nvPr/>
        </p:nvSpPr>
        <p:spPr>
          <a:xfrm>
            <a:off x="9308592" y="3886200"/>
            <a:ext cx="685800" cy="374904"/>
          </a:xfrm>
          <a:prstGeom prst="rect">
            <a:avLst/>
          </a:prstGeom>
          <a:solidFill>
            <a:srgbClr val="FFFFFF"/>
          </a:solidFill>
          <a:ln w="7620">
            <a:solidFill>
              <a:srgbClr val="DED9E5"/>
            </a:solidFill>
            <a:prstDash val="solid"/>
          </a:ln>
        </p:spPr>
      </p:sp>
      <p:sp>
        <p:nvSpPr>
          <p:cNvPr id="73" name="Text 71"/>
          <p:cNvSpPr txBox="1"/>
          <p:nvPr/>
        </p:nvSpPr>
        <p:spPr>
          <a:xfrm>
            <a:off x="9308592" y="3959352"/>
            <a:ext cx="685800" cy="256032"/>
          </a:xfrm>
          <a:prstGeom prst="rect">
            <a:avLst/>
          </a:prstGeom>
          <a:noFill/>
          <a:ln/>
        </p:spPr>
        <p:txBody>
          <a:bodyPr wrap="square" lIns="0" tIns="0" rIns="0" bIns="0" rtlCol="0" anchor="t"/>
          <a:lstStyle/>
          <a:p>
            <a:pPr algn="ctr" indent="0" marL="0">
              <a:lnSpc>
                <a:spcPct val="105000"/>
              </a:lnSpc>
              <a:buNone/>
            </a:pPr>
            <a:r>
              <a:rPr lang="en-US" sz="1050" dirty="0">
                <a:solidFill>
                  <a:srgbClr val="DED9E5"/>
                </a:solidFill>
                <a:latin typeface="Arial" pitchFamily="34" charset="0"/>
                <a:ea typeface="Arial" pitchFamily="34" charset="-122"/>
                <a:cs typeface="Arial" pitchFamily="34" charset="-120"/>
              </a:rPr>
              <a:t>0</a:t>
            </a:r>
            <a:endParaRPr lang="en-US" sz="1050" dirty="0"/>
          </a:p>
        </p:txBody>
      </p:sp>
      <p:sp>
        <p:nvSpPr>
          <p:cNvPr id="74" name="Shape 72"/>
          <p:cNvSpPr/>
          <p:nvPr/>
        </p:nvSpPr>
        <p:spPr>
          <a:xfrm>
            <a:off x="10021824" y="3886200"/>
            <a:ext cx="685800" cy="374904"/>
          </a:xfrm>
          <a:prstGeom prst="rect">
            <a:avLst/>
          </a:prstGeom>
          <a:solidFill>
            <a:srgbClr val="EFE8F6"/>
          </a:solidFill>
          <a:ln w="7620">
            <a:solidFill>
              <a:srgbClr val="DED9E5"/>
            </a:solidFill>
            <a:prstDash val="solid"/>
          </a:ln>
        </p:spPr>
      </p:sp>
      <p:sp>
        <p:nvSpPr>
          <p:cNvPr id="75" name="Text 73"/>
          <p:cNvSpPr txBox="1"/>
          <p:nvPr/>
        </p:nvSpPr>
        <p:spPr>
          <a:xfrm>
            <a:off x="10021824" y="3959352"/>
            <a:ext cx="685800" cy="256032"/>
          </a:xfrm>
          <a:prstGeom prst="rect">
            <a:avLst/>
          </a:prstGeom>
          <a:noFill/>
          <a:ln/>
        </p:spPr>
        <p:txBody>
          <a:bodyPr wrap="square" lIns="0" tIns="0" rIns="0" bIns="0" rtlCol="0" anchor="t"/>
          <a:lstStyle/>
          <a:p>
            <a:pPr algn="ctr" indent="0" marL="0">
              <a:lnSpc>
                <a:spcPct val="105000"/>
              </a:lnSpc>
              <a:buNone/>
            </a:pPr>
            <a:r>
              <a:rPr lang="en-US" sz="1050" b="1" dirty="0">
                <a:solidFill>
                  <a:srgbClr val="5B2A86"/>
                </a:solidFill>
                <a:latin typeface="Arial" pitchFamily="34" charset="0"/>
                <a:ea typeface="Arial" pitchFamily="34" charset="-122"/>
                <a:cs typeface="Arial" pitchFamily="34" charset="-120"/>
              </a:rPr>
              <a:t>236</a:t>
            </a:r>
            <a:endParaRPr lang="en-US" sz="1050" dirty="0"/>
          </a:p>
        </p:txBody>
      </p:sp>
      <p:sp>
        <p:nvSpPr>
          <p:cNvPr id="76" name="Shape 74"/>
          <p:cNvSpPr/>
          <p:nvPr/>
        </p:nvSpPr>
        <p:spPr>
          <a:xfrm>
            <a:off x="10735056" y="3886200"/>
            <a:ext cx="685800" cy="374904"/>
          </a:xfrm>
          <a:prstGeom prst="rect">
            <a:avLst/>
          </a:prstGeom>
          <a:solidFill>
            <a:srgbClr val="FFFFFF"/>
          </a:solidFill>
          <a:ln w="7620">
            <a:solidFill>
              <a:srgbClr val="DED9E5"/>
            </a:solidFill>
            <a:prstDash val="solid"/>
          </a:ln>
        </p:spPr>
      </p:sp>
      <p:sp>
        <p:nvSpPr>
          <p:cNvPr id="77" name="Text 75"/>
          <p:cNvSpPr txBox="1"/>
          <p:nvPr/>
        </p:nvSpPr>
        <p:spPr>
          <a:xfrm>
            <a:off x="10735056" y="3959352"/>
            <a:ext cx="685800" cy="256032"/>
          </a:xfrm>
          <a:prstGeom prst="rect">
            <a:avLst/>
          </a:prstGeom>
          <a:noFill/>
          <a:ln/>
        </p:spPr>
        <p:txBody>
          <a:bodyPr wrap="square" lIns="0" tIns="0" rIns="0" bIns="0" rtlCol="0" anchor="t"/>
          <a:lstStyle/>
          <a:p>
            <a:pPr algn="ctr" indent="0" marL="0">
              <a:lnSpc>
                <a:spcPct val="105000"/>
              </a:lnSpc>
              <a:buNone/>
            </a:pPr>
            <a:r>
              <a:rPr lang="en-US" sz="1050" dirty="0">
                <a:solidFill>
                  <a:srgbClr val="DED9E5"/>
                </a:solidFill>
                <a:latin typeface="Arial" pitchFamily="34" charset="0"/>
                <a:ea typeface="Arial" pitchFamily="34" charset="-122"/>
                <a:cs typeface="Arial" pitchFamily="34" charset="-120"/>
              </a:rPr>
              <a:t>0</a:t>
            </a:r>
            <a:endParaRPr lang="en-US" sz="1050" dirty="0"/>
          </a:p>
        </p:txBody>
      </p:sp>
      <p:sp>
        <p:nvSpPr>
          <p:cNvPr id="78" name="Text 76"/>
          <p:cNvSpPr txBox="1"/>
          <p:nvPr/>
        </p:nvSpPr>
        <p:spPr>
          <a:xfrm>
            <a:off x="7891272" y="4379976"/>
            <a:ext cx="685800" cy="274320"/>
          </a:xfrm>
          <a:prstGeom prst="rect">
            <a:avLst/>
          </a:prstGeom>
          <a:noFill/>
          <a:ln/>
        </p:spPr>
        <p:txBody>
          <a:bodyPr wrap="square" lIns="0" tIns="0" rIns="0" bIns="0" rtlCol="0" anchor="t"/>
          <a:lstStyle/>
          <a:p>
            <a:pPr indent="0" marL="0">
              <a:lnSpc>
                <a:spcPct val="90000"/>
              </a:lnSpc>
              <a:buNone/>
            </a:pPr>
            <a:r>
              <a:rPr lang="en-US" sz="800" dirty="0">
                <a:solidFill>
                  <a:srgbClr val="625D68"/>
                </a:solidFill>
                <a:latin typeface="Arial" pitchFamily="34" charset="0"/>
                <a:ea typeface="Arial" pitchFamily="34" charset="-122"/>
                <a:cs typeface="Arial" pitchFamily="34" charset="-120"/>
              </a:rPr>
              <a:t>Outer race</a:t>
            </a:r>
            <a:endParaRPr lang="en-US" sz="800" dirty="0"/>
          </a:p>
        </p:txBody>
      </p:sp>
      <p:sp>
        <p:nvSpPr>
          <p:cNvPr id="79" name="Shape 77"/>
          <p:cNvSpPr/>
          <p:nvPr/>
        </p:nvSpPr>
        <p:spPr>
          <a:xfrm>
            <a:off x="8595360" y="4288536"/>
            <a:ext cx="685800" cy="374904"/>
          </a:xfrm>
          <a:prstGeom prst="rect">
            <a:avLst/>
          </a:prstGeom>
          <a:solidFill>
            <a:srgbClr val="FFFFFF"/>
          </a:solidFill>
          <a:ln w="7620">
            <a:solidFill>
              <a:srgbClr val="DED9E5"/>
            </a:solidFill>
            <a:prstDash val="solid"/>
          </a:ln>
        </p:spPr>
      </p:sp>
      <p:sp>
        <p:nvSpPr>
          <p:cNvPr id="80" name="Text 78"/>
          <p:cNvSpPr txBox="1"/>
          <p:nvPr/>
        </p:nvSpPr>
        <p:spPr>
          <a:xfrm>
            <a:off x="8595360" y="4361688"/>
            <a:ext cx="685800" cy="256032"/>
          </a:xfrm>
          <a:prstGeom prst="rect">
            <a:avLst/>
          </a:prstGeom>
          <a:noFill/>
          <a:ln/>
        </p:spPr>
        <p:txBody>
          <a:bodyPr wrap="square" lIns="0" tIns="0" rIns="0" bIns="0" rtlCol="0" anchor="t"/>
          <a:lstStyle/>
          <a:p>
            <a:pPr algn="ctr" indent="0" marL="0">
              <a:lnSpc>
                <a:spcPct val="105000"/>
              </a:lnSpc>
              <a:buNone/>
            </a:pPr>
            <a:r>
              <a:rPr lang="en-US" sz="1050" dirty="0">
                <a:solidFill>
                  <a:srgbClr val="DED9E5"/>
                </a:solidFill>
                <a:latin typeface="Arial" pitchFamily="34" charset="0"/>
                <a:ea typeface="Arial" pitchFamily="34" charset="-122"/>
                <a:cs typeface="Arial" pitchFamily="34" charset="-120"/>
              </a:rPr>
              <a:t>0</a:t>
            </a:r>
            <a:endParaRPr lang="en-US" sz="1050" dirty="0"/>
          </a:p>
        </p:txBody>
      </p:sp>
      <p:sp>
        <p:nvSpPr>
          <p:cNvPr id="81" name="Shape 79"/>
          <p:cNvSpPr/>
          <p:nvPr/>
        </p:nvSpPr>
        <p:spPr>
          <a:xfrm>
            <a:off x="9308592" y="4288536"/>
            <a:ext cx="685800" cy="374904"/>
          </a:xfrm>
          <a:prstGeom prst="rect">
            <a:avLst/>
          </a:prstGeom>
          <a:solidFill>
            <a:srgbClr val="FFFFFF"/>
          </a:solidFill>
          <a:ln w="7620">
            <a:solidFill>
              <a:srgbClr val="DED9E5"/>
            </a:solidFill>
            <a:prstDash val="solid"/>
          </a:ln>
        </p:spPr>
      </p:sp>
      <p:sp>
        <p:nvSpPr>
          <p:cNvPr id="82" name="Text 80"/>
          <p:cNvSpPr txBox="1"/>
          <p:nvPr/>
        </p:nvSpPr>
        <p:spPr>
          <a:xfrm>
            <a:off x="9308592" y="4361688"/>
            <a:ext cx="685800" cy="256032"/>
          </a:xfrm>
          <a:prstGeom prst="rect">
            <a:avLst/>
          </a:prstGeom>
          <a:noFill/>
          <a:ln/>
        </p:spPr>
        <p:txBody>
          <a:bodyPr wrap="square" lIns="0" tIns="0" rIns="0" bIns="0" rtlCol="0" anchor="t"/>
          <a:lstStyle/>
          <a:p>
            <a:pPr algn="ctr" indent="0" marL="0">
              <a:lnSpc>
                <a:spcPct val="105000"/>
              </a:lnSpc>
              <a:buNone/>
            </a:pPr>
            <a:r>
              <a:rPr lang="en-US" sz="1050" dirty="0">
                <a:solidFill>
                  <a:srgbClr val="DED9E5"/>
                </a:solidFill>
                <a:latin typeface="Arial" pitchFamily="34" charset="0"/>
                <a:ea typeface="Arial" pitchFamily="34" charset="-122"/>
                <a:cs typeface="Arial" pitchFamily="34" charset="-120"/>
              </a:rPr>
              <a:t>0</a:t>
            </a:r>
            <a:endParaRPr lang="en-US" sz="1050" dirty="0"/>
          </a:p>
        </p:txBody>
      </p:sp>
      <p:sp>
        <p:nvSpPr>
          <p:cNvPr id="83" name="Shape 81"/>
          <p:cNvSpPr/>
          <p:nvPr/>
        </p:nvSpPr>
        <p:spPr>
          <a:xfrm>
            <a:off x="10021824" y="4288536"/>
            <a:ext cx="685800" cy="374904"/>
          </a:xfrm>
          <a:prstGeom prst="rect">
            <a:avLst/>
          </a:prstGeom>
          <a:solidFill>
            <a:srgbClr val="FFFFFF"/>
          </a:solidFill>
          <a:ln w="7620">
            <a:solidFill>
              <a:srgbClr val="DED9E5"/>
            </a:solidFill>
            <a:prstDash val="solid"/>
          </a:ln>
        </p:spPr>
      </p:sp>
      <p:sp>
        <p:nvSpPr>
          <p:cNvPr id="84" name="Text 82"/>
          <p:cNvSpPr txBox="1"/>
          <p:nvPr/>
        </p:nvSpPr>
        <p:spPr>
          <a:xfrm>
            <a:off x="10021824" y="4361688"/>
            <a:ext cx="685800" cy="256032"/>
          </a:xfrm>
          <a:prstGeom prst="rect">
            <a:avLst/>
          </a:prstGeom>
          <a:noFill/>
          <a:ln/>
        </p:spPr>
        <p:txBody>
          <a:bodyPr wrap="square" lIns="0" tIns="0" rIns="0" bIns="0" rtlCol="0" anchor="t"/>
          <a:lstStyle/>
          <a:p>
            <a:pPr algn="ctr" indent="0" marL="0">
              <a:lnSpc>
                <a:spcPct val="105000"/>
              </a:lnSpc>
              <a:buNone/>
            </a:pPr>
            <a:r>
              <a:rPr lang="en-US" sz="1050" b="1" dirty="0">
                <a:solidFill>
                  <a:srgbClr val="C8792A"/>
                </a:solidFill>
                <a:latin typeface="Arial" pitchFamily="34" charset="0"/>
                <a:ea typeface="Arial" pitchFamily="34" charset="-122"/>
                <a:cs typeface="Arial" pitchFamily="34" charset="-120"/>
              </a:rPr>
              <a:t>3</a:t>
            </a:r>
            <a:endParaRPr lang="en-US" sz="1050" dirty="0"/>
          </a:p>
        </p:txBody>
      </p:sp>
      <p:sp>
        <p:nvSpPr>
          <p:cNvPr id="85" name="Shape 83"/>
          <p:cNvSpPr/>
          <p:nvPr/>
        </p:nvSpPr>
        <p:spPr>
          <a:xfrm>
            <a:off x="10735056" y="4288536"/>
            <a:ext cx="685800" cy="374904"/>
          </a:xfrm>
          <a:prstGeom prst="rect">
            <a:avLst/>
          </a:prstGeom>
          <a:solidFill>
            <a:srgbClr val="7A4AA5"/>
          </a:solidFill>
          <a:ln w="7620">
            <a:solidFill>
              <a:srgbClr val="DED9E5"/>
            </a:solidFill>
            <a:prstDash val="solid"/>
          </a:ln>
        </p:spPr>
      </p:sp>
      <p:sp>
        <p:nvSpPr>
          <p:cNvPr id="86" name="Text 84"/>
          <p:cNvSpPr txBox="1"/>
          <p:nvPr/>
        </p:nvSpPr>
        <p:spPr>
          <a:xfrm>
            <a:off x="10735056" y="4361688"/>
            <a:ext cx="685800" cy="256032"/>
          </a:xfrm>
          <a:prstGeom prst="rect">
            <a:avLst/>
          </a:prstGeom>
          <a:noFill/>
          <a:ln/>
        </p:spPr>
        <p:txBody>
          <a:bodyPr wrap="square" lIns="0" tIns="0" rIns="0" bIns="0" rtlCol="0" anchor="t"/>
          <a:lstStyle/>
          <a:p>
            <a:pPr algn="ctr" indent="0" marL="0">
              <a:lnSpc>
                <a:spcPct val="105000"/>
              </a:lnSpc>
              <a:buNone/>
            </a:pPr>
            <a:r>
              <a:rPr lang="en-US" sz="1050" b="1" dirty="0">
                <a:solidFill>
                  <a:srgbClr val="FFFFFF"/>
                </a:solidFill>
                <a:latin typeface="Arial" pitchFamily="34" charset="0"/>
                <a:ea typeface="Arial" pitchFamily="34" charset="-122"/>
                <a:cs typeface="Arial" pitchFamily="34" charset="-120"/>
              </a:rPr>
              <a:t>410</a:t>
            </a:r>
            <a:endParaRPr lang="en-US" sz="1050" dirty="0"/>
          </a:p>
        </p:txBody>
      </p:sp>
      <p:sp>
        <p:nvSpPr>
          <p:cNvPr id="87" name="Text 85"/>
          <p:cNvSpPr txBox="1"/>
          <p:nvPr/>
        </p:nvSpPr>
        <p:spPr>
          <a:xfrm>
            <a:off x="7818120" y="4764024"/>
            <a:ext cx="3840480" cy="365760"/>
          </a:xfrm>
          <a:prstGeom prst="rect">
            <a:avLst/>
          </a:prstGeom>
          <a:noFill/>
          <a:ln/>
        </p:spPr>
        <p:txBody>
          <a:bodyPr wrap="square" lIns="0" tIns="0" rIns="0" bIns="0" rtlCol="0" anchor="t"/>
          <a:lstStyle/>
          <a:p>
            <a:pPr indent="0" marL="0">
              <a:lnSpc>
                <a:spcPct val="105000"/>
              </a:lnSpc>
              <a:buNone/>
            </a:pPr>
            <a:r>
              <a:rPr lang="en-US" sz="850" dirty="0">
                <a:solidFill>
                  <a:srgbClr val="625D68"/>
                </a:solidFill>
                <a:latin typeface="Arial" pitchFamily="34" charset="0"/>
                <a:ea typeface="Arial" pitchFamily="34" charset="-122"/>
                <a:cs typeface="Arial" pitchFamily="34" charset="-120"/>
              </a:rPr>
              <a:t>1,123 test windows. Confusions occur only between fault types, never between fault and healthy.</a:t>
            </a:r>
            <a:endParaRPr lang="en-US" sz="850" dirty="0"/>
          </a:p>
        </p:txBody>
      </p:sp>
      <p:sp>
        <p:nvSpPr>
          <p:cNvPr id="88" name="Shape 86"/>
          <p:cNvSpPr/>
          <p:nvPr/>
        </p:nvSpPr>
        <p:spPr>
          <a:xfrm>
            <a:off x="502920" y="5221224"/>
            <a:ext cx="11185855" cy="0"/>
          </a:xfrm>
          <a:prstGeom prst="line">
            <a:avLst/>
          </a:prstGeom>
          <a:noFill/>
          <a:ln w="12700">
            <a:solidFill>
              <a:srgbClr val="DED9E5"/>
            </a:solidFill>
            <a:prstDash val="solid"/>
          </a:ln>
        </p:spPr>
      </p:sp>
      <p:sp>
        <p:nvSpPr>
          <p:cNvPr id="89" name="Text 87"/>
          <p:cNvSpPr txBox="1"/>
          <p:nvPr/>
        </p:nvSpPr>
        <p:spPr>
          <a:xfrm>
            <a:off x="502920" y="5349240"/>
            <a:ext cx="2377440" cy="201168"/>
          </a:xfrm>
          <a:prstGeom prst="rect">
            <a:avLst/>
          </a:prstGeom>
          <a:noFill/>
          <a:ln/>
        </p:spPr>
        <p:txBody>
          <a:bodyPr wrap="square" lIns="0" tIns="0" rIns="0" bIns="0" rtlCol="0" anchor="t"/>
          <a:lstStyle/>
          <a:p>
            <a:pPr indent="0" marL="0">
              <a:lnSpc>
                <a:spcPct val="105000"/>
              </a:lnSpc>
              <a:buNone/>
            </a:pPr>
            <a:r>
              <a:rPr lang="en-US" sz="1150" b="1" dirty="0">
                <a:solidFill>
                  <a:srgbClr val="2F7D69"/>
                </a:solidFill>
                <a:latin typeface="Arial" pitchFamily="34" charset="0"/>
                <a:ea typeface="Arial" pitchFamily="34" charset="-122"/>
                <a:cs typeface="Arial" pitchFamily="34" charset="-120"/>
              </a:rPr>
              <a:t>Already established</a:t>
            </a:r>
            <a:endParaRPr lang="en-US" sz="1150" dirty="0"/>
          </a:p>
        </p:txBody>
      </p:sp>
      <p:sp>
        <p:nvSpPr>
          <p:cNvPr id="90" name="Shape 88"/>
          <p:cNvSpPr/>
          <p:nvPr/>
        </p:nvSpPr>
        <p:spPr>
          <a:xfrm>
            <a:off x="2423160" y="5413248"/>
            <a:ext cx="64008" cy="64008"/>
          </a:xfrm>
          <a:prstGeom prst="ellipse">
            <a:avLst/>
          </a:prstGeom>
          <a:solidFill>
            <a:srgbClr val="2F7D69"/>
          </a:solidFill>
          <a:ln/>
        </p:spPr>
      </p:sp>
      <p:sp>
        <p:nvSpPr>
          <p:cNvPr id="91" name="Text 89"/>
          <p:cNvSpPr txBox="1"/>
          <p:nvPr/>
        </p:nvSpPr>
        <p:spPr>
          <a:xfrm>
            <a:off x="2532888" y="5349240"/>
            <a:ext cx="1733702" cy="201168"/>
          </a:xfrm>
          <a:prstGeom prst="rect">
            <a:avLst/>
          </a:prstGeom>
          <a:noFill/>
          <a:ln/>
        </p:spPr>
        <p:txBody>
          <a:bodyPr wrap="square" lIns="0" tIns="0" rIns="0" bIns="0" rtlCol="0" anchor="t"/>
          <a:lstStyle/>
          <a:p>
            <a:pPr indent="0" marL="0">
              <a:lnSpc>
                <a:spcPct val="105000"/>
              </a:lnSpc>
              <a:buNone/>
            </a:pPr>
            <a:r>
              <a:rPr lang="en-US" sz="950" dirty="0">
                <a:solidFill>
                  <a:srgbClr val="17131D"/>
                </a:solidFill>
                <a:latin typeface="Arial" pitchFamily="34" charset="0"/>
                <a:ea typeface="Arial" pitchFamily="34" charset="-122"/>
                <a:cs typeface="Arial" pitchFamily="34" charset="-120"/>
              </a:rPr>
              <a:t>Industrial vibration sensors</a:t>
            </a:r>
            <a:endParaRPr lang="en-US" sz="950" dirty="0"/>
          </a:p>
        </p:txBody>
      </p:sp>
      <p:sp>
        <p:nvSpPr>
          <p:cNvPr id="92" name="Shape 90"/>
          <p:cNvSpPr/>
          <p:nvPr/>
        </p:nvSpPr>
        <p:spPr>
          <a:xfrm>
            <a:off x="4412894" y="5413248"/>
            <a:ext cx="64008" cy="64008"/>
          </a:xfrm>
          <a:prstGeom prst="ellipse">
            <a:avLst/>
          </a:prstGeom>
          <a:solidFill>
            <a:srgbClr val="2F7D69"/>
          </a:solidFill>
          <a:ln/>
        </p:spPr>
      </p:sp>
      <p:sp>
        <p:nvSpPr>
          <p:cNvPr id="93" name="Text 91"/>
          <p:cNvSpPr txBox="1"/>
          <p:nvPr/>
        </p:nvSpPr>
        <p:spPr>
          <a:xfrm>
            <a:off x="4522622" y="5349240"/>
            <a:ext cx="1110082" cy="201168"/>
          </a:xfrm>
          <a:prstGeom prst="rect">
            <a:avLst/>
          </a:prstGeom>
          <a:noFill/>
          <a:ln/>
        </p:spPr>
        <p:txBody>
          <a:bodyPr wrap="square" lIns="0" tIns="0" rIns="0" bIns="0" rtlCol="0" anchor="t"/>
          <a:lstStyle/>
          <a:p>
            <a:pPr indent="0" marL="0">
              <a:lnSpc>
                <a:spcPct val="105000"/>
              </a:lnSpc>
              <a:buNone/>
            </a:pPr>
            <a:r>
              <a:rPr lang="en-US" sz="950" dirty="0">
                <a:solidFill>
                  <a:srgbClr val="17131D"/>
                </a:solidFill>
                <a:latin typeface="Arial" pitchFamily="34" charset="0"/>
                <a:ea typeface="Arial" pitchFamily="34" charset="-122"/>
                <a:cs typeface="Arial" pitchFamily="34" charset="-120"/>
              </a:rPr>
              <a:t>Wireless gateways</a:t>
            </a:r>
            <a:endParaRPr lang="en-US" sz="950" dirty="0"/>
          </a:p>
        </p:txBody>
      </p:sp>
      <p:sp>
        <p:nvSpPr>
          <p:cNvPr id="94" name="Shape 92"/>
          <p:cNvSpPr/>
          <p:nvPr/>
        </p:nvSpPr>
        <p:spPr>
          <a:xfrm>
            <a:off x="5779008" y="5413248"/>
            <a:ext cx="64008" cy="64008"/>
          </a:xfrm>
          <a:prstGeom prst="ellipse">
            <a:avLst/>
          </a:prstGeom>
          <a:solidFill>
            <a:srgbClr val="2F7D69"/>
          </a:solidFill>
          <a:ln/>
        </p:spPr>
      </p:sp>
      <p:sp>
        <p:nvSpPr>
          <p:cNvPr id="95" name="Text 93"/>
          <p:cNvSpPr txBox="1"/>
          <p:nvPr/>
        </p:nvSpPr>
        <p:spPr>
          <a:xfrm>
            <a:off x="5888736" y="5349240"/>
            <a:ext cx="486461" cy="201168"/>
          </a:xfrm>
          <a:prstGeom prst="rect">
            <a:avLst/>
          </a:prstGeom>
          <a:noFill/>
          <a:ln/>
        </p:spPr>
        <p:txBody>
          <a:bodyPr wrap="square" lIns="0" tIns="0" rIns="0" bIns="0" rtlCol="0" anchor="t"/>
          <a:lstStyle/>
          <a:p>
            <a:pPr indent="0" marL="0">
              <a:lnSpc>
                <a:spcPct val="105000"/>
              </a:lnSpc>
              <a:buNone/>
            </a:pPr>
            <a:r>
              <a:rPr lang="en-US" sz="950" dirty="0">
                <a:solidFill>
                  <a:srgbClr val="17131D"/>
                </a:solidFill>
                <a:latin typeface="Arial" pitchFamily="34" charset="0"/>
                <a:ea typeface="Arial" pitchFamily="34" charset="-122"/>
                <a:cs typeface="Arial" pitchFamily="34" charset="-120"/>
              </a:rPr>
              <a:t>OPC UA</a:t>
            </a:r>
            <a:endParaRPr lang="en-US" sz="950" dirty="0"/>
          </a:p>
        </p:txBody>
      </p:sp>
      <p:sp>
        <p:nvSpPr>
          <p:cNvPr id="96" name="Shape 94"/>
          <p:cNvSpPr/>
          <p:nvPr/>
        </p:nvSpPr>
        <p:spPr>
          <a:xfrm>
            <a:off x="6521501" y="5413248"/>
            <a:ext cx="64008" cy="64008"/>
          </a:xfrm>
          <a:prstGeom prst="ellipse">
            <a:avLst/>
          </a:prstGeom>
          <a:solidFill>
            <a:srgbClr val="2F7D69"/>
          </a:solidFill>
          <a:ln/>
        </p:spPr>
      </p:sp>
      <p:sp>
        <p:nvSpPr>
          <p:cNvPr id="97" name="Text 95"/>
          <p:cNvSpPr txBox="1"/>
          <p:nvPr/>
        </p:nvSpPr>
        <p:spPr>
          <a:xfrm>
            <a:off x="6631229" y="5349240"/>
            <a:ext cx="656539" cy="201168"/>
          </a:xfrm>
          <a:prstGeom prst="rect">
            <a:avLst/>
          </a:prstGeom>
          <a:noFill/>
          <a:ln/>
        </p:spPr>
        <p:txBody>
          <a:bodyPr wrap="square" lIns="0" tIns="0" rIns="0" bIns="0" rtlCol="0" anchor="t"/>
          <a:lstStyle/>
          <a:p>
            <a:pPr indent="0" marL="0">
              <a:lnSpc>
                <a:spcPct val="105000"/>
              </a:lnSpc>
              <a:buNone/>
            </a:pPr>
            <a:r>
              <a:rPr lang="en-US" sz="950" dirty="0">
                <a:solidFill>
                  <a:srgbClr val="17131D"/>
                </a:solidFill>
                <a:latin typeface="Arial" pitchFamily="34" charset="0"/>
                <a:ea typeface="Arial" pitchFamily="34" charset="-122"/>
                <a:cs typeface="Arial" pitchFamily="34" charset="-120"/>
              </a:rPr>
              <a:t>CMMS APIs</a:t>
            </a:r>
            <a:endParaRPr lang="en-US" sz="950" dirty="0"/>
          </a:p>
        </p:txBody>
      </p:sp>
      <p:sp>
        <p:nvSpPr>
          <p:cNvPr id="98" name="Shape 96"/>
          <p:cNvSpPr/>
          <p:nvPr/>
        </p:nvSpPr>
        <p:spPr>
          <a:xfrm>
            <a:off x="7434072" y="5413248"/>
            <a:ext cx="64008" cy="64008"/>
          </a:xfrm>
          <a:prstGeom prst="ellipse">
            <a:avLst/>
          </a:prstGeom>
          <a:solidFill>
            <a:srgbClr val="2F7D69"/>
          </a:solidFill>
          <a:ln/>
        </p:spPr>
      </p:sp>
      <p:sp>
        <p:nvSpPr>
          <p:cNvPr id="99" name="Text 97"/>
          <p:cNvSpPr txBox="1"/>
          <p:nvPr/>
        </p:nvSpPr>
        <p:spPr>
          <a:xfrm>
            <a:off x="7543800" y="5349240"/>
            <a:ext cx="1620317" cy="201168"/>
          </a:xfrm>
          <a:prstGeom prst="rect">
            <a:avLst/>
          </a:prstGeom>
          <a:noFill/>
          <a:ln/>
        </p:spPr>
        <p:txBody>
          <a:bodyPr wrap="square" lIns="0" tIns="0" rIns="0" bIns="0" rtlCol="0" anchor="t"/>
          <a:lstStyle/>
          <a:p>
            <a:pPr indent="0" marL="0">
              <a:lnSpc>
                <a:spcPct val="105000"/>
              </a:lnSpc>
              <a:buNone/>
            </a:pPr>
            <a:r>
              <a:rPr lang="en-US" sz="950" dirty="0">
                <a:solidFill>
                  <a:srgbClr val="17131D"/>
                </a:solidFill>
                <a:latin typeface="Arial" pitchFamily="34" charset="0"/>
                <a:ea typeface="Arial" pitchFamily="34" charset="-122"/>
                <a:cs typeface="Arial" pitchFamily="34" charset="-120"/>
              </a:rPr>
              <a:t>ISO vibration guidance [5]</a:t>
            </a:r>
            <a:endParaRPr lang="en-US" sz="950" dirty="0"/>
          </a:p>
        </p:txBody>
      </p:sp>
      <p:sp>
        <p:nvSpPr>
          <p:cNvPr id="100" name="Text 98"/>
          <p:cNvSpPr txBox="1"/>
          <p:nvPr/>
        </p:nvSpPr>
        <p:spPr>
          <a:xfrm>
            <a:off x="502920" y="5733288"/>
            <a:ext cx="2377440" cy="201168"/>
          </a:xfrm>
          <a:prstGeom prst="rect">
            <a:avLst/>
          </a:prstGeom>
          <a:noFill/>
          <a:ln/>
        </p:spPr>
        <p:txBody>
          <a:bodyPr wrap="square" lIns="0" tIns="0" rIns="0" bIns="0" rtlCol="0" anchor="t"/>
          <a:lstStyle/>
          <a:p>
            <a:pPr indent="0" marL="0">
              <a:lnSpc>
                <a:spcPct val="105000"/>
              </a:lnSpc>
              <a:buNone/>
            </a:pPr>
            <a:r>
              <a:rPr lang="en-US" sz="1150" b="1" dirty="0">
                <a:solidFill>
                  <a:srgbClr val="C8792A"/>
                </a:solidFill>
                <a:latin typeface="Arial" pitchFamily="34" charset="0"/>
                <a:ea typeface="Arial" pitchFamily="34" charset="-122"/>
                <a:cs typeface="Arial" pitchFamily="34" charset="-120"/>
              </a:rPr>
              <a:t>Still to be validated in the pilot</a:t>
            </a:r>
            <a:endParaRPr lang="en-US" sz="1150" dirty="0"/>
          </a:p>
        </p:txBody>
      </p:sp>
      <p:sp>
        <p:nvSpPr>
          <p:cNvPr id="101" name="Shape 99"/>
          <p:cNvSpPr/>
          <p:nvPr/>
        </p:nvSpPr>
        <p:spPr>
          <a:xfrm>
            <a:off x="2834640" y="5797296"/>
            <a:ext cx="64008" cy="64008"/>
          </a:xfrm>
          <a:prstGeom prst="ellipse">
            <a:avLst/>
          </a:prstGeom>
          <a:solidFill>
            <a:srgbClr val="C8792A"/>
          </a:solidFill>
          <a:ln/>
        </p:spPr>
      </p:sp>
      <p:sp>
        <p:nvSpPr>
          <p:cNvPr id="102" name="Text 100"/>
          <p:cNvSpPr txBox="1"/>
          <p:nvPr/>
        </p:nvSpPr>
        <p:spPr>
          <a:xfrm>
            <a:off x="2944368" y="5733288"/>
            <a:ext cx="1053389" cy="201168"/>
          </a:xfrm>
          <a:prstGeom prst="rect">
            <a:avLst/>
          </a:prstGeom>
          <a:noFill/>
          <a:ln/>
        </p:spPr>
        <p:txBody>
          <a:bodyPr wrap="square" lIns="0" tIns="0" rIns="0" bIns="0" rtlCol="0" anchor="t"/>
          <a:lstStyle/>
          <a:p>
            <a:pPr indent="0" marL="0">
              <a:lnSpc>
                <a:spcPct val="105000"/>
              </a:lnSpc>
              <a:buNone/>
            </a:pPr>
            <a:r>
              <a:rPr lang="en-US" sz="950" dirty="0">
                <a:solidFill>
                  <a:srgbClr val="17131D"/>
                </a:solidFill>
                <a:latin typeface="Arial" pitchFamily="34" charset="0"/>
                <a:ea typeface="Arial" pitchFamily="34" charset="-122"/>
                <a:cs typeface="Arial" pitchFamily="34" charset="-120"/>
              </a:rPr>
              <a:t>Real plant noise</a:t>
            </a:r>
            <a:endParaRPr lang="en-US" sz="950" dirty="0"/>
          </a:p>
        </p:txBody>
      </p:sp>
      <p:sp>
        <p:nvSpPr>
          <p:cNvPr id="103" name="Shape 101"/>
          <p:cNvSpPr/>
          <p:nvPr/>
        </p:nvSpPr>
        <p:spPr>
          <a:xfrm>
            <a:off x="4144061" y="5797296"/>
            <a:ext cx="64008" cy="64008"/>
          </a:xfrm>
          <a:prstGeom prst="ellipse">
            <a:avLst/>
          </a:prstGeom>
          <a:solidFill>
            <a:srgbClr val="C8792A"/>
          </a:solidFill>
          <a:ln/>
        </p:spPr>
      </p:sp>
      <p:sp>
        <p:nvSpPr>
          <p:cNvPr id="104" name="Text 102"/>
          <p:cNvSpPr txBox="1"/>
          <p:nvPr/>
        </p:nvSpPr>
        <p:spPr>
          <a:xfrm>
            <a:off x="4253789" y="5733288"/>
            <a:ext cx="1053389" cy="201168"/>
          </a:xfrm>
          <a:prstGeom prst="rect">
            <a:avLst/>
          </a:prstGeom>
          <a:noFill/>
          <a:ln/>
        </p:spPr>
        <p:txBody>
          <a:bodyPr wrap="square" lIns="0" tIns="0" rIns="0" bIns="0" rtlCol="0" anchor="t"/>
          <a:lstStyle/>
          <a:p>
            <a:pPr indent="0" marL="0">
              <a:lnSpc>
                <a:spcPct val="105000"/>
              </a:lnSpc>
              <a:buNone/>
            </a:pPr>
            <a:r>
              <a:rPr lang="en-US" sz="950" dirty="0">
                <a:solidFill>
                  <a:srgbClr val="17131D"/>
                </a:solidFill>
                <a:latin typeface="Arial" pitchFamily="34" charset="0"/>
                <a:ea typeface="Arial" pitchFamily="34" charset="-122"/>
                <a:cs typeface="Arial" pitchFamily="34" charset="-120"/>
              </a:rPr>
              <a:t>Variable loading</a:t>
            </a:r>
            <a:endParaRPr lang="en-US" sz="950" dirty="0"/>
          </a:p>
        </p:txBody>
      </p:sp>
      <p:sp>
        <p:nvSpPr>
          <p:cNvPr id="105" name="Shape 103"/>
          <p:cNvSpPr/>
          <p:nvPr/>
        </p:nvSpPr>
        <p:spPr>
          <a:xfrm>
            <a:off x="5453482" y="5797296"/>
            <a:ext cx="64008" cy="64008"/>
          </a:xfrm>
          <a:prstGeom prst="ellipse">
            <a:avLst/>
          </a:prstGeom>
          <a:solidFill>
            <a:srgbClr val="C8792A"/>
          </a:solidFill>
          <a:ln/>
        </p:spPr>
      </p:sp>
      <p:sp>
        <p:nvSpPr>
          <p:cNvPr id="106" name="Text 104"/>
          <p:cNvSpPr txBox="1"/>
          <p:nvPr/>
        </p:nvSpPr>
        <p:spPr>
          <a:xfrm>
            <a:off x="5563210" y="5733288"/>
            <a:ext cx="996696" cy="201168"/>
          </a:xfrm>
          <a:prstGeom prst="rect">
            <a:avLst/>
          </a:prstGeom>
          <a:noFill/>
          <a:ln/>
        </p:spPr>
        <p:txBody>
          <a:bodyPr wrap="square" lIns="0" tIns="0" rIns="0" bIns="0" rtlCol="0" anchor="t"/>
          <a:lstStyle/>
          <a:p>
            <a:pPr indent="0" marL="0">
              <a:lnSpc>
                <a:spcPct val="105000"/>
              </a:lnSpc>
              <a:buNone/>
            </a:pPr>
            <a:r>
              <a:rPr lang="en-US" sz="950" dirty="0">
                <a:solidFill>
                  <a:srgbClr val="17131D"/>
                </a:solidFill>
                <a:latin typeface="Arial" pitchFamily="34" charset="0"/>
                <a:ea typeface="Arial" pitchFamily="34" charset="-122"/>
                <a:cs typeface="Arial" pitchFamily="34" charset="-120"/>
              </a:rPr>
              <a:t>Fault lead time</a:t>
            </a:r>
            <a:endParaRPr lang="en-US" sz="950" dirty="0"/>
          </a:p>
        </p:txBody>
      </p:sp>
      <p:sp>
        <p:nvSpPr>
          <p:cNvPr id="107" name="Shape 105"/>
          <p:cNvSpPr/>
          <p:nvPr/>
        </p:nvSpPr>
        <p:spPr>
          <a:xfrm>
            <a:off x="6706210" y="5797296"/>
            <a:ext cx="64008" cy="64008"/>
          </a:xfrm>
          <a:prstGeom prst="ellipse">
            <a:avLst/>
          </a:prstGeom>
          <a:solidFill>
            <a:srgbClr val="C8792A"/>
          </a:solidFill>
          <a:ln/>
        </p:spPr>
      </p:sp>
      <p:sp>
        <p:nvSpPr>
          <p:cNvPr id="108" name="Text 106"/>
          <p:cNvSpPr txBox="1"/>
          <p:nvPr/>
        </p:nvSpPr>
        <p:spPr>
          <a:xfrm>
            <a:off x="6815938" y="5733288"/>
            <a:ext cx="1053389" cy="201168"/>
          </a:xfrm>
          <a:prstGeom prst="rect">
            <a:avLst/>
          </a:prstGeom>
          <a:noFill/>
          <a:ln/>
        </p:spPr>
        <p:txBody>
          <a:bodyPr wrap="square" lIns="0" tIns="0" rIns="0" bIns="0" rtlCol="0" anchor="t"/>
          <a:lstStyle/>
          <a:p>
            <a:pPr indent="0" marL="0">
              <a:lnSpc>
                <a:spcPct val="105000"/>
              </a:lnSpc>
              <a:buNone/>
            </a:pPr>
            <a:r>
              <a:rPr lang="en-US" sz="950" dirty="0">
                <a:solidFill>
                  <a:srgbClr val="17131D"/>
                </a:solidFill>
                <a:latin typeface="Arial" pitchFamily="34" charset="0"/>
                <a:ea typeface="Arial" pitchFamily="34" charset="-122"/>
                <a:cs typeface="Arial" pitchFamily="34" charset="-120"/>
              </a:rPr>
              <a:t>Sensor placement</a:t>
            </a:r>
            <a:endParaRPr lang="en-US" sz="950" dirty="0"/>
          </a:p>
        </p:txBody>
      </p:sp>
      <p:sp>
        <p:nvSpPr>
          <p:cNvPr id="109" name="Shape 107"/>
          <p:cNvSpPr/>
          <p:nvPr/>
        </p:nvSpPr>
        <p:spPr>
          <a:xfrm>
            <a:off x="8015630" y="5797296"/>
            <a:ext cx="64008" cy="64008"/>
          </a:xfrm>
          <a:prstGeom prst="ellipse">
            <a:avLst/>
          </a:prstGeom>
          <a:solidFill>
            <a:srgbClr val="C8792A"/>
          </a:solidFill>
          <a:ln/>
        </p:spPr>
      </p:sp>
      <p:sp>
        <p:nvSpPr>
          <p:cNvPr id="110" name="Text 108"/>
          <p:cNvSpPr txBox="1"/>
          <p:nvPr/>
        </p:nvSpPr>
        <p:spPr>
          <a:xfrm>
            <a:off x="8125358" y="5733288"/>
            <a:ext cx="1053389" cy="201168"/>
          </a:xfrm>
          <a:prstGeom prst="rect">
            <a:avLst/>
          </a:prstGeom>
          <a:noFill/>
          <a:ln/>
        </p:spPr>
        <p:txBody>
          <a:bodyPr wrap="square" lIns="0" tIns="0" rIns="0" bIns="0" rtlCol="0" anchor="t"/>
          <a:lstStyle/>
          <a:p>
            <a:pPr indent="0" marL="0">
              <a:lnSpc>
                <a:spcPct val="105000"/>
              </a:lnSpc>
              <a:buNone/>
            </a:pPr>
            <a:r>
              <a:rPr lang="en-US" sz="950" dirty="0">
                <a:solidFill>
                  <a:srgbClr val="17131D"/>
                </a:solidFill>
                <a:latin typeface="Arial" pitchFamily="34" charset="0"/>
                <a:ea typeface="Arial" pitchFamily="34" charset="-122"/>
                <a:cs typeface="Arial" pitchFamily="34" charset="-120"/>
              </a:rPr>
              <a:t>False-alert rate</a:t>
            </a:r>
            <a:endParaRPr lang="en-US" sz="950" dirty="0"/>
          </a:p>
        </p:txBody>
      </p:sp>
      <p:sp>
        <p:nvSpPr>
          <p:cNvPr id="111" name="Shape 109"/>
          <p:cNvSpPr/>
          <p:nvPr/>
        </p:nvSpPr>
        <p:spPr>
          <a:xfrm>
            <a:off x="9325051" y="5797296"/>
            <a:ext cx="64008" cy="64008"/>
          </a:xfrm>
          <a:prstGeom prst="ellipse">
            <a:avLst/>
          </a:prstGeom>
          <a:solidFill>
            <a:srgbClr val="C8792A"/>
          </a:solidFill>
          <a:ln/>
        </p:spPr>
      </p:sp>
      <p:sp>
        <p:nvSpPr>
          <p:cNvPr id="112" name="Text 110"/>
          <p:cNvSpPr txBox="1"/>
          <p:nvPr/>
        </p:nvSpPr>
        <p:spPr>
          <a:xfrm>
            <a:off x="9434779" y="5733288"/>
            <a:ext cx="940003" cy="201168"/>
          </a:xfrm>
          <a:prstGeom prst="rect">
            <a:avLst/>
          </a:prstGeom>
          <a:noFill/>
          <a:ln/>
        </p:spPr>
        <p:txBody>
          <a:bodyPr wrap="square" lIns="0" tIns="0" rIns="0" bIns="0" rtlCol="0" anchor="t"/>
          <a:lstStyle/>
          <a:p>
            <a:pPr indent="0" marL="0">
              <a:lnSpc>
                <a:spcPct val="105000"/>
              </a:lnSpc>
              <a:buNone/>
            </a:pPr>
            <a:r>
              <a:rPr lang="en-US" sz="950" dirty="0">
                <a:solidFill>
                  <a:srgbClr val="17131D"/>
                </a:solidFill>
                <a:latin typeface="Arial" pitchFamily="34" charset="0"/>
                <a:ea typeface="Arial" pitchFamily="34" charset="-122"/>
                <a:cs typeface="Arial" pitchFamily="34" charset="-120"/>
              </a:rPr>
              <a:t>Model transfer</a:t>
            </a:r>
            <a:endParaRPr lang="en-US" sz="950" dirty="0"/>
          </a:p>
        </p:txBody>
      </p:sp>
      <p:sp>
        <p:nvSpPr>
          <p:cNvPr id="113" name="Text 111"/>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850" dirty="0">
                <a:solidFill>
                  <a:srgbClr val="625D68"/>
                </a:solidFill>
                <a:latin typeface="Arial" pitchFamily="34" charset="0"/>
                <a:ea typeface="Arial" pitchFamily="34" charset="-122"/>
                <a:cs typeface="Arial" pitchFamily="34" charset="-120"/>
              </a:rPr>
              <a:t>India Chem 2026 · NIT Warangal</a:t>
            </a:r>
            <a:endParaRPr lang="en-US" sz="850" dirty="0"/>
          </a:p>
        </p:txBody>
      </p:sp>
      <p:sp>
        <p:nvSpPr>
          <p:cNvPr id="114" name="Text 112"/>
          <p:cNvSpPr txBox="1"/>
          <p:nvPr/>
        </p:nvSpPr>
        <p:spPr>
          <a:xfrm>
            <a:off x="10957255" y="6583680"/>
            <a:ext cx="731520" cy="182880"/>
          </a:xfrm>
          <a:prstGeom prst="rect">
            <a:avLst/>
          </a:prstGeom>
          <a:noFill/>
          <a:ln/>
        </p:spPr>
        <p:txBody>
          <a:bodyPr wrap="square" lIns="0" tIns="0" rIns="0" bIns="0" rtlCol="0" anchor="ctr"/>
          <a:lstStyle/>
          <a:p>
            <a:pPr algn="r" indent="0" marL="0">
              <a:buNone/>
            </a:pPr>
            <a:r>
              <a:rPr lang="en-US" sz="850" dirty="0">
                <a:solidFill>
                  <a:srgbClr val="625D68"/>
                </a:solidFill>
                <a:latin typeface="Arial" pitchFamily="34" charset="0"/>
                <a:ea typeface="Arial" pitchFamily="34" charset="-122"/>
                <a:cs typeface="Arial" pitchFamily="34" charset="-120"/>
              </a:rPr>
              <a:t>5 / 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5486400" cy="201168"/>
          </a:xfrm>
          <a:prstGeom prst="rect">
            <a:avLst/>
          </a:prstGeom>
          <a:noFill/>
          <a:ln/>
        </p:spPr>
        <p:txBody>
          <a:bodyPr wrap="square" lIns="0" tIns="0" rIns="0" bIns="0" rtlCol="0" anchor="ctr"/>
          <a:lstStyle/>
          <a:p>
            <a:pPr indent="0" marL="0">
              <a:buNone/>
            </a:pPr>
            <a:r>
              <a:rPr lang="en-US" sz="1000" b="1" dirty="0">
                <a:solidFill>
                  <a:srgbClr val="7A4AA5"/>
                </a:solidFill>
                <a:latin typeface="Arial" pitchFamily="34" charset="0"/>
                <a:ea typeface="Arial" pitchFamily="34" charset="-122"/>
                <a:cs typeface="Arial" pitchFamily="34" charset="-120"/>
              </a:rPr>
              <a:t>Methodology for execution and way forward</a:t>
            </a:r>
            <a:endParaRPr lang="en-US" sz="1000" dirty="0"/>
          </a:p>
        </p:txBody>
      </p:sp>
      <p:sp>
        <p:nvSpPr>
          <p:cNvPr id="3" name="Text 1"/>
          <p:cNvSpPr txBox="1"/>
          <p:nvPr/>
        </p:nvSpPr>
        <p:spPr>
          <a:xfrm>
            <a:off x="502920" y="420624"/>
            <a:ext cx="11185855" cy="777240"/>
          </a:xfrm>
          <a:prstGeom prst="rect">
            <a:avLst/>
          </a:prstGeom>
          <a:noFill/>
          <a:ln/>
        </p:spPr>
        <p:txBody>
          <a:bodyPr wrap="square" lIns="0" tIns="0" rIns="0" bIns="0" rtlCol="0" anchor="t"/>
          <a:lstStyle/>
          <a:p>
            <a:pPr indent="0" marL="0">
              <a:lnSpc>
                <a:spcPct val="103000"/>
              </a:lnSpc>
              <a:buNone/>
            </a:pPr>
            <a:r>
              <a:rPr lang="en-US" sz="2600" b="1" dirty="0">
                <a:solidFill>
                  <a:srgbClr val="17131D"/>
                </a:solidFill>
                <a:latin typeface="Arial" pitchFamily="34" charset="0"/>
                <a:ea typeface="Arial" pitchFamily="34" charset="-122"/>
                <a:cs typeface="Arial" pitchFamily="34" charset="-120"/>
              </a:rPr>
              <a:t>Shadow-mode deployment validates alerts </a:t>
            </a:r>
            <a:pPr indent="0" marL="0">
              <a:lnSpc>
                <a:spcPct val="103000"/>
              </a:lnSpc>
              <a:buNone/>
            </a:pPr>
            <a:r>
              <a:rPr lang="en-US" sz="2600" b="1" dirty="0">
                <a:solidFill>
                  <a:srgbClr val="5B2A86"/>
                </a:solidFill>
                <a:latin typeface="Arial" pitchFamily="34" charset="0"/>
                <a:ea typeface="Arial" pitchFamily="34" charset="-122"/>
                <a:cs typeface="Arial" pitchFamily="34" charset="-120"/>
              </a:rPr>
              <a:t>before maintenance teams rely on the system</a:t>
            </a:r>
            <a:endParaRPr lang="en-US" sz="2600" dirty="0"/>
          </a:p>
        </p:txBody>
      </p:sp>
      <p:sp>
        <p:nvSpPr>
          <p:cNvPr id="4" name="Text 2"/>
          <p:cNvSpPr txBox="1"/>
          <p:nvPr/>
        </p:nvSpPr>
        <p:spPr>
          <a:xfrm>
            <a:off x="502920" y="1362456"/>
            <a:ext cx="3657600" cy="201168"/>
          </a:xfrm>
          <a:prstGeom prst="rect">
            <a:avLst/>
          </a:prstGeom>
          <a:noFill/>
          <a:ln/>
        </p:spPr>
        <p:txBody>
          <a:bodyPr wrap="square" lIns="0" tIns="0" rIns="0" bIns="0" rtlCol="0" anchor="t"/>
          <a:lstStyle/>
          <a:p>
            <a:pPr indent="0" marL="0">
              <a:lnSpc>
                <a:spcPct val="105000"/>
              </a:lnSpc>
              <a:buNone/>
            </a:pPr>
            <a:r>
              <a:rPr lang="en-US" sz="1200" b="1" dirty="0">
                <a:solidFill>
                  <a:srgbClr val="17131D"/>
                </a:solidFill>
                <a:latin typeface="Arial" pitchFamily="34" charset="0"/>
                <a:ea typeface="Arial" pitchFamily="34" charset="-122"/>
                <a:cs typeface="Arial" pitchFamily="34" charset="-120"/>
              </a:rPr>
              <a:t>Six-month pilot plan</a:t>
            </a:r>
            <a:endParaRPr lang="en-US" sz="1200" dirty="0"/>
          </a:p>
        </p:txBody>
      </p:sp>
      <p:sp>
        <p:nvSpPr>
          <p:cNvPr id="5" name="Shape 3"/>
          <p:cNvSpPr/>
          <p:nvPr/>
        </p:nvSpPr>
        <p:spPr>
          <a:xfrm>
            <a:off x="2651760" y="1600200"/>
            <a:ext cx="0" cy="1920240"/>
          </a:xfrm>
          <a:prstGeom prst="line">
            <a:avLst/>
          </a:prstGeom>
          <a:noFill/>
          <a:ln w="9525">
            <a:solidFill>
              <a:srgbClr val="EFE8F6"/>
            </a:solidFill>
            <a:prstDash val="solid"/>
          </a:ln>
        </p:spPr>
      </p:sp>
      <p:sp>
        <p:nvSpPr>
          <p:cNvPr id="6" name="Text 4"/>
          <p:cNvSpPr txBox="1"/>
          <p:nvPr/>
        </p:nvSpPr>
        <p:spPr>
          <a:xfrm>
            <a:off x="2523744" y="3538728"/>
            <a:ext cx="274320" cy="164592"/>
          </a:xfrm>
          <a:prstGeom prst="rect">
            <a:avLst/>
          </a:prstGeom>
          <a:noFill/>
          <a:ln/>
        </p:spPr>
        <p:txBody>
          <a:bodyPr wrap="square" lIns="0" tIns="0" rIns="0" bIns="0" rtlCol="0" anchor="t"/>
          <a:lstStyle/>
          <a:p>
            <a:pPr algn="ctr" indent="0" marL="0">
              <a:lnSpc>
                <a:spcPct val="105000"/>
              </a:lnSpc>
              <a:buNone/>
            </a:pPr>
            <a:r>
              <a:rPr lang="en-US" sz="800" dirty="0">
                <a:solidFill>
                  <a:srgbClr val="625D68"/>
                </a:solidFill>
                <a:latin typeface="Arial" pitchFamily="34" charset="0"/>
                <a:ea typeface="Arial" pitchFamily="34" charset="-122"/>
                <a:cs typeface="Arial" pitchFamily="34" charset="-120"/>
              </a:rPr>
              <a:t>M0</a:t>
            </a:r>
            <a:endParaRPr lang="en-US" sz="800" dirty="0"/>
          </a:p>
        </p:txBody>
      </p:sp>
      <p:sp>
        <p:nvSpPr>
          <p:cNvPr id="7" name="Shape 5"/>
          <p:cNvSpPr/>
          <p:nvPr/>
        </p:nvSpPr>
        <p:spPr>
          <a:xfrm>
            <a:off x="3451860" y="1600200"/>
            <a:ext cx="0" cy="1920240"/>
          </a:xfrm>
          <a:prstGeom prst="line">
            <a:avLst/>
          </a:prstGeom>
          <a:noFill/>
          <a:ln w="9525">
            <a:solidFill>
              <a:srgbClr val="EFE8F6"/>
            </a:solidFill>
            <a:prstDash val="solid"/>
          </a:ln>
        </p:spPr>
      </p:sp>
      <p:sp>
        <p:nvSpPr>
          <p:cNvPr id="8" name="Text 6"/>
          <p:cNvSpPr txBox="1"/>
          <p:nvPr/>
        </p:nvSpPr>
        <p:spPr>
          <a:xfrm>
            <a:off x="3323844" y="3538728"/>
            <a:ext cx="274320" cy="164592"/>
          </a:xfrm>
          <a:prstGeom prst="rect">
            <a:avLst/>
          </a:prstGeom>
          <a:noFill/>
          <a:ln/>
        </p:spPr>
        <p:txBody>
          <a:bodyPr wrap="square" lIns="0" tIns="0" rIns="0" bIns="0" rtlCol="0" anchor="t"/>
          <a:lstStyle/>
          <a:p>
            <a:pPr algn="ctr" indent="0" marL="0">
              <a:lnSpc>
                <a:spcPct val="105000"/>
              </a:lnSpc>
              <a:buNone/>
            </a:pPr>
            <a:r>
              <a:rPr lang="en-US" sz="800" dirty="0">
                <a:solidFill>
                  <a:srgbClr val="625D68"/>
                </a:solidFill>
                <a:latin typeface="Arial" pitchFamily="34" charset="0"/>
                <a:ea typeface="Arial" pitchFamily="34" charset="-122"/>
                <a:cs typeface="Arial" pitchFamily="34" charset="-120"/>
              </a:rPr>
              <a:t>M1</a:t>
            </a:r>
            <a:endParaRPr lang="en-US" sz="800" dirty="0"/>
          </a:p>
        </p:txBody>
      </p:sp>
      <p:sp>
        <p:nvSpPr>
          <p:cNvPr id="9" name="Shape 7"/>
          <p:cNvSpPr/>
          <p:nvPr/>
        </p:nvSpPr>
        <p:spPr>
          <a:xfrm>
            <a:off x="4251960" y="1600200"/>
            <a:ext cx="0" cy="1920240"/>
          </a:xfrm>
          <a:prstGeom prst="line">
            <a:avLst/>
          </a:prstGeom>
          <a:noFill/>
          <a:ln w="9525">
            <a:solidFill>
              <a:srgbClr val="EFE8F6"/>
            </a:solidFill>
            <a:prstDash val="solid"/>
          </a:ln>
        </p:spPr>
      </p:sp>
      <p:sp>
        <p:nvSpPr>
          <p:cNvPr id="10" name="Text 8"/>
          <p:cNvSpPr txBox="1"/>
          <p:nvPr/>
        </p:nvSpPr>
        <p:spPr>
          <a:xfrm>
            <a:off x="4123944" y="3538728"/>
            <a:ext cx="274320" cy="164592"/>
          </a:xfrm>
          <a:prstGeom prst="rect">
            <a:avLst/>
          </a:prstGeom>
          <a:noFill/>
          <a:ln/>
        </p:spPr>
        <p:txBody>
          <a:bodyPr wrap="square" lIns="0" tIns="0" rIns="0" bIns="0" rtlCol="0" anchor="t"/>
          <a:lstStyle/>
          <a:p>
            <a:pPr algn="ctr" indent="0" marL="0">
              <a:lnSpc>
                <a:spcPct val="105000"/>
              </a:lnSpc>
              <a:buNone/>
            </a:pPr>
            <a:r>
              <a:rPr lang="en-US" sz="800" dirty="0">
                <a:solidFill>
                  <a:srgbClr val="625D68"/>
                </a:solidFill>
                <a:latin typeface="Arial" pitchFamily="34" charset="0"/>
                <a:ea typeface="Arial" pitchFamily="34" charset="-122"/>
                <a:cs typeface="Arial" pitchFamily="34" charset="-120"/>
              </a:rPr>
              <a:t>M2</a:t>
            </a:r>
            <a:endParaRPr lang="en-US" sz="800" dirty="0"/>
          </a:p>
        </p:txBody>
      </p:sp>
      <p:sp>
        <p:nvSpPr>
          <p:cNvPr id="11" name="Shape 9"/>
          <p:cNvSpPr/>
          <p:nvPr/>
        </p:nvSpPr>
        <p:spPr>
          <a:xfrm>
            <a:off x="5052060" y="1600200"/>
            <a:ext cx="0" cy="1920240"/>
          </a:xfrm>
          <a:prstGeom prst="line">
            <a:avLst/>
          </a:prstGeom>
          <a:noFill/>
          <a:ln w="9525">
            <a:solidFill>
              <a:srgbClr val="EFE8F6"/>
            </a:solidFill>
            <a:prstDash val="solid"/>
          </a:ln>
        </p:spPr>
      </p:sp>
      <p:sp>
        <p:nvSpPr>
          <p:cNvPr id="12" name="Text 10"/>
          <p:cNvSpPr txBox="1"/>
          <p:nvPr/>
        </p:nvSpPr>
        <p:spPr>
          <a:xfrm>
            <a:off x="4924044" y="3538728"/>
            <a:ext cx="274320" cy="164592"/>
          </a:xfrm>
          <a:prstGeom prst="rect">
            <a:avLst/>
          </a:prstGeom>
          <a:noFill/>
          <a:ln/>
        </p:spPr>
        <p:txBody>
          <a:bodyPr wrap="square" lIns="0" tIns="0" rIns="0" bIns="0" rtlCol="0" anchor="t"/>
          <a:lstStyle/>
          <a:p>
            <a:pPr algn="ctr" indent="0" marL="0">
              <a:lnSpc>
                <a:spcPct val="105000"/>
              </a:lnSpc>
              <a:buNone/>
            </a:pPr>
            <a:r>
              <a:rPr lang="en-US" sz="800" dirty="0">
                <a:solidFill>
                  <a:srgbClr val="625D68"/>
                </a:solidFill>
                <a:latin typeface="Arial" pitchFamily="34" charset="0"/>
                <a:ea typeface="Arial" pitchFamily="34" charset="-122"/>
                <a:cs typeface="Arial" pitchFamily="34" charset="-120"/>
              </a:rPr>
              <a:t>M3</a:t>
            </a:r>
            <a:endParaRPr lang="en-US" sz="800" dirty="0"/>
          </a:p>
        </p:txBody>
      </p:sp>
      <p:sp>
        <p:nvSpPr>
          <p:cNvPr id="13" name="Shape 11"/>
          <p:cNvSpPr/>
          <p:nvPr/>
        </p:nvSpPr>
        <p:spPr>
          <a:xfrm>
            <a:off x="5852160" y="1600200"/>
            <a:ext cx="0" cy="1920240"/>
          </a:xfrm>
          <a:prstGeom prst="line">
            <a:avLst/>
          </a:prstGeom>
          <a:noFill/>
          <a:ln w="9525">
            <a:solidFill>
              <a:srgbClr val="EFE8F6"/>
            </a:solidFill>
            <a:prstDash val="solid"/>
          </a:ln>
        </p:spPr>
      </p:sp>
      <p:sp>
        <p:nvSpPr>
          <p:cNvPr id="14" name="Text 12"/>
          <p:cNvSpPr txBox="1"/>
          <p:nvPr/>
        </p:nvSpPr>
        <p:spPr>
          <a:xfrm>
            <a:off x="5724144" y="3538728"/>
            <a:ext cx="274320" cy="164592"/>
          </a:xfrm>
          <a:prstGeom prst="rect">
            <a:avLst/>
          </a:prstGeom>
          <a:noFill/>
          <a:ln/>
        </p:spPr>
        <p:txBody>
          <a:bodyPr wrap="square" lIns="0" tIns="0" rIns="0" bIns="0" rtlCol="0" anchor="t"/>
          <a:lstStyle/>
          <a:p>
            <a:pPr algn="ctr" indent="0" marL="0">
              <a:lnSpc>
                <a:spcPct val="105000"/>
              </a:lnSpc>
              <a:buNone/>
            </a:pPr>
            <a:r>
              <a:rPr lang="en-US" sz="800" dirty="0">
                <a:solidFill>
                  <a:srgbClr val="625D68"/>
                </a:solidFill>
                <a:latin typeface="Arial" pitchFamily="34" charset="0"/>
                <a:ea typeface="Arial" pitchFamily="34" charset="-122"/>
                <a:cs typeface="Arial" pitchFamily="34" charset="-120"/>
              </a:rPr>
              <a:t>M4</a:t>
            </a:r>
            <a:endParaRPr lang="en-US" sz="800" dirty="0"/>
          </a:p>
        </p:txBody>
      </p:sp>
      <p:sp>
        <p:nvSpPr>
          <p:cNvPr id="15" name="Shape 13"/>
          <p:cNvSpPr/>
          <p:nvPr/>
        </p:nvSpPr>
        <p:spPr>
          <a:xfrm>
            <a:off x="6652260" y="1600200"/>
            <a:ext cx="0" cy="1920240"/>
          </a:xfrm>
          <a:prstGeom prst="line">
            <a:avLst/>
          </a:prstGeom>
          <a:noFill/>
          <a:ln w="9525">
            <a:solidFill>
              <a:srgbClr val="EFE8F6"/>
            </a:solidFill>
            <a:prstDash val="solid"/>
          </a:ln>
        </p:spPr>
      </p:sp>
      <p:sp>
        <p:nvSpPr>
          <p:cNvPr id="16" name="Text 14"/>
          <p:cNvSpPr txBox="1"/>
          <p:nvPr/>
        </p:nvSpPr>
        <p:spPr>
          <a:xfrm>
            <a:off x="6524244" y="3538728"/>
            <a:ext cx="274320" cy="164592"/>
          </a:xfrm>
          <a:prstGeom prst="rect">
            <a:avLst/>
          </a:prstGeom>
          <a:noFill/>
          <a:ln/>
        </p:spPr>
        <p:txBody>
          <a:bodyPr wrap="square" lIns="0" tIns="0" rIns="0" bIns="0" rtlCol="0" anchor="t"/>
          <a:lstStyle/>
          <a:p>
            <a:pPr algn="ctr" indent="0" marL="0">
              <a:lnSpc>
                <a:spcPct val="105000"/>
              </a:lnSpc>
              <a:buNone/>
            </a:pPr>
            <a:r>
              <a:rPr lang="en-US" sz="800" dirty="0">
                <a:solidFill>
                  <a:srgbClr val="625D68"/>
                </a:solidFill>
                <a:latin typeface="Arial" pitchFamily="34" charset="0"/>
                <a:ea typeface="Arial" pitchFamily="34" charset="-122"/>
                <a:cs typeface="Arial" pitchFamily="34" charset="-120"/>
              </a:rPr>
              <a:t>M5</a:t>
            </a:r>
            <a:endParaRPr lang="en-US" sz="800" dirty="0"/>
          </a:p>
        </p:txBody>
      </p:sp>
      <p:sp>
        <p:nvSpPr>
          <p:cNvPr id="17" name="Shape 15"/>
          <p:cNvSpPr/>
          <p:nvPr/>
        </p:nvSpPr>
        <p:spPr>
          <a:xfrm>
            <a:off x="7452360" y="1600200"/>
            <a:ext cx="0" cy="1920240"/>
          </a:xfrm>
          <a:prstGeom prst="line">
            <a:avLst/>
          </a:prstGeom>
          <a:noFill/>
          <a:ln w="9525">
            <a:solidFill>
              <a:srgbClr val="EFE8F6"/>
            </a:solidFill>
            <a:prstDash val="solid"/>
          </a:ln>
        </p:spPr>
      </p:sp>
      <p:sp>
        <p:nvSpPr>
          <p:cNvPr id="18" name="Text 16"/>
          <p:cNvSpPr txBox="1"/>
          <p:nvPr/>
        </p:nvSpPr>
        <p:spPr>
          <a:xfrm>
            <a:off x="7324344" y="3538728"/>
            <a:ext cx="274320" cy="164592"/>
          </a:xfrm>
          <a:prstGeom prst="rect">
            <a:avLst/>
          </a:prstGeom>
          <a:noFill/>
          <a:ln/>
        </p:spPr>
        <p:txBody>
          <a:bodyPr wrap="square" lIns="0" tIns="0" rIns="0" bIns="0" rtlCol="0" anchor="t"/>
          <a:lstStyle/>
          <a:p>
            <a:pPr algn="ctr" indent="0" marL="0">
              <a:lnSpc>
                <a:spcPct val="105000"/>
              </a:lnSpc>
              <a:buNone/>
            </a:pPr>
            <a:r>
              <a:rPr lang="en-US" sz="800" dirty="0">
                <a:solidFill>
                  <a:srgbClr val="625D68"/>
                </a:solidFill>
                <a:latin typeface="Arial" pitchFamily="34" charset="0"/>
                <a:ea typeface="Arial" pitchFamily="34" charset="-122"/>
                <a:cs typeface="Arial" pitchFamily="34" charset="-120"/>
              </a:rPr>
              <a:t>M6</a:t>
            </a:r>
            <a:endParaRPr lang="en-US" sz="800" dirty="0"/>
          </a:p>
        </p:txBody>
      </p:sp>
      <p:sp>
        <p:nvSpPr>
          <p:cNvPr id="19" name="Text 17"/>
          <p:cNvSpPr txBox="1"/>
          <p:nvPr/>
        </p:nvSpPr>
        <p:spPr>
          <a:xfrm>
            <a:off x="502920" y="1709928"/>
            <a:ext cx="2057400" cy="329184"/>
          </a:xfrm>
          <a:prstGeom prst="rect">
            <a:avLst/>
          </a:prstGeom>
          <a:noFill/>
          <a:ln/>
        </p:spPr>
        <p:txBody>
          <a:bodyPr wrap="square" lIns="0" tIns="0" rIns="0" bIns="0" rtlCol="0" anchor="t"/>
          <a:lstStyle/>
          <a:p>
            <a:pPr indent="0" marL="0">
              <a:lnSpc>
                <a:spcPct val="92000"/>
              </a:lnSpc>
              <a:buNone/>
            </a:pPr>
            <a:r>
              <a:rPr lang="en-US" sz="900" dirty="0">
                <a:solidFill>
                  <a:srgbClr val="17131D"/>
                </a:solidFill>
                <a:latin typeface="Arial" pitchFamily="34" charset="0"/>
                <a:ea typeface="Arial" pitchFamily="34" charset="-122"/>
                <a:cs typeface="Arial" pitchFamily="34" charset="-120"/>
              </a:rPr>
              <a:t>Baseline and asset selection</a:t>
            </a:r>
            <a:endParaRPr lang="en-US" sz="900" dirty="0"/>
          </a:p>
        </p:txBody>
      </p:sp>
      <p:sp>
        <p:nvSpPr>
          <p:cNvPr id="20" name="Shape 18"/>
          <p:cNvSpPr/>
          <p:nvPr/>
        </p:nvSpPr>
        <p:spPr>
          <a:xfrm>
            <a:off x="2651760" y="1691640"/>
            <a:ext cx="800100" cy="219456"/>
          </a:xfrm>
          <a:prstGeom prst="rect">
            <a:avLst/>
          </a:prstGeom>
          <a:solidFill>
            <a:srgbClr val="7A4AA5"/>
          </a:solidFill>
          <a:ln/>
        </p:spPr>
      </p:sp>
      <p:sp>
        <p:nvSpPr>
          <p:cNvPr id="21" name="Text 19"/>
          <p:cNvSpPr txBox="1"/>
          <p:nvPr/>
        </p:nvSpPr>
        <p:spPr>
          <a:xfrm>
            <a:off x="502920" y="2075688"/>
            <a:ext cx="2057400" cy="329184"/>
          </a:xfrm>
          <a:prstGeom prst="rect">
            <a:avLst/>
          </a:prstGeom>
          <a:noFill/>
          <a:ln/>
        </p:spPr>
        <p:txBody>
          <a:bodyPr wrap="square" lIns="0" tIns="0" rIns="0" bIns="0" rtlCol="0" anchor="t"/>
          <a:lstStyle/>
          <a:p>
            <a:pPr indent="0" marL="0">
              <a:lnSpc>
                <a:spcPct val="92000"/>
              </a:lnSpc>
              <a:buNone/>
            </a:pPr>
            <a:r>
              <a:rPr lang="en-US" sz="900" dirty="0">
                <a:solidFill>
                  <a:srgbClr val="17131D"/>
                </a:solidFill>
                <a:latin typeface="Arial" pitchFamily="34" charset="0"/>
                <a:ea typeface="Arial" pitchFamily="34" charset="-122"/>
                <a:cs typeface="Arial" pitchFamily="34" charset="-120"/>
              </a:rPr>
              <a:t>Sensor installation and integration</a:t>
            </a:r>
            <a:endParaRPr lang="en-US" sz="900" dirty="0"/>
          </a:p>
        </p:txBody>
      </p:sp>
      <p:sp>
        <p:nvSpPr>
          <p:cNvPr id="22" name="Shape 20"/>
          <p:cNvSpPr/>
          <p:nvPr/>
        </p:nvSpPr>
        <p:spPr>
          <a:xfrm>
            <a:off x="3451860" y="2057400"/>
            <a:ext cx="800100" cy="219456"/>
          </a:xfrm>
          <a:prstGeom prst="rect">
            <a:avLst/>
          </a:prstGeom>
          <a:solidFill>
            <a:srgbClr val="7A4AA5"/>
          </a:solidFill>
          <a:ln/>
        </p:spPr>
      </p:sp>
      <p:sp>
        <p:nvSpPr>
          <p:cNvPr id="23" name="Text 21"/>
          <p:cNvSpPr txBox="1"/>
          <p:nvPr/>
        </p:nvSpPr>
        <p:spPr>
          <a:xfrm>
            <a:off x="502920" y="2441448"/>
            <a:ext cx="2057400" cy="329184"/>
          </a:xfrm>
          <a:prstGeom prst="rect">
            <a:avLst/>
          </a:prstGeom>
          <a:noFill/>
          <a:ln/>
        </p:spPr>
        <p:txBody>
          <a:bodyPr wrap="square" lIns="0" tIns="0" rIns="0" bIns="0" rtlCol="0" anchor="t"/>
          <a:lstStyle/>
          <a:p>
            <a:pPr indent="0" marL="0">
              <a:lnSpc>
                <a:spcPct val="92000"/>
              </a:lnSpc>
              <a:buNone/>
            </a:pPr>
            <a:r>
              <a:rPr lang="en-US" sz="900" dirty="0">
                <a:solidFill>
                  <a:srgbClr val="17131D"/>
                </a:solidFill>
                <a:latin typeface="Arial" pitchFamily="34" charset="0"/>
                <a:ea typeface="Arial" pitchFamily="34" charset="-122"/>
                <a:cs typeface="Arial" pitchFamily="34" charset="-120"/>
              </a:rPr>
              <a:t>Commissioning and healthy baselines</a:t>
            </a:r>
            <a:endParaRPr lang="en-US" sz="900" dirty="0"/>
          </a:p>
        </p:txBody>
      </p:sp>
      <p:sp>
        <p:nvSpPr>
          <p:cNvPr id="24" name="Shape 22"/>
          <p:cNvSpPr/>
          <p:nvPr/>
        </p:nvSpPr>
        <p:spPr>
          <a:xfrm>
            <a:off x="4251960" y="2423160"/>
            <a:ext cx="800100" cy="219456"/>
          </a:xfrm>
          <a:prstGeom prst="rect">
            <a:avLst/>
          </a:prstGeom>
          <a:solidFill>
            <a:srgbClr val="7A4AA5"/>
          </a:solidFill>
          <a:ln/>
        </p:spPr>
      </p:sp>
      <p:sp>
        <p:nvSpPr>
          <p:cNvPr id="25" name="Text 23"/>
          <p:cNvSpPr txBox="1"/>
          <p:nvPr/>
        </p:nvSpPr>
        <p:spPr>
          <a:xfrm>
            <a:off x="502920" y="2807208"/>
            <a:ext cx="2057400" cy="329184"/>
          </a:xfrm>
          <a:prstGeom prst="rect">
            <a:avLst/>
          </a:prstGeom>
          <a:noFill/>
          <a:ln/>
        </p:spPr>
        <p:txBody>
          <a:bodyPr wrap="square" lIns="0" tIns="0" rIns="0" bIns="0" rtlCol="0" anchor="t"/>
          <a:lstStyle/>
          <a:p>
            <a:pPr indent="0" marL="0">
              <a:lnSpc>
                <a:spcPct val="92000"/>
              </a:lnSpc>
              <a:buNone/>
            </a:pPr>
            <a:r>
              <a:rPr lang="en-US" sz="900" dirty="0">
                <a:solidFill>
                  <a:srgbClr val="17131D"/>
                </a:solidFill>
                <a:latin typeface="Arial" pitchFamily="34" charset="0"/>
                <a:ea typeface="Arial" pitchFamily="34" charset="-122"/>
                <a:cs typeface="Arial" pitchFamily="34" charset="-120"/>
              </a:rPr>
              <a:t>Shadow-mode validation</a:t>
            </a:r>
            <a:endParaRPr lang="en-US" sz="900" dirty="0"/>
          </a:p>
        </p:txBody>
      </p:sp>
      <p:sp>
        <p:nvSpPr>
          <p:cNvPr id="26" name="Shape 24"/>
          <p:cNvSpPr/>
          <p:nvPr/>
        </p:nvSpPr>
        <p:spPr>
          <a:xfrm>
            <a:off x="5052060" y="2788920"/>
            <a:ext cx="2400300" cy="219456"/>
          </a:xfrm>
          <a:prstGeom prst="rect">
            <a:avLst/>
          </a:prstGeom>
          <a:solidFill>
            <a:srgbClr val="5B2A86"/>
          </a:solidFill>
          <a:ln/>
        </p:spPr>
      </p:sp>
      <p:sp>
        <p:nvSpPr>
          <p:cNvPr id="27" name="Shape 25"/>
          <p:cNvSpPr/>
          <p:nvPr/>
        </p:nvSpPr>
        <p:spPr>
          <a:xfrm>
            <a:off x="7351776" y="2478024"/>
            <a:ext cx="201168" cy="201168"/>
          </a:xfrm>
          <a:prstGeom prst="diamond">
            <a:avLst/>
          </a:prstGeom>
          <a:solidFill>
            <a:srgbClr val="5B2A86"/>
          </a:solidFill>
          <a:ln/>
        </p:spPr>
      </p:sp>
      <p:sp>
        <p:nvSpPr>
          <p:cNvPr id="28" name="Text 26"/>
          <p:cNvSpPr txBox="1"/>
          <p:nvPr/>
        </p:nvSpPr>
        <p:spPr>
          <a:xfrm>
            <a:off x="6035040" y="2459736"/>
            <a:ext cx="1280160" cy="164592"/>
          </a:xfrm>
          <a:prstGeom prst="rect">
            <a:avLst/>
          </a:prstGeom>
          <a:noFill/>
          <a:ln/>
        </p:spPr>
        <p:txBody>
          <a:bodyPr wrap="square" lIns="0" tIns="0" rIns="0" bIns="0" rtlCol="0" anchor="t"/>
          <a:lstStyle/>
          <a:p>
            <a:pPr algn="r" indent="0" marL="0">
              <a:lnSpc>
                <a:spcPct val="105000"/>
              </a:lnSpc>
              <a:buNone/>
            </a:pPr>
            <a:r>
              <a:rPr lang="en-US" sz="800" b="1" dirty="0">
                <a:solidFill>
                  <a:srgbClr val="5B2A86"/>
                </a:solidFill>
                <a:latin typeface="Arial" pitchFamily="34" charset="0"/>
                <a:ea typeface="Arial" pitchFamily="34" charset="-122"/>
                <a:cs typeface="Arial" pitchFamily="34" charset="-120"/>
              </a:rPr>
              <a:t>go or no-go decision</a:t>
            </a:r>
            <a:endParaRPr lang="en-US" sz="800" dirty="0"/>
          </a:p>
        </p:txBody>
      </p:sp>
      <p:sp>
        <p:nvSpPr>
          <p:cNvPr id="29" name="Text 27"/>
          <p:cNvSpPr txBox="1"/>
          <p:nvPr/>
        </p:nvSpPr>
        <p:spPr>
          <a:xfrm>
            <a:off x="502920" y="3776472"/>
            <a:ext cx="548640" cy="182880"/>
          </a:xfrm>
          <a:prstGeom prst="rect">
            <a:avLst/>
          </a:prstGeom>
          <a:noFill/>
          <a:ln/>
        </p:spPr>
        <p:txBody>
          <a:bodyPr wrap="square" lIns="0" tIns="0" rIns="0" bIns="0" rtlCol="0" anchor="t"/>
          <a:lstStyle/>
          <a:p>
            <a:pPr indent="0" marL="0">
              <a:lnSpc>
                <a:spcPct val="105000"/>
              </a:lnSpc>
              <a:buNone/>
            </a:pPr>
            <a:r>
              <a:rPr lang="en-US" sz="900" b="1" dirty="0">
                <a:solidFill>
                  <a:srgbClr val="17131D"/>
                </a:solidFill>
                <a:latin typeface="Arial" pitchFamily="34" charset="0"/>
                <a:ea typeface="Arial" pitchFamily="34" charset="-122"/>
                <a:cs typeface="Arial" pitchFamily="34" charset="-120"/>
              </a:rPr>
              <a:t>Roles:</a:t>
            </a:r>
            <a:endParaRPr lang="en-US" sz="900" dirty="0"/>
          </a:p>
        </p:txBody>
      </p:sp>
      <p:sp>
        <p:nvSpPr>
          <p:cNvPr id="30" name="Text 28"/>
          <p:cNvSpPr txBox="1"/>
          <p:nvPr/>
        </p:nvSpPr>
        <p:spPr>
          <a:xfrm>
            <a:off x="1051560" y="3776472"/>
            <a:ext cx="6400800" cy="365760"/>
          </a:xfrm>
          <a:prstGeom prst="rect">
            <a:avLst/>
          </a:prstGeom>
          <a:noFill/>
          <a:ln/>
        </p:spPr>
        <p:txBody>
          <a:bodyPr wrap="square" lIns="0" tIns="0" rIns="0" bIns="0" rtlCol="0" anchor="t"/>
          <a:lstStyle/>
          <a:p>
            <a:pPr indent="0" marL="0">
              <a:lnSpc>
                <a:spcPct val="105000"/>
              </a:lnSpc>
              <a:buNone/>
            </a:pPr>
            <a:r>
              <a:rPr lang="en-US" sz="900" dirty="0">
                <a:solidFill>
                  <a:srgbClr val="625D68"/>
                </a:solidFill>
                <a:latin typeface="Arial" pitchFamily="34" charset="0"/>
                <a:ea typeface="Arial" pitchFamily="34" charset="-122"/>
                <a:cs typeface="Arial" pitchFamily="34" charset="-120"/>
              </a:rPr>
              <a:t>Reliability engineer: baseline, adjudication, gate · Instrumentation team: install · CMMS administrator: work-order flow · NAADI team: features, models, dashboards</a:t>
            </a:r>
            <a:endParaRPr lang="en-US" sz="900" dirty="0"/>
          </a:p>
        </p:txBody>
      </p:sp>
      <p:sp>
        <p:nvSpPr>
          <p:cNvPr id="31" name="Text 29"/>
          <p:cNvSpPr txBox="1"/>
          <p:nvPr/>
        </p:nvSpPr>
        <p:spPr>
          <a:xfrm>
            <a:off x="7818120" y="1362456"/>
            <a:ext cx="3858768" cy="201168"/>
          </a:xfrm>
          <a:prstGeom prst="rect">
            <a:avLst/>
          </a:prstGeom>
          <a:noFill/>
          <a:ln/>
        </p:spPr>
        <p:txBody>
          <a:bodyPr wrap="square" lIns="0" tIns="0" rIns="0" bIns="0" rtlCol="0" anchor="t"/>
          <a:lstStyle/>
          <a:p>
            <a:pPr indent="0" marL="0">
              <a:lnSpc>
                <a:spcPct val="105000"/>
              </a:lnSpc>
              <a:buNone/>
            </a:pPr>
            <a:r>
              <a:rPr lang="en-US" sz="1200" b="1" dirty="0">
                <a:solidFill>
                  <a:srgbClr val="17131D"/>
                </a:solidFill>
                <a:latin typeface="Arial" pitchFamily="34" charset="0"/>
                <a:ea typeface="Arial" pitchFamily="34" charset="-122"/>
                <a:cs typeface="Arial" pitchFamily="34" charset="-120"/>
              </a:rPr>
              <a:t>Pilot success criteria</a:t>
            </a:r>
            <a:endParaRPr lang="en-US" sz="1200" dirty="0"/>
          </a:p>
        </p:txBody>
      </p:sp>
      <p:sp>
        <p:nvSpPr>
          <p:cNvPr id="32" name="Text 30"/>
          <p:cNvSpPr txBox="1"/>
          <p:nvPr/>
        </p:nvSpPr>
        <p:spPr>
          <a:xfrm>
            <a:off x="7818120" y="1655064"/>
            <a:ext cx="1051560" cy="310896"/>
          </a:xfrm>
          <a:prstGeom prst="rect">
            <a:avLst/>
          </a:prstGeom>
          <a:noFill/>
          <a:ln/>
        </p:spPr>
        <p:txBody>
          <a:bodyPr wrap="square" lIns="0" tIns="0" rIns="0" bIns="0" rtlCol="0" anchor="t"/>
          <a:lstStyle/>
          <a:p>
            <a:pPr indent="0" marL="0">
              <a:lnSpc>
                <a:spcPct val="105000"/>
              </a:lnSpc>
              <a:buNone/>
            </a:pPr>
            <a:r>
              <a:rPr lang="en-US" sz="1700" b="1" dirty="0">
                <a:solidFill>
                  <a:srgbClr val="5B2A86"/>
                </a:solidFill>
                <a:latin typeface="Arial" pitchFamily="34" charset="0"/>
                <a:ea typeface="Arial" pitchFamily="34" charset="-122"/>
                <a:cs typeface="Arial" pitchFamily="34" charset="-120"/>
              </a:rPr>
              <a:t>≥70%</a:t>
            </a:r>
            <a:endParaRPr lang="en-US" sz="1700" dirty="0"/>
          </a:p>
        </p:txBody>
      </p:sp>
      <p:sp>
        <p:nvSpPr>
          <p:cNvPr id="33" name="Text 31"/>
          <p:cNvSpPr txBox="1"/>
          <p:nvPr/>
        </p:nvSpPr>
        <p:spPr>
          <a:xfrm>
            <a:off x="8915400" y="1664208"/>
            <a:ext cx="2715768" cy="310896"/>
          </a:xfrm>
          <a:prstGeom prst="rect">
            <a:avLst/>
          </a:prstGeom>
          <a:noFill/>
          <a:ln/>
        </p:spPr>
        <p:txBody>
          <a:bodyPr wrap="square" lIns="0" tIns="0" rIns="0" bIns="0" rtlCol="0" anchor="t"/>
          <a:lstStyle/>
          <a:p>
            <a:pPr indent="0" marL="0">
              <a:lnSpc>
                <a:spcPct val="95000"/>
              </a:lnSpc>
              <a:buNone/>
            </a:pPr>
            <a:r>
              <a:rPr lang="en-US" sz="850" dirty="0">
                <a:solidFill>
                  <a:srgbClr val="625D68"/>
                </a:solidFill>
                <a:latin typeface="Arial" pitchFamily="34" charset="0"/>
                <a:ea typeface="Arial" pitchFamily="34" charset="-122"/>
                <a:cs typeface="Arial" pitchFamily="34" charset="-120"/>
              </a:rPr>
              <a:t>of the faults maintenance later confirms must have been flagged by NAADI in advance</a:t>
            </a:r>
            <a:endParaRPr lang="en-US" sz="850" dirty="0"/>
          </a:p>
        </p:txBody>
      </p:sp>
      <p:sp>
        <p:nvSpPr>
          <p:cNvPr id="34" name="Shape 32"/>
          <p:cNvSpPr/>
          <p:nvPr/>
        </p:nvSpPr>
        <p:spPr>
          <a:xfrm>
            <a:off x="7818120" y="1984248"/>
            <a:ext cx="3767328" cy="64008"/>
          </a:xfrm>
          <a:prstGeom prst="rect">
            <a:avLst/>
          </a:prstGeom>
          <a:solidFill>
            <a:srgbClr val="EFE8F6"/>
          </a:solidFill>
          <a:ln/>
        </p:spPr>
      </p:sp>
      <p:sp>
        <p:nvSpPr>
          <p:cNvPr id="35" name="Shape 33"/>
          <p:cNvSpPr/>
          <p:nvPr/>
        </p:nvSpPr>
        <p:spPr>
          <a:xfrm>
            <a:off x="7818120" y="1984248"/>
            <a:ext cx="2637130" cy="64008"/>
          </a:xfrm>
          <a:prstGeom prst="rect">
            <a:avLst/>
          </a:prstGeom>
          <a:solidFill>
            <a:srgbClr val="7A4AA5"/>
          </a:solidFill>
          <a:ln/>
        </p:spPr>
      </p:sp>
      <p:sp>
        <p:nvSpPr>
          <p:cNvPr id="36" name="Text 34"/>
          <p:cNvSpPr txBox="1"/>
          <p:nvPr/>
        </p:nvSpPr>
        <p:spPr>
          <a:xfrm>
            <a:off x="7818120" y="2221992"/>
            <a:ext cx="1051560" cy="310896"/>
          </a:xfrm>
          <a:prstGeom prst="rect">
            <a:avLst/>
          </a:prstGeom>
          <a:noFill/>
          <a:ln/>
        </p:spPr>
        <p:txBody>
          <a:bodyPr wrap="square" lIns="0" tIns="0" rIns="0" bIns="0" rtlCol="0" anchor="t"/>
          <a:lstStyle/>
          <a:p>
            <a:pPr indent="0" marL="0">
              <a:lnSpc>
                <a:spcPct val="105000"/>
              </a:lnSpc>
              <a:buNone/>
            </a:pPr>
            <a:r>
              <a:rPr lang="en-US" sz="1700" b="1" dirty="0">
                <a:solidFill>
                  <a:srgbClr val="5B2A86"/>
                </a:solidFill>
                <a:latin typeface="Arial" pitchFamily="34" charset="0"/>
                <a:ea typeface="Arial" pitchFamily="34" charset="-122"/>
                <a:cs typeface="Arial" pitchFamily="34" charset="-120"/>
              </a:rPr>
              <a:t>≥14 days</a:t>
            </a:r>
            <a:endParaRPr lang="en-US" sz="1700" dirty="0"/>
          </a:p>
        </p:txBody>
      </p:sp>
      <p:sp>
        <p:nvSpPr>
          <p:cNvPr id="37" name="Text 35"/>
          <p:cNvSpPr txBox="1"/>
          <p:nvPr/>
        </p:nvSpPr>
        <p:spPr>
          <a:xfrm>
            <a:off x="8915400" y="2231136"/>
            <a:ext cx="2715768" cy="310896"/>
          </a:xfrm>
          <a:prstGeom prst="rect">
            <a:avLst/>
          </a:prstGeom>
          <a:noFill/>
          <a:ln/>
        </p:spPr>
        <p:txBody>
          <a:bodyPr wrap="square" lIns="0" tIns="0" rIns="0" bIns="0" rtlCol="0" anchor="t"/>
          <a:lstStyle/>
          <a:p>
            <a:pPr indent="0" marL="0">
              <a:lnSpc>
                <a:spcPct val="95000"/>
              </a:lnSpc>
              <a:buNone/>
            </a:pPr>
            <a:r>
              <a:rPr lang="en-US" sz="850" dirty="0">
                <a:solidFill>
                  <a:srgbClr val="625D68"/>
                </a:solidFill>
                <a:latin typeface="Arial" pitchFamily="34" charset="0"/>
                <a:ea typeface="Arial" pitchFamily="34" charset="-122"/>
                <a:cs typeface="Arial" pitchFamily="34" charset="-120"/>
              </a:rPr>
              <a:t>of notice: enough to plan the repair into a scheduled window instead of an emergency stop</a:t>
            </a:r>
            <a:endParaRPr lang="en-US" sz="850" dirty="0"/>
          </a:p>
        </p:txBody>
      </p:sp>
      <p:sp>
        <p:nvSpPr>
          <p:cNvPr id="38" name="Shape 36"/>
          <p:cNvSpPr/>
          <p:nvPr/>
        </p:nvSpPr>
        <p:spPr>
          <a:xfrm>
            <a:off x="7818120" y="2551176"/>
            <a:ext cx="3767328" cy="64008"/>
          </a:xfrm>
          <a:prstGeom prst="rect">
            <a:avLst/>
          </a:prstGeom>
          <a:solidFill>
            <a:srgbClr val="EFE8F6"/>
          </a:solidFill>
          <a:ln/>
        </p:spPr>
      </p:sp>
      <p:sp>
        <p:nvSpPr>
          <p:cNvPr id="39" name="Shape 37"/>
          <p:cNvSpPr/>
          <p:nvPr/>
        </p:nvSpPr>
        <p:spPr>
          <a:xfrm>
            <a:off x="7818120" y="2551176"/>
            <a:ext cx="2524110" cy="64008"/>
          </a:xfrm>
          <a:prstGeom prst="rect">
            <a:avLst/>
          </a:prstGeom>
          <a:solidFill>
            <a:srgbClr val="7A4AA5"/>
          </a:solidFill>
          <a:ln/>
        </p:spPr>
      </p:sp>
      <p:sp>
        <p:nvSpPr>
          <p:cNvPr id="40" name="Text 38"/>
          <p:cNvSpPr txBox="1"/>
          <p:nvPr/>
        </p:nvSpPr>
        <p:spPr>
          <a:xfrm>
            <a:off x="7818120" y="2788920"/>
            <a:ext cx="1051560" cy="310896"/>
          </a:xfrm>
          <a:prstGeom prst="rect">
            <a:avLst/>
          </a:prstGeom>
          <a:noFill/>
          <a:ln/>
        </p:spPr>
        <p:txBody>
          <a:bodyPr wrap="square" lIns="0" tIns="0" rIns="0" bIns="0" rtlCol="0" anchor="t"/>
          <a:lstStyle/>
          <a:p>
            <a:pPr indent="0" marL="0">
              <a:lnSpc>
                <a:spcPct val="105000"/>
              </a:lnSpc>
              <a:buNone/>
            </a:pPr>
            <a:r>
              <a:rPr lang="en-US" sz="1700" b="1" dirty="0">
                <a:solidFill>
                  <a:srgbClr val="5B2A86"/>
                </a:solidFill>
                <a:latin typeface="Arial" pitchFamily="34" charset="0"/>
                <a:ea typeface="Arial" pitchFamily="34" charset="-122"/>
                <a:cs typeface="Arial" pitchFamily="34" charset="-120"/>
              </a:rPr>
              <a:t>≤2</a:t>
            </a:r>
            <a:endParaRPr lang="en-US" sz="1700" dirty="0"/>
          </a:p>
        </p:txBody>
      </p:sp>
      <p:sp>
        <p:nvSpPr>
          <p:cNvPr id="41" name="Text 39"/>
          <p:cNvSpPr txBox="1"/>
          <p:nvPr/>
        </p:nvSpPr>
        <p:spPr>
          <a:xfrm>
            <a:off x="8915400" y="2798064"/>
            <a:ext cx="2715768" cy="310896"/>
          </a:xfrm>
          <a:prstGeom prst="rect">
            <a:avLst/>
          </a:prstGeom>
          <a:noFill/>
          <a:ln/>
        </p:spPr>
        <p:txBody>
          <a:bodyPr wrap="square" lIns="0" tIns="0" rIns="0" bIns="0" rtlCol="0" anchor="t"/>
          <a:lstStyle/>
          <a:p>
            <a:pPr indent="0" marL="0">
              <a:lnSpc>
                <a:spcPct val="95000"/>
              </a:lnSpc>
              <a:buNone/>
            </a:pPr>
            <a:r>
              <a:rPr lang="en-US" sz="850" dirty="0">
                <a:solidFill>
                  <a:srgbClr val="625D68"/>
                </a:solidFill>
                <a:latin typeface="Arial" pitchFamily="34" charset="0"/>
                <a:ea typeface="Arial" pitchFamily="34" charset="-122"/>
                <a:cs typeface="Arial" pitchFamily="34" charset="-120"/>
              </a:rPr>
              <a:t>false alerts per pump per month, so operators keep trusting the alerts</a:t>
            </a:r>
            <a:endParaRPr lang="en-US" sz="850" dirty="0"/>
          </a:p>
        </p:txBody>
      </p:sp>
      <p:sp>
        <p:nvSpPr>
          <p:cNvPr id="42" name="Shape 40"/>
          <p:cNvSpPr/>
          <p:nvPr/>
        </p:nvSpPr>
        <p:spPr>
          <a:xfrm>
            <a:off x="7818120" y="3118104"/>
            <a:ext cx="3767328" cy="64008"/>
          </a:xfrm>
          <a:prstGeom prst="rect">
            <a:avLst/>
          </a:prstGeom>
          <a:solidFill>
            <a:srgbClr val="EFE8F6"/>
          </a:solidFill>
          <a:ln/>
        </p:spPr>
      </p:sp>
      <p:sp>
        <p:nvSpPr>
          <p:cNvPr id="43" name="Shape 41"/>
          <p:cNvSpPr/>
          <p:nvPr/>
        </p:nvSpPr>
        <p:spPr>
          <a:xfrm>
            <a:off x="7818120" y="3118104"/>
            <a:ext cx="941832" cy="64008"/>
          </a:xfrm>
          <a:prstGeom prst="rect">
            <a:avLst/>
          </a:prstGeom>
          <a:solidFill>
            <a:srgbClr val="7A4AA5"/>
          </a:solidFill>
          <a:ln/>
        </p:spPr>
      </p:sp>
      <p:sp>
        <p:nvSpPr>
          <p:cNvPr id="44" name="Text 42"/>
          <p:cNvSpPr txBox="1"/>
          <p:nvPr/>
        </p:nvSpPr>
        <p:spPr>
          <a:xfrm>
            <a:off x="7818120" y="3355848"/>
            <a:ext cx="1051560" cy="310896"/>
          </a:xfrm>
          <a:prstGeom prst="rect">
            <a:avLst/>
          </a:prstGeom>
          <a:noFill/>
          <a:ln/>
        </p:spPr>
        <p:txBody>
          <a:bodyPr wrap="square" lIns="0" tIns="0" rIns="0" bIns="0" rtlCol="0" anchor="t"/>
          <a:lstStyle/>
          <a:p>
            <a:pPr indent="0" marL="0">
              <a:lnSpc>
                <a:spcPct val="105000"/>
              </a:lnSpc>
              <a:buNone/>
            </a:pPr>
            <a:r>
              <a:rPr lang="en-US" sz="1700" b="1" dirty="0">
                <a:solidFill>
                  <a:srgbClr val="5B2A86"/>
                </a:solidFill>
                <a:latin typeface="Arial" pitchFamily="34" charset="0"/>
                <a:ea typeface="Arial" pitchFamily="34" charset="-122"/>
                <a:cs typeface="Arial" pitchFamily="34" charset="-120"/>
              </a:rPr>
              <a:t>≥95%</a:t>
            </a:r>
            <a:endParaRPr lang="en-US" sz="1700" dirty="0"/>
          </a:p>
        </p:txBody>
      </p:sp>
      <p:sp>
        <p:nvSpPr>
          <p:cNvPr id="45" name="Text 43"/>
          <p:cNvSpPr txBox="1"/>
          <p:nvPr/>
        </p:nvSpPr>
        <p:spPr>
          <a:xfrm>
            <a:off x="8915400" y="3364992"/>
            <a:ext cx="2715768" cy="310896"/>
          </a:xfrm>
          <a:prstGeom prst="rect">
            <a:avLst/>
          </a:prstGeom>
          <a:noFill/>
          <a:ln/>
        </p:spPr>
        <p:txBody>
          <a:bodyPr wrap="square" lIns="0" tIns="0" rIns="0" bIns="0" rtlCol="0" anchor="t"/>
          <a:lstStyle/>
          <a:p>
            <a:pPr indent="0" marL="0">
              <a:lnSpc>
                <a:spcPct val="95000"/>
              </a:lnSpc>
              <a:buNone/>
            </a:pPr>
            <a:r>
              <a:rPr lang="en-US" sz="850" dirty="0">
                <a:solidFill>
                  <a:srgbClr val="625D68"/>
                </a:solidFill>
                <a:latin typeface="Arial" pitchFamily="34" charset="0"/>
                <a:ea typeface="Arial" pitchFamily="34" charset="-122"/>
                <a:cs typeface="Arial" pitchFamily="34" charset="-120"/>
              </a:rPr>
              <a:t>sensor data availability</a:t>
            </a:r>
            <a:endParaRPr lang="en-US" sz="850" dirty="0"/>
          </a:p>
        </p:txBody>
      </p:sp>
      <p:sp>
        <p:nvSpPr>
          <p:cNvPr id="46" name="Shape 44"/>
          <p:cNvSpPr/>
          <p:nvPr/>
        </p:nvSpPr>
        <p:spPr>
          <a:xfrm>
            <a:off x="7818120" y="3685032"/>
            <a:ext cx="3767328" cy="64008"/>
          </a:xfrm>
          <a:prstGeom prst="rect">
            <a:avLst/>
          </a:prstGeom>
          <a:solidFill>
            <a:srgbClr val="EFE8F6"/>
          </a:solidFill>
          <a:ln/>
        </p:spPr>
      </p:sp>
      <p:sp>
        <p:nvSpPr>
          <p:cNvPr id="47" name="Shape 45"/>
          <p:cNvSpPr/>
          <p:nvPr/>
        </p:nvSpPr>
        <p:spPr>
          <a:xfrm>
            <a:off x="7818120" y="3685032"/>
            <a:ext cx="3578962" cy="64008"/>
          </a:xfrm>
          <a:prstGeom prst="rect">
            <a:avLst/>
          </a:prstGeom>
          <a:solidFill>
            <a:srgbClr val="7A4AA5"/>
          </a:solidFill>
          <a:ln/>
        </p:spPr>
      </p:sp>
      <p:sp>
        <p:nvSpPr>
          <p:cNvPr id="48" name="Text 46"/>
          <p:cNvSpPr txBox="1"/>
          <p:nvPr/>
        </p:nvSpPr>
        <p:spPr>
          <a:xfrm>
            <a:off x="7818120" y="3995928"/>
            <a:ext cx="3858768" cy="603504"/>
          </a:xfrm>
          <a:prstGeom prst="rect">
            <a:avLst/>
          </a:prstGeom>
          <a:noFill/>
          <a:ln/>
        </p:spPr>
        <p:txBody>
          <a:bodyPr wrap="square" lIns="0" tIns="0" rIns="0" bIns="0" rtlCol="0" anchor="t"/>
          <a:lstStyle/>
          <a:p>
            <a:pPr indent="0" marL="0">
              <a:lnSpc>
                <a:spcPct val="108000"/>
              </a:lnSpc>
              <a:buNone/>
            </a:pPr>
            <a:r>
              <a:rPr lang="en-US" sz="900" dirty="0">
                <a:solidFill>
                  <a:srgbClr val="625D68"/>
                </a:solidFill>
                <a:latin typeface="Arial" pitchFamily="34" charset="0"/>
                <a:ea typeface="Arial" pitchFamily="34" charset="-122"/>
                <a:cs typeface="Arial" pitchFamily="34" charset="-120"/>
              </a:rPr>
              <a:t>Alerts run in shadow mode for three months and are compared weekly with actual maintenance findings before any alert changes a maintenance decision.</a:t>
            </a:r>
            <a:endParaRPr lang="en-US" sz="900" dirty="0"/>
          </a:p>
        </p:txBody>
      </p:sp>
      <p:sp>
        <p:nvSpPr>
          <p:cNvPr id="49" name="Shape 47"/>
          <p:cNvSpPr/>
          <p:nvPr/>
        </p:nvSpPr>
        <p:spPr>
          <a:xfrm>
            <a:off x="502920" y="4965192"/>
            <a:ext cx="11185855" cy="0"/>
          </a:xfrm>
          <a:prstGeom prst="line">
            <a:avLst/>
          </a:prstGeom>
          <a:noFill/>
          <a:ln w="12700">
            <a:solidFill>
              <a:srgbClr val="DED9E5"/>
            </a:solidFill>
            <a:prstDash val="solid"/>
          </a:ln>
        </p:spPr>
      </p:sp>
      <p:sp>
        <p:nvSpPr>
          <p:cNvPr id="50" name="Text 48"/>
          <p:cNvSpPr txBox="1"/>
          <p:nvPr/>
        </p:nvSpPr>
        <p:spPr>
          <a:xfrm>
            <a:off x="502920" y="5074920"/>
            <a:ext cx="2743200" cy="201168"/>
          </a:xfrm>
          <a:prstGeom prst="rect">
            <a:avLst/>
          </a:prstGeom>
          <a:noFill/>
          <a:ln/>
        </p:spPr>
        <p:txBody>
          <a:bodyPr wrap="square" lIns="0" tIns="0" rIns="0" bIns="0" rtlCol="0" anchor="t"/>
          <a:lstStyle/>
          <a:p>
            <a:pPr indent="0" marL="0">
              <a:lnSpc>
                <a:spcPct val="105000"/>
              </a:lnSpc>
              <a:buNone/>
            </a:pPr>
            <a:r>
              <a:rPr lang="en-US" sz="1200" b="1" dirty="0">
                <a:solidFill>
                  <a:srgbClr val="17131D"/>
                </a:solidFill>
                <a:latin typeface="Arial" pitchFamily="34" charset="0"/>
                <a:ea typeface="Arial" pitchFamily="34" charset="-122"/>
                <a:cs typeface="Arial" pitchFamily="34" charset="-120"/>
              </a:rPr>
              <a:t>Scale-up after the gate</a:t>
            </a:r>
            <a:endParaRPr lang="en-US" sz="1200" dirty="0"/>
          </a:p>
        </p:txBody>
      </p:sp>
      <p:sp>
        <p:nvSpPr>
          <p:cNvPr id="51" name="Shape 49"/>
          <p:cNvSpPr/>
          <p:nvPr/>
        </p:nvSpPr>
        <p:spPr>
          <a:xfrm>
            <a:off x="502920" y="5349240"/>
            <a:ext cx="2395728" cy="841248"/>
          </a:xfrm>
          <a:prstGeom prst="rect">
            <a:avLst/>
          </a:prstGeom>
          <a:solidFill>
            <a:srgbClr val="F8F5FA"/>
          </a:solidFill>
          <a:ln/>
        </p:spPr>
      </p:sp>
      <p:sp>
        <p:nvSpPr>
          <p:cNvPr id="52" name="Text 50"/>
          <p:cNvSpPr txBox="1"/>
          <p:nvPr/>
        </p:nvSpPr>
        <p:spPr>
          <a:xfrm>
            <a:off x="612648" y="5422392"/>
            <a:ext cx="2176272" cy="201168"/>
          </a:xfrm>
          <a:prstGeom prst="rect">
            <a:avLst/>
          </a:prstGeom>
          <a:noFill/>
          <a:ln/>
        </p:spPr>
        <p:txBody>
          <a:bodyPr wrap="square" lIns="0" tIns="0" rIns="0" bIns="0" rtlCol="0" anchor="t"/>
          <a:lstStyle/>
          <a:p>
            <a:pPr indent="0" marL="0">
              <a:lnSpc>
                <a:spcPct val="105000"/>
              </a:lnSpc>
              <a:buNone/>
            </a:pPr>
            <a:r>
              <a:rPr lang="en-US" sz="950" b="1" dirty="0">
                <a:solidFill>
                  <a:srgbClr val="5B2A86"/>
                </a:solidFill>
                <a:latin typeface="Arial" pitchFamily="34" charset="0"/>
                <a:ea typeface="Arial" pitchFamily="34" charset="-122"/>
                <a:cs typeface="Arial" pitchFamily="34" charset="-120"/>
              </a:rPr>
              <a:t>Months 0 to 6</a:t>
            </a:r>
            <a:endParaRPr lang="en-US" sz="950" dirty="0"/>
          </a:p>
        </p:txBody>
      </p:sp>
      <p:sp>
        <p:nvSpPr>
          <p:cNvPr id="53" name="Text 51"/>
          <p:cNvSpPr txBox="1"/>
          <p:nvPr/>
        </p:nvSpPr>
        <p:spPr>
          <a:xfrm>
            <a:off x="612648" y="5623560"/>
            <a:ext cx="2176272" cy="530352"/>
          </a:xfrm>
          <a:prstGeom prst="rect">
            <a:avLst/>
          </a:prstGeom>
          <a:noFill/>
          <a:ln/>
        </p:spPr>
        <p:txBody>
          <a:bodyPr wrap="square" lIns="0" tIns="0" rIns="0" bIns="0" rtlCol="0" anchor="t"/>
          <a:lstStyle/>
          <a:p>
            <a:pPr indent="0" marL="0">
              <a:lnSpc>
                <a:spcPct val="102000"/>
              </a:lnSpc>
              <a:buNone/>
            </a:pPr>
            <a:r>
              <a:rPr lang="en-US" sz="900" dirty="0">
                <a:solidFill>
                  <a:srgbClr val="17131D"/>
                </a:solidFill>
                <a:latin typeface="Arial" pitchFamily="34" charset="0"/>
                <a:ea typeface="Arial" pitchFamily="34" charset="-122"/>
                <a:cs typeface="Arial" pitchFamily="34" charset="-120"/>
              </a:rPr>
              <a:t>pilot: 25 pumps, one plant</a:t>
            </a:r>
            <a:endParaRPr lang="en-US" sz="900" dirty="0"/>
          </a:p>
        </p:txBody>
      </p:sp>
      <p:sp>
        <p:nvSpPr>
          <p:cNvPr id="54" name="Shape 52"/>
          <p:cNvSpPr/>
          <p:nvPr/>
        </p:nvSpPr>
        <p:spPr>
          <a:xfrm>
            <a:off x="2944368" y="5769864"/>
            <a:ext cx="256032" cy="0"/>
          </a:xfrm>
          <a:prstGeom prst="line">
            <a:avLst/>
          </a:prstGeom>
          <a:noFill/>
          <a:ln w="19050">
            <a:solidFill>
              <a:srgbClr val="7A4AA5"/>
            </a:solidFill>
            <a:prstDash val="solid"/>
            <a:tailEnd type="triangle"/>
          </a:ln>
        </p:spPr>
      </p:sp>
      <p:sp>
        <p:nvSpPr>
          <p:cNvPr id="55" name="Shape 53"/>
          <p:cNvSpPr/>
          <p:nvPr/>
        </p:nvSpPr>
        <p:spPr>
          <a:xfrm>
            <a:off x="3246120" y="5349240"/>
            <a:ext cx="2395728" cy="841248"/>
          </a:xfrm>
          <a:prstGeom prst="rect">
            <a:avLst/>
          </a:prstGeom>
          <a:solidFill>
            <a:srgbClr val="F8F5FA"/>
          </a:solidFill>
          <a:ln/>
        </p:spPr>
      </p:sp>
      <p:sp>
        <p:nvSpPr>
          <p:cNvPr id="56" name="Text 54"/>
          <p:cNvSpPr txBox="1"/>
          <p:nvPr/>
        </p:nvSpPr>
        <p:spPr>
          <a:xfrm>
            <a:off x="3355848" y="5422392"/>
            <a:ext cx="2176272" cy="201168"/>
          </a:xfrm>
          <a:prstGeom prst="rect">
            <a:avLst/>
          </a:prstGeom>
          <a:noFill/>
          <a:ln/>
        </p:spPr>
        <p:txBody>
          <a:bodyPr wrap="square" lIns="0" tIns="0" rIns="0" bIns="0" rtlCol="0" anchor="t"/>
          <a:lstStyle/>
          <a:p>
            <a:pPr indent="0" marL="0">
              <a:lnSpc>
                <a:spcPct val="105000"/>
              </a:lnSpc>
              <a:buNone/>
            </a:pPr>
            <a:r>
              <a:rPr lang="en-US" sz="950" b="1" dirty="0">
                <a:solidFill>
                  <a:srgbClr val="5B2A86"/>
                </a:solidFill>
                <a:latin typeface="Arial" pitchFamily="34" charset="0"/>
                <a:ea typeface="Arial" pitchFamily="34" charset="-122"/>
                <a:cs typeface="Arial" pitchFamily="34" charset="-120"/>
              </a:rPr>
              <a:t>Months 6 to 12</a:t>
            </a:r>
            <a:endParaRPr lang="en-US" sz="950" dirty="0"/>
          </a:p>
        </p:txBody>
      </p:sp>
      <p:sp>
        <p:nvSpPr>
          <p:cNvPr id="57" name="Text 55"/>
          <p:cNvSpPr txBox="1"/>
          <p:nvPr/>
        </p:nvSpPr>
        <p:spPr>
          <a:xfrm>
            <a:off x="3355848" y="5623560"/>
            <a:ext cx="2176272" cy="530352"/>
          </a:xfrm>
          <a:prstGeom prst="rect">
            <a:avLst/>
          </a:prstGeom>
          <a:noFill/>
          <a:ln/>
        </p:spPr>
        <p:txBody>
          <a:bodyPr wrap="square" lIns="0" tIns="0" rIns="0" bIns="0" rtlCol="0" anchor="t"/>
          <a:lstStyle/>
          <a:p>
            <a:pPr indent="0" marL="0">
              <a:lnSpc>
                <a:spcPct val="102000"/>
              </a:lnSpc>
              <a:buNone/>
            </a:pPr>
            <a:r>
              <a:rPr lang="en-US" sz="900" dirty="0">
                <a:solidFill>
                  <a:srgbClr val="17131D"/>
                </a:solidFill>
                <a:latin typeface="Arial" pitchFamily="34" charset="0"/>
                <a:ea typeface="Arial" pitchFamily="34" charset="-122"/>
                <a:cs typeface="Arial" pitchFamily="34" charset="-120"/>
              </a:rPr>
              <a:t>100 or more rotating assets: compressors, agitators, fans</a:t>
            </a:r>
            <a:endParaRPr lang="en-US" sz="900" dirty="0"/>
          </a:p>
        </p:txBody>
      </p:sp>
      <p:sp>
        <p:nvSpPr>
          <p:cNvPr id="58" name="Shape 56"/>
          <p:cNvSpPr/>
          <p:nvPr/>
        </p:nvSpPr>
        <p:spPr>
          <a:xfrm>
            <a:off x="5687568" y="5769864"/>
            <a:ext cx="256032" cy="0"/>
          </a:xfrm>
          <a:prstGeom prst="line">
            <a:avLst/>
          </a:prstGeom>
          <a:noFill/>
          <a:ln w="19050">
            <a:solidFill>
              <a:srgbClr val="7A4AA5"/>
            </a:solidFill>
            <a:prstDash val="solid"/>
            <a:tailEnd type="triangle"/>
          </a:ln>
        </p:spPr>
      </p:sp>
      <p:sp>
        <p:nvSpPr>
          <p:cNvPr id="59" name="Shape 57"/>
          <p:cNvSpPr/>
          <p:nvPr/>
        </p:nvSpPr>
        <p:spPr>
          <a:xfrm>
            <a:off x="5989320" y="5349240"/>
            <a:ext cx="2395728" cy="841248"/>
          </a:xfrm>
          <a:prstGeom prst="rect">
            <a:avLst/>
          </a:prstGeom>
          <a:solidFill>
            <a:srgbClr val="EFE8F6"/>
          </a:solidFill>
          <a:ln/>
        </p:spPr>
      </p:sp>
      <p:sp>
        <p:nvSpPr>
          <p:cNvPr id="60" name="Text 58"/>
          <p:cNvSpPr txBox="1"/>
          <p:nvPr/>
        </p:nvSpPr>
        <p:spPr>
          <a:xfrm>
            <a:off x="6099048" y="5422392"/>
            <a:ext cx="2176272" cy="201168"/>
          </a:xfrm>
          <a:prstGeom prst="rect">
            <a:avLst/>
          </a:prstGeom>
          <a:noFill/>
          <a:ln/>
        </p:spPr>
        <p:txBody>
          <a:bodyPr wrap="square" lIns="0" tIns="0" rIns="0" bIns="0" rtlCol="0" anchor="t"/>
          <a:lstStyle/>
          <a:p>
            <a:pPr indent="0" marL="0">
              <a:lnSpc>
                <a:spcPct val="105000"/>
              </a:lnSpc>
              <a:buNone/>
            </a:pPr>
            <a:r>
              <a:rPr lang="en-US" sz="950" b="1" dirty="0">
                <a:solidFill>
                  <a:srgbClr val="5B2A86"/>
                </a:solidFill>
                <a:latin typeface="Arial" pitchFamily="34" charset="0"/>
                <a:ea typeface="Arial" pitchFamily="34" charset="-122"/>
                <a:cs typeface="Arial" pitchFamily="34" charset="-120"/>
              </a:rPr>
              <a:t>Months 12 to 24</a:t>
            </a:r>
            <a:endParaRPr lang="en-US" sz="950" dirty="0"/>
          </a:p>
        </p:txBody>
      </p:sp>
      <p:sp>
        <p:nvSpPr>
          <p:cNvPr id="61" name="Text 59"/>
          <p:cNvSpPr txBox="1"/>
          <p:nvPr/>
        </p:nvSpPr>
        <p:spPr>
          <a:xfrm>
            <a:off x="6099048" y="5623560"/>
            <a:ext cx="2176272" cy="530352"/>
          </a:xfrm>
          <a:prstGeom prst="rect">
            <a:avLst/>
          </a:prstGeom>
          <a:noFill/>
          <a:ln/>
        </p:spPr>
        <p:txBody>
          <a:bodyPr wrap="square" lIns="0" tIns="0" rIns="0" bIns="0" rtlCol="0" anchor="t"/>
          <a:lstStyle/>
          <a:p>
            <a:pPr indent="0" marL="0">
              <a:lnSpc>
                <a:spcPct val="102000"/>
              </a:lnSpc>
              <a:buNone/>
            </a:pPr>
            <a:r>
              <a:rPr lang="en-US" sz="900" dirty="0">
                <a:solidFill>
                  <a:srgbClr val="17131D"/>
                </a:solidFill>
                <a:latin typeface="Arial" pitchFamily="34" charset="0"/>
                <a:ea typeface="Arial" pitchFamily="34" charset="-122"/>
                <a:cs typeface="Arial" pitchFamily="34" charset="-120"/>
              </a:rPr>
              <a:t>shared deployment across chemical clusters [3][4]</a:t>
            </a:r>
            <a:endParaRPr lang="en-US" sz="900" dirty="0"/>
          </a:p>
        </p:txBody>
      </p:sp>
      <p:sp>
        <p:nvSpPr>
          <p:cNvPr id="62" name="Shape 60"/>
          <p:cNvSpPr/>
          <p:nvPr/>
        </p:nvSpPr>
        <p:spPr>
          <a:xfrm>
            <a:off x="8705088" y="5349240"/>
            <a:ext cx="2983687" cy="841248"/>
          </a:xfrm>
          <a:prstGeom prst="rect">
            <a:avLst/>
          </a:prstGeom>
          <a:solidFill>
            <a:srgbClr val="FFFFFF"/>
          </a:solidFill>
          <a:ln w="15875">
            <a:solidFill>
              <a:srgbClr val="5B2A86"/>
            </a:solidFill>
            <a:prstDash val="solid"/>
          </a:ln>
        </p:spPr>
      </p:sp>
      <p:sp>
        <p:nvSpPr>
          <p:cNvPr id="63" name="Text 61"/>
          <p:cNvSpPr txBox="1"/>
          <p:nvPr/>
        </p:nvSpPr>
        <p:spPr>
          <a:xfrm>
            <a:off x="8833104" y="5413248"/>
            <a:ext cx="2286000" cy="182880"/>
          </a:xfrm>
          <a:prstGeom prst="rect">
            <a:avLst/>
          </a:prstGeom>
          <a:noFill/>
          <a:ln/>
        </p:spPr>
        <p:txBody>
          <a:bodyPr wrap="square" lIns="0" tIns="0" rIns="0" bIns="0" rtlCol="0" anchor="t"/>
          <a:lstStyle/>
          <a:p>
            <a:pPr indent="0" marL="0">
              <a:lnSpc>
                <a:spcPct val="105000"/>
              </a:lnSpc>
              <a:buNone/>
            </a:pPr>
            <a:r>
              <a:rPr lang="en-US" sz="950" b="1" dirty="0">
                <a:solidFill>
                  <a:srgbClr val="5B2A86"/>
                </a:solidFill>
                <a:latin typeface="Arial" pitchFamily="34" charset="0"/>
                <a:ea typeface="Arial" pitchFamily="34" charset="-122"/>
                <a:cs typeface="Arial" pitchFamily="34" charset="-120"/>
              </a:rPr>
              <a:t>Pilot requirement</a:t>
            </a:r>
            <a:endParaRPr lang="en-US" sz="950" dirty="0"/>
          </a:p>
        </p:txBody>
      </p:sp>
      <p:sp>
        <p:nvSpPr>
          <p:cNvPr id="64" name="Text 62"/>
          <p:cNvSpPr txBox="1"/>
          <p:nvPr/>
        </p:nvSpPr>
        <p:spPr>
          <a:xfrm>
            <a:off x="8833104" y="5605272"/>
            <a:ext cx="2727655" cy="548640"/>
          </a:xfrm>
          <a:prstGeom prst="rect">
            <a:avLst/>
          </a:prstGeom>
          <a:noFill/>
          <a:ln/>
        </p:spPr>
        <p:txBody>
          <a:bodyPr wrap="square" lIns="0" tIns="0" rIns="0" bIns="0" rtlCol="0" anchor="t"/>
          <a:lstStyle/>
          <a:p>
            <a:pPr indent="0" marL="0">
              <a:lnSpc>
                <a:spcPct val="105000"/>
              </a:lnSpc>
              <a:buNone/>
            </a:pPr>
            <a:r>
              <a:rPr lang="en-US" sz="900" dirty="0">
                <a:solidFill>
                  <a:srgbClr val="17131D"/>
                </a:solidFill>
                <a:latin typeface="Arial" pitchFamily="34" charset="0"/>
                <a:ea typeface="Arial" pitchFamily="34" charset="-122"/>
                <a:cs typeface="Arial" pitchFamily="34" charset="-120"/>
              </a:rPr>
              <a:t>one plant partner · 25 critical pumps · historical CMMS data · six months of site access</a:t>
            </a:r>
            <a:endParaRPr lang="en-US" sz="900" dirty="0"/>
          </a:p>
        </p:txBody>
      </p:sp>
      <p:sp>
        <p:nvSpPr>
          <p:cNvPr id="65" name="Text 63"/>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850" dirty="0">
                <a:solidFill>
                  <a:srgbClr val="625D68"/>
                </a:solidFill>
                <a:latin typeface="Arial" pitchFamily="34" charset="0"/>
                <a:ea typeface="Arial" pitchFamily="34" charset="-122"/>
                <a:cs typeface="Arial" pitchFamily="34" charset="-120"/>
              </a:rPr>
              <a:t>India Chem 2026 · NIT Warangal</a:t>
            </a:r>
            <a:endParaRPr lang="en-US" sz="850" dirty="0"/>
          </a:p>
        </p:txBody>
      </p:sp>
      <p:sp>
        <p:nvSpPr>
          <p:cNvPr id="66" name="Text 64"/>
          <p:cNvSpPr txBox="1"/>
          <p:nvPr/>
        </p:nvSpPr>
        <p:spPr>
          <a:xfrm>
            <a:off x="10957255" y="6583680"/>
            <a:ext cx="731520" cy="182880"/>
          </a:xfrm>
          <a:prstGeom prst="rect">
            <a:avLst/>
          </a:prstGeom>
          <a:noFill/>
          <a:ln/>
        </p:spPr>
        <p:txBody>
          <a:bodyPr wrap="square" lIns="0" tIns="0" rIns="0" bIns="0" rtlCol="0" anchor="ctr"/>
          <a:lstStyle/>
          <a:p>
            <a:pPr algn="r" indent="0" marL="0">
              <a:buNone/>
            </a:pPr>
            <a:r>
              <a:rPr lang="en-US" sz="850" dirty="0">
                <a:solidFill>
                  <a:srgbClr val="625D68"/>
                </a:solidFill>
                <a:latin typeface="Arial" pitchFamily="34" charset="0"/>
                <a:ea typeface="Arial" pitchFamily="34" charset="-122"/>
                <a:cs typeface="Arial" pitchFamily="34" charset="-120"/>
              </a:rPr>
              <a:t>6 / 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5486400" cy="201168"/>
          </a:xfrm>
          <a:prstGeom prst="rect">
            <a:avLst/>
          </a:prstGeom>
          <a:noFill/>
          <a:ln/>
        </p:spPr>
        <p:txBody>
          <a:bodyPr wrap="square" lIns="0" tIns="0" rIns="0" bIns="0" rtlCol="0" anchor="ctr"/>
          <a:lstStyle/>
          <a:p>
            <a:pPr indent="0" marL="0">
              <a:buNone/>
            </a:pPr>
            <a:r>
              <a:rPr lang="en-US" sz="1000" b="1" dirty="0">
                <a:solidFill>
                  <a:srgbClr val="7A4AA5"/>
                </a:solidFill>
                <a:latin typeface="Arial" pitchFamily="34" charset="0"/>
                <a:ea typeface="Arial" pitchFamily="34" charset="-122"/>
                <a:cs typeface="Arial" pitchFamily="34" charset="-120"/>
              </a:rPr>
              <a:t>Economic feasibility and risks</a:t>
            </a:r>
            <a:endParaRPr lang="en-US" sz="1000" dirty="0"/>
          </a:p>
        </p:txBody>
      </p:sp>
      <p:sp>
        <p:nvSpPr>
          <p:cNvPr id="3" name="Text 1"/>
          <p:cNvSpPr txBox="1"/>
          <p:nvPr/>
        </p:nvSpPr>
        <p:spPr>
          <a:xfrm>
            <a:off x="502920" y="420624"/>
            <a:ext cx="11185855" cy="731520"/>
          </a:xfrm>
          <a:prstGeom prst="rect">
            <a:avLst/>
          </a:prstGeom>
          <a:noFill/>
          <a:ln/>
        </p:spPr>
        <p:txBody>
          <a:bodyPr wrap="square" lIns="0" tIns="0" rIns="0" bIns="0" rtlCol="0" anchor="t"/>
          <a:lstStyle/>
          <a:p>
            <a:pPr indent="0" marL="0">
              <a:lnSpc>
                <a:spcPct val="103000"/>
              </a:lnSpc>
              <a:buNone/>
            </a:pPr>
            <a:r>
              <a:rPr lang="en-US" sz="2600" b="1" dirty="0">
                <a:solidFill>
                  <a:srgbClr val="17131D"/>
                </a:solidFill>
                <a:latin typeface="Arial" pitchFamily="34" charset="0"/>
                <a:ea typeface="Arial" pitchFamily="34" charset="-122"/>
                <a:cs typeface="Arial" pitchFamily="34" charset="-120"/>
              </a:rPr>
              <a:t>The base case pays back in </a:t>
            </a:r>
            <a:pPr indent="0" marL="0">
              <a:lnSpc>
                <a:spcPct val="103000"/>
              </a:lnSpc>
              <a:buNone/>
            </a:pPr>
            <a:r>
              <a:rPr lang="en-US" sz="2600" b="1" dirty="0">
                <a:solidFill>
                  <a:srgbClr val="5B2A86"/>
                </a:solidFill>
                <a:latin typeface="Arial" pitchFamily="34" charset="0"/>
                <a:ea typeface="Arial" pitchFamily="34" charset="-122"/>
                <a:cs typeface="Arial" pitchFamily="34" charset="-120"/>
              </a:rPr>
              <a:t>11 months</a:t>
            </a:r>
            <a:pPr indent="0" marL="0">
              <a:lnSpc>
                <a:spcPct val="103000"/>
              </a:lnSpc>
              <a:buNone/>
            </a:pPr>
            <a:r>
              <a:rPr lang="en-US" sz="2600" b="1" dirty="0">
                <a:solidFill>
                  <a:srgbClr val="17131D"/>
                </a:solidFill>
                <a:latin typeface="Arial" pitchFamily="34" charset="0"/>
                <a:ea typeface="Arial" pitchFamily="34" charset="-122"/>
                <a:cs typeface="Arial" pitchFamily="34" charset="-120"/>
              </a:rPr>
              <a:t>, with a 24-month downside case</a:t>
            </a:r>
            <a:endParaRPr lang="en-US" sz="2600" dirty="0"/>
          </a:p>
        </p:txBody>
      </p:sp>
      <p:sp>
        <p:nvSpPr>
          <p:cNvPr id="4" name="Text 2"/>
          <p:cNvSpPr txBox="1"/>
          <p:nvPr/>
        </p:nvSpPr>
        <p:spPr>
          <a:xfrm>
            <a:off x="502920" y="1280160"/>
            <a:ext cx="2522144" cy="347472"/>
          </a:xfrm>
          <a:prstGeom prst="rect">
            <a:avLst/>
          </a:prstGeom>
          <a:noFill/>
          <a:ln/>
        </p:spPr>
        <p:txBody>
          <a:bodyPr wrap="square" lIns="0" tIns="0" rIns="0" bIns="0" rtlCol="0" anchor="t"/>
          <a:lstStyle/>
          <a:p>
            <a:pPr indent="0" marL="0">
              <a:lnSpc>
                <a:spcPct val="105000"/>
              </a:lnSpc>
              <a:buNone/>
            </a:pPr>
            <a:r>
              <a:rPr lang="en-US" sz="2100" b="1" dirty="0">
                <a:solidFill>
                  <a:srgbClr val="5B2A86"/>
                </a:solidFill>
                <a:latin typeface="Arial" pitchFamily="34" charset="0"/>
                <a:ea typeface="Arial" pitchFamily="34" charset="-122"/>
                <a:cs typeface="Arial" pitchFamily="34" charset="-120"/>
              </a:rPr>
              <a:t>₹37 lakh</a:t>
            </a:r>
            <a:endParaRPr lang="en-US" sz="2100" dirty="0"/>
          </a:p>
        </p:txBody>
      </p:sp>
      <p:sp>
        <p:nvSpPr>
          <p:cNvPr id="5" name="Text 3"/>
          <p:cNvSpPr txBox="1"/>
          <p:nvPr/>
        </p:nvSpPr>
        <p:spPr>
          <a:xfrm>
            <a:off x="502920" y="1645920"/>
            <a:ext cx="2476424" cy="219456"/>
          </a:xfrm>
          <a:prstGeom prst="rect">
            <a:avLst/>
          </a:prstGeom>
          <a:noFill/>
          <a:ln/>
        </p:spPr>
        <p:txBody>
          <a:bodyPr wrap="square" lIns="0" tIns="0" rIns="0" bIns="0" rtlCol="0" anchor="t"/>
          <a:lstStyle/>
          <a:p>
            <a:pPr indent="0" marL="0">
              <a:lnSpc>
                <a:spcPct val="105000"/>
              </a:lnSpc>
              <a:buNone/>
            </a:pPr>
            <a:r>
              <a:rPr lang="en-US" sz="950" dirty="0">
                <a:solidFill>
                  <a:srgbClr val="625D68"/>
                </a:solidFill>
                <a:latin typeface="Arial" pitchFamily="34" charset="0"/>
                <a:ea typeface="Arial" pitchFamily="34" charset="-122"/>
                <a:cs typeface="Arial" pitchFamily="34" charset="-120"/>
              </a:rPr>
              <a:t>estimated CapEx, 25 pumps</a:t>
            </a:r>
            <a:endParaRPr lang="en-US" sz="950" dirty="0"/>
          </a:p>
        </p:txBody>
      </p:sp>
      <p:sp>
        <p:nvSpPr>
          <p:cNvPr id="6" name="Text 4"/>
          <p:cNvSpPr txBox="1"/>
          <p:nvPr/>
        </p:nvSpPr>
        <p:spPr>
          <a:xfrm>
            <a:off x="502920" y="1883664"/>
            <a:ext cx="2476424" cy="146304"/>
          </a:xfrm>
          <a:prstGeom prst="rect">
            <a:avLst/>
          </a:prstGeom>
          <a:noFill/>
          <a:ln/>
        </p:spPr>
        <p:txBody>
          <a:bodyPr wrap="square" lIns="0" tIns="0" rIns="0" bIns="0" rtlCol="0" anchor="t"/>
          <a:lstStyle/>
          <a:p>
            <a:pPr indent="0" marL="0">
              <a:lnSpc>
                <a:spcPct val="105000"/>
              </a:lnSpc>
              <a:buNone/>
            </a:pPr>
            <a:r>
              <a:rPr lang="en-US" sz="800" dirty="0">
                <a:solidFill>
                  <a:srgbClr val="C8792A"/>
                </a:solidFill>
                <a:latin typeface="Arial" pitchFamily="34" charset="0"/>
                <a:ea typeface="Arial" pitchFamily="34" charset="-122"/>
                <a:cs typeface="Arial" pitchFamily="34" charset="-120"/>
              </a:rPr>
              <a:t>Team estimate</a:t>
            </a:r>
            <a:endParaRPr lang="en-US" sz="800" dirty="0"/>
          </a:p>
        </p:txBody>
      </p:sp>
      <p:sp>
        <p:nvSpPr>
          <p:cNvPr id="7" name="Shape 5"/>
          <p:cNvSpPr/>
          <p:nvPr/>
        </p:nvSpPr>
        <p:spPr>
          <a:xfrm>
            <a:off x="3299384" y="1325880"/>
            <a:ext cx="0" cy="777240"/>
          </a:xfrm>
          <a:prstGeom prst="line">
            <a:avLst/>
          </a:prstGeom>
          <a:noFill/>
          <a:ln w="9525">
            <a:solidFill>
              <a:srgbClr val="DED9E5"/>
            </a:solidFill>
            <a:prstDash val="solid"/>
          </a:ln>
        </p:spPr>
      </p:sp>
      <p:sp>
        <p:nvSpPr>
          <p:cNvPr id="8" name="Text 6"/>
          <p:cNvSpPr txBox="1"/>
          <p:nvPr/>
        </p:nvSpPr>
        <p:spPr>
          <a:xfrm>
            <a:off x="3500552" y="1280160"/>
            <a:ext cx="2522144" cy="347472"/>
          </a:xfrm>
          <a:prstGeom prst="rect">
            <a:avLst/>
          </a:prstGeom>
          <a:noFill/>
          <a:ln/>
        </p:spPr>
        <p:txBody>
          <a:bodyPr wrap="square" lIns="0" tIns="0" rIns="0" bIns="0" rtlCol="0" anchor="t"/>
          <a:lstStyle/>
          <a:p>
            <a:pPr indent="0" marL="0">
              <a:lnSpc>
                <a:spcPct val="105000"/>
              </a:lnSpc>
              <a:buNone/>
            </a:pPr>
            <a:r>
              <a:rPr lang="en-US" sz="2100" b="1" dirty="0">
                <a:solidFill>
                  <a:srgbClr val="5B2A86"/>
                </a:solidFill>
                <a:latin typeface="Arial" pitchFamily="34" charset="0"/>
                <a:ea typeface="Arial" pitchFamily="34" charset="-122"/>
                <a:cs typeface="Arial" pitchFamily="34" charset="-120"/>
              </a:rPr>
              <a:t>₹41.4 lakh</a:t>
            </a:r>
            <a:endParaRPr lang="en-US" sz="2100" dirty="0"/>
          </a:p>
        </p:txBody>
      </p:sp>
      <p:sp>
        <p:nvSpPr>
          <p:cNvPr id="9" name="Text 7"/>
          <p:cNvSpPr txBox="1"/>
          <p:nvPr/>
        </p:nvSpPr>
        <p:spPr>
          <a:xfrm>
            <a:off x="3500552" y="1645920"/>
            <a:ext cx="2476424" cy="219456"/>
          </a:xfrm>
          <a:prstGeom prst="rect">
            <a:avLst/>
          </a:prstGeom>
          <a:noFill/>
          <a:ln/>
        </p:spPr>
        <p:txBody>
          <a:bodyPr wrap="square" lIns="0" tIns="0" rIns="0" bIns="0" rtlCol="0" anchor="t"/>
          <a:lstStyle/>
          <a:p>
            <a:pPr indent="0" marL="0">
              <a:lnSpc>
                <a:spcPct val="105000"/>
              </a:lnSpc>
              <a:buNone/>
            </a:pPr>
            <a:r>
              <a:rPr lang="en-US" sz="950" dirty="0">
                <a:solidFill>
                  <a:srgbClr val="625D68"/>
                </a:solidFill>
                <a:latin typeface="Arial" pitchFamily="34" charset="0"/>
                <a:ea typeface="Arial" pitchFamily="34" charset="-122"/>
                <a:cs typeface="Arial" pitchFamily="34" charset="-120"/>
              </a:rPr>
              <a:t>annual net benefit, base case</a:t>
            </a:r>
            <a:endParaRPr lang="en-US" sz="950" dirty="0"/>
          </a:p>
        </p:txBody>
      </p:sp>
      <p:sp>
        <p:nvSpPr>
          <p:cNvPr id="10" name="Text 8"/>
          <p:cNvSpPr txBox="1"/>
          <p:nvPr/>
        </p:nvSpPr>
        <p:spPr>
          <a:xfrm>
            <a:off x="3500552" y="1883664"/>
            <a:ext cx="2476424" cy="146304"/>
          </a:xfrm>
          <a:prstGeom prst="rect">
            <a:avLst/>
          </a:prstGeom>
          <a:noFill/>
          <a:ln/>
        </p:spPr>
        <p:txBody>
          <a:bodyPr wrap="square" lIns="0" tIns="0" rIns="0" bIns="0" rtlCol="0" anchor="t"/>
          <a:lstStyle/>
          <a:p>
            <a:pPr indent="0" marL="0">
              <a:lnSpc>
                <a:spcPct val="105000"/>
              </a:lnSpc>
              <a:buNone/>
            </a:pPr>
            <a:r>
              <a:rPr lang="en-US" sz="800" dirty="0">
                <a:solidFill>
                  <a:srgbClr val="625D68"/>
                </a:solidFill>
                <a:latin typeface="Arial" pitchFamily="34" charset="0"/>
                <a:ea typeface="Arial" pitchFamily="34" charset="-122"/>
                <a:cs typeface="Arial" pitchFamily="34" charset="-120"/>
              </a:rPr>
              <a:t>Team calculation</a:t>
            </a:r>
            <a:endParaRPr lang="en-US" sz="800" dirty="0"/>
          </a:p>
        </p:txBody>
      </p:sp>
      <p:sp>
        <p:nvSpPr>
          <p:cNvPr id="11" name="Shape 9"/>
          <p:cNvSpPr/>
          <p:nvPr/>
        </p:nvSpPr>
        <p:spPr>
          <a:xfrm>
            <a:off x="6095848" y="1325880"/>
            <a:ext cx="0" cy="777240"/>
          </a:xfrm>
          <a:prstGeom prst="line">
            <a:avLst/>
          </a:prstGeom>
          <a:noFill/>
          <a:ln w="9525">
            <a:solidFill>
              <a:srgbClr val="DED9E5"/>
            </a:solidFill>
            <a:prstDash val="solid"/>
          </a:ln>
        </p:spPr>
      </p:sp>
      <p:sp>
        <p:nvSpPr>
          <p:cNvPr id="12" name="Text 10"/>
          <p:cNvSpPr txBox="1"/>
          <p:nvPr/>
        </p:nvSpPr>
        <p:spPr>
          <a:xfrm>
            <a:off x="6297016" y="1280160"/>
            <a:ext cx="2522144" cy="347472"/>
          </a:xfrm>
          <a:prstGeom prst="rect">
            <a:avLst/>
          </a:prstGeom>
          <a:noFill/>
          <a:ln/>
        </p:spPr>
        <p:txBody>
          <a:bodyPr wrap="square" lIns="0" tIns="0" rIns="0" bIns="0" rtlCol="0" anchor="t"/>
          <a:lstStyle/>
          <a:p>
            <a:pPr indent="0" marL="0">
              <a:lnSpc>
                <a:spcPct val="105000"/>
              </a:lnSpc>
              <a:buNone/>
            </a:pPr>
            <a:r>
              <a:rPr lang="en-US" sz="2100" b="1" dirty="0">
                <a:solidFill>
                  <a:srgbClr val="5B2A86"/>
                </a:solidFill>
                <a:latin typeface="Arial" pitchFamily="34" charset="0"/>
                <a:ea typeface="Arial" pitchFamily="34" charset="-122"/>
                <a:cs typeface="Arial" pitchFamily="34" charset="-120"/>
              </a:rPr>
              <a:t>≈11 months</a:t>
            </a:r>
            <a:endParaRPr lang="en-US" sz="2100" dirty="0"/>
          </a:p>
        </p:txBody>
      </p:sp>
      <p:sp>
        <p:nvSpPr>
          <p:cNvPr id="13" name="Text 11"/>
          <p:cNvSpPr txBox="1"/>
          <p:nvPr/>
        </p:nvSpPr>
        <p:spPr>
          <a:xfrm>
            <a:off x="6297016" y="1645920"/>
            <a:ext cx="2476424" cy="219456"/>
          </a:xfrm>
          <a:prstGeom prst="rect">
            <a:avLst/>
          </a:prstGeom>
          <a:noFill/>
          <a:ln/>
        </p:spPr>
        <p:txBody>
          <a:bodyPr wrap="square" lIns="0" tIns="0" rIns="0" bIns="0" rtlCol="0" anchor="t"/>
          <a:lstStyle/>
          <a:p>
            <a:pPr indent="0" marL="0">
              <a:lnSpc>
                <a:spcPct val="105000"/>
              </a:lnSpc>
              <a:buNone/>
            </a:pPr>
            <a:r>
              <a:rPr lang="en-US" sz="950" dirty="0">
                <a:solidFill>
                  <a:srgbClr val="625D68"/>
                </a:solidFill>
                <a:latin typeface="Arial" pitchFamily="34" charset="0"/>
                <a:ea typeface="Arial" pitchFamily="34" charset="-122"/>
                <a:cs typeface="Arial" pitchFamily="34" charset="-120"/>
              </a:rPr>
              <a:t>base-case payback</a:t>
            </a:r>
            <a:endParaRPr lang="en-US" sz="950" dirty="0"/>
          </a:p>
        </p:txBody>
      </p:sp>
      <p:sp>
        <p:nvSpPr>
          <p:cNvPr id="14" name="Text 12"/>
          <p:cNvSpPr txBox="1"/>
          <p:nvPr/>
        </p:nvSpPr>
        <p:spPr>
          <a:xfrm>
            <a:off x="6297016" y="1883664"/>
            <a:ext cx="2476424" cy="146304"/>
          </a:xfrm>
          <a:prstGeom prst="rect">
            <a:avLst/>
          </a:prstGeom>
          <a:noFill/>
          <a:ln/>
        </p:spPr>
        <p:txBody>
          <a:bodyPr wrap="square" lIns="0" tIns="0" rIns="0" bIns="0" rtlCol="0" anchor="t"/>
          <a:lstStyle/>
          <a:p>
            <a:pPr indent="0" marL="0">
              <a:lnSpc>
                <a:spcPct val="105000"/>
              </a:lnSpc>
              <a:buNone/>
            </a:pPr>
            <a:r>
              <a:rPr lang="en-US" sz="800" dirty="0">
                <a:solidFill>
                  <a:srgbClr val="625D68"/>
                </a:solidFill>
                <a:latin typeface="Arial" pitchFamily="34" charset="0"/>
                <a:ea typeface="Arial" pitchFamily="34" charset="-122"/>
                <a:cs typeface="Arial" pitchFamily="34" charset="-120"/>
              </a:rPr>
              <a:t>Team calculation</a:t>
            </a:r>
            <a:endParaRPr lang="en-US" sz="800" dirty="0"/>
          </a:p>
        </p:txBody>
      </p:sp>
      <p:sp>
        <p:nvSpPr>
          <p:cNvPr id="15" name="Shape 13"/>
          <p:cNvSpPr/>
          <p:nvPr/>
        </p:nvSpPr>
        <p:spPr>
          <a:xfrm>
            <a:off x="8892311" y="1325880"/>
            <a:ext cx="0" cy="777240"/>
          </a:xfrm>
          <a:prstGeom prst="line">
            <a:avLst/>
          </a:prstGeom>
          <a:noFill/>
          <a:ln w="9525">
            <a:solidFill>
              <a:srgbClr val="DED9E5"/>
            </a:solidFill>
            <a:prstDash val="solid"/>
          </a:ln>
        </p:spPr>
      </p:sp>
      <p:sp>
        <p:nvSpPr>
          <p:cNvPr id="16" name="Text 14"/>
          <p:cNvSpPr txBox="1"/>
          <p:nvPr/>
        </p:nvSpPr>
        <p:spPr>
          <a:xfrm>
            <a:off x="9093479" y="1280160"/>
            <a:ext cx="2522144" cy="347472"/>
          </a:xfrm>
          <a:prstGeom prst="rect">
            <a:avLst/>
          </a:prstGeom>
          <a:noFill/>
          <a:ln/>
        </p:spPr>
        <p:txBody>
          <a:bodyPr wrap="square" lIns="0" tIns="0" rIns="0" bIns="0" rtlCol="0" anchor="t"/>
          <a:lstStyle/>
          <a:p>
            <a:pPr indent="0" marL="0">
              <a:lnSpc>
                <a:spcPct val="105000"/>
              </a:lnSpc>
              <a:buNone/>
            </a:pPr>
            <a:r>
              <a:rPr lang="en-US" sz="2100" b="1" dirty="0">
                <a:solidFill>
                  <a:srgbClr val="5B2A86"/>
                </a:solidFill>
                <a:latin typeface="Arial" pitchFamily="34" charset="0"/>
                <a:ea typeface="Arial" pitchFamily="34" charset="-122"/>
                <a:cs typeface="Arial" pitchFamily="34" charset="-120"/>
              </a:rPr>
              <a:t>≈24 months</a:t>
            </a:r>
            <a:endParaRPr lang="en-US" sz="2100" dirty="0"/>
          </a:p>
        </p:txBody>
      </p:sp>
      <p:sp>
        <p:nvSpPr>
          <p:cNvPr id="17" name="Text 15"/>
          <p:cNvSpPr txBox="1"/>
          <p:nvPr/>
        </p:nvSpPr>
        <p:spPr>
          <a:xfrm>
            <a:off x="9093479" y="1645920"/>
            <a:ext cx="2476424" cy="219456"/>
          </a:xfrm>
          <a:prstGeom prst="rect">
            <a:avLst/>
          </a:prstGeom>
          <a:noFill/>
          <a:ln/>
        </p:spPr>
        <p:txBody>
          <a:bodyPr wrap="square" lIns="0" tIns="0" rIns="0" bIns="0" rtlCol="0" anchor="t"/>
          <a:lstStyle/>
          <a:p>
            <a:pPr indent="0" marL="0">
              <a:lnSpc>
                <a:spcPct val="105000"/>
              </a:lnSpc>
              <a:buNone/>
            </a:pPr>
            <a:r>
              <a:rPr lang="en-US" sz="950" dirty="0">
                <a:solidFill>
                  <a:srgbClr val="625D68"/>
                </a:solidFill>
                <a:latin typeface="Arial" pitchFamily="34" charset="0"/>
                <a:ea typeface="Arial" pitchFamily="34" charset="-122"/>
                <a:cs typeface="Arial" pitchFamily="34" charset="-120"/>
              </a:rPr>
              <a:t>stacked-downside payback</a:t>
            </a:r>
            <a:endParaRPr lang="en-US" sz="950" dirty="0"/>
          </a:p>
        </p:txBody>
      </p:sp>
      <p:sp>
        <p:nvSpPr>
          <p:cNvPr id="18" name="Text 16"/>
          <p:cNvSpPr txBox="1"/>
          <p:nvPr/>
        </p:nvSpPr>
        <p:spPr>
          <a:xfrm>
            <a:off x="9093479" y="1883664"/>
            <a:ext cx="2476424" cy="146304"/>
          </a:xfrm>
          <a:prstGeom prst="rect">
            <a:avLst/>
          </a:prstGeom>
          <a:noFill/>
          <a:ln/>
        </p:spPr>
        <p:txBody>
          <a:bodyPr wrap="square" lIns="0" tIns="0" rIns="0" bIns="0" rtlCol="0" anchor="t"/>
          <a:lstStyle/>
          <a:p>
            <a:pPr indent="0" marL="0">
              <a:lnSpc>
                <a:spcPct val="105000"/>
              </a:lnSpc>
              <a:buNone/>
            </a:pPr>
            <a:r>
              <a:rPr lang="en-US" sz="800" dirty="0">
                <a:solidFill>
                  <a:srgbClr val="625D68"/>
                </a:solidFill>
                <a:latin typeface="Arial" pitchFamily="34" charset="0"/>
                <a:ea typeface="Arial" pitchFamily="34" charset="-122"/>
                <a:cs typeface="Arial" pitchFamily="34" charset="-120"/>
              </a:rPr>
              <a:t>Team calculation</a:t>
            </a:r>
            <a:endParaRPr lang="en-US" sz="800" dirty="0"/>
          </a:p>
        </p:txBody>
      </p:sp>
      <p:sp>
        <p:nvSpPr>
          <p:cNvPr id="19" name="Shape 17"/>
          <p:cNvSpPr/>
          <p:nvPr/>
        </p:nvSpPr>
        <p:spPr>
          <a:xfrm>
            <a:off x="502920" y="2148840"/>
            <a:ext cx="11185855" cy="0"/>
          </a:xfrm>
          <a:prstGeom prst="line">
            <a:avLst/>
          </a:prstGeom>
          <a:noFill/>
          <a:ln w="12700">
            <a:solidFill>
              <a:srgbClr val="DED9E5"/>
            </a:solidFill>
            <a:prstDash val="solid"/>
          </a:ln>
        </p:spPr>
      </p:sp>
      <p:sp>
        <p:nvSpPr>
          <p:cNvPr id="20" name="Text 18"/>
          <p:cNvSpPr txBox="1"/>
          <p:nvPr/>
        </p:nvSpPr>
        <p:spPr>
          <a:xfrm>
            <a:off x="502920" y="2350008"/>
            <a:ext cx="5394960" cy="201168"/>
          </a:xfrm>
          <a:prstGeom prst="rect">
            <a:avLst/>
          </a:prstGeom>
          <a:noFill/>
          <a:ln/>
        </p:spPr>
        <p:txBody>
          <a:bodyPr wrap="square" lIns="0" tIns="0" rIns="0" bIns="0" rtlCol="0" anchor="t"/>
          <a:lstStyle/>
          <a:p>
            <a:pPr indent="0" marL="0">
              <a:lnSpc>
                <a:spcPct val="105000"/>
              </a:lnSpc>
              <a:buNone/>
            </a:pPr>
            <a:r>
              <a:rPr lang="en-US" sz="1200" b="1" dirty="0">
                <a:solidFill>
                  <a:srgbClr val="17131D"/>
                </a:solidFill>
                <a:latin typeface="Arial" pitchFamily="34" charset="0"/>
                <a:ea typeface="Arial" pitchFamily="34" charset="-122"/>
                <a:cs typeface="Arial" pitchFamily="34" charset="-120"/>
              </a:rPr>
              <a:t>Annual benefit build-up, INR lakh, base case</a:t>
            </a:r>
            <a:endParaRPr lang="en-US" sz="1200" dirty="0"/>
          </a:p>
        </p:txBody>
      </p:sp>
      <p:sp>
        <p:nvSpPr>
          <p:cNvPr id="21" name="Shape 19"/>
          <p:cNvSpPr/>
          <p:nvPr/>
        </p:nvSpPr>
        <p:spPr>
          <a:xfrm>
            <a:off x="594360" y="2912327"/>
            <a:ext cx="749808" cy="1138465"/>
          </a:xfrm>
          <a:prstGeom prst="rect">
            <a:avLst/>
          </a:prstGeom>
          <a:solidFill>
            <a:srgbClr val="7A4AA5"/>
          </a:solidFill>
          <a:ln/>
        </p:spPr>
      </p:sp>
      <p:sp>
        <p:nvSpPr>
          <p:cNvPr id="22" name="Text 20"/>
          <p:cNvSpPr txBox="1"/>
          <p:nvPr/>
        </p:nvSpPr>
        <p:spPr>
          <a:xfrm>
            <a:off x="484632" y="2711159"/>
            <a:ext cx="969264" cy="182880"/>
          </a:xfrm>
          <a:prstGeom prst="rect">
            <a:avLst/>
          </a:prstGeom>
          <a:noFill/>
          <a:ln/>
        </p:spPr>
        <p:txBody>
          <a:bodyPr wrap="square" lIns="0" tIns="0" rIns="0" bIns="0" rtlCol="0" anchor="t"/>
          <a:lstStyle/>
          <a:p>
            <a:pPr algn="ctr" indent="0" marL="0">
              <a:lnSpc>
                <a:spcPct val="105000"/>
              </a:lnSpc>
              <a:buNone/>
            </a:pPr>
            <a:r>
              <a:rPr lang="en-US" sz="950" b="1" dirty="0">
                <a:solidFill>
                  <a:srgbClr val="5B2A86"/>
                </a:solidFill>
                <a:latin typeface="Arial" pitchFamily="34" charset="0"/>
                <a:ea typeface="Arial" pitchFamily="34" charset="-122"/>
                <a:cs typeface="Arial" pitchFamily="34" charset="-120"/>
              </a:rPr>
              <a:t>+39.4</a:t>
            </a:r>
            <a:endParaRPr lang="en-US" sz="950" dirty="0"/>
          </a:p>
        </p:txBody>
      </p:sp>
      <p:sp>
        <p:nvSpPr>
          <p:cNvPr id="23" name="Text 21"/>
          <p:cNvSpPr txBox="1"/>
          <p:nvPr/>
        </p:nvSpPr>
        <p:spPr>
          <a:xfrm>
            <a:off x="429768" y="4105656"/>
            <a:ext cx="1078992" cy="502920"/>
          </a:xfrm>
          <a:prstGeom prst="rect">
            <a:avLst/>
          </a:prstGeom>
          <a:noFill/>
          <a:ln/>
        </p:spPr>
        <p:txBody>
          <a:bodyPr wrap="square" lIns="0" tIns="0" rIns="0" bIns="0" rtlCol="0" anchor="t"/>
          <a:lstStyle/>
          <a:p>
            <a:pPr algn="ctr" indent="0" marL="0">
              <a:lnSpc>
                <a:spcPct val="95000"/>
              </a:lnSpc>
              <a:buNone/>
            </a:pPr>
            <a:r>
              <a:rPr lang="en-US" sz="800" dirty="0">
                <a:solidFill>
                  <a:srgbClr val="625D68"/>
                </a:solidFill>
                <a:latin typeface="Arial" pitchFamily="34" charset="0"/>
                <a:ea typeface="Arial" pitchFamily="34" charset="-122"/>
                <a:cs typeface="Arial" pitchFamily="34" charset="-120"/>
              </a:rPr>
              <a:t>Avoided downtime value [2]</a:t>
            </a:r>
            <a:endParaRPr lang="en-US" sz="800" dirty="0"/>
          </a:p>
        </p:txBody>
      </p:sp>
      <p:sp>
        <p:nvSpPr>
          <p:cNvPr id="24" name="Shape 22"/>
          <p:cNvSpPr/>
          <p:nvPr/>
        </p:nvSpPr>
        <p:spPr>
          <a:xfrm>
            <a:off x="1344168" y="2912327"/>
            <a:ext cx="292608" cy="0"/>
          </a:xfrm>
          <a:prstGeom prst="line">
            <a:avLst/>
          </a:prstGeom>
          <a:noFill/>
          <a:ln w="9525">
            <a:solidFill>
              <a:srgbClr val="625D68"/>
            </a:solidFill>
            <a:prstDash val="dash"/>
          </a:ln>
        </p:spPr>
      </p:sp>
      <p:sp>
        <p:nvSpPr>
          <p:cNvPr id="25" name="Shape 23"/>
          <p:cNvSpPr/>
          <p:nvPr/>
        </p:nvSpPr>
        <p:spPr>
          <a:xfrm>
            <a:off x="1636776" y="2825642"/>
            <a:ext cx="749808" cy="86685"/>
          </a:xfrm>
          <a:prstGeom prst="rect">
            <a:avLst/>
          </a:prstGeom>
          <a:solidFill>
            <a:srgbClr val="7A4AA5"/>
          </a:solidFill>
          <a:ln/>
        </p:spPr>
      </p:sp>
      <p:sp>
        <p:nvSpPr>
          <p:cNvPr id="26" name="Text 24"/>
          <p:cNvSpPr txBox="1"/>
          <p:nvPr/>
        </p:nvSpPr>
        <p:spPr>
          <a:xfrm>
            <a:off x="1527048" y="2624474"/>
            <a:ext cx="969264" cy="182880"/>
          </a:xfrm>
          <a:prstGeom prst="rect">
            <a:avLst/>
          </a:prstGeom>
          <a:noFill/>
          <a:ln/>
        </p:spPr>
        <p:txBody>
          <a:bodyPr wrap="square" lIns="0" tIns="0" rIns="0" bIns="0" rtlCol="0" anchor="t"/>
          <a:lstStyle/>
          <a:p>
            <a:pPr algn="ctr" indent="0" marL="0">
              <a:lnSpc>
                <a:spcPct val="105000"/>
              </a:lnSpc>
              <a:buNone/>
            </a:pPr>
            <a:r>
              <a:rPr lang="en-US" sz="950" b="1" dirty="0">
                <a:solidFill>
                  <a:srgbClr val="5B2A86"/>
                </a:solidFill>
                <a:latin typeface="Arial" pitchFamily="34" charset="0"/>
                <a:ea typeface="Arial" pitchFamily="34" charset="-122"/>
                <a:cs typeface="Arial" pitchFamily="34" charset="-120"/>
              </a:rPr>
              <a:t>+3.0</a:t>
            </a:r>
            <a:endParaRPr lang="en-US" sz="950" dirty="0"/>
          </a:p>
        </p:txBody>
      </p:sp>
      <p:sp>
        <p:nvSpPr>
          <p:cNvPr id="27" name="Text 25"/>
          <p:cNvSpPr txBox="1"/>
          <p:nvPr/>
        </p:nvSpPr>
        <p:spPr>
          <a:xfrm>
            <a:off x="1472184" y="4105656"/>
            <a:ext cx="1078992" cy="502920"/>
          </a:xfrm>
          <a:prstGeom prst="rect">
            <a:avLst/>
          </a:prstGeom>
          <a:noFill/>
          <a:ln/>
        </p:spPr>
        <p:txBody>
          <a:bodyPr wrap="square" lIns="0" tIns="0" rIns="0" bIns="0" rtlCol="0" anchor="t"/>
          <a:lstStyle/>
          <a:p>
            <a:pPr algn="ctr" indent="0" marL="0">
              <a:lnSpc>
                <a:spcPct val="95000"/>
              </a:lnSpc>
              <a:buNone/>
            </a:pPr>
            <a:r>
              <a:rPr lang="en-US" sz="800" dirty="0">
                <a:solidFill>
                  <a:srgbClr val="625D68"/>
                </a:solidFill>
                <a:latin typeface="Arial" pitchFamily="34" charset="0"/>
                <a:ea typeface="Arial" pitchFamily="34" charset="-122"/>
                <a:cs typeface="Arial" pitchFamily="34" charset="-120"/>
              </a:rPr>
              <a:t>Repair savings [2]</a:t>
            </a:r>
            <a:endParaRPr lang="en-US" sz="800" dirty="0"/>
          </a:p>
        </p:txBody>
      </p:sp>
      <p:sp>
        <p:nvSpPr>
          <p:cNvPr id="28" name="Shape 26"/>
          <p:cNvSpPr/>
          <p:nvPr/>
        </p:nvSpPr>
        <p:spPr>
          <a:xfrm>
            <a:off x="2386584" y="2825642"/>
            <a:ext cx="292608" cy="0"/>
          </a:xfrm>
          <a:prstGeom prst="line">
            <a:avLst/>
          </a:prstGeom>
          <a:noFill/>
          <a:ln w="9525">
            <a:solidFill>
              <a:srgbClr val="625D68"/>
            </a:solidFill>
            <a:prstDash val="dash"/>
          </a:ln>
        </p:spPr>
      </p:sp>
      <p:sp>
        <p:nvSpPr>
          <p:cNvPr id="29" name="Shape 27"/>
          <p:cNvSpPr/>
          <p:nvPr/>
        </p:nvSpPr>
        <p:spPr>
          <a:xfrm>
            <a:off x="2679192" y="2681167"/>
            <a:ext cx="749808" cy="144475"/>
          </a:xfrm>
          <a:prstGeom prst="rect">
            <a:avLst/>
          </a:prstGeom>
          <a:solidFill>
            <a:srgbClr val="7A4AA5"/>
          </a:solidFill>
          <a:ln/>
        </p:spPr>
      </p:sp>
      <p:sp>
        <p:nvSpPr>
          <p:cNvPr id="30" name="Text 28"/>
          <p:cNvSpPr txBox="1"/>
          <p:nvPr/>
        </p:nvSpPr>
        <p:spPr>
          <a:xfrm>
            <a:off x="2569464" y="2479999"/>
            <a:ext cx="969264" cy="182880"/>
          </a:xfrm>
          <a:prstGeom prst="rect">
            <a:avLst/>
          </a:prstGeom>
          <a:noFill/>
          <a:ln/>
        </p:spPr>
        <p:txBody>
          <a:bodyPr wrap="square" lIns="0" tIns="0" rIns="0" bIns="0" rtlCol="0" anchor="t"/>
          <a:lstStyle/>
          <a:p>
            <a:pPr algn="ctr" indent="0" marL="0">
              <a:lnSpc>
                <a:spcPct val="105000"/>
              </a:lnSpc>
              <a:buNone/>
            </a:pPr>
            <a:r>
              <a:rPr lang="en-US" sz="950" b="1" dirty="0">
                <a:solidFill>
                  <a:srgbClr val="5B2A86"/>
                </a:solidFill>
                <a:latin typeface="Arial" pitchFamily="34" charset="0"/>
                <a:ea typeface="Arial" pitchFamily="34" charset="-122"/>
                <a:cs typeface="Arial" pitchFamily="34" charset="-120"/>
              </a:rPr>
              <a:t>+5.0</a:t>
            </a:r>
            <a:endParaRPr lang="en-US" sz="950" dirty="0"/>
          </a:p>
        </p:txBody>
      </p:sp>
      <p:sp>
        <p:nvSpPr>
          <p:cNvPr id="31" name="Text 29"/>
          <p:cNvSpPr txBox="1"/>
          <p:nvPr/>
        </p:nvSpPr>
        <p:spPr>
          <a:xfrm>
            <a:off x="2514600" y="4105656"/>
            <a:ext cx="1078992" cy="502920"/>
          </a:xfrm>
          <a:prstGeom prst="rect">
            <a:avLst/>
          </a:prstGeom>
          <a:noFill/>
          <a:ln/>
        </p:spPr>
        <p:txBody>
          <a:bodyPr wrap="square" lIns="0" tIns="0" rIns="0" bIns="0" rtlCol="0" anchor="t"/>
          <a:lstStyle/>
          <a:p>
            <a:pPr algn="ctr" indent="0" marL="0">
              <a:lnSpc>
                <a:spcPct val="95000"/>
              </a:lnSpc>
              <a:buNone/>
            </a:pPr>
            <a:r>
              <a:rPr lang="en-US" sz="800" dirty="0">
                <a:solidFill>
                  <a:srgbClr val="625D68"/>
                </a:solidFill>
                <a:latin typeface="Arial" pitchFamily="34" charset="0"/>
                <a:ea typeface="Arial" pitchFamily="34" charset="-122"/>
                <a:cs typeface="Arial" pitchFamily="34" charset="-120"/>
              </a:rPr>
              <a:t>Avoided severe failures</a:t>
            </a:r>
            <a:endParaRPr lang="en-US" sz="800" dirty="0"/>
          </a:p>
        </p:txBody>
      </p:sp>
      <p:sp>
        <p:nvSpPr>
          <p:cNvPr id="32" name="Shape 30"/>
          <p:cNvSpPr/>
          <p:nvPr/>
        </p:nvSpPr>
        <p:spPr>
          <a:xfrm>
            <a:off x="3429000" y="2681167"/>
            <a:ext cx="292608" cy="0"/>
          </a:xfrm>
          <a:prstGeom prst="line">
            <a:avLst/>
          </a:prstGeom>
          <a:noFill/>
          <a:ln w="9525">
            <a:solidFill>
              <a:srgbClr val="625D68"/>
            </a:solidFill>
            <a:prstDash val="dash"/>
          </a:ln>
        </p:spPr>
      </p:sp>
      <p:sp>
        <p:nvSpPr>
          <p:cNvPr id="33" name="Shape 31"/>
          <p:cNvSpPr/>
          <p:nvPr/>
        </p:nvSpPr>
        <p:spPr>
          <a:xfrm>
            <a:off x="3721608" y="2681167"/>
            <a:ext cx="749808" cy="173370"/>
          </a:xfrm>
          <a:prstGeom prst="rect">
            <a:avLst/>
          </a:prstGeom>
          <a:solidFill>
            <a:srgbClr val="C8792A"/>
          </a:solidFill>
          <a:ln/>
        </p:spPr>
      </p:sp>
      <p:sp>
        <p:nvSpPr>
          <p:cNvPr id="34" name="Text 32"/>
          <p:cNvSpPr txBox="1"/>
          <p:nvPr/>
        </p:nvSpPr>
        <p:spPr>
          <a:xfrm>
            <a:off x="3611880" y="2479999"/>
            <a:ext cx="969264" cy="182880"/>
          </a:xfrm>
          <a:prstGeom prst="rect">
            <a:avLst/>
          </a:prstGeom>
          <a:noFill/>
          <a:ln/>
        </p:spPr>
        <p:txBody>
          <a:bodyPr wrap="square" lIns="0" tIns="0" rIns="0" bIns="0" rtlCol="0" anchor="t"/>
          <a:lstStyle/>
          <a:p>
            <a:pPr algn="ctr" indent="0" marL="0">
              <a:lnSpc>
                <a:spcPct val="105000"/>
              </a:lnSpc>
              <a:buNone/>
            </a:pPr>
            <a:r>
              <a:rPr lang="en-US" sz="950" b="1" dirty="0">
                <a:solidFill>
                  <a:srgbClr val="C8792A"/>
                </a:solidFill>
                <a:latin typeface="Arial" pitchFamily="34" charset="0"/>
                <a:ea typeface="Arial" pitchFamily="34" charset="-122"/>
                <a:cs typeface="Arial" pitchFamily="34" charset="-120"/>
              </a:rPr>
              <a:t>-6.0</a:t>
            </a:r>
            <a:endParaRPr lang="en-US" sz="950" dirty="0"/>
          </a:p>
        </p:txBody>
      </p:sp>
      <p:sp>
        <p:nvSpPr>
          <p:cNvPr id="35" name="Text 33"/>
          <p:cNvSpPr txBox="1"/>
          <p:nvPr/>
        </p:nvSpPr>
        <p:spPr>
          <a:xfrm>
            <a:off x="3557016" y="4105656"/>
            <a:ext cx="1078992" cy="502920"/>
          </a:xfrm>
          <a:prstGeom prst="rect">
            <a:avLst/>
          </a:prstGeom>
          <a:noFill/>
          <a:ln/>
        </p:spPr>
        <p:txBody>
          <a:bodyPr wrap="square" lIns="0" tIns="0" rIns="0" bIns="0" rtlCol="0" anchor="t"/>
          <a:lstStyle/>
          <a:p>
            <a:pPr algn="ctr" indent="0" marL="0">
              <a:lnSpc>
                <a:spcPct val="95000"/>
              </a:lnSpc>
              <a:buNone/>
            </a:pPr>
            <a:r>
              <a:rPr lang="en-US" sz="800" dirty="0">
                <a:solidFill>
                  <a:srgbClr val="625D68"/>
                </a:solidFill>
                <a:latin typeface="Arial" pitchFamily="34" charset="0"/>
                <a:ea typeface="Arial" pitchFamily="34" charset="-122"/>
                <a:cs typeface="Arial" pitchFamily="34" charset="-120"/>
              </a:rPr>
              <a:t>Annual OpEx</a:t>
            </a:r>
            <a:endParaRPr lang="en-US" sz="800" dirty="0"/>
          </a:p>
        </p:txBody>
      </p:sp>
      <p:sp>
        <p:nvSpPr>
          <p:cNvPr id="36" name="Shape 34"/>
          <p:cNvSpPr/>
          <p:nvPr/>
        </p:nvSpPr>
        <p:spPr>
          <a:xfrm>
            <a:off x="4471416" y="2854537"/>
            <a:ext cx="292608" cy="0"/>
          </a:xfrm>
          <a:prstGeom prst="line">
            <a:avLst/>
          </a:prstGeom>
          <a:noFill/>
          <a:ln w="9525">
            <a:solidFill>
              <a:srgbClr val="625D68"/>
            </a:solidFill>
            <a:prstDash val="dash"/>
          </a:ln>
        </p:spPr>
      </p:sp>
      <p:sp>
        <p:nvSpPr>
          <p:cNvPr id="37" name="Shape 35"/>
          <p:cNvSpPr/>
          <p:nvPr/>
        </p:nvSpPr>
        <p:spPr>
          <a:xfrm>
            <a:off x="4764024" y="2854537"/>
            <a:ext cx="749808" cy="1196255"/>
          </a:xfrm>
          <a:prstGeom prst="rect">
            <a:avLst/>
          </a:prstGeom>
          <a:solidFill>
            <a:srgbClr val="5B2A86"/>
          </a:solidFill>
          <a:ln/>
        </p:spPr>
      </p:sp>
      <p:sp>
        <p:nvSpPr>
          <p:cNvPr id="38" name="Text 36"/>
          <p:cNvSpPr txBox="1"/>
          <p:nvPr/>
        </p:nvSpPr>
        <p:spPr>
          <a:xfrm>
            <a:off x="4654296" y="2653369"/>
            <a:ext cx="969264" cy="182880"/>
          </a:xfrm>
          <a:prstGeom prst="rect">
            <a:avLst/>
          </a:prstGeom>
          <a:noFill/>
          <a:ln/>
        </p:spPr>
        <p:txBody>
          <a:bodyPr wrap="square" lIns="0" tIns="0" rIns="0" bIns="0" rtlCol="0" anchor="t"/>
          <a:lstStyle/>
          <a:p>
            <a:pPr algn="ctr" indent="0" marL="0">
              <a:lnSpc>
                <a:spcPct val="105000"/>
              </a:lnSpc>
              <a:buNone/>
            </a:pPr>
            <a:r>
              <a:rPr lang="en-US" sz="950" b="1" dirty="0">
                <a:solidFill>
                  <a:srgbClr val="5B2A86"/>
                </a:solidFill>
                <a:latin typeface="Arial" pitchFamily="34" charset="0"/>
                <a:ea typeface="Arial" pitchFamily="34" charset="-122"/>
                <a:cs typeface="Arial" pitchFamily="34" charset="-120"/>
              </a:rPr>
              <a:t>+41.4</a:t>
            </a:r>
            <a:endParaRPr lang="en-US" sz="950" dirty="0"/>
          </a:p>
        </p:txBody>
      </p:sp>
      <p:sp>
        <p:nvSpPr>
          <p:cNvPr id="39" name="Text 37"/>
          <p:cNvSpPr txBox="1"/>
          <p:nvPr/>
        </p:nvSpPr>
        <p:spPr>
          <a:xfrm>
            <a:off x="4599432" y="4105656"/>
            <a:ext cx="1078992" cy="502920"/>
          </a:xfrm>
          <a:prstGeom prst="rect">
            <a:avLst/>
          </a:prstGeom>
          <a:noFill/>
          <a:ln/>
        </p:spPr>
        <p:txBody>
          <a:bodyPr wrap="square" lIns="0" tIns="0" rIns="0" bIns="0" rtlCol="0" anchor="t"/>
          <a:lstStyle/>
          <a:p>
            <a:pPr algn="ctr" indent="0" marL="0">
              <a:lnSpc>
                <a:spcPct val="95000"/>
              </a:lnSpc>
              <a:buNone/>
            </a:pPr>
            <a:r>
              <a:rPr lang="en-US" sz="800" dirty="0">
                <a:solidFill>
                  <a:srgbClr val="625D68"/>
                </a:solidFill>
                <a:latin typeface="Arial" pitchFamily="34" charset="0"/>
                <a:ea typeface="Arial" pitchFamily="34" charset="-122"/>
                <a:cs typeface="Arial" pitchFamily="34" charset="-120"/>
              </a:rPr>
              <a:t>Net annual benefit</a:t>
            </a:r>
            <a:endParaRPr lang="en-US" sz="800" dirty="0"/>
          </a:p>
        </p:txBody>
      </p:sp>
      <p:sp>
        <p:nvSpPr>
          <p:cNvPr id="40" name="Shape 38"/>
          <p:cNvSpPr/>
          <p:nvPr/>
        </p:nvSpPr>
        <p:spPr>
          <a:xfrm>
            <a:off x="502920" y="4050792"/>
            <a:ext cx="4846320" cy="0"/>
          </a:xfrm>
          <a:prstGeom prst="line">
            <a:avLst/>
          </a:prstGeom>
          <a:noFill/>
          <a:ln w="12700">
            <a:solidFill>
              <a:srgbClr val="625D68"/>
            </a:solidFill>
            <a:prstDash val="solid"/>
          </a:ln>
        </p:spPr>
      </p:sp>
      <p:sp>
        <p:nvSpPr>
          <p:cNvPr id="41" name="Text 39"/>
          <p:cNvSpPr txBox="1"/>
          <p:nvPr/>
        </p:nvSpPr>
        <p:spPr>
          <a:xfrm>
            <a:off x="502920" y="4581144"/>
            <a:ext cx="5394960" cy="182880"/>
          </a:xfrm>
          <a:prstGeom prst="rect">
            <a:avLst/>
          </a:prstGeom>
          <a:noFill/>
          <a:ln/>
        </p:spPr>
        <p:txBody>
          <a:bodyPr wrap="square" lIns="0" tIns="0" rIns="0" bIns="0" rtlCol="0" anchor="t"/>
          <a:lstStyle/>
          <a:p>
            <a:pPr indent="0" marL="0">
              <a:lnSpc>
                <a:spcPct val="105000"/>
              </a:lnSpc>
              <a:buNone/>
            </a:pPr>
            <a:r>
              <a:rPr lang="en-US" sz="850" dirty="0">
                <a:solidFill>
                  <a:srgbClr val="625D68"/>
                </a:solidFill>
                <a:latin typeface="Arial" pitchFamily="34" charset="0"/>
                <a:ea typeface="Arial" pitchFamily="34" charset="-122"/>
                <a:cs typeface="Arial" pitchFamily="34" charset="-120"/>
              </a:rPr>
              <a:t>downtime reduction taken at 35%, the low end of the DOE FEMP range [2]</a:t>
            </a:r>
            <a:endParaRPr lang="en-US" sz="850" dirty="0"/>
          </a:p>
        </p:txBody>
      </p:sp>
      <p:sp>
        <p:nvSpPr>
          <p:cNvPr id="42" name="Text 40"/>
          <p:cNvSpPr txBox="1"/>
          <p:nvPr/>
        </p:nvSpPr>
        <p:spPr>
          <a:xfrm>
            <a:off x="6400800" y="2350008"/>
            <a:ext cx="5257800" cy="201168"/>
          </a:xfrm>
          <a:prstGeom prst="rect">
            <a:avLst/>
          </a:prstGeom>
          <a:noFill/>
          <a:ln/>
        </p:spPr>
        <p:txBody>
          <a:bodyPr wrap="square" lIns="0" tIns="0" rIns="0" bIns="0" rtlCol="0" anchor="t"/>
          <a:lstStyle/>
          <a:p>
            <a:pPr indent="0" marL="0">
              <a:lnSpc>
                <a:spcPct val="105000"/>
              </a:lnSpc>
              <a:buNone/>
            </a:pPr>
            <a:r>
              <a:rPr lang="en-US" sz="1200" b="1" dirty="0">
                <a:solidFill>
                  <a:srgbClr val="17131D"/>
                </a:solidFill>
                <a:latin typeface="Arial" pitchFamily="34" charset="0"/>
                <a:ea typeface="Arial" pitchFamily="34" charset="-122"/>
                <a:cs typeface="Arial" pitchFamily="34" charset="-120"/>
              </a:rPr>
              <a:t>Payback sensitivity, months</a:t>
            </a:r>
            <a:endParaRPr lang="en-US" sz="1200" dirty="0"/>
          </a:p>
        </p:txBody>
      </p:sp>
      <p:sp>
        <p:nvSpPr>
          <p:cNvPr id="43" name="Text 41"/>
          <p:cNvSpPr txBox="1"/>
          <p:nvPr/>
        </p:nvSpPr>
        <p:spPr>
          <a:xfrm>
            <a:off x="6400800" y="2619756"/>
            <a:ext cx="1965960" cy="329184"/>
          </a:xfrm>
          <a:prstGeom prst="rect">
            <a:avLst/>
          </a:prstGeom>
          <a:noFill/>
          <a:ln/>
        </p:spPr>
        <p:txBody>
          <a:bodyPr wrap="square" lIns="0" tIns="0" rIns="0" bIns="0" rtlCol="0" anchor="t"/>
          <a:lstStyle/>
          <a:p>
            <a:pPr indent="0" marL="0">
              <a:lnSpc>
                <a:spcPct val="90000"/>
              </a:lnSpc>
              <a:buNone/>
            </a:pPr>
            <a:r>
              <a:rPr lang="en-US" sz="900" dirty="0">
                <a:solidFill>
                  <a:srgbClr val="17131D"/>
                </a:solidFill>
                <a:latin typeface="Arial" pitchFamily="34" charset="0"/>
                <a:ea typeface="Arial" pitchFamily="34" charset="-122"/>
                <a:cs typeface="Arial" pitchFamily="34" charset="-120"/>
              </a:rPr>
              <a:t>45% downtime reduction</a:t>
            </a:r>
            <a:endParaRPr lang="en-US" sz="900" dirty="0"/>
          </a:p>
        </p:txBody>
      </p:sp>
      <p:sp>
        <p:nvSpPr>
          <p:cNvPr id="44" name="Shape 42"/>
          <p:cNvSpPr/>
          <p:nvPr/>
        </p:nvSpPr>
        <p:spPr>
          <a:xfrm>
            <a:off x="8366760" y="2606040"/>
            <a:ext cx="901036" cy="201168"/>
          </a:xfrm>
          <a:prstGeom prst="rect">
            <a:avLst/>
          </a:prstGeom>
          <a:solidFill>
            <a:srgbClr val="2F7D69"/>
          </a:solidFill>
          <a:ln/>
        </p:spPr>
      </p:sp>
      <p:sp>
        <p:nvSpPr>
          <p:cNvPr id="45" name="Text 43"/>
          <p:cNvSpPr txBox="1"/>
          <p:nvPr/>
        </p:nvSpPr>
        <p:spPr>
          <a:xfrm>
            <a:off x="9322660" y="2601468"/>
            <a:ext cx="502920" cy="201168"/>
          </a:xfrm>
          <a:prstGeom prst="rect">
            <a:avLst/>
          </a:prstGeom>
          <a:noFill/>
          <a:ln/>
        </p:spPr>
        <p:txBody>
          <a:bodyPr wrap="square" lIns="0" tIns="0" rIns="0" bIns="0" rtlCol="0" anchor="t"/>
          <a:lstStyle/>
          <a:p>
            <a:pPr indent="0" marL="0">
              <a:lnSpc>
                <a:spcPct val="105000"/>
              </a:lnSpc>
              <a:buNone/>
            </a:pPr>
            <a:r>
              <a:rPr lang="en-US" sz="950" b="1" dirty="0">
                <a:solidFill>
                  <a:srgbClr val="2F7D69"/>
                </a:solidFill>
                <a:latin typeface="Arial" pitchFamily="34" charset="0"/>
                <a:ea typeface="Arial" pitchFamily="34" charset="-122"/>
                <a:cs typeface="Arial" pitchFamily="34" charset="-120"/>
              </a:rPr>
              <a:t>8.4</a:t>
            </a:r>
            <a:endParaRPr lang="en-US" sz="950" dirty="0"/>
          </a:p>
        </p:txBody>
      </p:sp>
      <p:sp>
        <p:nvSpPr>
          <p:cNvPr id="46" name="Text 44"/>
          <p:cNvSpPr txBox="1"/>
          <p:nvPr/>
        </p:nvSpPr>
        <p:spPr>
          <a:xfrm>
            <a:off x="6400800" y="2985516"/>
            <a:ext cx="1965960" cy="329184"/>
          </a:xfrm>
          <a:prstGeom prst="rect">
            <a:avLst/>
          </a:prstGeom>
          <a:noFill/>
          <a:ln/>
        </p:spPr>
        <p:txBody>
          <a:bodyPr wrap="square" lIns="0" tIns="0" rIns="0" bIns="0" rtlCol="0" anchor="t"/>
          <a:lstStyle/>
          <a:p>
            <a:pPr indent="0" marL="0">
              <a:lnSpc>
                <a:spcPct val="90000"/>
              </a:lnSpc>
              <a:buNone/>
            </a:pPr>
            <a:r>
              <a:rPr lang="en-US" sz="900" b="1" dirty="0">
                <a:solidFill>
                  <a:srgbClr val="5B2A86"/>
                </a:solidFill>
                <a:latin typeface="Arial" pitchFamily="34" charset="0"/>
                <a:ea typeface="Arial" pitchFamily="34" charset="-122"/>
                <a:cs typeface="Arial" pitchFamily="34" charset="-120"/>
              </a:rPr>
              <a:t>Base case</a:t>
            </a:r>
            <a:endParaRPr lang="en-US" sz="900" dirty="0"/>
          </a:p>
        </p:txBody>
      </p:sp>
      <p:sp>
        <p:nvSpPr>
          <p:cNvPr id="47" name="Shape 45"/>
          <p:cNvSpPr/>
          <p:nvPr/>
        </p:nvSpPr>
        <p:spPr>
          <a:xfrm>
            <a:off x="8366760" y="2971800"/>
            <a:ext cx="1147748" cy="201168"/>
          </a:xfrm>
          <a:prstGeom prst="rect">
            <a:avLst/>
          </a:prstGeom>
          <a:solidFill>
            <a:srgbClr val="5B2A86"/>
          </a:solidFill>
          <a:ln/>
        </p:spPr>
      </p:sp>
      <p:sp>
        <p:nvSpPr>
          <p:cNvPr id="48" name="Text 46"/>
          <p:cNvSpPr txBox="1"/>
          <p:nvPr/>
        </p:nvSpPr>
        <p:spPr>
          <a:xfrm>
            <a:off x="9569372" y="2967228"/>
            <a:ext cx="502920" cy="201168"/>
          </a:xfrm>
          <a:prstGeom prst="rect">
            <a:avLst/>
          </a:prstGeom>
          <a:noFill/>
          <a:ln/>
        </p:spPr>
        <p:txBody>
          <a:bodyPr wrap="square" lIns="0" tIns="0" rIns="0" bIns="0" rtlCol="0" anchor="t"/>
          <a:lstStyle/>
          <a:p>
            <a:pPr indent="0" marL="0">
              <a:lnSpc>
                <a:spcPct val="105000"/>
              </a:lnSpc>
              <a:buNone/>
            </a:pPr>
            <a:r>
              <a:rPr lang="en-US" sz="950" b="1" dirty="0">
                <a:solidFill>
                  <a:srgbClr val="5B2A86"/>
                </a:solidFill>
                <a:latin typeface="Arial" pitchFamily="34" charset="0"/>
                <a:ea typeface="Arial" pitchFamily="34" charset="-122"/>
                <a:cs typeface="Arial" pitchFamily="34" charset="-120"/>
              </a:rPr>
              <a:t>10.7</a:t>
            </a:r>
            <a:endParaRPr lang="en-US" sz="950" dirty="0"/>
          </a:p>
        </p:txBody>
      </p:sp>
      <p:sp>
        <p:nvSpPr>
          <p:cNvPr id="49" name="Text 47"/>
          <p:cNvSpPr txBox="1"/>
          <p:nvPr/>
        </p:nvSpPr>
        <p:spPr>
          <a:xfrm>
            <a:off x="6400800" y="3351276"/>
            <a:ext cx="1965960" cy="329184"/>
          </a:xfrm>
          <a:prstGeom prst="rect">
            <a:avLst/>
          </a:prstGeom>
          <a:noFill/>
          <a:ln/>
        </p:spPr>
        <p:txBody>
          <a:bodyPr wrap="square" lIns="0" tIns="0" rIns="0" bIns="0" rtlCol="0" anchor="t"/>
          <a:lstStyle/>
          <a:p>
            <a:pPr indent="0" marL="0">
              <a:lnSpc>
                <a:spcPct val="90000"/>
              </a:lnSpc>
              <a:buNone/>
            </a:pPr>
            <a:r>
              <a:rPr lang="en-US" sz="900" dirty="0">
                <a:solidFill>
                  <a:srgbClr val="17131D"/>
                </a:solidFill>
                <a:latin typeface="Arial" pitchFamily="34" charset="0"/>
                <a:ea typeface="Arial" pitchFamily="34" charset="-122"/>
                <a:cs typeface="Arial" pitchFamily="34" charset="-120"/>
              </a:rPr>
              <a:t>CapEx plus 30%</a:t>
            </a:r>
            <a:endParaRPr lang="en-US" sz="900" dirty="0"/>
          </a:p>
        </p:txBody>
      </p:sp>
      <p:sp>
        <p:nvSpPr>
          <p:cNvPr id="50" name="Shape 48"/>
          <p:cNvSpPr/>
          <p:nvPr/>
        </p:nvSpPr>
        <p:spPr>
          <a:xfrm>
            <a:off x="8366760" y="3337560"/>
            <a:ext cx="1501726" cy="201168"/>
          </a:xfrm>
          <a:prstGeom prst="rect">
            <a:avLst/>
          </a:prstGeom>
          <a:solidFill>
            <a:srgbClr val="C8792A"/>
          </a:solidFill>
          <a:ln/>
        </p:spPr>
      </p:sp>
      <p:sp>
        <p:nvSpPr>
          <p:cNvPr id="51" name="Text 49"/>
          <p:cNvSpPr txBox="1"/>
          <p:nvPr/>
        </p:nvSpPr>
        <p:spPr>
          <a:xfrm>
            <a:off x="9923350" y="3332988"/>
            <a:ext cx="502920" cy="201168"/>
          </a:xfrm>
          <a:prstGeom prst="rect">
            <a:avLst/>
          </a:prstGeom>
          <a:noFill/>
          <a:ln/>
        </p:spPr>
        <p:txBody>
          <a:bodyPr wrap="square" lIns="0" tIns="0" rIns="0" bIns="0" rtlCol="0" anchor="t"/>
          <a:lstStyle/>
          <a:p>
            <a:pPr indent="0" marL="0">
              <a:lnSpc>
                <a:spcPct val="105000"/>
              </a:lnSpc>
              <a:buNone/>
            </a:pPr>
            <a:r>
              <a:rPr lang="en-US" sz="950" b="1" dirty="0">
                <a:solidFill>
                  <a:srgbClr val="C8792A"/>
                </a:solidFill>
                <a:latin typeface="Arial" pitchFamily="34" charset="0"/>
                <a:ea typeface="Arial" pitchFamily="34" charset="-122"/>
                <a:cs typeface="Arial" pitchFamily="34" charset="-120"/>
              </a:rPr>
              <a:t>14.0</a:t>
            </a:r>
            <a:endParaRPr lang="en-US" sz="950" dirty="0"/>
          </a:p>
        </p:txBody>
      </p:sp>
      <p:sp>
        <p:nvSpPr>
          <p:cNvPr id="52" name="Text 50"/>
          <p:cNvSpPr txBox="1"/>
          <p:nvPr/>
        </p:nvSpPr>
        <p:spPr>
          <a:xfrm>
            <a:off x="6400800" y="3717036"/>
            <a:ext cx="1965960" cy="329184"/>
          </a:xfrm>
          <a:prstGeom prst="rect">
            <a:avLst/>
          </a:prstGeom>
          <a:noFill/>
          <a:ln/>
        </p:spPr>
        <p:txBody>
          <a:bodyPr wrap="square" lIns="0" tIns="0" rIns="0" bIns="0" rtlCol="0" anchor="t"/>
          <a:lstStyle/>
          <a:p>
            <a:pPr indent="0" marL="0">
              <a:lnSpc>
                <a:spcPct val="90000"/>
              </a:lnSpc>
              <a:buNone/>
            </a:pPr>
            <a:r>
              <a:rPr lang="en-US" sz="900" dirty="0">
                <a:solidFill>
                  <a:srgbClr val="17131D"/>
                </a:solidFill>
                <a:latin typeface="Arial" pitchFamily="34" charset="0"/>
                <a:ea typeface="Arial" pitchFamily="34" charset="-122"/>
                <a:cs typeface="Arial" pitchFamily="34" charset="-120"/>
              </a:rPr>
              <a:t>Lost margin one-third lower</a:t>
            </a:r>
            <a:endParaRPr lang="en-US" sz="900" dirty="0"/>
          </a:p>
        </p:txBody>
      </p:sp>
      <p:sp>
        <p:nvSpPr>
          <p:cNvPr id="53" name="Shape 51"/>
          <p:cNvSpPr/>
          <p:nvPr/>
        </p:nvSpPr>
        <p:spPr>
          <a:xfrm>
            <a:off x="8366760" y="3703320"/>
            <a:ext cx="1684079" cy="201168"/>
          </a:xfrm>
          <a:prstGeom prst="rect">
            <a:avLst/>
          </a:prstGeom>
          <a:solidFill>
            <a:srgbClr val="C8792A"/>
          </a:solidFill>
          <a:ln/>
        </p:spPr>
      </p:sp>
      <p:sp>
        <p:nvSpPr>
          <p:cNvPr id="54" name="Text 52"/>
          <p:cNvSpPr txBox="1"/>
          <p:nvPr/>
        </p:nvSpPr>
        <p:spPr>
          <a:xfrm>
            <a:off x="10105703" y="3698748"/>
            <a:ext cx="502920" cy="201168"/>
          </a:xfrm>
          <a:prstGeom prst="rect">
            <a:avLst/>
          </a:prstGeom>
          <a:noFill/>
          <a:ln/>
        </p:spPr>
        <p:txBody>
          <a:bodyPr wrap="square" lIns="0" tIns="0" rIns="0" bIns="0" rtlCol="0" anchor="t"/>
          <a:lstStyle/>
          <a:p>
            <a:pPr indent="0" marL="0">
              <a:lnSpc>
                <a:spcPct val="105000"/>
              </a:lnSpc>
              <a:buNone/>
            </a:pPr>
            <a:r>
              <a:rPr lang="en-US" sz="950" b="1" dirty="0">
                <a:solidFill>
                  <a:srgbClr val="C8792A"/>
                </a:solidFill>
                <a:latin typeface="Arial" pitchFamily="34" charset="0"/>
                <a:ea typeface="Arial" pitchFamily="34" charset="-122"/>
                <a:cs typeface="Arial" pitchFamily="34" charset="-120"/>
              </a:rPr>
              <a:t>15.7</a:t>
            </a:r>
            <a:endParaRPr lang="en-US" sz="950" dirty="0"/>
          </a:p>
        </p:txBody>
      </p:sp>
      <p:sp>
        <p:nvSpPr>
          <p:cNvPr id="55" name="Text 53"/>
          <p:cNvSpPr txBox="1"/>
          <p:nvPr/>
        </p:nvSpPr>
        <p:spPr>
          <a:xfrm>
            <a:off x="6400800" y="4082796"/>
            <a:ext cx="1965960" cy="329184"/>
          </a:xfrm>
          <a:prstGeom prst="rect">
            <a:avLst/>
          </a:prstGeom>
          <a:noFill/>
          <a:ln/>
        </p:spPr>
        <p:txBody>
          <a:bodyPr wrap="square" lIns="0" tIns="0" rIns="0" bIns="0" rtlCol="0" anchor="t"/>
          <a:lstStyle/>
          <a:p>
            <a:pPr indent="0" marL="0">
              <a:lnSpc>
                <a:spcPct val="90000"/>
              </a:lnSpc>
              <a:buNone/>
            </a:pPr>
            <a:r>
              <a:rPr lang="en-US" sz="900" dirty="0">
                <a:solidFill>
                  <a:srgbClr val="17131D"/>
                </a:solidFill>
                <a:latin typeface="Arial" pitchFamily="34" charset="0"/>
                <a:ea typeface="Arial" pitchFamily="34" charset="-122"/>
                <a:cs typeface="Arial" pitchFamily="34" charset="-120"/>
              </a:rPr>
              <a:t>20% downtime reduction</a:t>
            </a:r>
            <a:endParaRPr lang="en-US" sz="900" dirty="0"/>
          </a:p>
        </p:txBody>
      </p:sp>
      <p:sp>
        <p:nvSpPr>
          <p:cNvPr id="56" name="Shape 54"/>
          <p:cNvSpPr/>
          <p:nvPr/>
        </p:nvSpPr>
        <p:spPr>
          <a:xfrm>
            <a:off x="8366760" y="4069080"/>
            <a:ext cx="1941517" cy="201168"/>
          </a:xfrm>
          <a:prstGeom prst="rect">
            <a:avLst/>
          </a:prstGeom>
          <a:solidFill>
            <a:srgbClr val="C8792A"/>
          </a:solidFill>
          <a:ln/>
        </p:spPr>
      </p:sp>
      <p:sp>
        <p:nvSpPr>
          <p:cNvPr id="57" name="Text 55"/>
          <p:cNvSpPr txBox="1"/>
          <p:nvPr/>
        </p:nvSpPr>
        <p:spPr>
          <a:xfrm>
            <a:off x="10363141" y="4064508"/>
            <a:ext cx="502920" cy="201168"/>
          </a:xfrm>
          <a:prstGeom prst="rect">
            <a:avLst/>
          </a:prstGeom>
          <a:noFill/>
          <a:ln/>
        </p:spPr>
        <p:txBody>
          <a:bodyPr wrap="square" lIns="0" tIns="0" rIns="0" bIns="0" rtlCol="0" anchor="t"/>
          <a:lstStyle/>
          <a:p>
            <a:pPr indent="0" marL="0">
              <a:lnSpc>
                <a:spcPct val="105000"/>
              </a:lnSpc>
              <a:buNone/>
            </a:pPr>
            <a:r>
              <a:rPr lang="en-US" sz="950" b="1" dirty="0">
                <a:solidFill>
                  <a:srgbClr val="C8792A"/>
                </a:solidFill>
                <a:latin typeface="Arial" pitchFamily="34" charset="0"/>
                <a:ea typeface="Arial" pitchFamily="34" charset="-122"/>
                <a:cs typeface="Arial" pitchFamily="34" charset="-120"/>
              </a:rPr>
              <a:t>18.1</a:t>
            </a:r>
            <a:endParaRPr lang="en-US" sz="950" dirty="0"/>
          </a:p>
        </p:txBody>
      </p:sp>
      <p:sp>
        <p:nvSpPr>
          <p:cNvPr id="58" name="Text 56"/>
          <p:cNvSpPr txBox="1"/>
          <p:nvPr/>
        </p:nvSpPr>
        <p:spPr>
          <a:xfrm>
            <a:off x="6400800" y="4448556"/>
            <a:ext cx="1965960" cy="329184"/>
          </a:xfrm>
          <a:prstGeom prst="rect">
            <a:avLst/>
          </a:prstGeom>
          <a:noFill/>
          <a:ln/>
        </p:spPr>
        <p:txBody>
          <a:bodyPr wrap="square" lIns="0" tIns="0" rIns="0" bIns="0" rtlCol="0" anchor="t"/>
          <a:lstStyle/>
          <a:p>
            <a:pPr indent="0" marL="0">
              <a:lnSpc>
                <a:spcPct val="90000"/>
              </a:lnSpc>
              <a:buNone/>
            </a:pPr>
            <a:r>
              <a:rPr lang="en-US" sz="900" dirty="0">
                <a:solidFill>
                  <a:srgbClr val="17131D"/>
                </a:solidFill>
                <a:latin typeface="Arial" pitchFamily="34" charset="0"/>
                <a:ea typeface="Arial" pitchFamily="34" charset="-122"/>
                <a:cs typeface="Arial" pitchFamily="34" charset="-120"/>
              </a:rPr>
              <a:t>Stacked downside</a:t>
            </a:r>
            <a:endParaRPr lang="en-US" sz="900" dirty="0"/>
          </a:p>
        </p:txBody>
      </p:sp>
      <p:sp>
        <p:nvSpPr>
          <p:cNvPr id="59" name="Shape 57"/>
          <p:cNvSpPr/>
          <p:nvPr/>
        </p:nvSpPr>
        <p:spPr>
          <a:xfrm>
            <a:off x="8366760" y="4434840"/>
            <a:ext cx="2531481" cy="201168"/>
          </a:xfrm>
          <a:prstGeom prst="rect">
            <a:avLst/>
          </a:prstGeom>
          <a:solidFill>
            <a:srgbClr val="C8792A"/>
          </a:solidFill>
          <a:ln/>
        </p:spPr>
      </p:sp>
      <p:sp>
        <p:nvSpPr>
          <p:cNvPr id="60" name="Text 58"/>
          <p:cNvSpPr txBox="1"/>
          <p:nvPr/>
        </p:nvSpPr>
        <p:spPr>
          <a:xfrm>
            <a:off x="10953105" y="4430268"/>
            <a:ext cx="502920" cy="201168"/>
          </a:xfrm>
          <a:prstGeom prst="rect">
            <a:avLst/>
          </a:prstGeom>
          <a:noFill/>
          <a:ln/>
        </p:spPr>
        <p:txBody>
          <a:bodyPr wrap="square" lIns="0" tIns="0" rIns="0" bIns="0" rtlCol="0" anchor="t"/>
          <a:lstStyle/>
          <a:p>
            <a:pPr indent="0" marL="0">
              <a:lnSpc>
                <a:spcPct val="105000"/>
              </a:lnSpc>
              <a:buNone/>
            </a:pPr>
            <a:r>
              <a:rPr lang="en-US" sz="950" b="1" dirty="0">
                <a:solidFill>
                  <a:srgbClr val="C8792A"/>
                </a:solidFill>
                <a:latin typeface="Arial" pitchFamily="34" charset="0"/>
                <a:ea typeface="Arial" pitchFamily="34" charset="-122"/>
                <a:cs typeface="Arial" pitchFamily="34" charset="-120"/>
              </a:rPr>
              <a:t>23.6</a:t>
            </a:r>
            <a:endParaRPr lang="en-US" sz="950" dirty="0"/>
          </a:p>
        </p:txBody>
      </p:sp>
      <p:sp>
        <p:nvSpPr>
          <p:cNvPr id="61" name="Shape 59"/>
          <p:cNvSpPr/>
          <p:nvPr/>
        </p:nvSpPr>
        <p:spPr>
          <a:xfrm>
            <a:off x="8366760" y="2560320"/>
            <a:ext cx="0" cy="2194560"/>
          </a:xfrm>
          <a:prstGeom prst="line">
            <a:avLst/>
          </a:prstGeom>
          <a:noFill/>
          <a:ln w="12700">
            <a:solidFill>
              <a:srgbClr val="625D68"/>
            </a:solidFill>
            <a:prstDash val="solid"/>
          </a:ln>
        </p:spPr>
      </p:sp>
      <p:sp>
        <p:nvSpPr>
          <p:cNvPr id="62" name="Shape 60"/>
          <p:cNvSpPr/>
          <p:nvPr/>
        </p:nvSpPr>
        <p:spPr>
          <a:xfrm>
            <a:off x="502920" y="4828032"/>
            <a:ext cx="11185855" cy="0"/>
          </a:xfrm>
          <a:prstGeom prst="line">
            <a:avLst/>
          </a:prstGeom>
          <a:noFill/>
          <a:ln w="12700">
            <a:solidFill>
              <a:srgbClr val="DED9E5"/>
            </a:solidFill>
            <a:prstDash val="solid"/>
          </a:ln>
        </p:spPr>
      </p:sp>
      <p:sp>
        <p:nvSpPr>
          <p:cNvPr id="63" name="Text 61"/>
          <p:cNvSpPr txBox="1"/>
          <p:nvPr/>
        </p:nvSpPr>
        <p:spPr>
          <a:xfrm>
            <a:off x="502920" y="4956048"/>
            <a:ext cx="2286000" cy="182880"/>
          </a:xfrm>
          <a:prstGeom prst="rect">
            <a:avLst/>
          </a:prstGeom>
          <a:noFill/>
          <a:ln/>
        </p:spPr>
        <p:txBody>
          <a:bodyPr wrap="square" lIns="0" tIns="0" rIns="0" bIns="0" rtlCol="0" anchor="t"/>
          <a:lstStyle/>
          <a:p>
            <a:pPr indent="0" marL="0">
              <a:lnSpc>
                <a:spcPct val="105000"/>
              </a:lnSpc>
              <a:buNone/>
            </a:pPr>
            <a:r>
              <a:rPr lang="en-US" sz="1200" b="1" dirty="0">
                <a:solidFill>
                  <a:srgbClr val="17131D"/>
                </a:solidFill>
                <a:latin typeface="Arial" pitchFamily="34" charset="0"/>
                <a:ea typeface="Arial" pitchFamily="34" charset="-122"/>
                <a:cs typeface="Arial" pitchFamily="34" charset="-120"/>
              </a:rPr>
              <a:t>Key risks</a:t>
            </a:r>
            <a:endParaRPr lang="en-US" sz="1200" dirty="0"/>
          </a:p>
        </p:txBody>
      </p:sp>
      <p:sp>
        <p:nvSpPr>
          <p:cNvPr id="64" name="Shape 62"/>
          <p:cNvSpPr/>
          <p:nvPr/>
        </p:nvSpPr>
        <p:spPr>
          <a:xfrm>
            <a:off x="502920" y="5193792"/>
            <a:ext cx="2286000" cy="1188720"/>
          </a:xfrm>
          <a:prstGeom prst="rect">
            <a:avLst/>
          </a:prstGeom>
          <a:solidFill>
            <a:srgbClr val="F8F5FA"/>
          </a:solidFill>
          <a:ln/>
        </p:spPr>
      </p:sp>
      <p:sp>
        <p:nvSpPr>
          <p:cNvPr id="65" name="Shape 63"/>
          <p:cNvSpPr/>
          <p:nvPr/>
        </p:nvSpPr>
        <p:spPr>
          <a:xfrm>
            <a:off x="1645920" y="5193792"/>
            <a:ext cx="0" cy="1188720"/>
          </a:xfrm>
          <a:prstGeom prst="line">
            <a:avLst/>
          </a:prstGeom>
          <a:noFill/>
          <a:ln w="9525">
            <a:solidFill>
              <a:srgbClr val="DED9E5"/>
            </a:solidFill>
            <a:prstDash val="solid"/>
          </a:ln>
        </p:spPr>
      </p:sp>
      <p:sp>
        <p:nvSpPr>
          <p:cNvPr id="66" name="Shape 64"/>
          <p:cNvSpPr/>
          <p:nvPr/>
        </p:nvSpPr>
        <p:spPr>
          <a:xfrm>
            <a:off x="502920" y="5788152"/>
            <a:ext cx="2286000" cy="0"/>
          </a:xfrm>
          <a:prstGeom prst="line">
            <a:avLst/>
          </a:prstGeom>
          <a:noFill/>
          <a:ln w="9525">
            <a:solidFill>
              <a:srgbClr val="DED9E5"/>
            </a:solidFill>
            <a:prstDash val="solid"/>
          </a:ln>
        </p:spPr>
      </p:sp>
      <p:sp>
        <p:nvSpPr>
          <p:cNvPr id="67" name="Text 65"/>
          <p:cNvSpPr txBox="1"/>
          <p:nvPr/>
        </p:nvSpPr>
        <p:spPr>
          <a:xfrm>
            <a:off x="548640" y="5230368"/>
            <a:ext cx="731520" cy="146304"/>
          </a:xfrm>
          <a:prstGeom prst="rect">
            <a:avLst/>
          </a:prstGeom>
          <a:noFill/>
          <a:ln/>
        </p:spPr>
        <p:txBody>
          <a:bodyPr wrap="square" lIns="0" tIns="0" rIns="0" bIns="0" rtlCol="0" anchor="t"/>
          <a:lstStyle/>
          <a:p>
            <a:pPr indent="0" marL="0">
              <a:lnSpc>
                <a:spcPct val="105000"/>
              </a:lnSpc>
              <a:buNone/>
            </a:pPr>
            <a:r>
              <a:rPr lang="en-US" sz="750" dirty="0">
                <a:solidFill>
                  <a:srgbClr val="625D68"/>
                </a:solidFill>
                <a:latin typeface="Arial" pitchFamily="34" charset="0"/>
                <a:ea typeface="Arial" pitchFamily="34" charset="-122"/>
                <a:cs typeface="Arial" pitchFamily="34" charset="-120"/>
              </a:rPr>
              <a:t>impact ↑</a:t>
            </a:r>
            <a:endParaRPr lang="en-US" sz="750" dirty="0"/>
          </a:p>
        </p:txBody>
      </p:sp>
      <p:sp>
        <p:nvSpPr>
          <p:cNvPr id="68" name="Text 66"/>
          <p:cNvSpPr txBox="1"/>
          <p:nvPr/>
        </p:nvSpPr>
        <p:spPr>
          <a:xfrm>
            <a:off x="2075688" y="6199632"/>
            <a:ext cx="685800" cy="146304"/>
          </a:xfrm>
          <a:prstGeom prst="rect">
            <a:avLst/>
          </a:prstGeom>
          <a:noFill/>
          <a:ln/>
        </p:spPr>
        <p:txBody>
          <a:bodyPr wrap="square" lIns="0" tIns="0" rIns="0" bIns="0" rtlCol="0" anchor="t"/>
          <a:lstStyle/>
          <a:p>
            <a:pPr indent="0" marL="0">
              <a:lnSpc>
                <a:spcPct val="105000"/>
              </a:lnSpc>
              <a:buNone/>
            </a:pPr>
            <a:r>
              <a:rPr lang="en-US" sz="750" dirty="0">
                <a:solidFill>
                  <a:srgbClr val="625D68"/>
                </a:solidFill>
                <a:latin typeface="Arial" pitchFamily="34" charset="0"/>
                <a:ea typeface="Arial" pitchFamily="34" charset="-122"/>
                <a:cs typeface="Arial" pitchFamily="34" charset="-120"/>
              </a:rPr>
              <a:t>likelihood →</a:t>
            </a:r>
            <a:endParaRPr lang="en-US" sz="750" dirty="0"/>
          </a:p>
        </p:txBody>
      </p:sp>
      <p:sp>
        <p:nvSpPr>
          <p:cNvPr id="69" name="Shape 67"/>
          <p:cNvSpPr/>
          <p:nvPr/>
        </p:nvSpPr>
        <p:spPr>
          <a:xfrm>
            <a:off x="2295144" y="5444338"/>
            <a:ext cx="182880" cy="182880"/>
          </a:xfrm>
          <a:prstGeom prst="ellipse">
            <a:avLst/>
          </a:prstGeom>
          <a:solidFill>
            <a:srgbClr val="C8792A"/>
          </a:solidFill>
          <a:ln/>
        </p:spPr>
      </p:sp>
      <p:sp>
        <p:nvSpPr>
          <p:cNvPr id="70" name="Text 68"/>
          <p:cNvSpPr txBox="1"/>
          <p:nvPr/>
        </p:nvSpPr>
        <p:spPr>
          <a:xfrm>
            <a:off x="2295144" y="5458054"/>
            <a:ext cx="182880" cy="155448"/>
          </a:xfrm>
          <a:prstGeom prst="rect">
            <a:avLst/>
          </a:prstGeom>
          <a:noFill/>
          <a:ln/>
        </p:spPr>
        <p:txBody>
          <a:bodyPr wrap="square" lIns="0" tIns="0" rIns="0" bIns="0" rtlCol="0" anchor="t"/>
          <a:lstStyle/>
          <a:p>
            <a:pPr algn="ctr" indent="0" marL="0">
              <a:lnSpc>
                <a:spcPct val="105000"/>
              </a:lnSpc>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71" name="Shape 69"/>
          <p:cNvSpPr/>
          <p:nvPr/>
        </p:nvSpPr>
        <p:spPr>
          <a:xfrm>
            <a:off x="1289304" y="5349240"/>
            <a:ext cx="182880" cy="182880"/>
          </a:xfrm>
          <a:prstGeom prst="ellipse">
            <a:avLst/>
          </a:prstGeom>
          <a:solidFill>
            <a:srgbClr val="C8792A"/>
          </a:solidFill>
          <a:ln/>
        </p:spPr>
      </p:sp>
      <p:sp>
        <p:nvSpPr>
          <p:cNvPr id="72" name="Text 70"/>
          <p:cNvSpPr txBox="1"/>
          <p:nvPr/>
        </p:nvSpPr>
        <p:spPr>
          <a:xfrm>
            <a:off x="1289304" y="5362956"/>
            <a:ext cx="182880" cy="155448"/>
          </a:xfrm>
          <a:prstGeom prst="rect">
            <a:avLst/>
          </a:prstGeom>
          <a:noFill/>
          <a:ln/>
        </p:spPr>
        <p:txBody>
          <a:bodyPr wrap="square" lIns="0" tIns="0" rIns="0" bIns="0" rtlCol="0" anchor="t"/>
          <a:lstStyle/>
          <a:p>
            <a:pPr algn="ctr" indent="0" marL="0">
              <a:lnSpc>
                <a:spcPct val="105000"/>
              </a:lnSpc>
              <a:buNone/>
            </a:pPr>
            <a:r>
              <a:rPr lang="en-US" sz="850" b="1" dirty="0">
                <a:solidFill>
                  <a:srgbClr val="FFFFFF"/>
                </a:solidFill>
                <a:latin typeface="Arial" pitchFamily="34" charset="0"/>
                <a:ea typeface="Arial" pitchFamily="34" charset="-122"/>
                <a:cs typeface="Arial" pitchFamily="34" charset="-120"/>
              </a:rPr>
              <a:t>2</a:t>
            </a:r>
            <a:endParaRPr lang="en-US" sz="850" dirty="0"/>
          </a:p>
        </p:txBody>
      </p:sp>
      <p:sp>
        <p:nvSpPr>
          <p:cNvPr id="73" name="Shape 71"/>
          <p:cNvSpPr/>
          <p:nvPr/>
        </p:nvSpPr>
        <p:spPr>
          <a:xfrm>
            <a:off x="786384" y="5468112"/>
            <a:ext cx="182880" cy="182880"/>
          </a:xfrm>
          <a:prstGeom prst="ellipse">
            <a:avLst/>
          </a:prstGeom>
          <a:solidFill>
            <a:srgbClr val="C8792A"/>
          </a:solidFill>
          <a:ln/>
        </p:spPr>
      </p:sp>
      <p:sp>
        <p:nvSpPr>
          <p:cNvPr id="74" name="Text 72"/>
          <p:cNvSpPr txBox="1"/>
          <p:nvPr/>
        </p:nvSpPr>
        <p:spPr>
          <a:xfrm>
            <a:off x="786384" y="5481828"/>
            <a:ext cx="182880" cy="155448"/>
          </a:xfrm>
          <a:prstGeom prst="rect">
            <a:avLst/>
          </a:prstGeom>
          <a:noFill/>
          <a:ln/>
        </p:spPr>
        <p:txBody>
          <a:bodyPr wrap="square" lIns="0" tIns="0" rIns="0" bIns="0" rtlCol="0" anchor="t"/>
          <a:lstStyle/>
          <a:p>
            <a:pPr algn="ctr" indent="0" marL="0">
              <a:lnSpc>
                <a:spcPct val="105000"/>
              </a:lnSpc>
              <a:buNone/>
            </a:pPr>
            <a:r>
              <a:rPr lang="en-US" sz="850" b="1" dirty="0">
                <a:solidFill>
                  <a:srgbClr val="FFFFFF"/>
                </a:solidFill>
                <a:latin typeface="Arial" pitchFamily="34" charset="0"/>
                <a:ea typeface="Arial" pitchFamily="34" charset="-122"/>
                <a:cs typeface="Arial" pitchFamily="34" charset="-120"/>
              </a:rPr>
              <a:t>3</a:t>
            </a:r>
            <a:endParaRPr lang="en-US" sz="850" dirty="0"/>
          </a:p>
        </p:txBody>
      </p:sp>
      <p:sp>
        <p:nvSpPr>
          <p:cNvPr id="75" name="Shape 73"/>
          <p:cNvSpPr/>
          <p:nvPr/>
        </p:nvSpPr>
        <p:spPr>
          <a:xfrm>
            <a:off x="2066544" y="5848502"/>
            <a:ext cx="182880" cy="182880"/>
          </a:xfrm>
          <a:prstGeom prst="ellipse">
            <a:avLst/>
          </a:prstGeom>
          <a:solidFill>
            <a:srgbClr val="C8792A"/>
          </a:solidFill>
          <a:ln/>
        </p:spPr>
      </p:sp>
      <p:sp>
        <p:nvSpPr>
          <p:cNvPr id="76" name="Text 74"/>
          <p:cNvSpPr txBox="1"/>
          <p:nvPr/>
        </p:nvSpPr>
        <p:spPr>
          <a:xfrm>
            <a:off x="2066544" y="5862218"/>
            <a:ext cx="182880" cy="155448"/>
          </a:xfrm>
          <a:prstGeom prst="rect">
            <a:avLst/>
          </a:prstGeom>
          <a:noFill/>
          <a:ln/>
        </p:spPr>
        <p:txBody>
          <a:bodyPr wrap="square" lIns="0" tIns="0" rIns="0" bIns="0" rtlCol="0" anchor="t"/>
          <a:lstStyle/>
          <a:p>
            <a:pPr algn="ctr" indent="0" marL="0">
              <a:lnSpc>
                <a:spcPct val="105000"/>
              </a:lnSpc>
              <a:buNone/>
            </a:pPr>
            <a:r>
              <a:rPr lang="en-US" sz="850" b="1" dirty="0">
                <a:solidFill>
                  <a:srgbClr val="FFFFFF"/>
                </a:solidFill>
                <a:latin typeface="Arial" pitchFamily="34" charset="0"/>
                <a:ea typeface="Arial" pitchFamily="34" charset="-122"/>
                <a:cs typeface="Arial" pitchFamily="34" charset="-120"/>
              </a:rPr>
              <a:t>4</a:t>
            </a:r>
            <a:endParaRPr lang="en-US" sz="850" dirty="0"/>
          </a:p>
        </p:txBody>
      </p:sp>
      <p:sp>
        <p:nvSpPr>
          <p:cNvPr id="77" name="Text 75"/>
          <p:cNvSpPr txBox="1"/>
          <p:nvPr/>
        </p:nvSpPr>
        <p:spPr>
          <a:xfrm>
            <a:off x="3063240" y="4974336"/>
            <a:ext cx="1783080" cy="365760"/>
          </a:xfrm>
          <a:prstGeom prst="rect">
            <a:avLst/>
          </a:prstGeom>
          <a:noFill/>
          <a:ln/>
        </p:spPr>
        <p:txBody>
          <a:bodyPr wrap="square" lIns="0" tIns="0" rIns="0" bIns="0" rtlCol="0" anchor="t"/>
          <a:lstStyle/>
          <a:p>
            <a:pPr indent="0" marL="0">
              <a:lnSpc>
                <a:spcPct val="90000"/>
              </a:lnSpc>
              <a:buNone/>
            </a:pPr>
            <a:r>
              <a:rPr lang="en-US" sz="900" b="1" dirty="0">
                <a:solidFill>
                  <a:srgbClr val="17131D"/>
                </a:solidFill>
                <a:latin typeface="Arial" pitchFamily="34" charset="0"/>
                <a:ea typeface="Arial" pitchFamily="34" charset="-122"/>
                <a:cs typeface="Arial" pitchFamily="34" charset="-120"/>
              </a:rPr>
              <a:t>1  False-alert fatigue</a:t>
            </a:r>
            <a:endParaRPr lang="en-US" sz="900" dirty="0"/>
          </a:p>
        </p:txBody>
      </p:sp>
      <p:sp>
        <p:nvSpPr>
          <p:cNvPr id="78" name="Text 76"/>
          <p:cNvSpPr txBox="1"/>
          <p:nvPr/>
        </p:nvSpPr>
        <p:spPr>
          <a:xfrm>
            <a:off x="4892040" y="4974336"/>
            <a:ext cx="2834640" cy="365760"/>
          </a:xfrm>
          <a:prstGeom prst="rect">
            <a:avLst/>
          </a:prstGeom>
          <a:noFill/>
          <a:ln/>
        </p:spPr>
        <p:txBody>
          <a:bodyPr wrap="square" lIns="0" tIns="0" rIns="0" bIns="0" rtlCol="0" anchor="t"/>
          <a:lstStyle/>
          <a:p>
            <a:pPr indent="0" marL="0">
              <a:lnSpc>
                <a:spcPct val="95000"/>
              </a:lnSpc>
              <a:buNone/>
            </a:pPr>
            <a:r>
              <a:rPr lang="en-US" sz="850" dirty="0">
                <a:solidFill>
                  <a:srgbClr val="625D68"/>
                </a:solidFill>
                <a:latin typeface="Arial" pitchFamily="34" charset="0"/>
                <a:ea typeface="Arial" pitchFamily="34" charset="-122"/>
                <a:cs typeface="Arial" pitchFamily="34" charset="-120"/>
              </a:rPr>
              <a:t>shadow mode first; at most 2 alerts per pump-month at the gate</a:t>
            </a:r>
            <a:endParaRPr lang="en-US" sz="850" dirty="0"/>
          </a:p>
        </p:txBody>
      </p:sp>
      <p:sp>
        <p:nvSpPr>
          <p:cNvPr id="79" name="Text 77"/>
          <p:cNvSpPr txBox="1"/>
          <p:nvPr/>
        </p:nvSpPr>
        <p:spPr>
          <a:xfrm>
            <a:off x="3063240" y="5358384"/>
            <a:ext cx="1783080" cy="365760"/>
          </a:xfrm>
          <a:prstGeom prst="rect">
            <a:avLst/>
          </a:prstGeom>
          <a:noFill/>
          <a:ln/>
        </p:spPr>
        <p:txBody>
          <a:bodyPr wrap="square" lIns="0" tIns="0" rIns="0" bIns="0" rtlCol="0" anchor="t"/>
          <a:lstStyle/>
          <a:p>
            <a:pPr indent="0" marL="0">
              <a:lnSpc>
                <a:spcPct val="90000"/>
              </a:lnSpc>
              <a:buNone/>
            </a:pPr>
            <a:r>
              <a:rPr lang="en-US" sz="900" b="1" dirty="0">
                <a:solidFill>
                  <a:srgbClr val="17131D"/>
                </a:solidFill>
                <a:latin typeface="Arial" pitchFamily="34" charset="0"/>
                <a:ea typeface="Arial" pitchFamily="34" charset="-122"/>
                <a:cs typeface="Arial" pitchFamily="34" charset="-120"/>
              </a:rPr>
              <a:t>2  Hazardous-area hardware</a:t>
            </a:r>
            <a:endParaRPr lang="en-US" sz="900" dirty="0"/>
          </a:p>
        </p:txBody>
      </p:sp>
      <p:sp>
        <p:nvSpPr>
          <p:cNvPr id="80" name="Text 78"/>
          <p:cNvSpPr txBox="1"/>
          <p:nvPr/>
        </p:nvSpPr>
        <p:spPr>
          <a:xfrm>
            <a:off x="4892040" y="5358384"/>
            <a:ext cx="2834640" cy="365760"/>
          </a:xfrm>
          <a:prstGeom prst="rect">
            <a:avLst/>
          </a:prstGeom>
          <a:noFill/>
          <a:ln/>
        </p:spPr>
        <p:txBody>
          <a:bodyPr wrap="square" lIns="0" tIns="0" rIns="0" bIns="0" rtlCol="0" anchor="t"/>
          <a:lstStyle/>
          <a:p>
            <a:pPr indent="0" marL="0">
              <a:lnSpc>
                <a:spcPct val="95000"/>
              </a:lnSpc>
              <a:buNone/>
            </a:pPr>
            <a:r>
              <a:rPr lang="en-US" sz="850" dirty="0">
                <a:solidFill>
                  <a:srgbClr val="625D68"/>
                </a:solidFill>
                <a:latin typeface="Arial" pitchFamily="34" charset="0"/>
                <a:ea typeface="Arial" pitchFamily="34" charset="-122"/>
                <a:cs typeface="Arial" pitchFamily="34" charset="-120"/>
              </a:rPr>
              <a:t>hardware meeting applicable PESO and IECEx requirements [6]</a:t>
            </a:r>
            <a:endParaRPr lang="en-US" sz="850" dirty="0"/>
          </a:p>
        </p:txBody>
      </p:sp>
      <p:sp>
        <p:nvSpPr>
          <p:cNvPr id="81" name="Text 79"/>
          <p:cNvSpPr txBox="1"/>
          <p:nvPr/>
        </p:nvSpPr>
        <p:spPr>
          <a:xfrm>
            <a:off x="3063240" y="5742432"/>
            <a:ext cx="1783080" cy="365760"/>
          </a:xfrm>
          <a:prstGeom prst="rect">
            <a:avLst/>
          </a:prstGeom>
          <a:noFill/>
          <a:ln/>
        </p:spPr>
        <p:txBody>
          <a:bodyPr wrap="square" lIns="0" tIns="0" rIns="0" bIns="0" rtlCol="0" anchor="t"/>
          <a:lstStyle/>
          <a:p>
            <a:pPr indent="0" marL="0">
              <a:lnSpc>
                <a:spcPct val="90000"/>
              </a:lnSpc>
              <a:buNone/>
            </a:pPr>
            <a:r>
              <a:rPr lang="en-US" sz="900" b="1" dirty="0">
                <a:solidFill>
                  <a:srgbClr val="17131D"/>
                </a:solidFill>
                <a:latin typeface="Arial" pitchFamily="34" charset="0"/>
                <a:ea typeface="Arial" pitchFamily="34" charset="-122"/>
                <a:cs typeface="Arial" pitchFamily="34" charset="-120"/>
              </a:rPr>
              <a:t>3  OT cybersecurity</a:t>
            </a:r>
            <a:endParaRPr lang="en-US" sz="900" dirty="0"/>
          </a:p>
        </p:txBody>
      </p:sp>
      <p:sp>
        <p:nvSpPr>
          <p:cNvPr id="82" name="Text 80"/>
          <p:cNvSpPr txBox="1"/>
          <p:nvPr/>
        </p:nvSpPr>
        <p:spPr>
          <a:xfrm>
            <a:off x="4892040" y="5742432"/>
            <a:ext cx="2834640" cy="365760"/>
          </a:xfrm>
          <a:prstGeom prst="rect">
            <a:avLst/>
          </a:prstGeom>
          <a:noFill/>
          <a:ln/>
        </p:spPr>
        <p:txBody>
          <a:bodyPr wrap="square" lIns="0" tIns="0" rIns="0" bIns="0" rtlCol="0" anchor="t"/>
          <a:lstStyle/>
          <a:p>
            <a:pPr indent="0" marL="0">
              <a:lnSpc>
                <a:spcPct val="95000"/>
              </a:lnSpc>
              <a:buNone/>
            </a:pPr>
            <a:r>
              <a:rPr lang="en-US" sz="850" dirty="0">
                <a:solidFill>
                  <a:srgbClr val="625D68"/>
                </a:solidFill>
                <a:latin typeface="Arial" pitchFamily="34" charset="0"/>
                <a:ea typeface="Arial" pitchFamily="34" charset="-122"/>
                <a:cs typeface="Arial" pitchFamily="34" charset="-120"/>
              </a:rPr>
              <a:t>one-way data flow on a segregated network; no path to the DCS</a:t>
            </a:r>
            <a:endParaRPr lang="en-US" sz="850" dirty="0"/>
          </a:p>
        </p:txBody>
      </p:sp>
      <p:sp>
        <p:nvSpPr>
          <p:cNvPr id="83" name="Text 81"/>
          <p:cNvSpPr txBox="1"/>
          <p:nvPr/>
        </p:nvSpPr>
        <p:spPr>
          <a:xfrm>
            <a:off x="3063240" y="6126480"/>
            <a:ext cx="1783080" cy="365760"/>
          </a:xfrm>
          <a:prstGeom prst="rect">
            <a:avLst/>
          </a:prstGeom>
          <a:noFill/>
          <a:ln/>
        </p:spPr>
        <p:txBody>
          <a:bodyPr wrap="square" lIns="0" tIns="0" rIns="0" bIns="0" rtlCol="0" anchor="t"/>
          <a:lstStyle/>
          <a:p>
            <a:pPr indent="0" marL="0">
              <a:lnSpc>
                <a:spcPct val="90000"/>
              </a:lnSpc>
              <a:buNone/>
            </a:pPr>
            <a:r>
              <a:rPr lang="en-US" sz="900" b="1" dirty="0">
                <a:solidFill>
                  <a:srgbClr val="17131D"/>
                </a:solidFill>
                <a:latin typeface="Arial" pitchFamily="34" charset="0"/>
                <a:ea typeface="Arial" pitchFamily="34" charset="-122"/>
                <a:cs typeface="Arial" pitchFamily="34" charset="-120"/>
              </a:rPr>
              <a:t>4  Few early failure examples</a:t>
            </a:r>
            <a:endParaRPr lang="en-US" sz="900" dirty="0"/>
          </a:p>
        </p:txBody>
      </p:sp>
      <p:sp>
        <p:nvSpPr>
          <p:cNvPr id="84" name="Text 82"/>
          <p:cNvSpPr txBox="1"/>
          <p:nvPr/>
        </p:nvSpPr>
        <p:spPr>
          <a:xfrm>
            <a:off x="4892040" y="6126480"/>
            <a:ext cx="2834640" cy="365760"/>
          </a:xfrm>
          <a:prstGeom prst="rect">
            <a:avLst/>
          </a:prstGeom>
          <a:noFill/>
          <a:ln/>
        </p:spPr>
        <p:txBody>
          <a:bodyPr wrap="square" lIns="0" tIns="0" rIns="0" bIns="0" rtlCol="0" anchor="t"/>
          <a:lstStyle/>
          <a:p>
            <a:pPr indent="0" marL="0">
              <a:lnSpc>
                <a:spcPct val="95000"/>
              </a:lnSpc>
              <a:buNone/>
            </a:pPr>
            <a:r>
              <a:rPr lang="en-US" sz="850" dirty="0">
                <a:solidFill>
                  <a:srgbClr val="625D68"/>
                </a:solidFill>
                <a:latin typeface="Arial" pitchFamily="34" charset="0"/>
                <a:ea typeface="Arial" pitchFamily="34" charset="-122"/>
                <a:cs typeface="Arial" pitchFamily="34" charset="-120"/>
              </a:rPr>
              <a:t>anomaly-first models per pump; classifier added as data grows</a:t>
            </a:r>
            <a:endParaRPr lang="en-US" sz="850" dirty="0"/>
          </a:p>
        </p:txBody>
      </p:sp>
      <p:sp>
        <p:nvSpPr>
          <p:cNvPr id="85" name="Text 83"/>
          <p:cNvSpPr txBox="1"/>
          <p:nvPr/>
        </p:nvSpPr>
        <p:spPr>
          <a:xfrm>
            <a:off x="8001000" y="4956048"/>
            <a:ext cx="3685032" cy="182880"/>
          </a:xfrm>
          <a:prstGeom prst="rect">
            <a:avLst/>
          </a:prstGeom>
          <a:noFill/>
          <a:ln/>
        </p:spPr>
        <p:txBody>
          <a:bodyPr wrap="square" lIns="0" tIns="0" rIns="0" bIns="0" rtlCol="0" anchor="t"/>
          <a:lstStyle/>
          <a:p>
            <a:pPr indent="0" marL="0">
              <a:lnSpc>
                <a:spcPct val="105000"/>
              </a:lnSpc>
              <a:buNone/>
            </a:pPr>
            <a:r>
              <a:rPr lang="en-US" sz="1200" b="1" dirty="0">
                <a:solidFill>
                  <a:srgbClr val="2F7D69"/>
                </a:solidFill>
                <a:latin typeface="Arial" pitchFamily="34" charset="0"/>
                <a:ea typeface="Arial" pitchFamily="34" charset="-122"/>
                <a:cs typeface="Arial" pitchFamily="34" charset="-120"/>
              </a:rPr>
              <a:t>Environmental gains</a:t>
            </a:r>
            <a:endParaRPr lang="en-US" sz="1200" dirty="0"/>
          </a:p>
        </p:txBody>
      </p:sp>
      <p:sp>
        <p:nvSpPr>
          <p:cNvPr id="86" name="Shape 84"/>
          <p:cNvSpPr/>
          <p:nvPr/>
        </p:nvSpPr>
        <p:spPr>
          <a:xfrm>
            <a:off x="8001000" y="5221224"/>
            <a:ext cx="64008" cy="64008"/>
          </a:xfrm>
          <a:prstGeom prst="ellipse">
            <a:avLst/>
          </a:prstGeom>
          <a:solidFill>
            <a:srgbClr val="2F7D69"/>
          </a:solidFill>
          <a:ln/>
        </p:spPr>
      </p:sp>
      <p:sp>
        <p:nvSpPr>
          <p:cNvPr id="87" name="Text 85"/>
          <p:cNvSpPr txBox="1"/>
          <p:nvPr/>
        </p:nvSpPr>
        <p:spPr>
          <a:xfrm>
            <a:off x="8129016" y="5157216"/>
            <a:ext cx="3557016" cy="420624"/>
          </a:xfrm>
          <a:prstGeom prst="rect">
            <a:avLst/>
          </a:prstGeom>
          <a:noFill/>
          <a:ln/>
        </p:spPr>
        <p:txBody>
          <a:bodyPr wrap="square" lIns="0" tIns="0" rIns="0" bIns="0" rtlCol="0" anchor="t"/>
          <a:lstStyle/>
          <a:p>
            <a:pPr indent="0" marL="0">
              <a:lnSpc>
                <a:spcPct val="100000"/>
              </a:lnSpc>
              <a:buNone/>
            </a:pPr>
            <a:r>
              <a:rPr lang="en-US" sz="850" dirty="0">
                <a:solidFill>
                  <a:srgbClr val="17131D"/>
                </a:solidFill>
                <a:latin typeface="Arial" pitchFamily="34" charset="0"/>
                <a:ea typeface="Arial" pitchFamily="34" charset="-122"/>
                <a:cs typeface="Arial" pitchFamily="34" charset="-120"/>
              </a:rPr>
              <a:t>Earlier detection of seal degradation can reduce leak-event risk [8]</a:t>
            </a:r>
            <a:endParaRPr lang="en-US" sz="850" dirty="0"/>
          </a:p>
        </p:txBody>
      </p:sp>
      <p:sp>
        <p:nvSpPr>
          <p:cNvPr id="88" name="Shape 86"/>
          <p:cNvSpPr/>
          <p:nvPr/>
        </p:nvSpPr>
        <p:spPr>
          <a:xfrm>
            <a:off x="8001000" y="5641848"/>
            <a:ext cx="64008" cy="64008"/>
          </a:xfrm>
          <a:prstGeom prst="ellipse">
            <a:avLst/>
          </a:prstGeom>
          <a:solidFill>
            <a:srgbClr val="2F7D69"/>
          </a:solidFill>
          <a:ln/>
        </p:spPr>
      </p:sp>
      <p:sp>
        <p:nvSpPr>
          <p:cNvPr id="89" name="Text 87"/>
          <p:cNvSpPr txBox="1"/>
          <p:nvPr/>
        </p:nvSpPr>
        <p:spPr>
          <a:xfrm>
            <a:off x="8129016" y="5577840"/>
            <a:ext cx="3557016" cy="420624"/>
          </a:xfrm>
          <a:prstGeom prst="rect">
            <a:avLst/>
          </a:prstGeom>
          <a:noFill/>
          <a:ln/>
        </p:spPr>
        <p:txBody>
          <a:bodyPr wrap="square" lIns="0" tIns="0" rIns="0" bIns="0" rtlCol="0" anchor="t"/>
          <a:lstStyle/>
          <a:p>
            <a:pPr indent="0" marL="0">
              <a:lnSpc>
                <a:spcPct val="100000"/>
              </a:lnSpc>
              <a:buNone/>
            </a:pPr>
            <a:r>
              <a:rPr lang="en-US" sz="850" dirty="0">
                <a:solidFill>
                  <a:srgbClr val="17131D"/>
                </a:solidFill>
                <a:latin typeface="Arial" pitchFamily="34" charset="0"/>
                <a:ea typeface="Arial" pitchFamily="34" charset="-122"/>
                <a:cs typeface="Arial" pitchFamily="34" charset="-120"/>
              </a:rPr>
              <a:t>The same condition data can identify cavitation and off-design operation; pumping is close to 20% of world electric-motor demand [9]</a:t>
            </a:r>
            <a:endParaRPr lang="en-US" sz="850" dirty="0"/>
          </a:p>
        </p:txBody>
      </p:sp>
      <p:sp>
        <p:nvSpPr>
          <p:cNvPr id="90" name="Shape 88"/>
          <p:cNvSpPr/>
          <p:nvPr/>
        </p:nvSpPr>
        <p:spPr>
          <a:xfrm>
            <a:off x="8001000" y="6053328"/>
            <a:ext cx="3685032" cy="457200"/>
          </a:xfrm>
          <a:prstGeom prst="rect">
            <a:avLst/>
          </a:prstGeom>
          <a:solidFill>
            <a:srgbClr val="EFE8F6"/>
          </a:solidFill>
          <a:ln/>
        </p:spPr>
      </p:sp>
      <p:sp>
        <p:nvSpPr>
          <p:cNvPr id="91" name="Text 89"/>
          <p:cNvSpPr txBox="1"/>
          <p:nvPr/>
        </p:nvSpPr>
        <p:spPr>
          <a:xfrm>
            <a:off x="8110728" y="6089904"/>
            <a:ext cx="3465576" cy="384048"/>
          </a:xfrm>
          <a:prstGeom prst="rect">
            <a:avLst/>
          </a:prstGeom>
          <a:noFill/>
          <a:ln/>
        </p:spPr>
        <p:txBody>
          <a:bodyPr wrap="square" lIns="0" tIns="0" rIns="0" bIns="0" rtlCol="0" anchor="ctr"/>
          <a:lstStyle/>
          <a:p>
            <a:pPr indent="0" marL="0">
              <a:lnSpc>
                <a:spcPct val="100000"/>
              </a:lnSpc>
              <a:buNone/>
            </a:pPr>
            <a:r>
              <a:rPr lang="en-US" sz="900" dirty="0">
                <a:solidFill>
                  <a:srgbClr val="17131D"/>
                </a:solidFill>
                <a:latin typeface="Arial" pitchFamily="34" charset="0"/>
                <a:ea typeface="Arial" pitchFamily="34" charset="-122"/>
                <a:cs typeface="Arial" pitchFamily="34" charset="-120"/>
              </a:rPr>
              <a:t>Recommendation: proceed with a six-month shadow-mode pilot, subject to plant-data validation and vendor quotations.</a:t>
            </a:r>
            <a:endParaRPr lang="en-US" sz="900" dirty="0"/>
          </a:p>
        </p:txBody>
      </p:sp>
      <p:sp>
        <p:nvSpPr>
          <p:cNvPr id="92" name="Text 90"/>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850" dirty="0">
                <a:solidFill>
                  <a:srgbClr val="625D68"/>
                </a:solidFill>
                <a:latin typeface="Arial" pitchFamily="34" charset="0"/>
                <a:ea typeface="Arial" pitchFamily="34" charset="-122"/>
                <a:cs typeface="Arial" pitchFamily="34" charset="-120"/>
              </a:rPr>
              <a:t>India Chem 2026 · NIT Warangal</a:t>
            </a:r>
            <a:endParaRPr lang="en-US" sz="850" dirty="0"/>
          </a:p>
        </p:txBody>
      </p:sp>
      <p:sp>
        <p:nvSpPr>
          <p:cNvPr id="93" name="Text 91"/>
          <p:cNvSpPr txBox="1"/>
          <p:nvPr/>
        </p:nvSpPr>
        <p:spPr>
          <a:xfrm>
            <a:off x="10957255" y="6583680"/>
            <a:ext cx="731520" cy="182880"/>
          </a:xfrm>
          <a:prstGeom prst="rect">
            <a:avLst/>
          </a:prstGeom>
          <a:noFill/>
          <a:ln/>
        </p:spPr>
        <p:txBody>
          <a:bodyPr wrap="square" lIns="0" tIns="0" rIns="0" bIns="0" rtlCol="0" anchor="ctr"/>
          <a:lstStyle/>
          <a:p>
            <a:pPr algn="r" indent="0" marL="0">
              <a:buNone/>
            </a:pPr>
            <a:r>
              <a:rPr lang="en-US" sz="850" dirty="0">
                <a:solidFill>
                  <a:srgbClr val="625D68"/>
                </a:solidFill>
                <a:latin typeface="Arial" pitchFamily="34" charset="0"/>
                <a:ea typeface="Arial" pitchFamily="34" charset="-122"/>
                <a:cs typeface="Arial" pitchFamily="34" charset="-120"/>
              </a:rPr>
              <a:t>7 / 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5486400" cy="201168"/>
          </a:xfrm>
          <a:prstGeom prst="rect">
            <a:avLst/>
          </a:prstGeom>
          <a:noFill/>
          <a:ln/>
        </p:spPr>
        <p:txBody>
          <a:bodyPr wrap="square" lIns="0" tIns="0" rIns="0" bIns="0" rtlCol="0" anchor="ctr"/>
          <a:lstStyle/>
          <a:p>
            <a:pPr indent="0" marL="0">
              <a:buNone/>
            </a:pPr>
            <a:r>
              <a:rPr lang="en-US" sz="1000" b="1" dirty="0">
                <a:solidFill>
                  <a:srgbClr val="7A4AA5"/>
                </a:solidFill>
                <a:latin typeface="Arial" pitchFamily="34" charset="0"/>
                <a:ea typeface="Arial" pitchFamily="34" charset="-122"/>
                <a:cs typeface="Arial" pitchFamily="34" charset="-120"/>
              </a:rPr>
              <a:t>Supporting evidence</a:t>
            </a:r>
            <a:endParaRPr lang="en-US" sz="1000" dirty="0"/>
          </a:p>
        </p:txBody>
      </p:sp>
      <p:sp>
        <p:nvSpPr>
          <p:cNvPr id="3" name="Text 1"/>
          <p:cNvSpPr txBox="1"/>
          <p:nvPr/>
        </p:nvSpPr>
        <p:spPr>
          <a:xfrm>
            <a:off x="502920" y="420624"/>
            <a:ext cx="11185855" cy="548640"/>
          </a:xfrm>
          <a:prstGeom prst="rect">
            <a:avLst/>
          </a:prstGeom>
          <a:noFill/>
          <a:ln/>
        </p:spPr>
        <p:txBody>
          <a:bodyPr wrap="square" lIns="0" tIns="0" rIns="0" bIns="0" rtlCol="0" anchor="t"/>
          <a:lstStyle/>
          <a:p>
            <a:pPr indent="0" marL="0">
              <a:lnSpc>
                <a:spcPct val="103000"/>
              </a:lnSpc>
              <a:buNone/>
            </a:pPr>
            <a:r>
              <a:rPr lang="en-US" sz="2700" b="1" dirty="0">
                <a:solidFill>
                  <a:srgbClr val="17131D"/>
                </a:solidFill>
                <a:latin typeface="Arial" pitchFamily="34" charset="0"/>
                <a:ea typeface="Arial" pitchFamily="34" charset="-122"/>
                <a:cs typeface="Arial" pitchFamily="34" charset="-120"/>
              </a:rPr>
              <a:t>Sources, standards and calculation basis</a:t>
            </a:r>
            <a:endParaRPr lang="en-US" sz="2700" dirty="0"/>
          </a:p>
        </p:txBody>
      </p:sp>
      <p:sp>
        <p:nvSpPr>
          <p:cNvPr id="4" name="Text 2"/>
          <p:cNvSpPr txBox="1"/>
          <p:nvPr/>
        </p:nvSpPr>
        <p:spPr>
          <a:xfrm>
            <a:off x="502920" y="1325880"/>
            <a:ext cx="5318608" cy="219456"/>
          </a:xfrm>
          <a:prstGeom prst="rect">
            <a:avLst/>
          </a:prstGeom>
          <a:noFill/>
          <a:ln/>
        </p:spPr>
        <p:txBody>
          <a:bodyPr wrap="square" lIns="0" tIns="0" rIns="0" bIns="0" rtlCol="0" anchor="t"/>
          <a:lstStyle/>
          <a:p>
            <a:pPr indent="0" marL="0">
              <a:lnSpc>
                <a:spcPct val="105000"/>
              </a:lnSpc>
              <a:buNone/>
            </a:pPr>
            <a:r>
              <a:rPr lang="en-US" sz="1300" b="1" dirty="0">
                <a:solidFill>
                  <a:srgbClr val="5B2A86"/>
                </a:solidFill>
                <a:latin typeface="Arial" pitchFamily="34" charset="0"/>
                <a:ea typeface="Arial" pitchFamily="34" charset="-122"/>
                <a:cs typeface="Arial" pitchFamily="34" charset="-120"/>
              </a:rPr>
              <a:t>Government and industry guidance</a:t>
            </a:r>
            <a:endParaRPr lang="en-US" sz="1300" dirty="0"/>
          </a:p>
        </p:txBody>
      </p:sp>
      <p:sp>
        <p:nvSpPr>
          <p:cNvPr id="5" name="Text 3"/>
          <p:cNvSpPr txBox="1"/>
          <p:nvPr/>
        </p:nvSpPr>
        <p:spPr>
          <a:xfrm>
            <a:off x="502920" y="1618488"/>
            <a:ext cx="365760" cy="512064"/>
          </a:xfrm>
          <a:prstGeom prst="rect">
            <a:avLst/>
          </a:prstGeom>
          <a:noFill/>
          <a:ln/>
        </p:spPr>
        <p:txBody>
          <a:bodyPr wrap="square" lIns="0" tIns="0" rIns="0" bIns="0" rtlCol="0" anchor="t"/>
          <a:lstStyle/>
          <a:p>
            <a:pPr indent="0" marL="0">
              <a:lnSpc>
                <a:spcPct val="105000"/>
              </a:lnSpc>
              <a:buNone/>
            </a:pPr>
            <a:r>
              <a:rPr lang="en-US" sz="1000" b="1" dirty="0">
                <a:solidFill>
                  <a:srgbClr val="7A4AA5"/>
                </a:solidFill>
                <a:latin typeface="Arial" pitchFamily="34" charset="0"/>
                <a:ea typeface="Arial" pitchFamily="34" charset="-122"/>
                <a:cs typeface="Arial" pitchFamily="34" charset="-120"/>
              </a:rPr>
              <a:t>[1]</a:t>
            </a:r>
            <a:endParaRPr lang="en-US" sz="1000" dirty="0"/>
          </a:p>
        </p:txBody>
      </p:sp>
      <p:sp>
        <p:nvSpPr>
          <p:cNvPr id="6" name="Text 4"/>
          <p:cNvSpPr txBox="1"/>
          <p:nvPr/>
        </p:nvSpPr>
        <p:spPr>
          <a:xfrm>
            <a:off x="886968" y="1618488"/>
            <a:ext cx="4934560" cy="512064"/>
          </a:xfrm>
          <a:prstGeom prst="rect">
            <a:avLst/>
          </a:prstGeom>
          <a:noFill/>
          <a:ln/>
        </p:spPr>
        <p:txBody>
          <a:bodyPr wrap="square" lIns="0" tIns="0" rIns="0" bIns="0" rtlCol="0" anchor="t"/>
          <a:lstStyle/>
          <a:p>
            <a:pPr indent="0" marL="0">
              <a:lnSpc>
                <a:spcPct val="106000"/>
              </a:lnSpc>
              <a:buNone/>
            </a:pPr>
            <a:r>
              <a:rPr lang="en-US" sz="1000" dirty="0">
                <a:solidFill>
                  <a:srgbClr val="17131D"/>
                </a:solidFill>
                <a:latin typeface="Arial" pitchFamily="34" charset="0"/>
                <a:ea typeface="Arial" pitchFamily="34" charset="-122"/>
                <a:cs typeface="Arial" pitchFamily="34" charset="-120"/>
              </a:rPr>
              <a:t>Department of Chemicals and Petrochemicals (GoI) and FICCI. Youth Innovation Challenge brief, India Chem 2026. 2026. Provided competition document.  </a:t>
            </a:r>
            <a:endParaRPr lang="en-US" sz="1000" dirty="0"/>
          </a:p>
        </p:txBody>
      </p:sp>
      <p:sp>
        <p:nvSpPr>
          <p:cNvPr id="7" name="Text 5"/>
          <p:cNvSpPr txBox="1"/>
          <p:nvPr/>
        </p:nvSpPr>
        <p:spPr>
          <a:xfrm>
            <a:off x="502920" y="2221992"/>
            <a:ext cx="365760" cy="512064"/>
          </a:xfrm>
          <a:prstGeom prst="rect">
            <a:avLst/>
          </a:prstGeom>
          <a:noFill/>
          <a:ln/>
        </p:spPr>
        <p:txBody>
          <a:bodyPr wrap="square" lIns="0" tIns="0" rIns="0" bIns="0" rtlCol="0" anchor="t"/>
          <a:lstStyle/>
          <a:p>
            <a:pPr indent="0" marL="0">
              <a:lnSpc>
                <a:spcPct val="105000"/>
              </a:lnSpc>
              <a:buNone/>
            </a:pPr>
            <a:r>
              <a:rPr lang="en-US" sz="1000" b="1" dirty="0">
                <a:solidFill>
                  <a:srgbClr val="7A4AA5"/>
                </a:solidFill>
                <a:latin typeface="Arial" pitchFamily="34" charset="0"/>
                <a:ea typeface="Arial" pitchFamily="34" charset="-122"/>
                <a:cs typeface="Arial" pitchFamily="34" charset="-120"/>
              </a:rPr>
              <a:t>[2]</a:t>
            </a:r>
            <a:endParaRPr lang="en-US" sz="1000" dirty="0"/>
          </a:p>
        </p:txBody>
      </p:sp>
      <p:sp>
        <p:nvSpPr>
          <p:cNvPr id="8" name="Text 6"/>
          <p:cNvSpPr txBox="1"/>
          <p:nvPr/>
        </p:nvSpPr>
        <p:spPr>
          <a:xfrm>
            <a:off x="886968" y="2221992"/>
            <a:ext cx="4934560" cy="512064"/>
          </a:xfrm>
          <a:prstGeom prst="rect">
            <a:avLst/>
          </a:prstGeom>
          <a:noFill/>
          <a:ln/>
        </p:spPr>
        <p:txBody>
          <a:bodyPr wrap="square" lIns="0" tIns="0" rIns="0" bIns="0" rtlCol="0" anchor="t"/>
          <a:lstStyle/>
          <a:p>
            <a:pPr indent="0" marL="0">
              <a:lnSpc>
                <a:spcPct val="106000"/>
              </a:lnSpc>
              <a:buNone/>
            </a:pPr>
            <a:r>
              <a:rPr lang="en-US" sz="1000" dirty="0">
                <a:solidFill>
                  <a:srgbClr val="17131D"/>
                </a:solidFill>
                <a:latin typeface="Arial" pitchFamily="34" charset="0"/>
                <a:ea typeface="Arial" pitchFamily="34" charset="-122"/>
                <a:cs typeface="Arial" pitchFamily="34" charset="-120"/>
              </a:rPr>
              <a:t>US Department of Energy, FEMP. Operations and Maintenance Best Practices Guide, Release 3.0 (predictive maintenance chapter). 2010.  </a:t>
            </a:r>
            <a:pPr indent="0" marL="0">
              <a:lnSpc>
                <a:spcPct val="106000"/>
              </a:lnSpc>
              <a:buNone/>
            </a:pPr>
            <a:r>
              <a:rPr lang="en-US" sz="1000" u="sng" dirty="0">
                <a:solidFill>
                  <a:srgbClr val="7A4AA5"/>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energy.gov</a:t>
            </a:r>
            <a:endParaRPr lang="en-US" sz="1000" dirty="0"/>
          </a:p>
        </p:txBody>
      </p:sp>
      <p:sp>
        <p:nvSpPr>
          <p:cNvPr id="9" name="Text 7"/>
          <p:cNvSpPr txBox="1"/>
          <p:nvPr/>
        </p:nvSpPr>
        <p:spPr>
          <a:xfrm>
            <a:off x="502920" y="2825496"/>
            <a:ext cx="365760" cy="512064"/>
          </a:xfrm>
          <a:prstGeom prst="rect">
            <a:avLst/>
          </a:prstGeom>
          <a:noFill/>
          <a:ln/>
        </p:spPr>
        <p:txBody>
          <a:bodyPr wrap="square" lIns="0" tIns="0" rIns="0" bIns="0" rtlCol="0" anchor="t"/>
          <a:lstStyle/>
          <a:p>
            <a:pPr indent="0" marL="0">
              <a:lnSpc>
                <a:spcPct val="105000"/>
              </a:lnSpc>
              <a:buNone/>
            </a:pPr>
            <a:r>
              <a:rPr lang="en-US" sz="1000" b="1" dirty="0">
                <a:solidFill>
                  <a:srgbClr val="7A4AA5"/>
                </a:solidFill>
                <a:latin typeface="Arial" pitchFamily="34" charset="0"/>
                <a:ea typeface="Arial" pitchFamily="34" charset="-122"/>
                <a:cs typeface="Arial" pitchFamily="34" charset="-120"/>
              </a:rPr>
              <a:t>[3]</a:t>
            </a:r>
            <a:endParaRPr lang="en-US" sz="1000" dirty="0"/>
          </a:p>
        </p:txBody>
      </p:sp>
      <p:sp>
        <p:nvSpPr>
          <p:cNvPr id="10" name="Text 8"/>
          <p:cNvSpPr txBox="1"/>
          <p:nvPr/>
        </p:nvSpPr>
        <p:spPr>
          <a:xfrm>
            <a:off x="886968" y="2825496"/>
            <a:ext cx="4934560" cy="512064"/>
          </a:xfrm>
          <a:prstGeom prst="rect">
            <a:avLst/>
          </a:prstGeom>
          <a:noFill/>
          <a:ln/>
        </p:spPr>
        <p:txBody>
          <a:bodyPr wrap="square" lIns="0" tIns="0" rIns="0" bIns="0" rtlCol="0" anchor="t"/>
          <a:lstStyle/>
          <a:p>
            <a:pPr indent="0" marL="0">
              <a:lnSpc>
                <a:spcPct val="106000"/>
              </a:lnSpc>
              <a:buNone/>
            </a:pPr>
            <a:r>
              <a:rPr lang="en-US" sz="1000" dirty="0">
                <a:solidFill>
                  <a:srgbClr val="17131D"/>
                </a:solidFill>
                <a:latin typeface="Arial" pitchFamily="34" charset="0"/>
                <a:ea typeface="Arial" pitchFamily="34" charset="-122"/>
                <a:cs typeface="Arial" pitchFamily="34" charset="-120"/>
              </a:rPr>
              <a:t>NITI Aayog. National Strategy for Artificial Intelligence. 2018. And DST, National Mission on Interdisciplinary Cyber-Physical Systems. 2018.  </a:t>
            </a:r>
            <a:pPr indent="0" marL="0">
              <a:lnSpc>
                <a:spcPct val="106000"/>
              </a:lnSpc>
              <a:buNone/>
            </a:pPr>
            <a:r>
              <a:rPr lang="en-US" sz="1000" u="sng" dirty="0">
                <a:solidFill>
                  <a:srgbClr val="7A4AA5"/>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dst.gov.in</a:t>
            </a:r>
            <a:endParaRPr lang="en-US" sz="1000" dirty="0"/>
          </a:p>
        </p:txBody>
      </p:sp>
      <p:sp>
        <p:nvSpPr>
          <p:cNvPr id="11" name="Text 9"/>
          <p:cNvSpPr txBox="1"/>
          <p:nvPr/>
        </p:nvSpPr>
        <p:spPr>
          <a:xfrm>
            <a:off x="502920" y="3429000"/>
            <a:ext cx="365760" cy="384048"/>
          </a:xfrm>
          <a:prstGeom prst="rect">
            <a:avLst/>
          </a:prstGeom>
          <a:noFill/>
          <a:ln/>
        </p:spPr>
        <p:txBody>
          <a:bodyPr wrap="square" lIns="0" tIns="0" rIns="0" bIns="0" rtlCol="0" anchor="t"/>
          <a:lstStyle/>
          <a:p>
            <a:pPr indent="0" marL="0">
              <a:lnSpc>
                <a:spcPct val="105000"/>
              </a:lnSpc>
              <a:buNone/>
            </a:pPr>
            <a:r>
              <a:rPr lang="en-US" sz="1000" b="1" dirty="0">
                <a:solidFill>
                  <a:srgbClr val="7A4AA5"/>
                </a:solidFill>
                <a:latin typeface="Arial" pitchFamily="34" charset="0"/>
                <a:ea typeface="Arial" pitchFamily="34" charset="-122"/>
                <a:cs typeface="Arial" pitchFamily="34" charset="-120"/>
              </a:rPr>
              <a:t>[4]</a:t>
            </a:r>
            <a:endParaRPr lang="en-US" sz="1000" dirty="0"/>
          </a:p>
        </p:txBody>
      </p:sp>
      <p:sp>
        <p:nvSpPr>
          <p:cNvPr id="12" name="Text 10"/>
          <p:cNvSpPr txBox="1"/>
          <p:nvPr/>
        </p:nvSpPr>
        <p:spPr>
          <a:xfrm>
            <a:off x="886968" y="3429000"/>
            <a:ext cx="4934560" cy="384048"/>
          </a:xfrm>
          <a:prstGeom prst="rect">
            <a:avLst/>
          </a:prstGeom>
          <a:noFill/>
          <a:ln/>
        </p:spPr>
        <p:txBody>
          <a:bodyPr wrap="square" lIns="0" tIns="0" rIns="0" bIns="0" rtlCol="0" anchor="t"/>
          <a:lstStyle/>
          <a:p>
            <a:pPr indent="0" marL="0">
              <a:lnSpc>
                <a:spcPct val="106000"/>
              </a:lnSpc>
              <a:buNone/>
            </a:pPr>
            <a:r>
              <a:rPr lang="en-US" sz="1000" dirty="0">
                <a:solidFill>
                  <a:srgbClr val="17131D"/>
                </a:solidFill>
                <a:latin typeface="Arial" pitchFamily="34" charset="0"/>
                <a:ea typeface="Arial" pitchFamily="34" charset="-122"/>
                <a:cs typeface="Arial" pitchFamily="34" charset="-120"/>
              </a:rPr>
              <a:t>Ministry of Heavy Industries. SAMARTH Udyog Bharat 4.0 (Industry 4.0 centres). 2024.  </a:t>
            </a:r>
            <a:pPr indent="0" marL="0">
              <a:lnSpc>
                <a:spcPct val="106000"/>
              </a:lnSpc>
              <a:buNone/>
            </a:pPr>
            <a:r>
              <a:rPr lang="en-US" sz="1000" u="sng" dirty="0">
                <a:solidFill>
                  <a:srgbClr val="7A4AA5"/>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samarthudyog-i40.in</a:t>
            </a:r>
            <a:endParaRPr lang="en-US" sz="1000" dirty="0"/>
          </a:p>
        </p:txBody>
      </p:sp>
      <p:sp>
        <p:nvSpPr>
          <p:cNvPr id="13" name="Text 11"/>
          <p:cNvSpPr txBox="1"/>
          <p:nvPr/>
        </p:nvSpPr>
        <p:spPr>
          <a:xfrm>
            <a:off x="502920" y="4014216"/>
            <a:ext cx="5318608" cy="219456"/>
          </a:xfrm>
          <a:prstGeom prst="rect">
            <a:avLst/>
          </a:prstGeom>
          <a:noFill/>
          <a:ln/>
        </p:spPr>
        <p:txBody>
          <a:bodyPr wrap="square" lIns="0" tIns="0" rIns="0" bIns="0" rtlCol="0" anchor="t"/>
          <a:lstStyle/>
          <a:p>
            <a:pPr indent="0" marL="0">
              <a:lnSpc>
                <a:spcPct val="105000"/>
              </a:lnSpc>
              <a:buNone/>
            </a:pPr>
            <a:r>
              <a:rPr lang="en-US" sz="1300" b="1" dirty="0">
                <a:solidFill>
                  <a:srgbClr val="5B2A86"/>
                </a:solidFill>
                <a:latin typeface="Arial" pitchFamily="34" charset="0"/>
                <a:ea typeface="Arial" pitchFamily="34" charset="-122"/>
                <a:cs typeface="Arial" pitchFamily="34" charset="-120"/>
              </a:rPr>
              <a:t>Engineering standards</a:t>
            </a:r>
            <a:endParaRPr lang="en-US" sz="1300" dirty="0"/>
          </a:p>
        </p:txBody>
      </p:sp>
      <p:sp>
        <p:nvSpPr>
          <p:cNvPr id="14" name="Text 12"/>
          <p:cNvSpPr txBox="1"/>
          <p:nvPr/>
        </p:nvSpPr>
        <p:spPr>
          <a:xfrm>
            <a:off x="502920" y="4306824"/>
            <a:ext cx="365760" cy="640080"/>
          </a:xfrm>
          <a:prstGeom prst="rect">
            <a:avLst/>
          </a:prstGeom>
          <a:noFill/>
          <a:ln/>
        </p:spPr>
        <p:txBody>
          <a:bodyPr wrap="square" lIns="0" tIns="0" rIns="0" bIns="0" rtlCol="0" anchor="t"/>
          <a:lstStyle/>
          <a:p>
            <a:pPr indent="0" marL="0">
              <a:lnSpc>
                <a:spcPct val="105000"/>
              </a:lnSpc>
              <a:buNone/>
            </a:pPr>
            <a:r>
              <a:rPr lang="en-US" sz="1000" b="1" dirty="0">
                <a:solidFill>
                  <a:srgbClr val="7A4AA5"/>
                </a:solidFill>
                <a:latin typeface="Arial" pitchFamily="34" charset="0"/>
                <a:ea typeface="Arial" pitchFamily="34" charset="-122"/>
                <a:cs typeface="Arial" pitchFamily="34" charset="-120"/>
              </a:rPr>
              <a:t>[5]</a:t>
            </a:r>
            <a:endParaRPr lang="en-US" sz="1000" dirty="0"/>
          </a:p>
        </p:txBody>
      </p:sp>
      <p:sp>
        <p:nvSpPr>
          <p:cNvPr id="15" name="Text 13"/>
          <p:cNvSpPr txBox="1"/>
          <p:nvPr/>
        </p:nvSpPr>
        <p:spPr>
          <a:xfrm>
            <a:off x="886968" y="4306824"/>
            <a:ext cx="4934560" cy="640080"/>
          </a:xfrm>
          <a:prstGeom prst="rect">
            <a:avLst/>
          </a:prstGeom>
          <a:noFill/>
          <a:ln/>
        </p:spPr>
        <p:txBody>
          <a:bodyPr wrap="square" lIns="0" tIns="0" rIns="0" bIns="0" rtlCol="0" anchor="t"/>
          <a:lstStyle/>
          <a:p>
            <a:pPr indent="0" marL="0">
              <a:lnSpc>
                <a:spcPct val="106000"/>
              </a:lnSpc>
              <a:buNone/>
            </a:pPr>
            <a:r>
              <a:rPr lang="en-US" sz="1000" dirty="0">
                <a:solidFill>
                  <a:srgbClr val="17131D"/>
                </a:solidFill>
                <a:latin typeface="Arial" pitchFamily="34" charset="0"/>
                <a:ea typeface="Arial" pitchFamily="34" charset="-122"/>
                <a:cs typeface="Arial" pitchFamily="34" charset="-120"/>
              </a:rPr>
              <a:t>ISO 20816-3:2022 machine vibration evaluation; ISO 13374-1:2003 condition-monitoring data processing; ISO 17359:2018 condition-monitoring guidelines; ISO 14224:2016 reliability data collection.  </a:t>
            </a:r>
            <a:pPr indent="0" marL="0">
              <a:lnSpc>
                <a:spcPct val="106000"/>
              </a:lnSpc>
              <a:buNone/>
            </a:pPr>
            <a:r>
              <a:rPr lang="en-US" sz="1000" u="sng" dirty="0">
                <a:solidFill>
                  <a:srgbClr val="7A4AA5"/>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iso.org</a:t>
            </a:r>
            <a:endParaRPr lang="en-US" sz="1000" dirty="0"/>
          </a:p>
        </p:txBody>
      </p:sp>
      <p:sp>
        <p:nvSpPr>
          <p:cNvPr id="16" name="Text 14"/>
          <p:cNvSpPr txBox="1"/>
          <p:nvPr/>
        </p:nvSpPr>
        <p:spPr>
          <a:xfrm>
            <a:off x="502920" y="5038344"/>
            <a:ext cx="365760" cy="384048"/>
          </a:xfrm>
          <a:prstGeom prst="rect">
            <a:avLst/>
          </a:prstGeom>
          <a:noFill/>
          <a:ln/>
        </p:spPr>
        <p:txBody>
          <a:bodyPr wrap="square" lIns="0" tIns="0" rIns="0" bIns="0" rtlCol="0" anchor="t"/>
          <a:lstStyle/>
          <a:p>
            <a:pPr indent="0" marL="0">
              <a:lnSpc>
                <a:spcPct val="105000"/>
              </a:lnSpc>
              <a:buNone/>
            </a:pPr>
            <a:r>
              <a:rPr lang="en-US" sz="1000" b="1" dirty="0">
                <a:solidFill>
                  <a:srgbClr val="7A4AA5"/>
                </a:solidFill>
                <a:latin typeface="Arial" pitchFamily="34" charset="0"/>
                <a:ea typeface="Arial" pitchFamily="34" charset="-122"/>
                <a:cs typeface="Arial" pitchFamily="34" charset="-120"/>
              </a:rPr>
              <a:t>[6]</a:t>
            </a:r>
            <a:endParaRPr lang="en-US" sz="1000" dirty="0"/>
          </a:p>
        </p:txBody>
      </p:sp>
      <p:sp>
        <p:nvSpPr>
          <p:cNvPr id="17" name="Text 15"/>
          <p:cNvSpPr txBox="1"/>
          <p:nvPr/>
        </p:nvSpPr>
        <p:spPr>
          <a:xfrm>
            <a:off x="886968" y="5038344"/>
            <a:ext cx="4934560" cy="384048"/>
          </a:xfrm>
          <a:prstGeom prst="rect">
            <a:avLst/>
          </a:prstGeom>
          <a:noFill/>
          <a:ln/>
        </p:spPr>
        <p:txBody>
          <a:bodyPr wrap="square" lIns="0" tIns="0" rIns="0" bIns="0" rtlCol="0" anchor="t"/>
          <a:lstStyle/>
          <a:p>
            <a:pPr indent="0" marL="0">
              <a:lnSpc>
                <a:spcPct val="106000"/>
              </a:lnSpc>
              <a:buNone/>
            </a:pPr>
            <a:r>
              <a:rPr lang="en-US" sz="1000" dirty="0">
                <a:solidFill>
                  <a:srgbClr val="17131D"/>
                </a:solidFill>
                <a:latin typeface="Arial" pitchFamily="34" charset="0"/>
                <a:ea typeface="Arial" pitchFamily="34" charset="-122"/>
                <a:cs typeface="Arial" pitchFamily="34" charset="-120"/>
              </a:rPr>
              <a:t>Petroleum and Explosives Safety Organisation (PESO), DPIIT. Statutory approvals for equipment in hazardous areas.  </a:t>
            </a:r>
            <a:pPr indent="0" marL="0">
              <a:lnSpc>
                <a:spcPct val="106000"/>
              </a:lnSpc>
              <a:buNone/>
            </a:pPr>
            <a:r>
              <a:rPr lang="en-US" sz="1000" u="sng" dirty="0">
                <a:solidFill>
                  <a:srgbClr val="7A4AA5"/>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peso.gov.in</a:t>
            </a:r>
            <a:endParaRPr lang="en-US" sz="1000" dirty="0"/>
          </a:p>
        </p:txBody>
      </p:sp>
      <p:sp>
        <p:nvSpPr>
          <p:cNvPr id="18" name="Text 16"/>
          <p:cNvSpPr txBox="1"/>
          <p:nvPr/>
        </p:nvSpPr>
        <p:spPr>
          <a:xfrm>
            <a:off x="6370168" y="1325880"/>
            <a:ext cx="5318608" cy="219456"/>
          </a:xfrm>
          <a:prstGeom prst="rect">
            <a:avLst/>
          </a:prstGeom>
          <a:noFill/>
          <a:ln/>
        </p:spPr>
        <p:txBody>
          <a:bodyPr wrap="square" lIns="0" tIns="0" rIns="0" bIns="0" rtlCol="0" anchor="t"/>
          <a:lstStyle/>
          <a:p>
            <a:pPr indent="0" marL="0">
              <a:lnSpc>
                <a:spcPct val="105000"/>
              </a:lnSpc>
              <a:buNone/>
            </a:pPr>
            <a:r>
              <a:rPr lang="en-US" sz="1300" b="1" dirty="0">
                <a:solidFill>
                  <a:srgbClr val="5B2A86"/>
                </a:solidFill>
                <a:latin typeface="Arial" pitchFamily="34" charset="0"/>
                <a:ea typeface="Arial" pitchFamily="34" charset="-122"/>
                <a:cs typeface="Arial" pitchFamily="34" charset="-120"/>
              </a:rPr>
              <a:t>Technical literature</a:t>
            </a:r>
            <a:endParaRPr lang="en-US" sz="1300" dirty="0"/>
          </a:p>
        </p:txBody>
      </p:sp>
      <p:sp>
        <p:nvSpPr>
          <p:cNvPr id="19" name="Text 17"/>
          <p:cNvSpPr txBox="1"/>
          <p:nvPr/>
        </p:nvSpPr>
        <p:spPr>
          <a:xfrm>
            <a:off x="6370168" y="1618488"/>
            <a:ext cx="365760" cy="384048"/>
          </a:xfrm>
          <a:prstGeom prst="rect">
            <a:avLst/>
          </a:prstGeom>
          <a:noFill/>
          <a:ln/>
        </p:spPr>
        <p:txBody>
          <a:bodyPr wrap="square" lIns="0" tIns="0" rIns="0" bIns="0" rtlCol="0" anchor="t"/>
          <a:lstStyle/>
          <a:p>
            <a:pPr indent="0" marL="0">
              <a:lnSpc>
                <a:spcPct val="105000"/>
              </a:lnSpc>
              <a:buNone/>
            </a:pPr>
            <a:r>
              <a:rPr lang="en-US" sz="1000" b="1" dirty="0">
                <a:solidFill>
                  <a:srgbClr val="7A4AA5"/>
                </a:solidFill>
                <a:latin typeface="Arial" pitchFamily="34" charset="0"/>
                <a:ea typeface="Arial" pitchFamily="34" charset="-122"/>
                <a:cs typeface="Arial" pitchFamily="34" charset="-120"/>
              </a:rPr>
              <a:t>[7]</a:t>
            </a:r>
            <a:endParaRPr lang="en-US" sz="1000" dirty="0"/>
          </a:p>
        </p:txBody>
      </p:sp>
      <p:sp>
        <p:nvSpPr>
          <p:cNvPr id="20" name="Text 18"/>
          <p:cNvSpPr txBox="1"/>
          <p:nvPr/>
        </p:nvSpPr>
        <p:spPr>
          <a:xfrm>
            <a:off x="6754216" y="1618488"/>
            <a:ext cx="4934560" cy="384048"/>
          </a:xfrm>
          <a:prstGeom prst="rect">
            <a:avLst/>
          </a:prstGeom>
          <a:noFill/>
          <a:ln/>
        </p:spPr>
        <p:txBody>
          <a:bodyPr wrap="square" lIns="0" tIns="0" rIns="0" bIns="0" rtlCol="0" anchor="t"/>
          <a:lstStyle/>
          <a:p>
            <a:pPr indent="0" marL="0">
              <a:lnSpc>
                <a:spcPct val="106000"/>
              </a:lnSpc>
              <a:buNone/>
            </a:pPr>
            <a:r>
              <a:rPr lang="en-US" sz="1000" dirty="0">
                <a:solidFill>
                  <a:srgbClr val="17131D"/>
                </a:solidFill>
                <a:latin typeface="Arial" pitchFamily="34" charset="0"/>
                <a:ea typeface="Arial" pitchFamily="34" charset="-122"/>
                <a:cs typeface="Arial" pitchFamily="34" charset="-120"/>
              </a:rPr>
              <a:t>Nowlan, F.S. and Heap, H.F. Reliability-Centered Maintenance. US DoD report AD-A066579. 1978.  </a:t>
            </a:r>
            <a:endParaRPr lang="en-US" sz="1000" dirty="0"/>
          </a:p>
        </p:txBody>
      </p:sp>
      <p:sp>
        <p:nvSpPr>
          <p:cNvPr id="21" name="Text 19"/>
          <p:cNvSpPr txBox="1"/>
          <p:nvPr/>
        </p:nvSpPr>
        <p:spPr>
          <a:xfrm>
            <a:off x="6370168" y="2093976"/>
            <a:ext cx="365760" cy="384048"/>
          </a:xfrm>
          <a:prstGeom prst="rect">
            <a:avLst/>
          </a:prstGeom>
          <a:noFill/>
          <a:ln/>
        </p:spPr>
        <p:txBody>
          <a:bodyPr wrap="square" lIns="0" tIns="0" rIns="0" bIns="0" rtlCol="0" anchor="t"/>
          <a:lstStyle/>
          <a:p>
            <a:pPr indent="0" marL="0">
              <a:lnSpc>
                <a:spcPct val="105000"/>
              </a:lnSpc>
              <a:buNone/>
            </a:pPr>
            <a:r>
              <a:rPr lang="en-US" sz="1000" b="1" dirty="0">
                <a:solidFill>
                  <a:srgbClr val="7A4AA5"/>
                </a:solidFill>
                <a:latin typeface="Arial" pitchFamily="34" charset="0"/>
                <a:ea typeface="Arial" pitchFamily="34" charset="-122"/>
                <a:cs typeface="Arial" pitchFamily="34" charset="-120"/>
              </a:rPr>
              <a:t>[8]</a:t>
            </a:r>
            <a:endParaRPr lang="en-US" sz="1000" dirty="0"/>
          </a:p>
        </p:txBody>
      </p:sp>
      <p:sp>
        <p:nvSpPr>
          <p:cNvPr id="22" name="Text 20"/>
          <p:cNvSpPr txBox="1"/>
          <p:nvPr/>
        </p:nvSpPr>
        <p:spPr>
          <a:xfrm>
            <a:off x="6754216" y="2093976"/>
            <a:ext cx="4934560" cy="384048"/>
          </a:xfrm>
          <a:prstGeom prst="rect">
            <a:avLst/>
          </a:prstGeom>
          <a:noFill/>
          <a:ln/>
        </p:spPr>
        <p:txBody>
          <a:bodyPr wrap="square" lIns="0" tIns="0" rIns="0" bIns="0" rtlCol="0" anchor="t"/>
          <a:lstStyle/>
          <a:p>
            <a:pPr indent="0" marL="0">
              <a:lnSpc>
                <a:spcPct val="106000"/>
              </a:lnSpc>
              <a:buNone/>
            </a:pPr>
            <a:r>
              <a:rPr lang="en-US" sz="1000" dirty="0">
                <a:solidFill>
                  <a:srgbClr val="17131D"/>
                </a:solidFill>
                <a:latin typeface="Arial" pitchFamily="34" charset="0"/>
                <a:ea typeface="Arial" pitchFamily="34" charset="-122"/>
                <a:cs typeface="Arial" pitchFamily="34" charset="-120"/>
              </a:rPr>
              <a:t>McKee, K. et al. A review of major centrifugal pump failure modes. ICOMS Asset Management Conference. 2011.  </a:t>
            </a:r>
            <a:pPr indent="0" marL="0">
              <a:lnSpc>
                <a:spcPct val="106000"/>
              </a:lnSpc>
              <a:buNone/>
            </a:pPr>
            <a:r>
              <a:rPr lang="en-US" sz="1000" u="sng" dirty="0">
                <a:solidFill>
                  <a:srgbClr val="7A4AA5"/>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espace.curtin.edu.au</a:t>
            </a:r>
            <a:endParaRPr lang="en-US" sz="1000" dirty="0"/>
          </a:p>
        </p:txBody>
      </p:sp>
      <p:sp>
        <p:nvSpPr>
          <p:cNvPr id="23" name="Text 21"/>
          <p:cNvSpPr txBox="1"/>
          <p:nvPr/>
        </p:nvSpPr>
        <p:spPr>
          <a:xfrm>
            <a:off x="6370168" y="2569464"/>
            <a:ext cx="365760" cy="384048"/>
          </a:xfrm>
          <a:prstGeom prst="rect">
            <a:avLst/>
          </a:prstGeom>
          <a:noFill/>
          <a:ln/>
        </p:spPr>
        <p:txBody>
          <a:bodyPr wrap="square" lIns="0" tIns="0" rIns="0" bIns="0" rtlCol="0" anchor="t"/>
          <a:lstStyle/>
          <a:p>
            <a:pPr indent="0" marL="0">
              <a:lnSpc>
                <a:spcPct val="105000"/>
              </a:lnSpc>
              <a:buNone/>
            </a:pPr>
            <a:r>
              <a:rPr lang="en-US" sz="1000" b="1" dirty="0">
                <a:solidFill>
                  <a:srgbClr val="7A4AA5"/>
                </a:solidFill>
                <a:latin typeface="Arial" pitchFamily="34" charset="0"/>
                <a:ea typeface="Arial" pitchFamily="34" charset="-122"/>
                <a:cs typeface="Arial" pitchFamily="34" charset="-120"/>
              </a:rPr>
              <a:t>[9]</a:t>
            </a:r>
            <a:endParaRPr lang="en-US" sz="1000" dirty="0"/>
          </a:p>
        </p:txBody>
      </p:sp>
      <p:sp>
        <p:nvSpPr>
          <p:cNvPr id="24" name="Text 22"/>
          <p:cNvSpPr txBox="1"/>
          <p:nvPr/>
        </p:nvSpPr>
        <p:spPr>
          <a:xfrm>
            <a:off x="6754216" y="2569464"/>
            <a:ext cx="4934560" cy="384048"/>
          </a:xfrm>
          <a:prstGeom prst="rect">
            <a:avLst/>
          </a:prstGeom>
          <a:noFill/>
          <a:ln/>
        </p:spPr>
        <p:txBody>
          <a:bodyPr wrap="square" lIns="0" tIns="0" rIns="0" bIns="0" rtlCol="0" anchor="t"/>
          <a:lstStyle/>
          <a:p>
            <a:pPr indent="0" marL="0">
              <a:lnSpc>
                <a:spcPct val="106000"/>
              </a:lnSpc>
              <a:buNone/>
            </a:pPr>
            <a:r>
              <a:rPr lang="en-US" sz="1000" dirty="0">
                <a:solidFill>
                  <a:srgbClr val="17131D"/>
                </a:solidFill>
                <a:latin typeface="Arial" pitchFamily="34" charset="0"/>
                <a:ea typeface="Arial" pitchFamily="34" charset="-122"/>
                <a:cs typeface="Arial" pitchFamily="34" charset="-120"/>
              </a:rPr>
              <a:t>Hydraulic Institute, Europump and US DOE. Pump Life Cycle Costs: A Guide to LCC Analysis for Pumping Systems. 2001.  </a:t>
            </a:r>
            <a:endParaRPr lang="en-US" sz="1000" dirty="0"/>
          </a:p>
        </p:txBody>
      </p:sp>
      <p:sp>
        <p:nvSpPr>
          <p:cNvPr id="25" name="Text 23"/>
          <p:cNvSpPr txBox="1"/>
          <p:nvPr/>
        </p:nvSpPr>
        <p:spPr>
          <a:xfrm>
            <a:off x="6370168" y="3154680"/>
            <a:ext cx="5318608" cy="219456"/>
          </a:xfrm>
          <a:prstGeom prst="rect">
            <a:avLst/>
          </a:prstGeom>
          <a:noFill/>
          <a:ln/>
        </p:spPr>
        <p:txBody>
          <a:bodyPr wrap="square" lIns="0" tIns="0" rIns="0" bIns="0" rtlCol="0" anchor="t"/>
          <a:lstStyle/>
          <a:p>
            <a:pPr indent="0" marL="0">
              <a:lnSpc>
                <a:spcPct val="105000"/>
              </a:lnSpc>
              <a:buNone/>
            </a:pPr>
            <a:r>
              <a:rPr lang="en-US" sz="1300" b="1" dirty="0">
                <a:solidFill>
                  <a:srgbClr val="5B2A86"/>
                </a:solidFill>
                <a:latin typeface="Arial" pitchFamily="34" charset="0"/>
                <a:ea typeface="Arial" pitchFamily="34" charset="-122"/>
                <a:cs typeface="Arial" pitchFamily="34" charset="-120"/>
              </a:rPr>
              <a:t>Dataset and team calculations</a:t>
            </a:r>
            <a:endParaRPr lang="en-US" sz="1300" dirty="0"/>
          </a:p>
        </p:txBody>
      </p:sp>
      <p:sp>
        <p:nvSpPr>
          <p:cNvPr id="26" name="Text 24"/>
          <p:cNvSpPr txBox="1"/>
          <p:nvPr/>
        </p:nvSpPr>
        <p:spPr>
          <a:xfrm>
            <a:off x="6370168" y="3447288"/>
            <a:ext cx="365760" cy="640080"/>
          </a:xfrm>
          <a:prstGeom prst="rect">
            <a:avLst/>
          </a:prstGeom>
          <a:noFill/>
          <a:ln/>
        </p:spPr>
        <p:txBody>
          <a:bodyPr wrap="square" lIns="0" tIns="0" rIns="0" bIns="0" rtlCol="0" anchor="t"/>
          <a:lstStyle/>
          <a:p>
            <a:pPr indent="0" marL="0">
              <a:lnSpc>
                <a:spcPct val="105000"/>
              </a:lnSpc>
              <a:buNone/>
            </a:pPr>
            <a:r>
              <a:rPr lang="en-US" sz="1000" b="1" dirty="0">
                <a:solidFill>
                  <a:srgbClr val="7A4AA5"/>
                </a:solidFill>
                <a:latin typeface="Arial" pitchFamily="34" charset="0"/>
                <a:ea typeface="Arial" pitchFamily="34" charset="-122"/>
                <a:cs typeface="Arial" pitchFamily="34" charset="-120"/>
              </a:rPr>
              <a:t>[10]</a:t>
            </a:r>
            <a:endParaRPr lang="en-US" sz="1000" dirty="0"/>
          </a:p>
        </p:txBody>
      </p:sp>
      <p:sp>
        <p:nvSpPr>
          <p:cNvPr id="27" name="Text 25"/>
          <p:cNvSpPr txBox="1"/>
          <p:nvPr/>
        </p:nvSpPr>
        <p:spPr>
          <a:xfrm>
            <a:off x="6754216" y="3447288"/>
            <a:ext cx="4934560" cy="640080"/>
          </a:xfrm>
          <a:prstGeom prst="rect">
            <a:avLst/>
          </a:prstGeom>
          <a:noFill/>
          <a:ln/>
        </p:spPr>
        <p:txBody>
          <a:bodyPr wrap="square" lIns="0" tIns="0" rIns="0" bIns="0" rtlCol="0" anchor="t"/>
          <a:lstStyle/>
          <a:p>
            <a:pPr indent="0" marL="0">
              <a:lnSpc>
                <a:spcPct val="106000"/>
              </a:lnSpc>
              <a:buNone/>
            </a:pPr>
            <a:r>
              <a:rPr lang="en-US" sz="1000" dirty="0">
                <a:solidFill>
                  <a:srgbClr val="17131D"/>
                </a:solidFill>
                <a:latin typeface="Arial" pitchFamily="34" charset="0"/>
                <a:ea typeface="Arial" pitchFamily="34" charset="-122"/>
                <a:cs typeface="Arial" pitchFamily="34" charset="-120"/>
              </a:rPr>
              <a:t>Case Western Reserve University Bearing Data Center, seeded-fault vibration dataset. Team model code train_fault_model.py and results metrics.json, 2026. Benchmark results only; not plant performance.  </a:t>
            </a:r>
            <a:pPr indent="0" marL="0">
              <a:lnSpc>
                <a:spcPct val="106000"/>
              </a:lnSpc>
              <a:buNone/>
            </a:pPr>
            <a:r>
              <a:rPr lang="en-US" sz="1000" u="sng" dirty="0">
                <a:solidFill>
                  <a:srgbClr val="7A4AA5"/>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engineering.case.edu/bearingdatacenter</a:t>
            </a:r>
            <a:endParaRPr lang="en-US" sz="1000" dirty="0"/>
          </a:p>
        </p:txBody>
      </p:sp>
      <p:sp>
        <p:nvSpPr>
          <p:cNvPr id="28" name="Text 26"/>
          <p:cNvSpPr txBox="1"/>
          <p:nvPr/>
        </p:nvSpPr>
        <p:spPr>
          <a:xfrm>
            <a:off x="6370168" y="4178808"/>
            <a:ext cx="365760" cy="512064"/>
          </a:xfrm>
          <a:prstGeom prst="rect">
            <a:avLst/>
          </a:prstGeom>
          <a:noFill/>
          <a:ln/>
        </p:spPr>
        <p:txBody>
          <a:bodyPr wrap="square" lIns="0" tIns="0" rIns="0" bIns="0" rtlCol="0" anchor="t"/>
          <a:lstStyle/>
          <a:p>
            <a:pPr indent="0" marL="0">
              <a:lnSpc>
                <a:spcPct val="105000"/>
              </a:lnSpc>
              <a:buNone/>
            </a:pPr>
            <a:r>
              <a:rPr lang="en-US" sz="1000" b="1" dirty="0">
                <a:solidFill>
                  <a:srgbClr val="7A4AA5"/>
                </a:solidFill>
                <a:latin typeface="Arial" pitchFamily="34" charset="0"/>
                <a:ea typeface="Arial" pitchFamily="34" charset="-122"/>
                <a:cs typeface="Arial" pitchFamily="34" charset="-120"/>
              </a:rPr>
              <a:t>[11]</a:t>
            </a:r>
            <a:endParaRPr lang="en-US" sz="1000" dirty="0"/>
          </a:p>
        </p:txBody>
      </p:sp>
      <p:sp>
        <p:nvSpPr>
          <p:cNvPr id="29" name="Text 27"/>
          <p:cNvSpPr txBox="1"/>
          <p:nvPr/>
        </p:nvSpPr>
        <p:spPr>
          <a:xfrm>
            <a:off x="6754216" y="4178808"/>
            <a:ext cx="4934560" cy="512064"/>
          </a:xfrm>
          <a:prstGeom prst="rect">
            <a:avLst/>
          </a:prstGeom>
          <a:noFill/>
          <a:ln/>
        </p:spPr>
        <p:txBody>
          <a:bodyPr wrap="square" lIns="0" tIns="0" rIns="0" bIns="0" rtlCol="0" anchor="t"/>
          <a:lstStyle/>
          <a:p>
            <a:pPr indent="0" marL="0">
              <a:lnSpc>
                <a:spcPct val="106000"/>
              </a:lnSpc>
              <a:buNone/>
            </a:pPr>
            <a:r>
              <a:rPr lang="en-US" sz="1000" dirty="0">
                <a:solidFill>
                  <a:srgbClr val="17131D"/>
                </a:solidFill>
                <a:latin typeface="Arial" pitchFamily="34" charset="0"/>
                <a:ea typeface="Arial" pitchFamily="34" charset="-122"/>
                <a:cs typeface="Arial" pitchFamily="34" charset="-120"/>
              </a:rPr>
              <a:t>Team economics: NAADI_pilot_economics.xlsx (live formulas and assumption register) and CALCULATIONS.md, 2026. Plant archetype values are team estimates pending pilot data.  </a:t>
            </a:r>
            <a:endParaRPr lang="en-US" sz="1000" dirty="0"/>
          </a:p>
        </p:txBody>
      </p:sp>
      <p:sp>
        <p:nvSpPr>
          <p:cNvPr id="30" name="Shape 28"/>
          <p:cNvSpPr/>
          <p:nvPr/>
        </p:nvSpPr>
        <p:spPr>
          <a:xfrm>
            <a:off x="6370168" y="4873752"/>
            <a:ext cx="5318608" cy="914400"/>
          </a:xfrm>
          <a:prstGeom prst="rect">
            <a:avLst/>
          </a:prstGeom>
          <a:solidFill>
            <a:srgbClr val="F8F5FA"/>
          </a:solidFill>
          <a:ln/>
        </p:spPr>
      </p:sp>
      <p:sp>
        <p:nvSpPr>
          <p:cNvPr id="31" name="Text 29"/>
          <p:cNvSpPr txBox="1"/>
          <p:nvPr/>
        </p:nvSpPr>
        <p:spPr>
          <a:xfrm>
            <a:off x="6507328" y="4965192"/>
            <a:ext cx="5044288" cy="777240"/>
          </a:xfrm>
          <a:prstGeom prst="rect">
            <a:avLst/>
          </a:prstGeom>
          <a:noFill/>
          <a:ln/>
        </p:spPr>
        <p:txBody>
          <a:bodyPr wrap="square" lIns="0" tIns="0" rIns="0" bIns="0" rtlCol="0" anchor="t"/>
          <a:lstStyle/>
          <a:p>
            <a:pPr indent="0" marL="0">
              <a:lnSpc>
                <a:spcPct val="110000"/>
              </a:lnSpc>
              <a:buNone/>
            </a:pPr>
            <a:r>
              <a:rPr lang="en-US" sz="950" b="1" dirty="0">
                <a:solidFill>
                  <a:srgbClr val="17131D"/>
                </a:solidFill>
                <a:latin typeface="Arial" pitchFamily="34" charset="0"/>
                <a:ea typeface="Arial" pitchFamily="34" charset="-122"/>
                <a:cs typeface="Arial" pitchFamily="34" charset="-120"/>
              </a:rPr>
              <a:t>Basis of preparation. </a:t>
            </a:r>
            <a:pPr indent="0" marL="0">
              <a:lnSpc>
                <a:spcPct val="110000"/>
              </a:lnSpc>
              <a:buNone/>
            </a:pPr>
            <a:r>
              <a:rPr lang="en-US" sz="950" dirty="0">
                <a:solidFill>
                  <a:srgbClr val="625D68"/>
                </a:solidFill>
                <a:latin typeface="Arial" pitchFamily="34" charset="0"/>
                <a:ea typeface="Arial" pitchFamily="34" charset="-122"/>
                <a:cs typeface="Arial" pitchFamily="34" charset="-120"/>
              </a:rPr>
              <a:t>Estimates and calculations are labelled where they appear. The comparison scores on slide 3 are team judgement. No plant trial, vendor quotation or primary research has been completed yet; the pilot in slide 6 is designed to supply that evidence.</a:t>
            </a:r>
            <a:endParaRPr lang="en-US" sz="950" dirty="0"/>
          </a:p>
        </p:txBody>
      </p:sp>
      <p:sp>
        <p:nvSpPr>
          <p:cNvPr id="32" name="Text 30"/>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850" dirty="0">
                <a:solidFill>
                  <a:srgbClr val="625D68"/>
                </a:solidFill>
                <a:latin typeface="Arial" pitchFamily="34" charset="0"/>
                <a:ea typeface="Arial" pitchFamily="34" charset="-122"/>
                <a:cs typeface="Arial" pitchFamily="34" charset="-120"/>
              </a:rPr>
              <a:t>India Chem 2026 · NIT Warangal</a:t>
            </a:r>
            <a:endParaRPr lang="en-US" sz="850" dirty="0"/>
          </a:p>
        </p:txBody>
      </p:sp>
      <p:sp>
        <p:nvSpPr>
          <p:cNvPr id="33" name="Text 31"/>
          <p:cNvSpPr txBox="1"/>
          <p:nvPr/>
        </p:nvSpPr>
        <p:spPr>
          <a:xfrm>
            <a:off x="10957255" y="6583680"/>
            <a:ext cx="731520" cy="182880"/>
          </a:xfrm>
          <a:prstGeom prst="rect">
            <a:avLst/>
          </a:prstGeom>
          <a:noFill/>
          <a:ln/>
        </p:spPr>
        <p:txBody>
          <a:bodyPr wrap="square" lIns="0" tIns="0" rIns="0" bIns="0" rtlCol="0" anchor="ctr"/>
          <a:lstStyle/>
          <a:p>
            <a:pPr algn="r" indent="0" marL="0">
              <a:buNone/>
            </a:pPr>
            <a:r>
              <a:rPr lang="en-US" sz="850" dirty="0">
                <a:solidFill>
                  <a:srgbClr val="625D68"/>
                </a:solidFill>
                <a:latin typeface="Arial" pitchFamily="34" charset="0"/>
                <a:ea typeface="Arial" pitchFamily="34" charset="-122"/>
                <a:cs typeface="Arial" pitchFamily="34" charset="-120"/>
              </a:rPr>
              <a:t>8 / 8</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NAADI: early fault detection for critical pumps</dc:title>
  <dc:subject>PptxGenJS Presentation</dc:subject>
  <dc:creator>Raunak Jain, Anushriya Bhattacharya, NIT Warangal</dc:creator>
  <cp:lastModifiedBy>Raunak Jain, Anushriya Bhattacharya, NIT Warangal</cp:lastModifiedBy>
  <cp:revision>1</cp:revision>
  <dcterms:created xsi:type="dcterms:W3CDTF">2026-09-14T08:07:53Z</dcterms:created>
  <dcterms:modified xsi:type="dcterms:W3CDTF">2026-09-14T08:07:53Z</dcterms:modified>
</cp:coreProperties>
</file>