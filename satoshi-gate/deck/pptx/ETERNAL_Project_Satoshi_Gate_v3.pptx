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B2A5B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A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A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5F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790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3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0% churn</c:v>
                  </c:pt>
                  <c:pt idx="1">
                    <c:v>30% churn</c:v>
                  </c:pt>
                  <c:pt idx="2">
                    <c:v>37.5% churn</c:v>
                  </c:pt>
                  <c:pt idx="3">
                    <c:v>45% churn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18.2</c:v>
                </c:pt>
                <c:pt idx="1">
                  <c:v>26</c:v>
                </c:pt>
                <c:pt idx="2">
                  <c:v>29.1</c:v>
                </c:pt>
                <c:pt idx="3">
                  <c:v>33.1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1" i="0" strike="noStrike" sz="900" u="none">
                  <a:solidFill>
                    <a:srgbClr val="1A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D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A5B"/>
              </a:solidFill>
              <a:effectLst/>
            </c:spPr>
          </c:dPt>
          <c:dPt>
            <c:idx val="1"/>
            <c:bubble3D val="0"/>
            <c:spPr>
              <a:solidFill>
                <a:srgbClr val="DCE8F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Top-4 clients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0"/>
            <a:ext cx="54864" cy="6858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1417320"/>
            <a:ext cx="3291840" cy="3291840"/>
          </a:xfrm>
          <a:prstGeom prst="ellipse">
            <a:avLst/>
          </a:prstGeom>
          <a:ln w="12700">
            <a:solidFill>
              <a:srgbClr val="1F3F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67928" y="1737360"/>
            <a:ext cx="2651760" cy="2651760"/>
          </a:xfrm>
          <a:prstGeom prst="ellipse">
            <a:avLst/>
          </a:prstGeom>
          <a:ln w="12700">
            <a:solidFill>
              <a:srgbClr val="2B52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87968" y="2057400"/>
            <a:ext cx="2011680" cy="2011680"/>
          </a:xfrm>
          <a:prstGeom prst="ellipse">
            <a:avLst/>
          </a:prstGeom>
          <a:ln w="15875">
            <a:solidFill>
              <a:srgbClr val="3A67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08008" y="2377440"/>
            <a:ext cx="1371600" cy="1371600"/>
          </a:xfrm>
          <a:prstGeom prst="ellipse">
            <a:avLst/>
          </a:prstGeom>
          <a:ln w="19050">
            <a:solidFill>
              <a:srgbClr val="5B8A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2697480"/>
            <a:ext cx="731520" cy="731520"/>
          </a:xfrm>
          <a:prstGeom prst="ellipse">
            <a:avLst/>
          </a:prstGeom>
          <a:ln w="25400">
            <a:solidFill>
              <a:srgbClr val="8FB4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47504" y="2916936"/>
            <a:ext cx="292608" cy="29260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240280"/>
            <a:ext cx="3840480" cy="0"/>
          </a:xfrm>
          <a:prstGeom prst="line">
            <a:avLst/>
          </a:prstGeom>
          <a:noFill/>
          <a:ln w="9525">
            <a:solidFill>
              <a:srgbClr val="3A67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01000" y="3063240"/>
            <a:ext cx="3840480" cy="0"/>
          </a:xfrm>
          <a:prstGeom prst="line">
            <a:avLst/>
          </a:prstGeom>
          <a:noFill/>
          <a:ln w="15875">
            <a:solidFill>
              <a:srgbClr val="8FB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0" y="3886200"/>
            <a:ext cx="3840480" cy="0"/>
          </a:xfrm>
          <a:prstGeom prst="line">
            <a:avLst/>
          </a:prstGeom>
          <a:noFill/>
          <a:ln w="9525">
            <a:solidFill>
              <a:srgbClr val="3A67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7888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0496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33104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25712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0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03536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96144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88752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1360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73968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66576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59184" y="5623560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47888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0496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33104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25712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18320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0928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03536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96144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88752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881360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173968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66576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759184" y="5916168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0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47888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40496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33104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25712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18320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10928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03536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96144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588752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881360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73968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66576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759184" y="6208776"/>
            <a:ext cx="54864" cy="54864"/>
          </a:xfrm>
          <a:prstGeom prst="ellipse">
            <a:avLst/>
          </a:prstGeom>
          <a:solidFill>
            <a:srgbClr val="3A67B5"/>
          </a:solidFill>
          <a:ln w="12700">
            <a:solidFill>
              <a:srgbClr val="3A67B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" y="1417320"/>
            <a:ext cx="73152" cy="26517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6012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 ×  LIMINAL CUSTODY SOLUTIONS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960120" y="17830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SATOSHI GATE</a:t>
            </a:r>
            <a:endParaRPr lang="en-US" sz="4000" dirty="0"/>
          </a:p>
        </p:txBody>
      </p:sp>
      <p:sp>
        <p:nvSpPr>
          <p:cNvPr id="58" name="Text 56"/>
          <p:cNvSpPr txBox="1"/>
          <p:nvPr/>
        </p:nvSpPr>
        <p:spPr>
          <a:xfrm>
            <a:off x="96012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TRANSACTION RECOMMENDATION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960120" y="3657600"/>
            <a:ext cx="20116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60120" y="3794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access today. Control only when the economics are proven.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960120" y="5074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ETERNAL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960120" y="5349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Raunak Jain  ·  Sambhav Khandelwal  ·  Surya Swarup  ·  Naman Ghosh  ·  Akshith Aitha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0" y="6144768"/>
            <a:ext cx="7589520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0" y="6144768"/>
            <a:ext cx="7589520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0" y="6208776"/>
            <a:ext cx="7589520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11480" y="6263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DATAFORGE 2026  ·  CASE: PROJECT SATOSHI GATE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RECOMMENDATION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the capability — not the full-control risk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" y="6355080"/>
            <a:ext cx="160020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not acquire 100% of Liminal today.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011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Pursue a </a:t>
            </a: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20–30% strategic minority investment</a:t>
            </a: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anchored at </a:t>
            </a: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25%</a:t>
            </a: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 a midpoint team assumption, combined with: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560320"/>
            <a:ext cx="2596896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56032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Commercial custody/MPC partnership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55264" y="2560320"/>
            <a:ext cx="2596896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55264" y="256032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Standalone governance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063240"/>
            <a:ext cx="2596896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06324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Pre-agreed call option for future control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55264" y="3063240"/>
            <a:ext cx="2596896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55264" y="306324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Retention- and performance-linked future consideration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9632" y="1280160"/>
            <a:ext cx="55778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STRUCTURE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36792" y="169164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fit is real: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Liminal provides institutional custody and MPC infrastructure relevant to tokenized assets, e₹/CBDC infrastructure and cross-border settlement.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control creates value leakage: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the case assumes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30–45% ARR churn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within 12 months after a full acquisition.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economics are severe: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full ownership creates an assumed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₹750 Cr recurring annual FCF drag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Near-term earnings support is limited: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Liminal is currently approximately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 breakeven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Staging preserves optionality: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Paytm secures strategic access while delaying irreversible control until customer and regulatory outcomes are observable.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794760"/>
            <a:ext cx="11365992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79476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21208" y="379476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ASK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251960"/>
            <a:ext cx="2212848" cy="548640"/>
          </a:xfrm>
          <a:prstGeom prst="homePlate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0" y="4251960"/>
            <a:ext cx="2212848" cy="548640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017520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37760" y="4251960"/>
            <a:ext cx="2212848" cy="54864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12080" y="42519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EXERCISE / HOLD / WALK AWAY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0" y="4251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Exercise control </a:t>
            </a:r>
            <a:r>
              <a:rPr lang="en-US" sz="11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after clearing all six gates: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Retention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155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4155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Capital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2824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2824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493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1493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0162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0162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FCF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883140" y="5166360"/>
            <a:ext cx="1757172" cy="45720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883140" y="5166360"/>
            <a:ext cx="1757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RATIONALE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Liminal can extend Paytm from payments into institutional digital settlement infrastructure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6355080"/>
            <a:ext cx="114300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TODAY — exposure across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53056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53056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Merchant Payments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57472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57472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Consumer Financial Services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9632" y="1280160"/>
            <a:ext cx="5577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LIMINAL ADDS — institutional-grade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36792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36792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Digital-Asset Custody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41208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41208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Multi-Party Computation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945624" y="1737360"/>
            <a:ext cx="1694688" cy="54864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945624" y="1737360"/>
            <a:ext cx="1694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Asset Infrastructure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2697480"/>
            <a:ext cx="11365992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269748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21208" y="269748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BRIDGE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127248"/>
            <a:ext cx="2236622" cy="566928"/>
          </a:xfrm>
          <a:prstGeom prst="homePlate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66974" y="3127248"/>
            <a:ext cx="2236622" cy="566928"/>
          </a:xfrm>
          <a:prstGeom prst="chevron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041294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Institutional Custody &amp; MPC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5309" y="3127248"/>
            <a:ext cx="2236622" cy="566928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59629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Tokenized Assets / Treasury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203643" y="3127248"/>
            <a:ext cx="2236622" cy="566928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77963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e₹ / CBDC Infrastructure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421978" y="3127248"/>
            <a:ext cx="2236622" cy="566928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696298" y="3127248"/>
            <a:ext cx="18068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B2B &amp; Cross-Border Settlement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11480" y="4023360"/>
            <a:ext cx="676656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1480" y="4023360"/>
            <a:ext cx="676656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21208" y="402336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VALUE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453128"/>
            <a:ext cx="6492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8640" y="4453128"/>
            <a:ext cx="384048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445312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051560" y="4453128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Extends Paytm into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infrastructure adjacent to its core payments capabilities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48640" y="4837176"/>
            <a:ext cx="6492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" y="4837176"/>
            <a:ext cx="384048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48640" y="48371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1051560" y="4837176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Paytm’s stated interest in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tokenized treasury and cross-border settlement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8640" y="5221224"/>
            <a:ext cx="6492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8640" y="5221224"/>
            <a:ext cx="384048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48640" y="522122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51560" y="5221224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Creates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optionality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across future regulated digital-asset and settlement use cases.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48640" y="5605272"/>
            <a:ext cx="6492240" cy="310896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48640" y="5605272"/>
            <a:ext cx="384048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8640" y="56052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51560" y="5605272"/>
            <a:ext cx="5897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Adds an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institutional capability layer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without requiring Paytm to immediately own every underlying activity.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388352" y="4023360"/>
            <a:ext cx="4389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88352" y="4023360"/>
            <a:ext cx="43891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498080" y="40233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QUESTION → OUR VIEW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525512" y="4434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Paytm need </a:t>
            </a:r>
            <a:r>
              <a:rPr lang="en-US" sz="11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 ownership today</a:t>
            </a:r>
            <a:r>
              <a:rPr lang="en-US" sz="11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to capture this strategic value?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7525512" y="5120640"/>
            <a:ext cx="4114800" cy="7315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662672" y="5120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strategic access can precede strategic control.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OWNERSHIP PARADOX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ownership risks impairing the very asset Paytm is paying to acquire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6355080"/>
            <a:ext cx="114300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2344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₹4,000 Cr FULL ACQUISITION CREATES FOUR IMMEDIATE PRESSURES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1600200"/>
            <a:ext cx="27432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600200"/>
            <a:ext cx="27432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CUSTOMER CONFLICT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0116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Liminal’s major institutional clients may resist having their custody provider owned by a competing payments platform.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246888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ASSUMPTION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30–45% ARR lost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within 12 months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82696" y="1600200"/>
            <a:ext cx="27432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82696" y="1600200"/>
            <a:ext cx="27432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92424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REGULATORY CAPITAL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419856" y="20116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ownership is assumed to trigger bank-like reserves against custodied assets.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19856" y="3108960"/>
            <a:ext cx="246888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29584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ASSUMPTION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529584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₹750 Cr recurring annual FCF drag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53912" y="1600200"/>
            <a:ext cx="27432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53912" y="1600200"/>
            <a:ext cx="27432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63640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FINANCIAL PRESSURE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291072" y="20116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Liminal is currently approximately PAT breakeven.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91072" y="3108960"/>
            <a:ext cx="246888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IMPLICATION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0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acquired earnings initially offset new-share dilution or financing costs.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025128" y="1600200"/>
            <a:ext cx="274320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25128" y="1600200"/>
            <a:ext cx="27432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34856" y="1600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VALUATION PRESSURE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162288" y="20116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pays ₹4,000 Cr ÷ ₹220 Cr ARR =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18.2× headline ARR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before accounting for acquisition-driven churn.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162288" y="3108960"/>
            <a:ext cx="246888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272016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9272016" y="3401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18.2×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headline ARR, pre-churn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429768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4297680"/>
            <a:ext cx="5577840" cy="310896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21208" y="42976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DEAL PARADOX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4709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wants Liminal for its </a:t>
            </a:r>
            <a:r>
              <a:rPr lang="en-US" sz="13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institutional franchise</a:t>
            </a:r>
            <a:r>
              <a:rPr lang="en-US" sz="13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but taking control may </a:t>
            </a:r>
            <a:r>
              <a:rPr lang="en-US" sz="13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weaken that franchise</a:t>
            </a:r>
            <a:r>
              <a:rPr lang="en-US" sz="13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199632" y="4297680"/>
            <a:ext cx="55778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99632" y="429768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309360" y="42976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IMPLICATION — separate the two questions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36792" y="4709160"/>
            <a:ext cx="2331720" cy="11430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28232" y="470916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attractiveness</a:t>
            </a:r>
            <a:r>
              <a:rPr lang="en-US" sz="12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Liminal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8686800" y="4709160"/>
            <a:ext cx="68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738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390888" y="4709160"/>
            <a:ext cx="2249424" cy="11430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482328" y="4709160"/>
            <a:ext cx="2066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 attractiveness</a:t>
            </a:r>
            <a:r>
              <a:rPr lang="en-US" sz="12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owning 100% today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OPTIONS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paths — assessed on strategic access, control, downside and reversibility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29968" y="6355080"/>
            <a:ext cx="114300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11365992" cy="914400"/>
        </p:xfrm>
        <a:graphic>
          <a:graphicData uri="http://schemas.openxmlformats.org/drawingml/2006/table">
            <a:tbl>
              <a:tblPr/>
              <a:tblGrid>
                <a:gridCol w="2500518"/>
                <a:gridCol w="2216368"/>
                <a:gridCol w="2216368"/>
                <a:gridCol w="2216368"/>
                <a:gridCol w="221636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 ACQUISITION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MINORITY STAKE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JOINT VENTURE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WALK AWAY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Strategic access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through partnership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within JV scope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Limited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Shared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Full-control churn exposure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30–45% case assumption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specified — validate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specified — validate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₹750 Cr capital treatment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Case assumes applicable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specified — validate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specified — validate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Upfront commitment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Highest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Structure-dependent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Reversibility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Future-control optionality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Already exercised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be preserved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be negotiated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Lost unless partnership retained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11480" y="4434840"/>
            <a:ext cx="67665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4434840"/>
            <a:ext cx="6766560" cy="310896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" y="44348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8463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Minority + partnership + call option</a:t>
            </a: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the strongest starting structure because it defers the two largest unresolved risks: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3191256" cy="41148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3949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response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849624" y="5394960"/>
            <a:ext cx="3191256" cy="411480"/>
          </a:xfrm>
          <a:prstGeom prst="rect">
            <a:avLst/>
          </a:prstGeom>
          <a:solidFill>
            <a:srgbClr val="0B2A5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49624" y="53949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capital treatment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388352" y="4434840"/>
            <a:ext cx="43891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88352" y="4434840"/>
            <a:ext cx="4389120" cy="310896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0" y="44348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DISCIPLINE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525512" y="4846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do </a:t>
            </a: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assume minority ownership automatically eliminates churn or the ₹750 Cr capital requirement.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525512" y="5486400"/>
            <a:ext cx="4114800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525512" y="5486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become </a:t>
            </a: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gates</a:t>
            </a: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RECOMMENDED TRANSACTION ARCHITECTURE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Buy optionality first — pay for control only after uncertainty reduces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6355080"/>
            <a:ext cx="118872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402336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402336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1 — STRATEGIC ENTRY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assumption: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25% stake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 the midpoint of the permitted 20–30% range. If priced pro-rata to the ₹4,000 Cr headline value: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240280"/>
            <a:ext cx="3749040" cy="50292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240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upfront investment = </a:t>
            </a:r>
            <a:r>
              <a:rPr lang="en-US" sz="12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₹1,000 Cr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816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Phase-1 funding: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09067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₹1,000 Cr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existing balance-sheet cash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new debt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new equity issuance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gross cash remains approximately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₹7,900 Cr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before fees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1280160"/>
            <a:ext cx="3383280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280160"/>
            <a:ext cx="3383280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27448" y="12801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COMMERCIAL PARTNERSHIP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Secure contractual access to Liminal’s custody/MPC infrastructure for agreed Paytm use cases.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258568"/>
            <a:ext cx="3383280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2258568"/>
            <a:ext cx="3383280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27448" y="2258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GOVERNANCE RING-FENCE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2624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Preserve operational, client-data and institutional independence.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3236976"/>
            <a:ext cx="3383280" cy="886968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236976"/>
            <a:ext cx="3383280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27448" y="32369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PRE-AGREED CALL OPTION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receives the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right — not obligation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to acquire control after a defined validation period.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83880" y="1280160"/>
            <a:ext cx="3593592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83880" y="1280160"/>
            <a:ext cx="35935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93608" y="128016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FUTURE-CONTROL PRICING PRINCIPLE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321040" y="1691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consideration capped at the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of: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321040" y="1993392"/>
            <a:ext cx="3337560" cy="329184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21040" y="1993392"/>
            <a:ext cx="384048" cy="329184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21040" y="19933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823960" y="19933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Agreed headline valuation mechanics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21040" y="2395728"/>
            <a:ext cx="3337560" cy="329184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1040" y="2395728"/>
            <a:ext cx="384048" cy="329184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21040" y="239572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823960" y="23957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Retained-ARR / performance-based value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321040" y="2834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subject to: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321040" y="3108960"/>
            <a:ext cx="161391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21040" y="3108960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retention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044684" y="3108960"/>
            <a:ext cx="161391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044684" y="3108960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capital treatment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321040" y="3456432"/>
            <a:ext cx="161391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321040" y="3456432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performance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044684" y="3456432"/>
            <a:ext cx="161391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044684" y="3456432"/>
            <a:ext cx="16139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agreed valuation cap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321040" y="3803904"/>
            <a:ext cx="3337560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321040" y="38039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customary transaction adjustments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1480" y="4343400"/>
            <a:ext cx="1136599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1480" y="434340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21208" y="434340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 LOGIC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4754880"/>
            <a:ext cx="5440680" cy="10515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85800" y="475488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 for </a:t>
            </a:r>
            <a:r>
              <a:rPr lang="en-US" sz="15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access</a:t>
            </a:r>
            <a:r>
              <a:rPr lang="en-US" sz="1500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today.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6199632" y="4754880"/>
            <a:ext cx="5440680" cy="10515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336792" y="4754880"/>
            <a:ext cx="5166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 for </a:t>
            </a: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</a:t>
            </a: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only after the retained value is observable.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FACTS VS TEAM ASSUMPTIONS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 the model auditable: separate facts, calculations and assumptions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6355080"/>
            <a:ext cx="118872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7033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7033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FACTS — PAYTM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3520440" cy="914400"/>
        </p:xfrm>
        <a:graphic>
          <a:graphicData uri="http://schemas.openxmlformats.org/drawingml/2006/table">
            <a:tbl>
              <a:tblPr/>
              <a:tblGrid>
                <a:gridCol w="1830629"/>
                <a:gridCol w="1689811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Market capitalization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₹1,18,750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Diluted shares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64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Cash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₹8,900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Gross debt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₹350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Revenue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₹8,450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EBITDA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₹640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₹480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Diluted EPS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₹7.50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Credit rating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CRISIL AA− Stable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251960" y="1280160"/>
            <a:ext cx="37033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51960" y="1280160"/>
            <a:ext cx="37033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361688" y="12801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FACTS — LIMINAL / DEAL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691640"/>
          <a:ext cx="3520440" cy="914400"/>
        </p:xfrm>
        <a:graphic>
          <a:graphicData uri="http://schemas.openxmlformats.org/drawingml/2006/table">
            <a:tbl>
              <a:tblPr/>
              <a:tblGrid>
                <a:gridCol w="1689811"/>
                <a:gridCol w="1830629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Headline acquisition value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₹4,000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Headline consideration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₹2,100 Cr cash + ₹1,900 Cr equity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₹220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Current PAT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 breakeven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Four largest clients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60% of ARR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Full-acquisition churn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30–45%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Full-control capital drag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₹750 Cr annual FCF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UPI MDR benefit to Paytm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₹115 Cr/year incremental net revenue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8092440" y="1280160"/>
            <a:ext cx="3685032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092440" y="1280160"/>
            <a:ext cx="3685032" cy="310896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202168" y="1280160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ASSUMPTIONS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229600" y="1691640"/>
            <a:ext cx="1691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ownership: </a:t>
            </a: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25%</a:t>
            </a: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midpoint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Indicative minority investment: </a:t>
            </a: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₹1,000 Cr</a:t>
            </a: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pro-rata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 funding: existing cash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period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Minority/JV churn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Minority/JV regulatory capital treatment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Liminal ARR growth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EBITDA / PAT / FCF margins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10012680" y="1691640"/>
            <a:ext cx="1691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Debt cost and tax rate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WACC / required return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costs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Synergies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MDR-to-PAT / FCF conversion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Call-option mechanics</a:t>
            </a:r>
            <a:endParaRPr lang="en-US" sz="9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Future-control valuation methodology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11480" y="5394960"/>
            <a:ext cx="11365992" cy="5943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48640" y="53949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MODELING PRINCIPLE:   CASE FACT  ≠  DERIVED CALCULATION  ≠  TEAM ASSUMPTION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7863840" y="539496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material assumption must be </a:t>
            </a: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disclosed and sensitivity-tested</a:t>
            </a: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VALUATION &amp; CHURN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18.2× headline ARR becomes 26–33× on retained ARR under full-control churn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4568" y="6355080"/>
            <a:ext cx="123444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HEADLINE VALUATION  ·  ₹4,000 Cr ÷ ₹220 Cr ARR = 18.2× ARR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1402690"/>
                <a:gridCol w="1186891"/>
                <a:gridCol w="1294790"/>
                <a:gridCol w="151058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Full-control churn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lost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 ARR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₹4,000 Cr / Retained ARR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₹220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18.2×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₹66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₹154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26.0×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37.5%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₹82.5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₹137.5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29.1×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₹99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₹121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33.1×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199632" y="1280160"/>
            <a:ext cx="55778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EFFECTIVE MULTIPLE ON RETAINED ARR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309360" y="1627632"/>
          <a:ext cx="53492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2"/>
          <p:cNvSpPr/>
          <p:nvPr/>
        </p:nvSpPr>
        <p:spPr>
          <a:xfrm>
            <a:off x="411480" y="3931920"/>
            <a:ext cx="42062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11480" y="3931920"/>
            <a:ext cx="42062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21208" y="39319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 AT THE ORIGINAL 18.2× MULTIPLE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343400"/>
          <a:ext cx="4023360" cy="914400"/>
        </p:xfrm>
        <a:graphic>
          <a:graphicData uri="http://schemas.openxmlformats.org/drawingml/2006/table">
            <a:tbl>
              <a:tblPr/>
              <a:tblGrid>
                <a:gridCol w="1046074"/>
                <a:gridCol w="1367942"/>
                <a:gridCol w="1609344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Churn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 ARR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Implied value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₹154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~₹2,800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37.5%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₹137.5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~₹2,500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₹121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~₹2,200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5"/>
          <p:cNvSpPr/>
          <p:nvPr/>
        </p:nvSpPr>
        <p:spPr>
          <a:xfrm>
            <a:off x="4754880" y="3931920"/>
            <a:ext cx="338328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754880" y="3931920"/>
            <a:ext cx="338328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4864608" y="3931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RECOVERY HURDLE</a:t>
            </a:r>
            <a:endParaRPr lang="en-US" sz="11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4343400"/>
          <a:ext cx="3200400" cy="914400"/>
        </p:xfrm>
        <a:graphic>
          <a:graphicData uri="http://schemas.openxmlformats.org/drawingml/2006/table">
            <a:tbl>
              <a:tblPr/>
              <a:tblGrid>
                <a:gridCol w="768096"/>
                <a:gridCol w="1408176"/>
                <a:gridCol w="102412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After churn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 → original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Growth required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₹154 Cr → ₹220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+42.9%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45%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₹121 Cr → ₹220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+81.8%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34" name="Shape 28"/>
          <p:cNvSpPr/>
          <p:nvPr/>
        </p:nvSpPr>
        <p:spPr>
          <a:xfrm>
            <a:off x="4846320" y="5486400"/>
            <a:ext cx="3200400" cy="38404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4937760" y="5486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…just to </a:t>
            </a:r>
            <a:r>
              <a:rPr lang="en-US" sz="1000" b="1" i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 the original ARR base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275320" y="3931920"/>
            <a:ext cx="350215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275320" y="3931920"/>
            <a:ext cx="350215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385048" y="3931920"/>
            <a:ext cx="3319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STRUCTURING RESPONSE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8412480" y="4343400"/>
            <a:ext cx="15681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412480" y="434340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Deferred Consideration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10090404" y="4343400"/>
            <a:ext cx="15681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10090404" y="434340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Earn-Out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8412480" y="4754880"/>
            <a:ext cx="15681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412480" y="475488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CVR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10090404" y="4754880"/>
            <a:ext cx="15681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10090404" y="475488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Retention-Linked Payout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8412480" y="5193792"/>
            <a:ext cx="3246120" cy="6858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8503920" y="5193792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MESSAGE:</a:t>
            </a:r>
            <a:r>
              <a:rPr lang="en-US" sz="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Do not pay ₹4,000 Cr unconditionally for revenue that may disappear because of the acquisition itself.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FINANCING &amp; EPS IMPACT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the capital commitment to protect liquidity, leverage and dilution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4568" y="6355080"/>
            <a:ext cx="123444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65760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FULL-ACQUISITION COUNTERFACTUAL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Headline consideration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1965960"/>
            <a:ext cx="3383280" cy="4114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₹2,100 Cr cash + ₹1,900 Cr equity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₹2,100 Cr is funded entirely from existing cash: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3383280" cy="914400"/>
        </p:xfrm>
        <a:graphic>
          <a:graphicData uri="http://schemas.openxmlformats.org/drawingml/2006/table">
            <a:tbl>
              <a:tblPr/>
              <a:tblGrid>
                <a:gridCol w="1488643"/>
                <a:gridCol w="947318"/>
                <a:gridCol w="947318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Before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After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Balance-sheet cash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₹8,900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₹6,800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54864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equity dilution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3383280" cy="914400"/>
        </p:xfrm>
        <a:graphic>
          <a:graphicData uri="http://schemas.openxmlformats.org/drawingml/2006/table">
            <a:tbl>
              <a:tblPr/>
              <a:tblGrid>
                <a:gridCol w="2097634"/>
                <a:gridCol w="1285646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Step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Implied Paytm share price (₹1,18,750 Cr ÷ 64 Cr)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₹1,855/share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₹1,900 Cr equity consideration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1.02 Cr new shares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Pro-forma diluted shares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65.02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EPS if PAT remains ₹480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₹7.38 vs ₹7.50 baseline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206240" y="1280160"/>
            <a:ext cx="365760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20624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31596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MECHANICAL DILUTION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343400" y="1691640"/>
            <a:ext cx="33832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343400" y="1691640"/>
            <a:ext cx="3383280" cy="5486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453128" y="180136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 1.6%</a:t>
            </a:r>
            <a:endParaRPr 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4453128" y="2258568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mechanical EPS dilution: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₹7.38 vs ₹7.50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baseline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434340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…before: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4343400" y="30632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financing costs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acquired earnings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synergies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costs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 transaction effects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4343400" y="4663440"/>
            <a:ext cx="3383280" cy="1188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48056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MESSAGE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Financing should follow risk resolution — not precede it.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8001000" y="1280160"/>
            <a:ext cx="3776472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001000" y="1280160"/>
            <a:ext cx="3776472" cy="310896"/>
          </a:xfrm>
          <a:prstGeom prst="rect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110728" y="128016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RECOMMENDED PHASE-1 STRUCTURE</a:t>
            </a:r>
            <a:endParaRPr lang="en-US" sz="1100" dirty="0"/>
          </a:p>
        </p:txBody>
      </p:sp>
      <p:sp>
        <p:nvSpPr>
          <p:cNvPr id="42" name="Text 38"/>
          <p:cNvSpPr txBox="1"/>
          <p:nvPr/>
        </p:nvSpPr>
        <p:spPr>
          <a:xfrm>
            <a:off x="8138160" y="1691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Illustrative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₹1,000 Cr cash investment for 25%</a:t>
            </a:r>
            <a:endParaRPr lang="en-US" sz="105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2011680"/>
          <a:ext cx="3520440" cy="914400"/>
        </p:xfrm>
        <a:graphic>
          <a:graphicData uri="http://schemas.openxmlformats.org/drawingml/2006/table">
            <a:tbl>
              <a:tblPr/>
              <a:tblGrid>
                <a:gridCol w="2182673"/>
                <a:gridCol w="1337767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Item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Phase 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Cash remaining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~₹7,900 Cr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debt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shares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Immediate share-count dilution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Nil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4" name="Shape 39"/>
          <p:cNvSpPr/>
          <p:nvPr/>
        </p:nvSpPr>
        <p:spPr>
          <a:xfrm>
            <a:off x="8001000" y="3657600"/>
            <a:ext cx="3776472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001000" y="3657600"/>
            <a:ext cx="377647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110728" y="365760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FUTURE-CONTROL FINANCING PRINCIPLE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8138160" y="40690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not pre-commit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the full financing mix today. At exercise: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8138160" y="4434840"/>
            <a:ext cx="3520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preserve sufficient liquidity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 rating headroom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 leverage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 excessive equity dilution</a:t>
            </a:r>
            <a:endParaRPr lang="en-US" sz="100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contingent consideration where value remains uncertain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 &amp; FCF BREAKEVEN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deal must clear two separate hurdles: accounting accretion and cash-flow viability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4568" y="6355080"/>
            <a:ext cx="123444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ACCOUNTING / PAT TEST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3383280" cy="914400"/>
        </p:xfrm>
        <a:graphic>
          <a:graphicData uri="http://schemas.openxmlformats.org/drawingml/2006/table">
            <a:tbl>
              <a:tblPr/>
              <a:tblGrid>
                <a:gridCol w="3383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Incremental PAT =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Liminal PAT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 Realized operating synergies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Financing costs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Integration / operating costs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Other incremental expenses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" y="3429000"/>
            <a:ext cx="338328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Pro-Forma EPS = Pro-Forma PAT ÷ Diluted Shares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206240" y="128016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0624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1596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CASH / FCF TEST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691640"/>
          <a:ext cx="3383280" cy="914400"/>
        </p:xfrm>
        <a:graphic>
          <a:graphicData uri="http://schemas.openxmlformats.org/drawingml/2006/table">
            <a:tbl>
              <a:tblPr/>
              <a:tblGrid>
                <a:gridCol w="3383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Incremental FCF =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Liminal FCF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 Realized cash synergies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 Applicable MDR cash contribution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₹750 Cr capital drag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Integration / other cash costs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343400" y="3429000"/>
            <a:ext cx="338328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343400" y="3429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Starting position:</a:t>
            </a:r>
            <a:r>
              <a:rPr lang="en-US" sz="9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Liminal ≈ PAT breakeven → limited acquired earnings to offset dilution or financing costs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001000" y="1280160"/>
            <a:ext cx="3776472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001000" y="1280160"/>
            <a:ext cx="377647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110728" y="128016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DISTINCTION — THE ₹115 Cr UPI MDR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8138160" y="16916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₹115 Cr UPI MDR benefit is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incremental Paytm net revenue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It is:</a:t>
            </a:r>
            <a:endParaRPr lang="en-US" sz="1050" dirty="0"/>
          </a:p>
        </p:txBody>
      </p:sp>
      <p:sp>
        <p:nvSpPr>
          <p:cNvPr id="34" name="Text 30"/>
          <p:cNvSpPr txBox="1"/>
          <p:nvPr/>
        </p:nvSpPr>
        <p:spPr>
          <a:xfrm>
            <a:off x="8138160" y="21488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automatically ₹115 Cr PAT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automatically ₹115 Cr FCF</a:t>
            </a:r>
            <a:endParaRPr lang="en-US" sz="1050" dirty="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created by acquiring Liminal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8138160" y="3017520"/>
            <a:ext cx="3520440" cy="86868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229600" y="30175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Treatment:</a:t>
            </a: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model it separately as a Paytm standalone corporate benefit / offset, using an explicit revenue-to-PAT / FCF conversion assumption.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11480" y="4160520"/>
            <a:ext cx="55778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11480" y="416052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21208" y="41605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CASE DOES NOT PROVIDE FOR LIMINAL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48640" y="4572000"/>
            <a:ext cx="1694688" cy="329184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548640" y="4572000"/>
            <a:ext cx="169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FCF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2353056" y="4572000"/>
            <a:ext cx="1694688" cy="329184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2353056" y="4572000"/>
            <a:ext cx="169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margins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157472" y="4572000"/>
            <a:ext cx="1694688" cy="329184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157472" y="4572000"/>
            <a:ext cx="169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capex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548640" y="4956048"/>
            <a:ext cx="1694688" cy="329184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548640" y="4956048"/>
            <a:ext cx="169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capital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2353056" y="4956048"/>
            <a:ext cx="1694688" cy="329184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2353056" y="4956048"/>
            <a:ext cx="169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growth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4157472" y="4956048"/>
            <a:ext cx="1694688" cy="329184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4157472" y="4956048"/>
            <a:ext cx="169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financing costs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548640" y="5349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Therefore, a specific breakeven year must be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assumption-driven and sensitivity-tested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50" dirty="0"/>
          </a:p>
        </p:txBody>
      </p:sp>
      <p:sp>
        <p:nvSpPr>
          <p:cNvPr id="53" name="Shape 49"/>
          <p:cNvSpPr/>
          <p:nvPr/>
        </p:nvSpPr>
        <p:spPr>
          <a:xfrm>
            <a:off x="6199632" y="4160520"/>
            <a:ext cx="55778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199632" y="4160520"/>
            <a:ext cx="5577840" cy="310896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309360" y="41605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CONTROL-EXERCISE RULE</a:t>
            </a:r>
            <a:endParaRPr lang="en-US" sz="1100" dirty="0"/>
          </a:p>
        </p:txBody>
      </p:sp>
      <p:sp>
        <p:nvSpPr>
          <p:cNvPr id="56" name="Text 52"/>
          <p:cNvSpPr txBox="1"/>
          <p:nvPr/>
        </p:nvSpPr>
        <p:spPr>
          <a:xfrm>
            <a:off x="6336792" y="4572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</a:t>
            </a: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exercise control until the model demonstrates:</a:t>
            </a:r>
            <a:endParaRPr lang="en-US" sz="1100" dirty="0"/>
          </a:p>
        </p:txBody>
      </p:sp>
      <p:sp>
        <p:nvSpPr>
          <p:cNvPr id="57" name="Shape 53"/>
          <p:cNvSpPr/>
          <p:nvPr/>
        </p:nvSpPr>
        <p:spPr>
          <a:xfrm>
            <a:off x="6336792" y="4983480"/>
            <a:ext cx="2560320" cy="8229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6428232" y="4983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credible </a:t>
            </a: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 / EPS breakeven</a:t>
            </a:r>
            <a:endParaRPr lang="en-US" sz="1100" dirty="0"/>
          </a:p>
        </p:txBody>
      </p:sp>
      <p:sp>
        <p:nvSpPr>
          <p:cNvPr id="59" name="Text 55"/>
          <p:cNvSpPr txBox="1"/>
          <p:nvPr/>
        </p:nvSpPr>
        <p:spPr>
          <a:xfrm>
            <a:off x="8897112" y="49834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endParaRPr lang="en-US" sz="1800" dirty="0"/>
          </a:p>
        </p:txBody>
      </p:sp>
      <p:sp>
        <p:nvSpPr>
          <p:cNvPr id="60" name="Shape 56"/>
          <p:cNvSpPr/>
          <p:nvPr/>
        </p:nvSpPr>
        <p:spPr>
          <a:xfrm>
            <a:off x="9354312" y="4983480"/>
            <a:ext cx="2286000" cy="82296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9445752" y="4983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credible </a:t>
            </a: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FCF breakeven</a:t>
            </a: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after regulatory capital requirements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 RETENTION &amp; GOVERNANCE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 the institutional franchise through structural independence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6355080"/>
            <a:ext cx="196596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93192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9319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CONCENTRATION RISK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1645920"/>
          <a:ext cx="18288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60%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2331720" y="173736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HDFC Bank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Axis Bank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CoinDCX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ZebPay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233172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60% of Liminal ARR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₹132 Cr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₹220 Cr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3520440"/>
            <a:ext cx="3657600" cy="0"/>
          </a:xfrm>
          <a:prstGeom prst="line">
            <a:avLst/>
          </a:prstGeom>
          <a:noFill/>
          <a:ln w="9525">
            <a:solidFill>
              <a:srgbClr val="BFC9D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Full-control churn assumption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3931920"/>
            <a:ext cx="3657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" y="3931920"/>
            <a:ext cx="3657600" cy="5486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" y="4041648"/>
            <a:ext cx="3438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₹66–99 Cr ARR lost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" y="4498848"/>
            <a:ext cx="343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equivalent to approximately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50–75%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of the ARR represented by the four largest relationships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" y="4983480"/>
            <a:ext cx="3657600" cy="86868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49834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MESSAGE: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Governance is not cosmetic — it is a valuation-protection mechanism.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480560" y="1280160"/>
            <a:ext cx="729691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0" y="1280160"/>
            <a:ext cx="729691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90288" y="1280160"/>
            <a:ext cx="7114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GOVERNANCE ARCHITECTURE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691640"/>
          <a:ext cx="7022592" cy="914400"/>
        </p:xfrm>
        <a:graphic>
          <a:graphicData uri="http://schemas.openxmlformats.org/drawingml/2006/table">
            <a:tbl>
              <a:tblPr/>
              <a:tblGrid>
                <a:gridCol w="421356"/>
                <a:gridCol w="2668585"/>
                <a:gridCol w="39326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#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Mechanism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does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Standalone Liminal brand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Preserve institutional neutrality.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Arm’s-length board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Independent directors + clearly defined reserved matters.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Strict information barriers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unrestricted Paytm access to client-sensitive custody or transaction data.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Independent compliance &amp; cybersecurity oversight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Separate monitoring, escalation and reporting.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Neutral service standards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preferential treatment for Paytm-linked activity.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Client-protection framework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Structured communication, consent and change-of-control management.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Retention-linked consideration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Align seller economics with preservation of the institutional franchise.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&amp; CLOSING ARCHITECTURE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Resolve regulatory capital treatment before committing to control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6355080"/>
            <a:ext cx="196596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806952" cy="457200"/>
          </a:xfrm>
          <a:prstGeom prst="homePlate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" y="1280160"/>
            <a:ext cx="3377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SIGNING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0144" y="1280160"/>
            <a:ext cx="3806952" cy="457200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74464" y="1280160"/>
            <a:ext cx="3377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SIGNING → CLOSING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88808" y="1280160"/>
            <a:ext cx="3806952" cy="45720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63128" y="1280160"/>
            <a:ext cx="3377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POST-CLOSE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1828800"/>
            <a:ext cx="37033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 feasibility of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minority ownership and commercial partnership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Determine expected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treatment of minority vs control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Conduct AML, data, cybersecurity and compliance diligence.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Conduct structured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key-client soundings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regulatory and customer conditions precedent.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42816" y="1828800"/>
            <a:ext cx="37033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79976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A738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Address, as applicable: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379976" y="21945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RBI approval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regulatory path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Competition clearance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Securities-related approvals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consents / retention protections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Information-security readiness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material adverse regulatory change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74152" y="1828800"/>
            <a:ext cx="370332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11312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Standalone compliance framework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AML controls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segregation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Cybersecurity monitoring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Independent compliance reporting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Board-level risk oversight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4480560"/>
            <a:ext cx="67665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480560"/>
            <a:ext cx="6766560" cy="310896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1208" y="448056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IMPORTANT UNRESOLVED QUESTION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8920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minority ownership </a:t>
            </a:r>
            <a:r>
              <a:rPr lang="en-US" sz="12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avoid, reduce or still trigger</a:t>
            </a:r>
            <a:r>
              <a:rPr lang="en-US" sz="12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the ₹750 Cr capital requirement?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4406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A738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case does not specify the answer.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88352" y="4480560"/>
            <a:ext cx="4389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88352" y="4480560"/>
            <a:ext cx="43891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98080" y="44805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DECISION GATE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25512" y="4892040"/>
            <a:ext cx="4114800" cy="9601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35240" y="48920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</a:t>
            </a: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exercise full control until regulatory capital treatment is </a:t>
            </a: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known and incorporated into the FCF model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COMPETITIVE &amp; DOWNSIDE RESPONSE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urgency must not become a winner’s curse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70448" y="6355080"/>
            <a:ext cx="196596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6576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PHONEPE–MASTERCARD THREAT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691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exploratory consortium creates a </a:t>
            </a:r>
            <a:r>
              <a:rPr lang="en-US" sz="10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opportunity cost</a:t>
            </a: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if Paytm walks away. However, the case provides: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286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competing valuation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competing transaction terms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quantified bidder synergies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certainty of completion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06240" y="1280160"/>
            <a:ext cx="36576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1280160"/>
            <a:ext cx="365760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15968" y="1280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RESPONSE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2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not automatically match a higher bid.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 a risk-adjusted reservation value based on: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2286000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43400" y="2286000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retained ARR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9904" y="2286000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89904" y="2286000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capital treatment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43400" y="2633472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43400" y="263347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retention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9904" y="2633472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89904" y="263347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financing impact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43400" y="2980944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43400" y="29809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 / FCF economics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9904" y="2980944"/>
            <a:ext cx="1636776" cy="292608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89904" y="2980944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optionality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343400" y="3291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another bidder exceeds Paytm’s reservation value: </a:t>
            </a:r>
            <a:r>
              <a:rPr lang="en-US" sz="10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 away</a:t>
            </a: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rather than destroy shareholder value.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001000" y="1280160"/>
            <a:ext cx="3776472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01000" y="1280160"/>
            <a:ext cx="377647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10728" y="1280160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BOARD PRINCIPLE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38160" y="1691640"/>
            <a:ext cx="3520440" cy="201168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75320" y="16916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Competitive pressure may change </a:t>
            </a: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</a:t>
            </a: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it should </a:t>
            </a: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15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change valuation discipline.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11480" y="3977640"/>
            <a:ext cx="11365992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11480" y="3977640"/>
            <a:ext cx="113659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21208" y="397764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DOWNSIDE PLAYBOOK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091672" cy="914400"/>
        </p:xfrm>
        <a:graphic>
          <a:graphicData uri="http://schemas.openxmlformats.org/drawingml/2006/table">
            <a:tbl>
              <a:tblPr/>
              <a:tblGrid>
                <a:gridCol w="3327502"/>
                <a:gridCol w="776417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Trigger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Response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Churn &gt; 45%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 not exercise control / activate price protection / reassess partnership.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Capital requirement unacceptable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Remain minority / restructure / exit.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clients resist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Strengthen ring-fence; no control exercise without acceptable retention.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Paytm share price compresses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Avoid fixed-value equity issuance that creates excessive dilution.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 / FCF case fails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 not escalate capital because of sunk cost.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Regulatory / security conditions fail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Suspend exercise / terminate where contractual rights permit.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ROADMAP &amp; DECISION GATES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Invest → Validate → Exercise / Hold / Walk Away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27848" y="6355080"/>
            <a:ext cx="105156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3721608" cy="502920"/>
          </a:xfrm>
          <a:prstGeom prst="homePlate">
            <a:avLst/>
          </a:prstGeom>
          <a:solidFill>
            <a:srgbClr val="0B2A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1 | 0–3 MONTHS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INVEST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42816" y="1280160"/>
            <a:ext cx="3721608" cy="502920"/>
          </a:xfrm>
          <a:prstGeom prst="chevron">
            <a:avLst/>
          </a:prstGeom>
          <a:solidFill>
            <a:srgbClr val="1F5F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17136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2 | 3–12 MONTHS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VALIDATE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74152" y="1280160"/>
            <a:ext cx="3721608" cy="502920"/>
          </a:xfrm>
          <a:prstGeom prst="chevron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48472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3 | ~12 MONTHS+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·   DECIDE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1874520"/>
            <a:ext cx="3703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201168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Acquire strategic minority stake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 commercial custody/MPC partnership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Establish standalone governance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Negotiate call option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future-control pricing mechanics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Establish client and regulatory gates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integrated transaction model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42816" y="1874520"/>
            <a:ext cx="3703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79976" y="198424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CUSTOMERS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19842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 retention · Key-client renewals · Concentration trajectory · Customer willingness under potential control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79976" y="2679192"/>
            <a:ext cx="3429000" cy="0"/>
          </a:xfrm>
          <a:prstGeom prst="line">
            <a:avLst/>
          </a:prstGeom>
          <a:noFill/>
          <a:ln w="9525">
            <a:solidFill>
              <a:srgbClr val="BFC9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79976" y="271576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REGULATION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394960" y="271576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Capital treatment · Approval path · Compliance requirements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79976" y="3410712"/>
            <a:ext cx="3429000" cy="0"/>
          </a:xfrm>
          <a:prstGeom prst="line">
            <a:avLst/>
          </a:prstGeom>
          <a:noFill/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79976" y="344728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344728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ARR trajectory · PAT progression · FCF generation · MDR conversion · Synergy realization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79976" y="4142232"/>
            <a:ext cx="3429000" cy="0"/>
          </a:xfrm>
          <a:prstGeom prst="line">
            <a:avLst/>
          </a:prstGeom>
          <a:noFill/>
          <a:ln w="9525">
            <a:solidFill>
              <a:srgbClr val="BFC9D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379976" y="41788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394960" y="41788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Cybersecurity · AML · Data segregation · Operational resilience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74152" y="1874520"/>
            <a:ext cx="37033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11312" y="19385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7A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EXERCISE CONTROL — only if: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211312" y="2167128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retention remains acceptable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capital treatment is economically viable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valuation remains within Paytm’s reservation value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PAT/EPS economics are supportable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FCF economics are supportable</a:t>
            </a:r>
            <a:endParaRPr lang="en-US" sz="850" dirty="0"/>
          </a:p>
          <a:p>
            <a:pPr marL="127000" indent="-127000">
              <a:buSzPct val="100000"/>
              <a:buChar char="•"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governance / compliance conditions are satisfied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211312" y="3310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27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HOLD MINORITY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211312" y="3520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strategic value remains attractive but control economics remain unresolved.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211312" y="39044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2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WALK AWAY / UNWIND — if: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211312" y="4114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churn exceeds tolerance · capital drag destroys returns · key clients reject ownership · regulatory conditions deteriorate · valuation exceeds risk-adjusted value · PAT / FCF economics fail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1480" y="5047488"/>
            <a:ext cx="11365992" cy="94183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5047488"/>
            <a:ext cx="1463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D3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BOARD MESSAGE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2011680" y="5047488"/>
            <a:ext cx="9601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should not pay today for risks it can observe tomorrow. Secure Liminal’s strategic infrastructure through a </a:t>
            </a: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minority investment and commercial partnership</a:t>
            </a: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Preserve the </a:t>
            </a: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right — not obligation</a:t>
            </a: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to acquire control. Commit the remaining capital only after </a:t>
            </a: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trust, regulatory capital treatment, valuation and cash-flow economics are proven</a:t>
            </a: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</a:t>
            </a: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access now. Control only when value is protected.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A1–A2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Transaction model key inputs · Churn sensitivity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278892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27889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A1 · PAYTM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2606040" cy="914400"/>
        </p:xfrm>
        <a:graphic>
          <a:graphicData uri="http://schemas.openxmlformats.org/drawingml/2006/table">
            <a:tbl>
              <a:tblPr/>
              <a:tblGrid>
                <a:gridCol w="1433322"/>
                <a:gridCol w="117271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Market capitalization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₹1,18,750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Diluted shares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64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Cash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₹8,900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Gross debt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₹350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Revenue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₹8,450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EBITDA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₹640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₹480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EPS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₹7.50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Rating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CRISIL AA− Stable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337560" y="1280160"/>
            <a:ext cx="278892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37560" y="1280160"/>
            <a:ext cx="278892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447288" y="1280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A1 · LIMINAL &amp; RISKS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1691640"/>
          <a:ext cx="2606040" cy="914400"/>
        </p:xfrm>
        <a:graphic>
          <a:graphicData uri="http://schemas.openxmlformats.org/drawingml/2006/table">
            <a:tbl>
              <a:tblPr/>
              <a:tblGrid>
                <a:gridCol w="1511503"/>
                <a:gridCol w="1094537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Headline value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₹4,000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₹220 Cr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Headline multiple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18.2× ARR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Current PAT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 breakeven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Top-four-client concentration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60%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churn (full control)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30–45%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Capital FCF drag (full control)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₹750 Cr/year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429000" y="4343400"/>
            <a:ext cx="2606040" cy="1508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520440" y="4389120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PAYTM CORPORATE OFFSET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UPI MDR: </a:t>
            </a:r>
            <a:endParaRPr lang="en-US" sz="950" dirty="0"/>
          </a:p>
          <a:p>
            <a:pPr algn="l" indent="0" marL="0">
              <a:buNone/>
            </a:pP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₹115 Cr/year</a:t>
            </a: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incremental net revenue.
</a:t>
            </a:r>
            <a:r>
              <a:rPr lang="en-US" sz="95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</a:t>
            </a:r>
            <a:r>
              <a:rPr lang="en-US" sz="9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 Liminal transaction synergy.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263640" y="1280160"/>
            <a:ext cx="551383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263640" y="1280160"/>
            <a:ext cx="551383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373368" y="1280160"/>
            <a:ext cx="5330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A2 · CHURN SENSITIVITY</a:t>
            </a:r>
            <a:endParaRPr lang="en-US" sz="11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30952" cy="914400"/>
        </p:xfrm>
        <a:graphic>
          <a:graphicData uri="http://schemas.openxmlformats.org/drawingml/2006/table">
            <a:tbl>
              <a:tblPr/>
              <a:tblGrid>
                <a:gridCol w="1172809"/>
                <a:gridCol w="1279428"/>
                <a:gridCol w="1439357"/>
                <a:gridCol w="1439357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Churn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lost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 ARR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Effective multiple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₹220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18.2×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₹66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₹154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26.0×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37.5%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₹82.5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₹137.5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29.1×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₹99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₹121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33.1×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32" name="Text 27"/>
          <p:cNvSpPr txBox="1"/>
          <p:nvPr/>
        </p:nvSpPr>
        <p:spPr>
          <a:xfrm>
            <a:off x="635508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 HURDLE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355080" y="4023360"/>
            <a:ext cx="25603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355080" y="4023360"/>
            <a:ext cx="2560320" cy="54864"/>
          </a:xfrm>
          <a:prstGeom prst="rect">
            <a:avLst/>
          </a:prstGeom>
          <a:solidFill>
            <a:srgbClr val="C2790F"/>
          </a:solidFill>
          <a:ln w="12700">
            <a:solidFill>
              <a:srgbClr val="C2790F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464808" y="4133088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7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+42.9%</a:t>
            </a:r>
            <a:endParaRPr lang="en-US" sz="2200" dirty="0"/>
          </a:p>
        </p:txBody>
      </p:sp>
      <p:sp>
        <p:nvSpPr>
          <p:cNvPr id="36" name="Text 31"/>
          <p:cNvSpPr txBox="1"/>
          <p:nvPr/>
        </p:nvSpPr>
        <p:spPr>
          <a:xfrm>
            <a:off x="6464808" y="4590288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30% churn: ₹154 Cr → ₹220 Cr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9098280" y="4023360"/>
            <a:ext cx="2587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098280" y="4023360"/>
            <a:ext cx="2587752" cy="54864"/>
          </a:xfrm>
          <a:prstGeom prst="rect">
            <a:avLst/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9208008" y="413308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2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+81.8%</a:t>
            </a:r>
            <a:endParaRPr lang="en-US" sz="2200" dirty="0"/>
          </a:p>
        </p:txBody>
      </p:sp>
      <p:sp>
        <p:nvSpPr>
          <p:cNvPr id="40" name="Text 35"/>
          <p:cNvSpPr txBox="1"/>
          <p:nvPr/>
        </p:nvSpPr>
        <p:spPr>
          <a:xfrm>
            <a:off x="9208008" y="4590288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45% churn: ₹121 Cr → ₹220 Cr</a:t>
            </a:r>
            <a:endParaRPr lang="en-US" sz="1000" dirty="0"/>
          </a:p>
        </p:txBody>
      </p:sp>
      <p:sp>
        <p:nvSpPr>
          <p:cNvPr id="41" name="Text 36"/>
          <p:cNvSpPr txBox="1"/>
          <p:nvPr/>
        </p:nvSpPr>
        <p:spPr>
          <a:xfrm>
            <a:off x="6355080" y="51663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A738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Growth required </a:t>
            </a:r>
            <a:r>
              <a:rPr lang="en-US" sz="1050" b="1" i="1" dirty="0">
                <a:solidFill>
                  <a:srgbClr val="6A738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merely to recover the original ARR base</a:t>
            </a:r>
            <a:r>
              <a:rPr lang="en-US" sz="1050" i="1" dirty="0">
                <a:solidFill>
                  <a:srgbClr val="6A738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A3–A4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Retention-linked value framework · EPS / dilution bridge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A3 · RETENTION-LINKED VALUE — at the original 18.2× ARR multiple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971093"/>
                <a:gridCol w="1402690"/>
                <a:gridCol w="1510589"/>
                <a:gridCol w="151058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Churn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 ARR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Implied value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 gap vs ₹4,000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₹220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₹4,000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₹154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~₹2,800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~₹1,200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37.5%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₹137.5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~₹2,500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~₹1,500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45%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₹121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~₹2,200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~₹1,800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4864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STRUCTURING PRINCIPLE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4023360"/>
            <a:ext cx="2606040" cy="73152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0233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Upfront consideration = </a:t>
            </a:r>
            <a:r>
              <a:rPr lang="en-US" sz="1100" b="1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strategic access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91840" y="4023360"/>
            <a:ext cx="2560320" cy="7315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383280" y="4023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Contingent consideration = </a:t>
            </a: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retained economic value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892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D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Future-control price should remain subject to: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5212080"/>
            <a:ext cx="1243584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valuation cap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901952" y="5212080"/>
            <a:ext cx="1243584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901952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retained ARR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55264" y="5212080"/>
            <a:ext cx="1243584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55264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08576" y="5212080"/>
            <a:ext cx="1243584" cy="365760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608576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regulatory outcome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199632" y="1280160"/>
            <a:ext cx="55778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A4 · EPS / DILUTION BRIDGE — full-acquisition illustration</a:t>
            </a:r>
            <a:endParaRPr lang="en-US" sz="11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3344875"/>
                <a:gridCol w="2050085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Step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Implied Paytm share price: ₹1,18,750 Cr ÷ 64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₹1,855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₹1,900 Cr equity consideration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1.02 Cr new shares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Pro-forma diluted shares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65.02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EPS, assuming PAT remains ₹480 Cr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₹7.38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EPS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₹7.50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Approximate mechanical dilution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~1.6%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0" name="Text 36"/>
          <p:cNvSpPr txBox="1"/>
          <p:nvPr/>
        </p:nvSpPr>
        <p:spPr>
          <a:xfrm>
            <a:off x="6336792" y="4389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…before: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6336792" y="4709160"/>
            <a:ext cx="1694688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336792" y="4709160"/>
            <a:ext cx="169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financing expense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8141208" y="4709160"/>
            <a:ext cx="1694688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8141208" y="4709160"/>
            <a:ext cx="169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acquired earnings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9945624" y="4709160"/>
            <a:ext cx="1694688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9945624" y="4709160"/>
            <a:ext cx="169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synergies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6336792" y="5120640"/>
            <a:ext cx="25968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336792" y="512064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costs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9043416" y="5120640"/>
            <a:ext cx="2596896" cy="347472"/>
          </a:xfrm>
          <a:prstGeom prst="rect">
            <a:avLst/>
          </a:prstGeom>
          <a:solidFill>
            <a:srgbClr val="EEF3FB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043416" y="512064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 transaction effects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 vs FCF breakeven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55778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ACCOUNTING / PAT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5394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Component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Liminal PAT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 Synergies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Financing costs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Integration / operating costs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= Incremental PAT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02920" y="4069080"/>
            <a:ext cx="5394960" cy="64008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40690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   </a:t>
            </a: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Pro-Forma EPS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99632" y="1280160"/>
            <a:ext cx="557784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99632" y="1280160"/>
            <a:ext cx="55778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12801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CASH / FCF</a:t>
            </a:r>
            <a:endParaRPr lang="en-US" sz="11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5394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Component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Liminal FCF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 Cash synergies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 Applicable MDR cash contribution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₹750 Cr capital drag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 Integration cash costs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= Incremental FCF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11480" y="5120640"/>
            <a:ext cx="11365992" cy="86868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48640" y="51206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FD3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RULE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2011680" y="51206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 breakeven ≠ FCF breakeven.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Both must be demonstrated </a:t>
            </a: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independently</a:t>
            </a: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before exercising full control.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A6–A7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315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F5F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register &amp; mitigants · Board decision tree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365992" cy="0"/>
          </a:xfrm>
          <a:prstGeom prst="line">
            <a:avLst/>
          </a:prstGeom>
          <a:noFill/>
          <a:ln w="19050">
            <a:solidFill>
              <a:srgbClr val="0B2A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144768"/>
            <a:ext cx="12188952" cy="713232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44768"/>
            <a:ext cx="12188952" cy="4572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208776"/>
            <a:ext cx="12188952" cy="2743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6355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6355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6355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6355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6355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6355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70848" y="6355080"/>
            <a:ext cx="1097280" cy="365760"/>
          </a:xfrm>
          <a:prstGeom prst="rect">
            <a:avLst/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155680" y="6309360"/>
            <a:ext cx="27432" cy="4572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47120" y="62636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A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11480" y="1280160"/>
            <a:ext cx="60350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1280160"/>
            <a:ext cx="6035040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" y="128016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A6 · RISK REGISTER &amp; MITIGANTS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5852160" cy="914400"/>
        </p:xfrm>
        <a:graphic>
          <a:graphicData uri="http://schemas.openxmlformats.org/drawingml/2006/table">
            <a:tbl>
              <a:tblPr/>
              <a:tblGrid>
                <a:gridCol w="2457907"/>
                <a:gridCol w="3394253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Risk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Transaction response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30–45% full-control churn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Minority first + retention-linked consideration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60% top-client concentration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Standalone governance + client protections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₹750 Cr annual capital drag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Regulatory gate before control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18.2× headline valuation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Retained-value pricing + valuation cap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Immediate equity dilution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Stage consideration; avoid Phase-1 issuance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Rating / leverage pressure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Phase-1 debt; reassess at control exercise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PhonePe–Mastercard counterbid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Reservation value + walk-away discipline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Paytm stock compression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Avoid excessive fixed-value equity dilution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AML / data / cyber risk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Independent compliance + information barriers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&gt;45% churn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control exercise / remediation / unwind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Regulatory deterioration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Condition precedent / termination protection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Weak PAT / FCF economics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43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 not escalate capital</a:t>
                      </a:r>
                      <a:endParaRPr lang="en-US" sz="9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583680" y="1280160"/>
            <a:ext cx="51937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0" y="1280160"/>
            <a:ext cx="5193792" cy="310896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93408" y="1280160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A7 · BOARD DECISION TREE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720840" y="1691640"/>
            <a:ext cx="731520" cy="80467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20840" y="1691640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452360" y="1691640"/>
            <a:ext cx="41879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543800" y="17282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Liminal strategically valuable to Paytm?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7543800" y="21122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7A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 ↓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720840" y="2587752"/>
            <a:ext cx="731520" cy="80467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20840" y="2587752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452360" y="2587752"/>
            <a:ext cx="41879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543800" y="26243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Paytm secure strategic access without immediate full control?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7543800" y="30083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7A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 — Minority + Commercial Partnership ↓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720840" y="3483864"/>
            <a:ext cx="731520" cy="80467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720840" y="3483864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452360" y="3483864"/>
            <a:ext cx="41879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543800" y="3520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 client retention and regulatory capital outcomes acceptable after validation?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7543800" y="39044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27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 → Test valuation + PAT + FCF economics  |  NO → Hold minority / restructure / exit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720840" y="4379976"/>
            <a:ext cx="731520" cy="804672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720840" y="4379976"/>
            <a:ext cx="731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452360" y="4379976"/>
            <a:ext cx="418795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BFC9D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543800" y="4416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4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Does full control clear Paytm’s risk-adjusted financial and governance hurdles?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7543800" y="4800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2790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 → Exercise call option  |  NO → Do not acquire control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720840" y="5303520"/>
            <a:ext cx="4919472" cy="54864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812280" y="5303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 STATE:</a:t>
            </a:r>
            <a:r>
              <a:rPr lang="en-US" sz="10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Control becomes an earned option — not a day-one commitment.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Satoshi Gate</dc:title>
  <dc:subject>PptxGenJS Presentation</dc:subject>
  <dc:creator>Team ETERNAL</dc:creator>
  <cp:lastModifiedBy>Team ETERNAL</cp:lastModifiedBy>
  <cp:revision>1</cp:revision>
  <dcterms:created xsi:type="dcterms:W3CDTF">2026-09-24T16:42:54Z</dcterms:created>
  <dcterms:modified xsi:type="dcterms:W3CDTF">2026-09-24T16:42:54Z</dcterms:modified>
</cp:coreProperties>
</file>