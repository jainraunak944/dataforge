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B2A5B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A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5F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790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3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0% churn</c:v>
                  </c:pt>
                  <c:pt idx="1">
                    <c:v>30% churn</c:v>
                  </c:pt>
                  <c:pt idx="2">
                    <c:v>37.5% churn</c:v>
                  </c:pt>
                  <c:pt idx="3">
                    <c:v>45% churn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18.2</c:v>
                </c:pt>
                <c:pt idx="1">
                  <c:v>26</c:v>
                </c:pt>
                <c:pt idx="2">
                  <c:v>29.1</c:v>
                </c:pt>
                <c:pt idx="3">
                  <c:v>33.1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1" i="0" strike="noStrike" sz="900" u="none">
                  <a:solidFill>
                    <a:srgbClr val="1A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D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A5B"/>
              </a:solidFill>
              <a:effectLst/>
            </c:spPr>
          </c:dPt>
          <c:dPt>
            <c:idx val="1"/>
            <c:bubble3D val="0"/>
            <c:spPr>
              <a:solidFill>
                <a:srgbClr val="DCE8F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Top-4 clients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554480"/>
            <a:ext cx="91440" cy="2743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 ×  LIMINAL CUSTODY SOLUTIONS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SATOSHI GATE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Transaction Recommendation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access today. Control only when the economics are proven.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4754880"/>
            <a:ext cx="11365992" cy="18288"/>
          </a:xfrm>
          <a:prstGeom prst="rect">
            <a:avLst/>
          </a:prstGeom>
          <a:solidFill>
            <a:srgbClr val="BFC9DA"/>
          </a:solidFill>
          <a:ln w="12700">
            <a:solidFill>
              <a:srgbClr val="BFC9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4892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ETERNAL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5303520"/>
            <a:ext cx="214884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5303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 Jain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5303520"/>
            <a:ext cx="214884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5303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Sambhav Khandelwal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83480" y="5303520"/>
            <a:ext cx="214884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5303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Swarup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69480" y="5303520"/>
            <a:ext cx="214884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5303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 Ghosh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55480" y="5303520"/>
            <a:ext cx="214884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55480" y="5303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Akshith Aitha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6263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 2026  ·  Case: Project Satoshi Gate  ·  Board deck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recommendation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capability — not the full-control risk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6355080"/>
            <a:ext cx="16002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acquire 100% of Liminal today.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011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a </a:t>
            </a:r>
            <a:r>
              <a:rPr lang="en-US" sz="11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strategic minority investment</a:t>
            </a: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anchored at </a:t>
            </a:r>
            <a:r>
              <a:rPr lang="en-US" sz="11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midpoint team assumption, combined with: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56032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56032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custody/MPC partnership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55264" y="256032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55264" y="256032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governance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06324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06324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Pre-agreed call option for future control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55264" y="306324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55264" y="306324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 and performance-linked future consideration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9632" y="128016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36792" y="169164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 is real: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Liminal provides institutional custody and MPC infrastructure relevant to tokenized assets, e₹/CBDC infrastructure and cross-border settlement.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creates value leakage: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case assumes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30–45% ARR churn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12 months after a full acquisition.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economics are severe: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 ownership creates an assumed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₹750 Cr recurring annual FCF drag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earnings support is limited: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Liminal is currently approximately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breakeven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preserves optionality: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Paytm secures strategic access while delaying irreversible control until customer and regulatory outcomes are observable.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794760"/>
            <a:ext cx="1136599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79476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1208" y="379476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ASK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251960"/>
            <a:ext cx="2212848" cy="548640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0" y="4251960"/>
            <a:ext cx="2212848" cy="548640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017520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37760" y="4251960"/>
            <a:ext cx="2212848" cy="54864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12080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/ HOLD / WALK AWAY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251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control </a:t>
            </a:r>
            <a:r>
              <a:rPr lang="en-US" sz="11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clearing all six gates: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Retention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155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4155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Capital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824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824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493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493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0162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0162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831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8831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rationale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Liminal can extend Paytm from payments into institutional digital settlement infrastructure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6355080"/>
            <a:ext cx="11430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TODAY — exposure across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53056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53056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57472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57472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Financial Services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9632" y="128016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LIMINAL ADDS — institutional-grade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36792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36792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Digital-Asset Custody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41208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41208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Multi-Party Computation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945624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945624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Asset Infrastructure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2697480"/>
            <a:ext cx="11365992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269748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1208" y="269748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BRIDGE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127248"/>
            <a:ext cx="2236622" cy="566928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66974" y="3127248"/>
            <a:ext cx="2236622" cy="566928"/>
          </a:xfrm>
          <a:prstGeom prst="chevron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041294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Custody &amp; MPC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5309" y="3127248"/>
            <a:ext cx="2236622" cy="566928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59629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Assets / Treasury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203643" y="3127248"/>
            <a:ext cx="2236622" cy="566928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77963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e₹ / CBDC Infrastructure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421978" y="3127248"/>
            <a:ext cx="2236622" cy="566928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696298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&amp; Cross-Border Settlement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1480" y="4023360"/>
            <a:ext cx="67665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4023360"/>
            <a:ext cx="676656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21208" y="402336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453128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4453128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445312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51560" y="4453128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Paytm into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adjacent to its core payments capabilities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" y="4837176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" y="4837176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8640" y="48371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1051560" y="4837176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Paytm’s stated interest in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treasury and cross-border settlement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5221224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5221224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8640" y="522122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51560" y="5221224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optionality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future regulated digital-asset and settlement use cases.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5605272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5605272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8640" y="56052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51560" y="5605272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capability layer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requiring Paytm to immediately own every underlying activity.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388352" y="4023360"/>
            <a:ext cx="4389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88352" y="4023360"/>
            <a:ext cx="43891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498080" y="4023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→ OUR VIEW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525512" y="4434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Paytm need </a:t>
            </a:r>
            <a:r>
              <a:rPr lang="en-US" sz="11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ownership today</a:t>
            </a:r>
            <a:r>
              <a:rPr lang="en-US" sz="11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capture this strategic value?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525512" y="5120640"/>
            <a:ext cx="4114800" cy="7315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662672" y="5120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strategic access can precede strategic control.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ownership paradox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risks impairing the very asset Paytm is paying to acquire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6355080"/>
            <a:ext cx="11430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2344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₹4,000 Cr FULL ACQUISITION CREATES FOUR IMMEDIATE PRESSURES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CONFLICT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Liminal’s major institutional clients may resist having their custody provider owned by a competing payments platform.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ASSUMPTION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30–45% ARR lost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12 months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82696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82696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92424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REGULATORY CAPITAL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419856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is assumed to trigger bank-like reserves against custodied assets.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19856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29584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ASSUMPTION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529584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₹750 Cr recurring annual FCF drag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53912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53912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63640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FINANCIAL PRESSURE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291072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Liminal is currently approximately PAT breakeven.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91072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acquired earnings initially offset new-share dilution or financing costs.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25128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25128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34856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VALUATION PRESSURE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162288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pays ₹4,000 Cr ÷ ₹220 Cr ARR =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18.2× headline ARR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accounting for acquisition-driven churn.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62288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72016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272016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18.2×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headline ARR, pre-churn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429768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4297680"/>
            <a:ext cx="557784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21208" y="42976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DEAL PARADOX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4709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wants Liminal for its </a:t>
            </a:r>
            <a:r>
              <a:rPr lang="en-US" sz="13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franchise</a:t>
            </a:r>
            <a:r>
              <a:rPr lang="en-US" sz="13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taking control may </a:t>
            </a:r>
            <a:r>
              <a:rPr lang="en-US" sz="13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 that franchise</a:t>
            </a:r>
            <a:r>
              <a:rPr lang="en-US" sz="13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99632" y="429768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99632" y="429768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09360" y="42976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IMPLICATION — separate the two questions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36792" y="4709160"/>
            <a:ext cx="2331720" cy="11430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28232" y="47091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attractiveness</a:t>
            </a:r>
            <a:r>
              <a:rPr lang="en-US" sz="12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Liminal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8686800" y="470916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390888" y="4709160"/>
            <a:ext cx="2249424" cy="11430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482328" y="4709160"/>
            <a:ext cx="2066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attractiveness</a:t>
            </a:r>
            <a:r>
              <a:rPr lang="en-US" sz="12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owning 100% today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options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paths — assessed on strategic access, control, downside and reversibility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6355080"/>
            <a:ext cx="11430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11365992" cy="914400"/>
        </p:xfrm>
        <a:graphic>
          <a:graphicData uri="http://schemas.openxmlformats.org/drawingml/2006/table">
            <a:tbl>
              <a:tblPr/>
              <a:tblGrid>
                <a:gridCol w="2500518"/>
                <a:gridCol w="2216368"/>
                <a:gridCol w="2216368"/>
                <a:gridCol w="2216368"/>
                <a:gridCol w="221636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ACQUISITION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MINORITY STAKE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VENTURE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AWAY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through partnership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within JV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Full-control churn exposure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30–45% case assumption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specified — validate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specified — validate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₹750 Cr capital treatment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assumes applicable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specified — validate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specified — validate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 commitment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Structure-dependent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Future-control optionality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exercised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preserved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negotiated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unless partnership retained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11480" y="4434840"/>
            <a:ext cx="6766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4434840"/>
            <a:ext cx="6766560" cy="310896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" y="44348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8463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+ partnership + call option</a:t>
            </a: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strongest starting structure because it defers the two largest unresolved risks: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3191256" cy="41148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3949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response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849624" y="5394960"/>
            <a:ext cx="3191256" cy="41148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49624" y="53949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capital treatment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88352" y="4434840"/>
            <a:ext cx="4389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88352" y="4434840"/>
            <a:ext cx="438912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0" y="44348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525512" y="4846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</a:t>
            </a:r>
            <a:r>
              <a:rPr lang="en-US" sz="11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assume minority ownership automatically eliminates churn or the ₹750 Cr capital requirement.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525512" y="5486400"/>
            <a:ext cx="4114800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25512" y="5486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become </a:t>
            </a:r>
            <a:r>
              <a:rPr lang="en-US" sz="11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gates</a:t>
            </a: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transaction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optionality first — pay for control only after uncertainty reduces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6355080"/>
            <a:ext cx="118872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402336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402336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STRATEGIC ENTRY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assumption: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stake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midpoint of the permitted 20–30% range. If priced pro-rata to the ₹4,000 Cr headline value: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240280"/>
            <a:ext cx="3749040" cy="50292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240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upfront investment = </a:t>
            </a:r>
            <a:r>
              <a:rPr lang="en-US" sz="12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 Cr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Phase-1 funding: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09067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 Cr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existing balance-sheet cash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new debt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new equity issuance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gross cash remains approximately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₹7,900 Cr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fees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1280160"/>
            <a:ext cx="33832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280160"/>
            <a:ext cx="3383280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27448" y="12801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COMMERCIAL PARTNERSHIP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contractual access to Liminal’s custody/MPC infrastructure for agreed Paytm use cases.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258568"/>
            <a:ext cx="33832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2258568"/>
            <a:ext cx="3383280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27448" y="2258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GOVERNANCE RING-FENCE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2624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operational, client-data and institutional independence.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3236976"/>
            <a:ext cx="33832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236976"/>
            <a:ext cx="3383280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27448" y="3236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PRE-AGREED CALL OPTION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receives the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not obligation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acquire control after a defined validation period.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3880" y="1280160"/>
            <a:ext cx="359359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83880" y="1280160"/>
            <a:ext cx="35935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93608" y="128016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FUTURE-CONTROL PRICING PRINCIPLE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321040" y="1691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consideration capped at the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of: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321040" y="1993392"/>
            <a:ext cx="3337560" cy="329184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1993392"/>
            <a:ext cx="384048" cy="329184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21040" y="19933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823960" y="19933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headline valuation mechanics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21040" y="2395728"/>
            <a:ext cx="3337560" cy="329184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2395728"/>
            <a:ext cx="384048" cy="329184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21040" y="239572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823960" y="2395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Retained-ARR / performance-based value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321040" y="2834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to: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321040" y="3108960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21040" y="3108960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retention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044684" y="3108960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044684" y="3108960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capital treatment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21040" y="3456432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321040" y="3456432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044684" y="3456432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044684" y="3456432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valuation cap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321040" y="3803904"/>
            <a:ext cx="3337560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321040" y="38039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customary transaction adjustments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1480" y="4343400"/>
            <a:ext cx="113659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" y="434340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21208" y="434340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LOGIC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4754880"/>
            <a:ext cx="5440680" cy="10515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85800" y="475488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for </a:t>
            </a:r>
            <a:r>
              <a:rPr lang="en-US" sz="15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access</a:t>
            </a:r>
            <a:r>
              <a:rPr lang="en-US" sz="1500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today.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6199632" y="4754880"/>
            <a:ext cx="5440680" cy="10515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336792" y="475488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for </a:t>
            </a: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only after the retained value is observable.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facts vs team assumptions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model auditable: separate facts, calculations and assumptions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6355080"/>
            <a:ext cx="118872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7033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7033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FACTS — PAYTM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3520440" cy="914400"/>
        </p:xfrm>
        <a:graphic>
          <a:graphicData uri="http://schemas.openxmlformats.org/drawingml/2006/table">
            <a:tbl>
              <a:tblPr/>
              <a:tblGrid>
                <a:gridCol w="1830629"/>
                <a:gridCol w="1689811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capitalization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₹1,18,750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Diluted shares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₹8,900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₹8,450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Diluted 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CRISIL AA− 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251960" y="1280160"/>
            <a:ext cx="37033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51960" y="1280160"/>
            <a:ext cx="37033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61688" y="12801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FACTS — LIMINAL / DEAL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691640"/>
          <a:ext cx="3520440" cy="914400"/>
        </p:xfrm>
        <a:graphic>
          <a:graphicData uri="http://schemas.openxmlformats.org/drawingml/2006/table">
            <a:tbl>
              <a:tblPr/>
              <a:tblGrid>
                <a:gridCol w="1689811"/>
                <a:gridCol w="1830629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acquisition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₹4,000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consideration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 Cr cash + ₹1,900 Cr 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breakeven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largest clients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of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Full-acquisition 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Full-control capital drag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₹750 Cr annual FCF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 MDR benefit to Paytm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₹115 Cr/year incremental net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8092440" y="1280160"/>
            <a:ext cx="3685032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092440" y="1280160"/>
            <a:ext cx="3685032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202168" y="128016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ASSUMPTIONS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229600" y="1691640"/>
            <a:ext cx="1691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ownership: </a:t>
            </a:r>
            <a:r>
              <a:rPr lang="en-US" sz="9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midpoint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minority investment: </a:t>
            </a:r>
            <a:r>
              <a:rPr lang="en-US" sz="9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 Cr</a:t>
            </a: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pro-rata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funding: existing cash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period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Minority/JV churn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Minority/JV regulatory capital treatment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Liminal ARR growth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/ PAT / FCF margins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10012680" y="1691640"/>
            <a:ext cx="1691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cost and tax rate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/ required return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costs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Synergies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MDR-to-PAT / FCF conversion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Call-option mechanics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Future-control valuation methodology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11480" y="5394960"/>
            <a:ext cx="11365992" cy="5943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48640" y="53949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PRINCIPLE:   CASE FACT  ≠  DERIVED CALCULATION  ≠  TEAM ASSUMPTION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7863840" y="53949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assumption must be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 and sensitivity-tested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&amp; churn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18.2× headline ARR becomes 26–33× on retained ARR under full-control churn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6355080"/>
            <a:ext cx="123444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VALUATION  ·  ₹4,000 Cr ÷ ₹220 Cr ARR = 18.2× ARR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1402690"/>
                <a:gridCol w="1186891"/>
                <a:gridCol w="1294790"/>
                <a:gridCol w="151058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Full-control churn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lost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ARR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₹4,000 Cr / Retained ARR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₹66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₹154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₹82.5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₹137.5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₹121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199632" y="1280160"/>
            <a:ext cx="55778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MULTIPLE ON RETAINED ARR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309360" y="1627632"/>
          <a:ext cx="53492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2"/>
          <p:cNvSpPr/>
          <p:nvPr/>
        </p:nvSpPr>
        <p:spPr>
          <a:xfrm>
            <a:off x="411480" y="3931920"/>
            <a:ext cx="42062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11480" y="3931920"/>
            <a:ext cx="42062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21208" y="39319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THE ORIGINAL 18.2× MULTIPLE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43400"/>
          <a:ext cx="4023360" cy="914400"/>
        </p:xfrm>
        <a:graphic>
          <a:graphicData uri="http://schemas.openxmlformats.org/drawingml/2006/table">
            <a:tbl>
              <a:tblPr/>
              <a:tblGrid>
                <a:gridCol w="1046074"/>
                <a:gridCol w="1367942"/>
                <a:gridCol w="1609344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ARR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₹154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~₹2,800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₹137.5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~₹2,500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₹121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~₹2,200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5"/>
          <p:cNvSpPr/>
          <p:nvPr/>
        </p:nvSpPr>
        <p:spPr>
          <a:xfrm>
            <a:off x="4754880" y="3931920"/>
            <a:ext cx="3383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754880" y="3931920"/>
            <a:ext cx="338328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864608" y="3931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RECOVERY HURDLE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892040" y="4343400"/>
            <a:ext cx="1508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892040" y="4343400"/>
            <a:ext cx="1508760" cy="54864"/>
          </a:xfrm>
          <a:prstGeom prst="rect">
            <a:avLst/>
          </a:prstGeom>
          <a:solidFill>
            <a:srgbClr val="C2790F"/>
          </a:solidFill>
          <a:ln w="12700">
            <a:solidFill>
              <a:srgbClr val="C2790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5001768" y="445312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79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+42.9%</a:t>
            </a:r>
            <a:endParaRPr lang="en-US" sz="2200" dirty="0"/>
          </a:p>
        </p:txBody>
      </p:sp>
      <p:sp>
        <p:nvSpPr>
          <p:cNvPr id="36" name="Text 31"/>
          <p:cNvSpPr txBox="1"/>
          <p:nvPr/>
        </p:nvSpPr>
        <p:spPr>
          <a:xfrm>
            <a:off x="5001768" y="4910328"/>
            <a:ext cx="1289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required after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churn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₹154 Cr → ₹220 Cr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492240" y="4343400"/>
            <a:ext cx="1508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492240" y="4343400"/>
            <a:ext cx="1508760" cy="5486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601968" y="445312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+81.8%</a:t>
            </a:r>
            <a:endParaRPr lang="en-US" sz="2200" dirty="0"/>
          </a:p>
        </p:txBody>
      </p:sp>
      <p:sp>
        <p:nvSpPr>
          <p:cNvPr id="40" name="Text 35"/>
          <p:cNvSpPr txBox="1"/>
          <p:nvPr/>
        </p:nvSpPr>
        <p:spPr>
          <a:xfrm>
            <a:off x="6601968" y="4910328"/>
            <a:ext cx="1289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required after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churn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₹121 Cr → ₹220 Cr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4892040" y="5440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…just to </a:t>
            </a:r>
            <a:r>
              <a:rPr lang="en-US" sz="1050" b="1" i="1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original ARR base</a:t>
            </a:r>
            <a:r>
              <a:rPr lang="en-US" sz="1050" i="1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275320" y="3931920"/>
            <a:ext cx="35021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275320" y="3931920"/>
            <a:ext cx="350215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385048" y="3931920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RESPONSE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8412480" y="434340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412480" y="434340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Consideration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10090404" y="434340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10090404" y="434340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Earn-Out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8412480" y="475488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8412480" y="475488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10090404" y="475488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10090404" y="475488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Retention-Linked Payout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8412480" y="5193792"/>
            <a:ext cx="3246120" cy="6858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8503920" y="5193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pay ₹4,000 Cr unconditionally for revenue that may disappear because of the acquisition itself.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Financing &amp; EPS impact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the capital commitment to protect liquidity, leverage and dilution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6355080"/>
            <a:ext cx="123444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65760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FULL-ACQUISITION COUNTERFACTUAL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consideration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1965960"/>
            <a:ext cx="3383280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₹2,100 Cr cash + ₹1,900 Cr equity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₹2,100 Cr is funded entirely from existing cash: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3383280" cy="914400"/>
        </p:xfrm>
        <a:graphic>
          <a:graphicData uri="http://schemas.openxmlformats.org/drawingml/2006/table">
            <a:tbl>
              <a:tblPr/>
              <a:tblGrid>
                <a:gridCol w="1488643"/>
                <a:gridCol w="947318"/>
                <a:gridCol w="947318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Balance-sheet cash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₹8,900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₹6,800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54864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equity dilution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3383280" cy="914400"/>
        </p:xfrm>
        <a:graphic>
          <a:graphicData uri="http://schemas.openxmlformats.org/drawingml/2006/table">
            <a:tbl>
              <a:tblPr/>
              <a:tblGrid>
                <a:gridCol w="2097634"/>
                <a:gridCol w="1285646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Paytm share price (₹1,18,750 Cr ÷ 64 Cr)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₹1,855/share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₹1,900 Cr equity consideration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1.02 Cr new shares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Pro-forma diluted shares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65.02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if PAT remains ₹480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₹7.38 vs ₹7.50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206240" y="1280160"/>
            <a:ext cx="365760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20624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31596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DILUTION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343400" y="1691640"/>
            <a:ext cx="3383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343400" y="1691640"/>
            <a:ext cx="3383280" cy="5486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453128" y="180136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1.6%</a:t>
            </a:r>
            <a:endParaRPr 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4453128" y="2258568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EPS dilution: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₹7.38 vs ₹7.50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434340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…before: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4343400" y="3063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costs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earnings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synergies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costs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transaction effects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343400" y="4663440"/>
            <a:ext cx="3383280" cy="1188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48056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MESSAGE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should follow risk resolution — not precede it.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8001000" y="1280160"/>
            <a:ext cx="3776472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001000" y="1280160"/>
            <a:ext cx="3776472" cy="310896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110728" y="128016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PHASE-1 STRUCTURE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8138160" y="1691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 Cr cash investment for 25%</a:t>
            </a:r>
            <a:endParaRPr lang="en-US" sz="105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2011680"/>
          <a:ext cx="3520440" cy="914400"/>
        </p:xfrm>
        <a:graphic>
          <a:graphicData uri="http://schemas.openxmlformats.org/drawingml/2006/table">
            <a:tbl>
              <a:tblPr/>
              <a:tblGrid>
                <a:gridCol w="2182673"/>
                <a:gridCol w="1337767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remaining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~₹7,900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shares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share-count dilution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4" name="Shape 39"/>
          <p:cNvSpPr/>
          <p:nvPr/>
        </p:nvSpPr>
        <p:spPr>
          <a:xfrm>
            <a:off x="8001000" y="3657600"/>
            <a:ext cx="377647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001000" y="3657600"/>
            <a:ext cx="377647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110728" y="365760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FUTURE-CONTROL FINANCING PRINCIPLE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8138160" y="4069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pre-commit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full financing mix today. At exercise: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8138160" y="443484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sufficient liquidity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rating headroom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leverage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excessive equity dilution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contingent consideration where value remains uncertain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 &amp; FCF breakeven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must clear two separate hurdles: accounting accretion and cash-flow viability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6355080"/>
            <a:ext cx="123444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ACCOUNTING / PAT TEST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PAT 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Liminal PAT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Realized operating synergies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Financing 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Integration / operating 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Other incremental expenses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3429000"/>
            <a:ext cx="338328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Pro-Forma EPS = Pro-Forma PAT ÷ Diluted Shares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206240" y="128016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0624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1596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CASH / FCF TEST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691640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FCF 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Liminal FCF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Realized cash synergies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Applicable MDR cash contribution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₹750 Cr capital drag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Integration / other cash 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343400" y="3429000"/>
            <a:ext cx="338328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34340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position:</a:t>
            </a:r>
            <a:r>
              <a:rPr lang="en-US" sz="9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Liminal ≈ PAT breakeven → limited acquired earnings to offset dilution or financing costs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001000" y="1280160"/>
            <a:ext cx="377647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001000" y="1280160"/>
            <a:ext cx="377647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110728" y="128016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DISTINCTION — THE ₹115 Cr UPI MDR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8138160" y="1691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₹115 Cr UPI MDR benefit is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Paytm net revenue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is: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8138160" y="2148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automatically ₹115 Cr PAT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automatically ₹115 Cr FCF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created by acquiring Liminal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8138160" y="3017520"/>
            <a:ext cx="352044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229600" y="30175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</a:t>
            </a: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it separately as a Paytm standalone corporate benefit / offset, using an explicit revenue-to-PAT / FCF conversion assumption.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11480" y="4160520"/>
            <a:ext cx="55778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11480" y="416052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21208" y="41605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CASE DOES NOT PROVIDE FOR LIMINAL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48640" y="4572000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48640" y="4572000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2353056" y="4572000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2353056" y="4572000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157472" y="4572000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157472" y="4572000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548640" y="4956048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48640" y="4956048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53056" y="4956048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353056" y="4956048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4157472" y="4956048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4157472" y="4956048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costs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548640" y="5349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a specific breakeven year must be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assumption-driven and sensitivity-tested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53" name="Shape 49"/>
          <p:cNvSpPr/>
          <p:nvPr/>
        </p:nvSpPr>
        <p:spPr>
          <a:xfrm>
            <a:off x="6199632" y="4160520"/>
            <a:ext cx="55778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199632" y="4160520"/>
            <a:ext cx="557784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309360" y="41605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CONTROL-EXERCISE RULE</a:t>
            </a:r>
            <a:endParaRPr lang="en-US" sz="1100" dirty="0"/>
          </a:p>
        </p:txBody>
      </p:sp>
      <p:sp>
        <p:nvSpPr>
          <p:cNvPr id="56" name="Text 52"/>
          <p:cNvSpPr txBox="1"/>
          <p:nvPr/>
        </p:nvSpPr>
        <p:spPr>
          <a:xfrm>
            <a:off x="6336792" y="4572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</a:t>
            </a:r>
            <a:r>
              <a:rPr lang="en-US" sz="11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exercise control until the model demonstrates: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6336792" y="4983480"/>
            <a:ext cx="2560320" cy="8229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6428232" y="4983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/ EPS breakeven</a:t>
            </a:r>
            <a:endParaRPr lang="en-US" sz="1100" dirty="0"/>
          </a:p>
        </p:txBody>
      </p:sp>
      <p:sp>
        <p:nvSpPr>
          <p:cNvPr id="59" name="Text 55"/>
          <p:cNvSpPr txBox="1"/>
          <p:nvPr/>
        </p:nvSpPr>
        <p:spPr>
          <a:xfrm>
            <a:off x="8897112" y="49834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60" name="Shape 56"/>
          <p:cNvSpPr/>
          <p:nvPr/>
        </p:nvSpPr>
        <p:spPr>
          <a:xfrm>
            <a:off x="9354312" y="4983480"/>
            <a:ext cx="2286000" cy="8229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9445752" y="4983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breakeven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regulatory capital requirements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 &amp; governance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institutional franchise through structural independence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6355080"/>
            <a:ext cx="19659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93192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9319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1645920"/>
          <a:ext cx="1828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2331720" y="173736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Bank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CoinDCX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ZebPay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33172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Liminal ARR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₹132 Cr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₹220 Cr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520440"/>
            <a:ext cx="36576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Full-control churn assumption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3931920"/>
            <a:ext cx="3657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3931920"/>
            <a:ext cx="3657600" cy="5486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" y="4041648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₹66–99 Cr ARR lost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" y="4498848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approximately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50–75%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ARR represented by the four largest relationships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4983480"/>
            <a:ext cx="3657600" cy="8686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4983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Governance is not cosmetic — it is a valuation-protection mechanism.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480560" y="1280160"/>
            <a:ext cx="729691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0" y="1280160"/>
            <a:ext cx="729691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90288" y="1280160"/>
            <a:ext cx="7114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ARCHITECTURE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91640"/>
          <a:ext cx="7022592" cy="914400"/>
        </p:xfrm>
        <a:graphic>
          <a:graphicData uri="http://schemas.openxmlformats.org/drawingml/2006/table">
            <a:tbl>
              <a:tblPr/>
              <a:tblGrid>
                <a:gridCol w="421356"/>
                <a:gridCol w="2668585"/>
                <a:gridCol w="39326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Liminal 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 institutional neutrality.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Arm’s-length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directors + clearly defined reserved matters.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information barriers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unrestricted Paytm access to client-sensitive custody or transaction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compliance &amp; cybersecurity oversight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monitoring, escalation and reporting.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service standards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preferential treatment for Paytm-linked activity.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Client-protection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communication, consent and change-of-control management.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Retention-linked consideration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seller economics with preservation of the institutional franchise.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closing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regulatory capital treatment before committing to control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6355080"/>
            <a:ext cx="19659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806952" cy="457200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" y="128016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SIGNING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0144" y="1280160"/>
            <a:ext cx="3806952" cy="457200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74464" y="128016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→ CLOSING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88808" y="1280160"/>
            <a:ext cx="3806952" cy="45720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63128" y="128016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POST-CLOSE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1828800"/>
            <a:ext cx="37033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feasibility of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ownership and commercial partnership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expected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treatment of minority vs control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AML, data, cybersecurity and compliance diligence.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structured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key-client soundings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regulatory and customer conditions precedent.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42816" y="1828800"/>
            <a:ext cx="37033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79976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as applicable: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379976" y="21945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approval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regulatory path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clearance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Securities-related approvals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consents / retention protections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Information-security readiness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adverse regulatory change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74152" y="1828800"/>
            <a:ext cx="37033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11312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compliance framework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controls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segregation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monitoring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compliance reporting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risk oversight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4480560"/>
            <a:ext cx="67665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480560"/>
            <a:ext cx="676656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1208" y="448056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UNRESOLVED QUESTION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8920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minority ownership </a:t>
            </a:r>
            <a:r>
              <a:rPr lang="en-US" sz="12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avoid, reduce or still trigger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₹750 Cr capital requirement?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4406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does not specify the answer.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88352" y="4480560"/>
            <a:ext cx="4389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88352" y="4480560"/>
            <a:ext cx="43891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8080" y="4480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DECISION GATE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25512" y="4892040"/>
            <a:ext cx="4114800" cy="9601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35240" y="48920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exercise full control until regulatory capital treatment is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and incorporated into the FCF model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&amp; downside response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urgency must not become a winner’s curse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6355080"/>
            <a:ext cx="19659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PHONEPE–MASTERCARD THREAT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exploratory consortium creates a </a:t>
            </a:r>
            <a:r>
              <a:rPr lang="en-US" sz="10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opportunity cost</a:t>
            </a: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Paytm walks away. However, the case provides: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286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competing valuation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competing transaction terms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quantified bidder synergies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certainty of completion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06240" y="128016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1596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RESPONSE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automatically match a higher bid.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risk-adjusted reservation value based on: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2286000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43400" y="2286000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ARR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2286000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89904" y="2286000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treatment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43400" y="2633472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43400" y="263347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retention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9904" y="2633472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89904" y="263347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impact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43400" y="2980944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43400" y="29809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/ FCF economics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9904" y="2980944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89904" y="29809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optionality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343400" y="3291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another bidder exceeds Paytm’s reservation value: </a:t>
            </a:r>
            <a:r>
              <a:rPr lang="en-US" sz="10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</a:t>
            </a: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rather than destroy shareholder value.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01000" y="1280160"/>
            <a:ext cx="3776472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1280160"/>
            <a:ext cx="377647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10728" y="128016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PRINCIPLE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38160" y="1691640"/>
            <a:ext cx="3520440" cy="20116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75320" y="16916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pressure may change </a:t>
            </a: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</a:t>
            </a: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it should </a:t>
            </a: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change valuation discipline.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11480" y="3977640"/>
            <a:ext cx="1136599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397764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21208" y="397764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PLAYBOOK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91672" cy="914400"/>
        </p:xfrm>
        <a:graphic>
          <a:graphicData uri="http://schemas.openxmlformats.org/drawingml/2006/table">
            <a:tbl>
              <a:tblPr/>
              <a:tblGrid>
                <a:gridCol w="3327502"/>
                <a:gridCol w="776417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&gt; 45%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exercise control / activate price protection / reassess partnership.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requirement unacceptable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 minority / restructure / exit.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clients resist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Strengthen ring-fence; no control exercise without acceptable retention.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Paytm share price compresses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fixed-value equity issuance that creates excessive dilution.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 / FCF case fails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escalate capital because of sunk cost.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/ security conditions fail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 exercise / terminate where contractual rights permit.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 &amp; decision gates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→ Validate → Exercise / Hold / Walk Away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27848" y="6355080"/>
            <a:ext cx="10515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721608" cy="502920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| 0–3 MONTHS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42816" y="1280160"/>
            <a:ext cx="3721608" cy="502920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17136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| 3–12 MONTHS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VALIDATE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74152" y="1280160"/>
            <a:ext cx="3721608" cy="50292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48472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| ~12 MONTHS+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DECIDE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87452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01168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strategic minority stake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commercial custody/MPC partnership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standalone governance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call option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future-control pricing mechanics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client and regulatory gates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integrated transaction model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42816" y="187452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79976" y="198424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19842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retention · Key-client renewals · Concentration trajectory · Customer willingness under potential control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79976" y="2679192"/>
            <a:ext cx="34290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79976" y="27157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27157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treatment · Approval path · Compliance requirements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79976" y="3410712"/>
            <a:ext cx="34290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79976" y="34472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34472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trajectory · PAT progression · FCF generation · MDR conversion · Synergy realization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79976" y="4142232"/>
            <a:ext cx="34290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79976" y="41788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394960" y="4178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· AML · Data segregation · Operational resilience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74152" y="187452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11312" y="1938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CONTROL — only if: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211312" y="216712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retention remains acceptable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capital treatment is economically viable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remains within Paytm’s reservation value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PAT/EPS economics are supportable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economics are supportable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/ compliance conditions are satisfied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211312" y="3310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2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MINORITY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211312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strategic value remains attractive but control economics remain unresolved.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211312" y="3904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 / UNWIND — if: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211312" y="4114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exceeds tolerance · capital drag destroys returns · key clients reject ownership · regulatory conditions deteriorate · valuation exceeds risk-adjusted value · PAT / FCF economics fail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1480" y="5047488"/>
            <a:ext cx="11365992" cy="94183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047488"/>
            <a:ext cx="1463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BOARD MESSAGE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2011680" y="5047488"/>
            <a:ext cx="9601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should not pay today for risks it can observe tomorrow. Secure Liminal’s strategic infrastructure through a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investment and commercial partnership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Preserve the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not obligation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acquire control. Commit the remaining capital only after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trust, regulatory capital treatment, valuation and cash-flow economics are proven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access now. Control only when value is protected.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A1–A2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model key inputs · Churn sensitivity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278892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27889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PAYTM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2606040" cy="914400"/>
        </p:xfrm>
        <a:graphic>
          <a:graphicData uri="http://schemas.openxmlformats.org/drawingml/2006/table">
            <a:tbl>
              <a:tblPr/>
              <a:tblGrid>
                <a:gridCol w="1433322"/>
                <a:gridCol w="117271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capitalization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₹1,18,750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Diluted shares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₹8,900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debt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₹8,450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₹640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₹480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CRISIL AA− Stable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337560" y="1280160"/>
            <a:ext cx="278892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37560" y="1280160"/>
            <a:ext cx="27889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47288" y="1280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LIMINAL &amp; RISKS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1691640"/>
          <a:ext cx="2606040" cy="914400"/>
        </p:xfrm>
        <a:graphic>
          <a:graphicData uri="http://schemas.openxmlformats.org/drawingml/2006/table">
            <a:tbl>
              <a:tblPr/>
              <a:tblGrid>
                <a:gridCol w="1511503"/>
                <a:gridCol w="1094537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₹4,000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₹220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multiple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18.2× ARR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breakeven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Top-four-client concentration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churn (full control)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FCF drag (full control)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₹750 Cr/year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429000" y="4343400"/>
            <a:ext cx="2606040" cy="1508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520440" y="43891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CORPORATE OFFSET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MDR: 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₹115 Cr/year</a:t>
            </a: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incremental net revenue.
</a:t>
            </a:r>
            <a:r>
              <a:rPr lang="en-US" sz="95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9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Liminal transaction synergy.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263640" y="1280160"/>
            <a:ext cx="551383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263640" y="1280160"/>
            <a:ext cx="551383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73368" y="1280160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CHURN SENSITIVITY</a:t>
            </a:r>
            <a:endParaRPr lang="en-US" sz="11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30952" cy="914400"/>
        </p:xfrm>
        <a:graphic>
          <a:graphicData uri="http://schemas.openxmlformats.org/drawingml/2006/table">
            <a:tbl>
              <a:tblPr/>
              <a:tblGrid>
                <a:gridCol w="1172809"/>
                <a:gridCol w="1279428"/>
                <a:gridCol w="1439357"/>
                <a:gridCol w="1439357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lost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ARR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multiple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₹66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₹154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₹82.5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₹137.5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₹121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32" name="Text 27"/>
          <p:cNvSpPr txBox="1"/>
          <p:nvPr/>
        </p:nvSpPr>
        <p:spPr>
          <a:xfrm>
            <a:off x="635508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HURDLE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355080" y="4023360"/>
            <a:ext cx="2560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355080" y="4023360"/>
            <a:ext cx="2560320" cy="54864"/>
          </a:xfrm>
          <a:prstGeom prst="rect">
            <a:avLst/>
          </a:prstGeom>
          <a:solidFill>
            <a:srgbClr val="C2790F"/>
          </a:solidFill>
          <a:ln w="12700">
            <a:solidFill>
              <a:srgbClr val="C2790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464808" y="413308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79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+42.9%</a:t>
            </a:r>
            <a:endParaRPr lang="en-US" sz="2200" dirty="0"/>
          </a:p>
        </p:txBody>
      </p:sp>
      <p:sp>
        <p:nvSpPr>
          <p:cNvPr id="36" name="Text 31"/>
          <p:cNvSpPr txBox="1"/>
          <p:nvPr/>
        </p:nvSpPr>
        <p:spPr>
          <a:xfrm>
            <a:off x="6464808" y="459028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churn: ₹154 Cr → ₹220 Cr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9098280" y="4023360"/>
            <a:ext cx="2587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098280" y="4023360"/>
            <a:ext cx="2587752" cy="5486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9208008" y="413308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+81.8%</a:t>
            </a:r>
            <a:endParaRPr lang="en-US" sz="2200" dirty="0"/>
          </a:p>
        </p:txBody>
      </p:sp>
      <p:sp>
        <p:nvSpPr>
          <p:cNvPr id="40" name="Text 35"/>
          <p:cNvSpPr txBox="1"/>
          <p:nvPr/>
        </p:nvSpPr>
        <p:spPr>
          <a:xfrm>
            <a:off x="9208008" y="4590288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churn: ₹121 Cr → ₹220 Cr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6355080" y="5166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required </a:t>
            </a:r>
            <a:r>
              <a:rPr lang="en-US" sz="1050" b="1" i="1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merely to recover the original ARR base</a:t>
            </a:r>
            <a:r>
              <a:rPr lang="en-US" sz="1050" i="1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A3–A4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Retention-linked value framework · EPS / dilution bridge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RETENTION-LINKED VALUE — at the original 18.2× ARR multiple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971093"/>
                <a:gridCol w="1402690"/>
                <a:gridCol w="1510589"/>
                <a:gridCol w="151058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ARR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gap vs ₹4,000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₹4,000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₹154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~₹2,800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~₹1,200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₹137.5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~₹2,500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~₹1,500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₹121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~₹2,200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~₹1,800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4864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PRINCIPLE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4023360"/>
            <a:ext cx="2606040" cy="73152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023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consideration = </a:t>
            </a:r>
            <a:r>
              <a:rPr lang="en-US" sz="1100" b="1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access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91840" y="4023360"/>
            <a:ext cx="2560320" cy="7315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383280" y="4023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Contingent consideration =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economic value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892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Future-control price should remain subject to: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cap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901952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901952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ARR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55264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55264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08576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08576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outcome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199632" y="1280160"/>
            <a:ext cx="55778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· EPS / DILUTION BRIDGE — full-acquisition illustration</a:t>
            </a:r>
            <a:endParaRPr lang="en-US" sz="11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3344875"/>
                <a:gridCol w="2050085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Paytm share price: ₹1,18,750 Cr ÷ 64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₹1,855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₹1,900 Cr equity consideration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1.02 Cr new shares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Pro-forma diluted shares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65.02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EPS, assuming PAT remains ₹480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₹7.38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EPS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 mechanical dilution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0" name="Text 36"/>
          <p:cNvSpPr txBox="1"/>
          <p:nvPr/>
        </p:nvSpPr>
        <p:spPr>
          <a:xfrm>
            <a:off x="6336792" y="4389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…before: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336792" y="4709160"/>
            <a:ext cx="1694688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336792" y="4709160"/>
            <a:ext cx="169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expense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8141208" y="4709160"/>
            <a:ext cx="1694688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141208" y="4709160"/>
            <a:ext cx="169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earnings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9945624" y="4709160"/>
            <a:ext cx="1694688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9945624" y="4709160"/>
            <a:ext cx="169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synergies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336792" y="5120640"/>
            <a:ext cx="25968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336792" y="51206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costs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9043416" y="5120640"/>
            <a:ext cx="25968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043416" y="51206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transaction effects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A5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vs FCF breakeven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/ PAT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5394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Liminal PAT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Synergies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Financing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Integration / operating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Incremental PAT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02920" y="4069080"/>
            <a:ext cx="5394960" cy="6400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4069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Pro-Forma EPS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99632" y="1280160"/>
            <a:ext cx="55778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FCF</a:t>
            </a:r>
            <a:endParaRPr lang="en-US" sz="11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5394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Liminal FCF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Cash synergies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Applicable MDR cash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₹750 Cr capital drag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Integration cash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Incremental FCF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11480" y="5120640"/>
            <a:ext cx="11365992" cy="8686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48640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2011680" y="51206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breakeven ≠ FCF breakeven.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Both must be demonstrated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exercising full control.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A6–A7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 mitigants · Board decision tree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60350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60350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· RISK REGISTER &amp; MITIGANTS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852160" cy="914400"/>
        </p:xfrm>
        <a:graphic>
          <a:graphicData uri="http://schemas.openxmlformats.org/drawingml/2006/table">
            <a:tbl>
              <a:tblPr/>
              <a:tblGrid>
                <a:gridCol w="2457907"/>
                <a:gridCol w="3394253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response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30–45% full-control churn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Minority first + retention-linked consideration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top-client concentration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governance + client protections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₹750 Cr annual capital drag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gate before 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18.2× headline 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Retained-value pricing + valuation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equity dilution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consideration; avoid Phase-1 issuance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/ leverage pressure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Phase-1 debt; reassess at control exercise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PhonePe–Mastercard counterbid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 value + walk-away discipline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Paytm stock compression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excessive fixed-value equity dilution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 / data / cyber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compliance + information barriers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&gt;45% churn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control exercise / remediation / unwind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deterioration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precedent / termination protection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PAT / FCF economics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escalate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583680" y="1280160"/>
            <a:ext cx="51937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0" y="1280160"/>
            <a:ext cx="51937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93408" y="1280160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· BOARD DECISION TREE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720840" y="1691640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20840" y="1691640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452360" y="1691640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543800" y="17282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Liminal strategically valuable to Paytm?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7543800" y="21122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↓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720840" y="2587752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20840" y="258775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452360" y="2587752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543800" y="26243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Paytm secure strategic access without immediate full control?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7543800" y="30083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Minority + Commercial Partnership ↓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720840" y="3483864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720840" y="3483864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452360" y="3483864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543800" y="3520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client retention and regulatory capital outcomes acceptable after validation?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7543800" y="39044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2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Test valuation + PAT + FCF economics  |  NO → Hold minority / restructure / exit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720840" y="4379976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720840" y="4379976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452360" y="4379976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543800" y="4416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full control clear Paytm’s risk-adjusted financial and governance hurdles?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7543800" y="4800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2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Exercise call option  |  NO → Do not acquire control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720840" y="5303520"/>
            <a:ext cx="4919472" cy="54864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812280" y="5303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STATE: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 becomes an earned option — not a day-one commitment.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Satoshi Gate</dc:title>
  <dc:subject>PptxGenJS Presentation</dc:subject>
  <dc:creator>Team ETERNAL</dc:creator>
  <cp:lastModifiedBy>Team ETERNAL</cp:lastModifiedBy>
  <cp:revision>1</cp:revision>
  <dcterms:created xsi:type="dcterms:W3CDTF">2026-09-24T16:03:31Z</dcterms:created>
  <dcterms:modified xsi:type="dcterms:W3CDTF">2026-09-24T16:03:31Z</dcterms:modified>
</cp:coreProperties>
</file>