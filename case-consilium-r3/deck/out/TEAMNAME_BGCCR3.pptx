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B6672"/>
                </a:solidFill>
                <a:latin typeface="Inter"/>
              </a:defRPr>
            </a:pPr>
            <a:r>
              <a:rPr sz="900" b="0" i="0" u="none" strike="noStrike">
                <a:solidFill>
                  <a:srgbClr val="5B6672"/>
                </a:solidFill>
                <a:latin typeface="Inter"/>
              </a:rPr>
              <a:t>Viewership index (case: ~50% uplift, CF3)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Viewership index</c:v>
                </c:pt>
              </c:strCache>
            </c:strRef>
          </c:tx>
          <c:spPr>
            <a:solidFill>
              <a:srgbClr val="007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8212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Ordinary ATP week</c:v>
                  </c:pt>
                  <c:pt idx="1">
                    <c:v>India-friendly Masters week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8212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672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B6672"/>
                </a:solidFill>
                <a:latin typeface="Inter"/>
              </a:defRPr>
            </a:pPr>
            <a:r>
              <a:rPr sz="900" b="0" i="0" u="none" strike="noStrike">
                <a:solidFill>
                  <a:srgbClr val="5B6672"/>
                </a:solidFill>
                <a:latin typeface="Inter"/>
              </a:rPr>
              <a:t>Performance share of spend: current vs proposed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share of spend</c:v>
                </c:pt>
              </c:strCache>
            </c:strRef>
          </c:tx>
          <c:spPr>
            <a:solidFill>
              <a:srgbClr val="007A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8212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Current (case 65-70%, midpoint)</c:v>
                  </c:pt>
                  <c:pt idx="1">
                    <c:v>Proposed pilot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67.5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8212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672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tpmedia.tv/article/fancode-signs-exclusive-atp-tour-multi-year-broadcast-deal/" TargetMode="External"/><Relationship Id="rId2" Type="http://schemas.openxmlformats.org/officeDocument/2006/relationships/hyperlink" Target="https://www.moneycontrol.com/news/business/startup/fancode-strikes-exclusive-multi-year-deal-to-broadcast-atp-tour-events-in-indian-subcontinent-13757010.html" TargetMode="External"/><Relationship Id="rId3" Type="http://schemas.openxmlformats.org/officeDocument/2006/relationships/hyperlink" Target="https://www.atptour.com/en/news/what-is-the-2026-atp-tour-calendar" TargetMode="External"/><Relationship Id="rId4" Type="http://schemas.openxmlformats.org/officeDocument/2006/relationships/hyperlink" Target="https://www.atptour.com/en/tournaments/tv-schedule" TargetMode="External"/><Relationship Id="rId5" Type="http://schemas.openxmlformats.org/officeDocument/2006/relationships/hyperlink" Target="https://www.jiostar.com/news/jiohotstar-introduces-monthly-plans-across-tiers-giving-viewers-more-choice-in-how-they-watch-their-favourite-entertainment/" TargetMode="External"/><Relationship Id="rId6" Type="http://schemas.openxmlformats.org/officeDocument/2006/relationships/hyperlink" Target="https://help.sonyliv.com/top-articles/what-are-the-types-of-subscription-available-on-liv-how-much-does-sony-liv-cost-1" TargetMode="External"/><Relationship Id="rId7" Type="http://schemas.openxmlformats.org/officeDocument/2006/relationships/hyperlink" Target="https://support.tennistv.com/hc/en-us/articles/21872957780636-How-much-does-Tennis-TV-cost" TargetMode="External"/><Relationship Id="rId8" Type="http://schemas.openxmlformats.org/officeDocument/2006/relationships/hyperlink" Target="https://apps.apple.com/in/app/tennis-tv-live-streaming/id1114471030" TargetMode="External"/><Relationship Id="rId9" Type="http://schemas.openxmlformats.org/officeDocument/2006/relationships/hyperlink" Target="https://support.tennistv.com/hc/en-us/articles/21873584842652-What-is-Spoiler-Mode-on-Tennis-TV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ancode.com/content/subscribe" TargetMode="External"/><Relationship Id="rId2" Type="http://schemas.openxmlformats.org/officeDocument/2006/relationships/hyperlink" Target="https://www.fancode.com/terms-conditions" TargetMode="External"/><Relationship Id="rId3" Type="http://schemas.openxmlformats.org/officeDocument/2006/relationships/hyperlink" Target="https://x.com/IndTennisDaily/status/2032792847951516150" TargetMode="External"/><Relationship Id="rId4" Type="http://schemas.openxmlformats.org/officeDocument/2006/relationships/hyperlink" Target="https://www.instagram.com/p/DZ1s6SPmRwd/" TargetMode="External"/><Relationship Id="rId5" Type="http://schemas.openxmlformats.org/officeDocument/2006/relationships/hyperlink" Target="https://www.fancode.com/np/tennis/tour/-0/video-highlights/atp-tour-this-week-episode-35-223193" TargetMode="External"/><Relationship Id="rId6" Type="http://schemas.openxmlformats.org/officeDocument/2006/relationships/hyperlink" Target="https://www.autocarindia.com/motor-sports-news/f1-2026-fancode-f1-tv-india-subscription-prices-439142" TargetMode="External"/><Relationship Id="rId7" Type="http://schemas.openxmlformats.org/officeDocument/2006/relationships/hyperlink" Target="https://www.fancode.com/football/tour/laliga-202627-19782952/video-highlights/laliga-202627-live-on-fancode-222601" TargetMode="External"/><Relationship Id="rId8" Type="http://schemas.openxmlformats.org/officeDocument/2006/relationships/hyperlink" Target="https://unstop.com/competitions/case-consilium-bits-goa-consulting-club-bgcc-1734140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138160" y="0"/>
            <a:ext cx="4053535" cy="2926080"/>
          </a:xfrm>
          <a:prstGeom prst="rtTriangl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685800"/>
            <a:ext cx="4983480" cy="5532120"/>
          </a:xfrm>
          <a:prstGeom prst="roundRect">
            <a:avLst>
              <a:gd name="adj" fmla="val 2202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1097280"/>
            <a:ext cx="4069080" cy="4572000"/>
          </a:xfrm>
          <a:prstGeom prst="rect">
            <a:avLst/>
          </a:prstGeom>
          <a:solidFill>
            <a:srgbClr val="0B66C3"/>
          </a:solidFill>
          <a:ln w="19050">
            <a:solidFill>
              <a:srgbClr val="9CC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08519" y="1097280"/>
            <a:ext cx="0" cy="457200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2401" y="1097280"/>
            <a:ext cx="0" cy="457200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08519" y="2194560"/>
            <a:ext cx="3173882" cy="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08519" y="4572000"/>
            <a:ext cx="3173882" cy="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5460" y="2194560"/>
            <a:ext cx="0" cy="2377440"/>
          </a:xfrm>
          <a:prstGeom prst="line">
            <a:avLst/>
          </a:prstGeom>
          <a:noFill/>
          <a:ln w="15875">
            <a:solidFill>
              <a:srgbClr val="9CC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3383280"/>
            <a:ext cx="452628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46513" y="2514600"/>
            <a:ext cx="384048" cy="384048"/>
          </a:xfrm>
          <a:prstGeom prst="ellipse">
            <a:avLst/>
          </a:prstGeom>
          <a:solidFill>
            <a:srgbClr val="EF5E16"/>
          </a:solidFill>
          <a:ln w="12700">
            <a:solidFill>
              <a:srgbClr val="EF5E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57790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Tour on FanCode: 56 events a year, exclusive in the Indian Subcontinent through 2028 (S1, S2)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BGCC Case Consilium 2026  ·  Round 3  ·  Case partner: FanCode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141732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 the </a:t>
            </a:r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 Occasion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685800" cy="457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" y="30632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Converting irregular ATP Tour interest into incremental, retained and profitable subscription growth for FanCode in India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" y="38862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intent, not reach. Sell the season, not the match. Prove the lift before scaling.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452628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61772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team: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[ENTER EXACT REGISTERED TEAM NAME]</a:t>
            </a:r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[ENTER REGISTERED MEMBER NAMES]</a:t>
            </a:r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Institution: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[ENTER INSTITUTION, IF REQUIRED]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62636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deck, 12 pages: cover, executive summary, eight solution slides, two reference pages. Prices in ₹, times in IST.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 intent, not reach; sell the season, not the match; prove the lift before scaling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page; forecasts are modelled, thresholds are proposed test targets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facts from the Round 3 brief (CF1-CF19, see References). Model: cohort and channel model, base case, ₹10 lakh illustrative pilot for 23 Sep-22 Nov 2026 (research/model in the support folder). CAC = customer acquisition cost per newly acquired paying subscriber; CRM = customer relationship management (owned channels).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27706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" y="12435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₹150-₹200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" y="16276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target CAC per new paying subscriber (CF9). Attributed and incremental CAC are reported separately.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706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4136" y="12435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₹184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74136" y="16276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Modelled attributed CAC on the scalable paid rows (search/retargeting, contests), base case; ₹221 with the prospecting test.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170432"/>
            <a:ext cx="27706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12435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2,798 / 1,693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16276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Attributed / incremental new payers from the ₹10 lakh pilot, deduplicated, base case (modelled).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98280" y="1170432"/>
            <a:ext cx="27706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0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26296" y="12435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16276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share tournament-pass entrants need to repay ₹183 CAC within 24 months; base assumption 20%, ladder target 30%.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" y="2212848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commercial problem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48716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demand on FanCode is spiky: India-friendly Masters weeks index about 150 against 100 in ordinary weeks, marquee European evenings start at 00:00-01:00 IST, and about 90% of ordinary-week viewers are already fans. A ₹79-₹99 first purchase leaves roughly ₹62 of contribution before marketing, so it cannot repay ₹150-₹200 on its own, and organic F1/football growth confounds what performance spend is credited with. Trade-offs made: defer broad acquisition, cap overnight live-conversion spend, turn takeovers into a measured test.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" y="3493008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Cohorts first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0040" y="376732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Observable tennis intent that does not pay yet (free tennis viewers, tennis-page visitors, lapsed 2025 buyers): the only new-payer cohort worth paid media, and only at T-48h. </a:t>
            </a:r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Finish-the-Season buyers in marquee weeks (Shanghai, Paris, ATP Finals). </a:t>
            </a:r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</a:t>
            </a:r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F1, MotoGP and LaLiga pass holders, cross-sold a session that fits their hours and reported separately. ATP core fans are a retention and upgrade audience; broad casual audiences are deferred.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20040" y="4800600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" y="4773168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Connected actions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20040" y="504748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public credit ladder </a:t>
            </a:r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(session ₹19-₹39, tournament ₹79-₹99, Finish-the-Season ₹199), each rung credited to the next within 30 days; </a:t>
            </a:r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morning-replay journey </a:t>
            </a:r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overnight sessions (spoiler-free push at 07:00 IST with a 20-minute cut); </a:t>
            </a:r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Race-to-Turin narrative </a:t>
            </a:r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gives ordinary weeks a reason; and a </a:t>
            </a:r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season-end bridge </a:t>
            </a:r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the ₹179 all-sport Monthly Pass and the 2027 season at a ₹349 loyalty price.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72200" y="2240280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81928" y="2212848"/>
            <a:ext cx="558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Economics of the pilot (modelled)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505456"/>
          <a:ext cx="569671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969264"/>
                <a:gridCol w="969264"/>
                <a:gridCol w="969264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Downside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Upside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Attributed new payers (dedup) / incremental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1,959 / 889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2,798 / 1,693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3,637 / 2,751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Attributed CAC, scalable paid rows (excl. prospecting test)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₹263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₹142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Incremental CAC, all paid rows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₹674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₹354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₹218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12-month contribution per new payer (before marketing, net of cannibalisation)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₹111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₹148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24-month net of the scalable acquisition rows (rights horizon)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−₹1.7 lakh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₹0.7 lakh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₹4.1 lakh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12-month net of the whole ₹10 lakh programme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−₹7.6 lakh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−₹5.4 lakh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−₹2.5 lakh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172200" y="4704588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81928" y="4677156"/>
            <a:ext cx="558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FanCode should approve and test next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4951476"/>
            <a:ext cx="5696712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₹10 lakh of marketing for nine weeks plus about ₹4 lakh of one-off implementation (spoiler-free replay surfaces, credit-ladder checkout).</a:t>
            </a:r>
            <a:endParaRPr lang="en-US" sz="92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with a persistent 10% holdout and a geo/time crossover, so marketing-caused new payers are counted against organic demand, never by last click.</a:t>
            </a:r>
            <a:endParaRPr lang="en-US" sz="92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Gates: attributed CAC ≤ ₹200 and CRM lift ≥ 30% at day 45; next-event return ≥ 45% and upgrade share ≥ 20% at day 90; pass both, then scale search/retargeting and CRM for the Feb-Mar 2027 wave.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Forecasts are modelled outputs of the cohort and channel model, not observed results; thresholds are proposed test targets. Contribution excludes the fixed ATP rights fee, so it is not profit. The same prices, budget, CAC definitions and horizons run through Solutions 1-8.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ATP adds paid growth where intent is observable: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ordinary weeks are a retention audience, marquee weeks are the acquisition window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1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diagnosis and audience priorities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CF1-CF6, CF9, CF15 (case brief); S3 ATP calendar; S15 LaLiga on FanCode; IST conversions in research/calendar_ist.csv (typical session times; confirm against the 2026 order of play). Contribution: ₹89 ÷ 1.18 GST, less 4% gateway and support and ₹2 per streaming hour (assumptions). Assignment uses first-party consented data only; no Dream11 data sharing is assumed; adjacent-sport rows are cross-sell of existing payers and never enter the new-payer count.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97864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" y="117043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brief fixes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" y="1463040"/>
          <a:ext cx="35204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2834640"/>
            <a:ext cx="3520440" cy="768096"/>
          </a:xfrm>
          <a:prstGeom prst="roundRect">
            <a:avLst>
              <a:gd name="adj" fmla="val 7143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" y="288950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~90% of ordinary-week viewers are fans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29768" y="3163824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~10% of ordinary-week ATP viewers are non-fans (CF4): ordinary weeks are for retention and upgrades, not mass acquisition.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320040" y="3675888"/>
            <a:ext cx="3520440" cy="768096"/>
          </a:xfrm>
          <a:prstGeom prst="roundRect">
            <a:avLst>
              <a:gd name="adj" fmla="val 7143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9768" y="3730752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₹89 pass earns ~₹62 vs ₹150-₹200 CAC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29768" y="400507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Masters tournament pass alone cannot repay acquisition; later paid decisions must (Solution 4).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320040" y="4517136"/>
            <a:ext cx="3520440" cy="768096"/>
          </a:xfrm>
          <a:prstGeom prst="roundRect">
            <a:avLst>
              <a:gd name="adj" fmla="val 7143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9768" y="4572000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17:00 IST vs 00:00-01:00 IST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29768" y="484632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Shanghai night sessions start at 17:00 IST; Vienna, Paris and Turin evenings at 00:00-01:00 IST (S3, IST conversion). Player appeal and ability to watch live differ.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320040" y="5358384"/>
            <a:ext cx="3520440" cy="768096"/>
          </a:xfrm>
          <a:prstGeom prst="roundRect">
            <a:avLst>
              <a:gd name="adj" fmla="val 7143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9768" y="541324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240M registered is not a tennis audience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29768" y="56875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users (CF1) are not viewers or prospects; no addressable-audience arithmetic is used.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4023360" y="1197864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33088" y="1170432"/>
            <a:ext cx="7735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Audience priority matrix: one segment per user; the highest tennis signal wins (P1 to P6)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481328"/>
          <a:ext cx="7845552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2103120"/>
                <a:gridCol w="1600200"/>
                <a:gridCol w="1143000"/>
                <a:gridCol w="1051560"/>
                <a:gridCol w="649224"/>
              </a:tblGrid>
              <a:tr h="3858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Segment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Observable signal (lookback)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Pays today → incremental action sought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Barrier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Objective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  ATP core followers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≥2 ATP events watched or ≥2 passes bought in 2026, or a 2025 season pass (365 days)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Mostly paying → season upgrade, 2027 renewal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Fatigue; no reason to pay more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Retain, upgrade, renew; no paid media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Retain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4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  Marquee- or Slam-led followers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2026 Masters pass and no repeat; ≥2 tennis highlight views in a marquee week; tennis-page visits (90 days); lapsed 2025 buyers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 or lapsed → first FanCode payment (new payer)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Ordinary weeks feel irrelevant; 00:00-01:00 IST starts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Acquire first, move up the ladder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P3  F1 viewers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F1 pass holder, ≥3 race weekends watched this season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payer → first ATP purchase (not a new payer)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Sunday clash with races; no tennis habit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Cross-sell weekday night sessions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P4  MotoGP viewers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MotoGP pass holder; watches morning-IST Asia-Pacific rounds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payer → first ATP purchase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 pool; different hours from F1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Cross-sell Asian-swing mornings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P5  Football (LaLiga) late-night viewers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≥2 LaLiga matches starting after 23:30 IST watched (60 days)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payer → first ATP purchase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presumed tennis interest: test only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Cross-sell European evening sessions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(test)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P6  Broad casual, cricket-only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tennis signal (most of the 240M registered)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 → new payer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intent; CAC far above target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Defer until lift is proven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cohorts: P2 (new payers with observable tennis intent) and Finish-the-Season buyers in marquee weeks. P1 is a retention and upgrade opportunity, adjacent-sport payers are cross-sell, P6 is deferred. No segment populations are estimated; the plan is budget-normalised.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persona gets its own trigger, offer and window: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paid spend concentrates at T-48h, owned channels build the occasion earlier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2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Persona-specific campaigns across the calendar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CF6, CF11 (case brief); S3 ATP 2026 calendar; IST session windows are typical of recent editions (research/calendar_ist.csv), confirm against the 2026 order of play. Copy is original and subject to normal commercial approval; no player participation is promised.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7957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" y="1152144"/>
            <a:ext cx="11441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 calendar, 23 Sep-22 Nov 2026 (S3): blue weeks carry paid acquisition, other weeks are owned-channel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23-29 Sep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Chengdu / Hangzhou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250 · 10:00 IST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770850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34858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Sep-6 Oct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834858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Tokyo / Beijing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834858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500 · 07:30 &amp; 17:00 IST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21660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85668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FE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7-18 Oct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285668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Shanghai Masters (12 days)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285668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E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M1000 · 10:00 &amp; 17:00 IST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72470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36478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19-25 Oct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736478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Almaty / Brussels / Lyon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736478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250 · 12:30-23:00 IST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3280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87288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Oct-1 Nov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187288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 / Vienna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187288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500 · 18:00 &amp; 00:00 IST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574090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38098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FE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2-8 Nov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638098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Paris Masters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638098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E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M1000 · 15:30 &amp; 00:00 IST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024899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88907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8-14 Nov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088907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Stockholm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9088907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ATP 250 · 16:30 &amp; 23:00 IST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475709" y="1444752"/>
            <a:ext cx="1395946" cy="749808"/>
          </a:xfrm>
          <a:prstGeom prst="roundRect">
            <a:avLst>
              <a:gd name="adj" fmla="val 6098"/>
            </a:avLst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39717" y="1481328"/>
            <a:ext cx="1267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FE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15-22 Nov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0539717" y="1655064"/>
            <a:ext cx="1267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Nitto ATP Finals, Turin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539717" y="1947672"/>
            <a:ext cx="1267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E3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Finals · 18:30 &amp; 01:00 IST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320040" y="2231136"/>
            <a:ext cx="11551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 = overnight starts, sold as a morning-replay occasion, not chased with live-conversion spend.  Paid conversion: T-48h to match start (CF11).  Owned and editorial build: from T-7 days.  Retention: from the first view.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87168"/>
          <a:ext cx="115488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1874520"/>
                <a:gridCol w="2743200"/>
                <a:gridCol w="2011680"/>
                <a:gridCol w="1673352"/>
              </a:tblGrid>
              <a:tr h="361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Trigger and window (IST)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Offer → intended next paid action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Sample message (original)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Channel · suppression · frequency cap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Activation KPI · retained-payer KPI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6306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 Marquee-led, free or lapsed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T-48h before Shanghai first round (Mon 5 Oct for Wed 7 Oct); 07:00 IST replay push after overnight Paris and Turin sessions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₹89 Shanghai pass → credit toward ₹199 Finish-the-Season within 30 days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"Shanghai starts Wednesday, 17:00 IST. ₹89 covers all 12 days, and counts toward the rest of the season if you upgrade by 6 Nov."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 + retargeting (paid), push (owned); suppress on purchase; 3 pushes/week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purchase rate; upgrade within 30 days; D90 retained payer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8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 ATP core (paying)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Sunday night after each tournament final; day 20 of the 30-day credit window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Upgrade to Finish-the-Season ₹199 (credit applied); 2027 loyalty price ₹349 by 15 Jan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"Vienna is done, Paris starts Monday. Three Turin places are still open. Your ₹79 Vienna pass takes ₹79 off the rest of the season."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Push/email only, no paid media; 2 messages/week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Next-event return; upgrade share; 2027 renewal (eligible cohort)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958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P3 F1 pass holders (existing payers)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Tuesday-Friday after an F1 weekend; never on race Sunday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₹29-₹39 India-friendly night session → session price credited to the tournament pass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"No race until Sunday. Tonight's Shanghai night session starts 17:00 IST, ₹29, replay included."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In-app + push; suppress if any ATP entitlement is active; 2/week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ATP purchase (reported apart from new payers); ladder step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8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P4 MotoGP pass holders (existing payers)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Saturday and Sunday mornings in the Asian swing (Tokyo 07:30, Shanghai 10:00 IST)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₹29 day-session pass → tournament credit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"You're up early for MotoGP anyway. Shanghai day session from 10:00 IST, ₹29."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Push; 1/week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ATP purchase; morning-session views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958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P5 LaLiga late-night viewers (existing payers)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Friday and Saturday late night in the Vienna, Paris and Turin weeks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₹19-₹29 evening session with the 07:00 IST spoiler-free replay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"Kick-off is at 1:30 AM and so is the Paris evening session. ₹29: watch it live, or spoiler-free at 7 AM."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In-app; 1/week; stop after 2 unopened pushes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ATP purchase; replay opens; refunds &lt; 2%</a:t>
                      </a:r>
                      <a:endParaRPr lang="en-US" sz="8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320040" y="5553608"/>
            <a:ext cx="11551615" cy="389992"/>
          </a:xfrm>
          <a:prstGeom prst="roundRect">
            <a:avLst>
              <a:gd name="adj" fmla="val 14068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29768" y="5581040"/>
            <a:ext cx="11332159" cy="3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Marquee week (Shanghai, 7-18 Oct): </a:t>
            </a:r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search and retargeting at T-48h, a contest with pass prizes, ESPN.in takeover in test cities, CRM to all personas, editorial preview.   </a:t>
            </a:r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Ordinary week (Almaty/Brussels/Lyon, 19-25 Oct): </a:t>
            </a:r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paid acquisition; Race-to-Turin update, ₹19 session passes for followed players (P3-P5), upgrade-credit reminders to P1 and P2, morning replays for the 23:00 IST Brussels evening session.</a:t>
            </a:r>
            <a:endParaRPr lang="en-US" sz="840" dirty="0"/>
          </a:p>
        </p:txBody>
      </p:sp>
      <p:sp>
        <p:nvSpPr>
          <p:cNvPr id="46" name="Shape 43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 sits in timing and entitlement state, not only in creative: new payers get the tournament-to-season ladder; adjacent-sport payers get a ₹19-₹39 session that fits their hours. T-48h paid spend converts an occasion that owned channels and editorial have already built.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public three-rung ladder (session, tournament, Finish-the-Season):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rung is credited to the next, so the top price is never undercut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3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architecture and competitor positioning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CF8, CF15, CF16 (case); S5 JioHotstar press release (new-subscriber prices from 28 Jan 2026); S6 SonyLIV help centre; S7-S8 Tennis TV help centre and App Store India in-app listing; S10-S11 FanCode subscription page and terms; S12 ITD posts. Tennis TV live availability in India under FanCode exclusivity is not verified. Secondary equivalent-monthly view: Finish-the-Season ≈ ₹124 a month over 1.6 months, JioHotstar Mobile annual ≈ ₹42 a month, Tennis TV annual ≈ ₹375 a month; entertainment bundles are not ATP substitutes. Cost assumptions: 18% GST, 4% gateway and support, ₹2 per streaming hour.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7957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" y="1152144"/>
            <a:ext cx="697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card: existing products in grey, proposed tests in orange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7086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371600"/>
                <a:gridCol w="1481328"/>
                <a:gridCol w="987552"/>
                <a:gridCol w="1234440"/>
                <a:gridCol w="8686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Validity and content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Upgrade treatment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Restriction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7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Session pass (proposed)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₹39 / ₹29 Masters and Finals (India-friendly / overnight); ₹29 / ₹19 ATP 500; ₹19 ATP 250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session; live + 48h replay, spoiler-free morning cut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P3-P5 existing payers; P2 in overnight weeks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 price credited to that tournament's pass until its final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 3 per tournament per account; floor ₹19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Tournament pass (existing, case ₹79-₹99)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₹79 ATP 250/500; ₹89 Masters 1000; ₹99 ATP Finals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Whole event, live + replays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 new payers; P1 repeaters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 price (cap ₹99, one per account) credited to Finish-the-Season within 30 days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stacking with promos; floor ₹59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Finish-the-Season pass (proposed)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₹199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Oct-22 Nov: Shanghai, all 250s, Basel/Vienna, Paris, ATP Finals, weekly show, replays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Marquee-week paid media; upgraders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2027 season at the ₹349 loyalty price by 15 Jan (a price, not a credit)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3+ event buyers save; floor ₹149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 Season Pass 2027 (existing ₹399)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₹399 list; ₹349 loyalty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Calendar year 2027, all 56 events; not all-sport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Renewers; January direct buyers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 rate card declines with remaining season value (proposed)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Floor ₹249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2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Pass, all sports (existing)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₹179 (₹199 struck, S10)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paywalled sports for a month, ATP included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Season-end bridge for ATP-only holders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Sold as a new entitlement on 23 Nov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Holder watching ATP is not a new payer</a:t>
                      </a:r>
                      <a:endParaRPr lang="en-US" sz="8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4899203"/>
            <a:ext cx="7086600" cy="1026109"/>
          </a:xfrm>
          <a:prstGeom prst="roundRect">
            <a:avLst>
              <a:gd name="adj" fmla="val 5347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" y="4935779"/>
            <a:ext cx="6867144" cy="952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2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Rules. </a:t>
            </a:r>
            <a:pPr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price reduction per checkout: upgrade credit &gt; segment offer &gt; public promo. Arbitrage: three ₹19 sessions (₹57) undercut only the ₹79 ATP 250 pass, so sessions are capped at three per tournament; two tournament passes (₹158-₹178) cost less than ₹199, so only three-or-more event buyers gain. </a:t>
            </a:r>
            <a:pPr indent="0" marL="0">
              <a:lnSpc>
                <a:spcPct val="102000"/>
              </a:lnSpc>
              <a:buNone/>
            </a:pPr>
            <a:r>
              <a:rPr lang="en-US" sz="82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changes. </a:t>
            </a:r>
            <a:pPr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Cancelled session or walkover before start: automatic session credit (refund on request); abandoned event: pro-rata credit; no SKU promises a named player. </a:t>
            </a:r>
            <a:pPr indent="0" marL="0">
              <a:lnSpc>
                <a:spcPct val="102000"/>
              </a:lnSpc>
              <a:buNone/>
            </a:pPr>
            <a:r>
              <a:rPr lang="en-US" sz="82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Rejected. </a:t>
            </a:r>
            <a:pPr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₹19 replay rental (₹10 below the session pass, a fourth checkout choice; replay is folded into the session pass) and a player bundle (participation cannot be guaranteed; events define bundles, players the narrative).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589520" y="117957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99248" y="1152144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timing examples and one upgrade checkout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589520" y="1444752"/>
            <a:ext cx="4279392" cy="896112"/>
          </a:xfrm>
          <a:prstGeom prst="roundRect">
            <a:avLst>
              <a:gd name="adj" fmla="val 6122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1472184"/>
            <a:ext cx="4096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India-friendly Masters session: </a:t>
            </a:r>
            <a:pPr indent="0" marL="0">
              <a:spcAft>
                <a:spcPts val="300"/>
              </a:spcAft>
              <a:buNone/>
            </a:pPr>
            <a:r>
              <a:rPr lang="en-US" sz="86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Shanghai night session, Wed 14 Oct, 17:00 IST: ₹39 session · ₹89 tournament · ₹199 Finish-the-Season.</a:t>
            </a:r>
            <a:endParaRPr lang="en-US" sz="86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6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Overnight ATP 500 session: </a:t>
            </a:r>
            <a:pPr indent="0" marL="0">
              <a:spcAft>
                <a:spcPts val="300"/>
              </a:spcAft>
              <a:buNone/>
            </a:pPr>
            <a:r>
              <a:rPr lang="en-US" sz="86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Vienna evening session, Thu 29 Oct, 00:00 IST: ₹19 session with the 07:00 IST spoiler-free replay · ₹79 tournament · ₹199 Finish-the-Season.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7589520" y="2414016"/>
            <a:ext cx="4279392" cy="676656"/>
          </a:xfrm>
          <a:prstGeom prst="roundRect">
            <a:avLst>
              <a:gd name="adj" fmla="val 8108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80960" y="2441448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example: </a:t>
            </a:r>
            <a:pPr indent="0" marL="0">
              <a:buNone/>
            </a:pPr>
            <a:r>
              <a:rPr lang="en-US" sz="86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Shanghai pass bought 7 Oct for ₹89; upgrade to Finish-the-Season by 6 Nov: pay ₹110 (₹199 − ₹89 credit). Total paid ₹199, the same as a direct buyer; the credit is a price reduction, never revenue. Contribution of the step: ~₹75.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7589520" y="3136392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99248" y="310896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Competitor panel: out-of-pocket INR and scope</a:t>
            </a:r>
            <a:endParaRPr lang="en-US" sz="11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3383280"/>
          <a:ext cx="42793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536192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Out-of-pocket (INR)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Period and scope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333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tournament pass (existing)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₹79-₹99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ATP event, live + replays (CF15)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Finish-the-Season (proposed)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₹199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Oct-22 Nov 2026, all remaining ATP events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33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Monthly Pass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₹179 a month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paywalled sports incl. ATP (S10, S11)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JioHotstar Mobile / Super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₹79 / ₹149 a month; ₹499 / ₹1,099 a year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or 2 devices, ads; no ATP Tour (S5)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33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SonyLIV Mobile Only / Premium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₹699 a year; ₹399 a month or ₹1,499 a year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720p or up to 4K; live sports; no ATP Tour (S6)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Tennis TV (ATP's own service)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₹449 a month; ₹4,499 a year (App Store India)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ATP-only, no Slams; India availability under FanCode exclusivity unverified (S7, S8)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price buys a defined scope: one session, one event, or the rest of the season. Credits keep the ladder arbitrage-safe (no path to Finish-the-Season costs less than ₹199) and protect value: only three-or-more event buyers, the habit we want, pay less than before.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₹150-₹200 CAC pays back only for Finish-the-Season or owned-channel entrants;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tournament-pass entrants need a 21% upgrade share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4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contribution and break-even economics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CF7-CF9, CF15, CF16, CF18. Assumptions: prices GST-inclusive (18%); 4% of gross for gateway and support; ₹2 per streaming hour; pathway mix 40/40/20 (repeat + upgrade = 60%, CF8 lower bound); repeaters buy 1.5 more passes in 12 months and 2.5 in 24; 2027 loyalty renewal 35% (upgraders) / 60% (direct FTS); 90% of 2027 renewers renew for 2028 (CF7, once-renewed customers only). Downside/upside vary CVR ×0.7/×1.3, upgrade share 10%/30%, repeats ×0.8/×1.2, incrementality ×0.75/×1.25, costs +20%/−10%, cannibalisation ×1.5/×0.5, renewals 25-40%/50-75%. Horizons run from a 7 Oct 2026 purchase.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7957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" y="1152144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Contribution before marketing per customer pathway (₹, base case, modelled)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617220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731520"/>
                <a:gridCol w="822960"/>
                <a:gridCol w="1005840"/>
                <a:gridCol w="914400"/>
              </a:tblGrid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Pathway (entry SKU; branches are mutually exclusive)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days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 months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months (rights horizon)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Affordable CAC 12m / 24m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 Entry-only: ₹89 Masters pass, never returns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₹62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₹62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₹62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₹62 / ₹62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 Repeat tournament buyer, no upgrade (1.5 / 2.5 more passes)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₹121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₹150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₹209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₹150 / ₹209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 Upgrade via credit: ₹89 + ₹110 to Finish-the-Season, then loyalty renewal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₹147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₹255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₹359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₹255 / ₹359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 Direct Finish-the-Season buyer (₹199), then loyalty renewal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₹147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₹299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₹455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₹299 / ₹455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Expected tournament-pass entrant (40% / 40% / 20% mix of 1-3)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₹102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₹136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₹180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₹136 / ₹180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Expected session entrant (₹29 blended: 45% never return, 25% repeat, 30% step up)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₹50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₹63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₹81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₹63 / ₹81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4085133"/>
            <a:ext cx="6172200" cy="1840179"/>
          </a:xfrm>
          <a:prstGeom prst="roundRect">
            <a:avLst>
              <a:gd name="adj" fmla="val 2981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" y="4130853"/>
            <a:ext cx="5952744" cy="174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read it.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= price ÷ 1.18 − 4% of gross − ₹2 per streaming hour; the ATP rights fee is fixed and confidential, so this is contribution, not profit. A ₹89 pass earns ₹62, the ₹110 upgrade step ₹75, a ₹349 loyalty renewal ₹222; the season-end Monthly Pass bridge adds about ₹10 per Finish-the-Season holder (inside pathways 3 and 4). Repeat purchases and upgrades are never both counted for one customer; existing subscribers are not new acquisition revenue.  </a:t>
            </a:r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upgrade share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u* = (CAC − C_entry) ÷ (C_upgrade − C_entry), entry path = 50/50 mix of pathways 1 and 2. At the ₹183 search/retargeting CAC: 52% within 12 months (not achievable), 21% within 24 months (base 20%, ladder target 30%); 7% at ₹150 and 29% at ₹200 over 24 months.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75120" y="117957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84848" y="1152144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Downside / base / upside (modelled)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44752"/>
          <a:ext cx="5193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43000"/>
                <a:gridCol w="1051560"/>
                <a:gridCol w="1170432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Downside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Upside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Attributed new payers (dedup)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1,959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2,798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3,637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Attributed CAC, scalable paid rows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₹263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₹184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₹142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Incremental CAC, all paid rows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₹674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₹354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₹218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12-month contribution per new payer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₹111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₹148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₹187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54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Cannibalisation cost, 12 months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₹0.1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₹0.2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₹0.2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24-month net, scalable acquisition rows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−₹1.7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₹0.7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₹4.1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54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 / 24-month net, whole ₹10 lakh programme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−₹7.6 lakh / −₹6.8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−₹5.4 lakh / −₹3.5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−₹2.5 lakh / ₹1.0 lakh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675120" y="4087622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84848" y="4060190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24-month value of a tournament entrant (₹); green ≥ ₹183 CAC</a:t>
            </a:r>
            <a:endParaRPr lang="en-US" sz="11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334510"/>
          <a:ext cx="5193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24128"/>
                <a:gridCol w="1033272"/>
                <a:gridCol w="1033272"/>
              </a:tblGrid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Upgrade share ↓ / repeat passes in 24 months →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1.5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3.5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₹127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₹150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₹174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20%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₹157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₹180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₹204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30%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₹186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₹210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₹233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40%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₹216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₹239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₹263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case: the pilot loses ₹5.4 lakh in 12 months and the scalable rows turn positive (₹0.7 lakh) only within the 2028 rights horizon. If the measured upgrade share stays below ~21%, stop scaling tournament-pass acquisition and sell only Finish-the-Season and season entries to paid audiences.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is built around the next occasion: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morning replay, the Race to Turin, the 30-day upgrade window and a season-end bridge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5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across tournaments and other sports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CF6, CF7, CF17 (case); S3 calendar (Next Gen ATP Finals date TBD; 2027 season opens 5 Jan; the Australian Open, 18 Jan-1 Feb, is not a FanCode right); S9 spoiler control is an existing pattern in the ATP's own service; S10-S11 Monthly Pass scope; S13 existing weekly show; S15 LaLiga on FanCode. Costs: editorial in Solution 6 row C5, engineering in the ₹4 lakh implementation budget.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115488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27632"/>
                <a:gridCol w="1874520"/>
                <a:gridCol w="1874520"/>
                <a:gridCol w="1600200"/>
                <a:gridCol w="1828800"/>
                <a:gridCol w="1691640"/>
              </a:tblGrid>
              <a:tr h="364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Lane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Onboarding (day 0)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the first view (days 0-2)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the next event (T-72h to T-24h)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Ordinary week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Expiry / season end (22 Nov)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Renewal / next season (Dec-Jan)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trigger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purchase (any rung)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session watched, or overnight session missed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Tournament ends; followed player's next draw is out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marquee event; ATP 250 week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Finish-the-Season or season entitlement expires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2027 season opens 5 Jan; no Slam rights 18 Jan-1 Feb; Feb 500s from 9 Feb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action (owner)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Pick 2 players and a viewing window (live / morning); spoiler preference; IST schedule for the event (CRM)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07:00 IST spoiler-free push with full replay and 20-minute cut, only for overnight sessions, suppressed if watched live (Product, Editorial)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Race-to-Turin update: standings, next event's IST windows, day-20 credit reminder, one-tap upgrade (Editorial, CRM)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Weekly show + ₹19 session for the followed player's match; no paid media; nothing sent if the player is out (Editorial)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Season recap; Monthly Pass ₹179 bridge (F1 finale, MotoGP, LaLiga); Next Gen Finals in December; 2027 loyalty price ₹349 by 15 Jan (CRM, Commercial)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Season-start push with the first India-friendly session; Feb 500s as the first paid occasion; win-back for lapsed entrants (CRM)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Commercial outcome (measure)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Profile completion; qualified first view ≥ 20 min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2nd qualified view within the event (behavioural retention)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Next-event return; upgrade to Finish-the-Season (commercial retention)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Qualified views in ≥ 2 distinct event weeks (behavioural)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Cross-sport upgrade: a new ₹179 entitlement, incremental (not free access)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Renewal rate among the eligible, matured cohort only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573069"/>
            <a:ext cx="3759098" cy="2352243"/>
          </a:xfrm>
          <a:prstGeom prst="roundRect">
            <a:avLst>
              <a:gd name="adj" fmla="val 2332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" y="3637077"/>
            <a:ext cx="3539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Bridge 1: ATP to the rest of the portfolio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9768" y="3902253"/>
            <a:ext cx="3539642" cy="19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access rule: an ATP tournament or Finish-the-Season pass gives no F1, MotoGP or LaLiga access. The Monthly Pass (₹179, S10) covers all paywalled sports for a month (S11), so the season-end offer on 23 Nov is a new, incremental entitlement, not a free benefit. A Monthly or Yearly holder who watches ATP is an engagement outcome, never a new ATP payer. Suppression: no bridge offer to anyone already holding a Monthly or Yearly pass.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4216298" y="3573069"/>
            <a:ext cx="3759098" cy="2352243"/>
          </a:xfrm>
          <a:prstGeom prst="roundRect">
            <a:avLst>
              <a:gd name="adj" fmla="val 2332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26026" y="3637077"/>
            <a:ext cx="3539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Bridge 2: the rest of the portfolio to ATP (existing payers)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326026" y="3902253"/>
            <a:ext cx="3539642" cy="19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LaLiga late-night viewers get the Paris and Turin evening sessions (00:00-01:00 IST) with the morning replay; F1 holders get Tuesday-to-Friday night sessions, never race Sunday; MotoGP holders get Asian-swing morning sessions. Each is a first ATP purchase by an existing payer, reported apart from new payers, and each rung is credited toward the next. Entitlement is checked before every send: no offer to a user who already holds ATP access.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112557" y="3573069"/>
            <a:ext cx="3759098" cy="2352243"/>
          </a:xfrm>
          <a:prstGeom prst="roundRect">
            <a:avLst>
              <a:gd name="adj" fmla="val 2332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2285" y="3637077"/>
            <a:ext cx="3539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Controls, off-season and the three retention definitions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222285" y="3902253"/>
            <a:ext cx="3539642" cy="19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Caps: 3 pushes a week for new payers, 2 otherwise, 1 replay push a day; opt-out honoured platform-wide; a refund suppresses offers for 30 days. Off-season (23 Nov-4 Jan): Next Gen Finals (date TBD), "best of 2026" replays, no invented live tennis. Behavioural retention = repeat qualified viewing across distinct weeks; commercial retention = a paid ATP entitlement active in the window; renewal = repurchase after expiry, reported only for eligible matured cohorts.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morning replay and the Race to Turin create the next occasion; the upgrade credit is the next paid decision. Outcomes: next-event return and the day-90 retained-payer rate, reported only for cohorts observed for 90 days. A still-valid pass proves nothing alone: entitlement and qualified viewing are reported together.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₹10 lakh pilot at a 52% performance share: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₹184 attributed CAC on the scalable rows; prospecting must earn its place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6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investment and channel CAC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CF9-CF13 (case). Method per paid row: impressions = spend ÷ CPM × 1000; clicks = impressions × CTR; purchases = clicks × conversion; new payers = purchases × new-payer share; incremental = new payers × validated incremental share. Owned row per 100k eligible: 90% delivered × 5% click × 8% buy. Dedup: 8% of CRM and contest new payers removed as already in retargeting audiences. Blended CAC = spend ÷ deduplicated new payers (harmonic check on paid rows: ₹218). Planning pools (P2-free 150k, F1 120k, MotoGP 40k, LaLiga 60k) are assumptions replaced by CRM counts on day 0; totals scale linearly.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52144"/>
          <a:ext cx="115488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38912"/>
                <a:gridCol w="502920"/>
                <a:gridCol w="1051560"/>
                <a:gridCol w="2560320"/>
                <a:gridCol w="1234440"/>
                <a:gridCol w="1463040"/>
                <a:gridCol w="1097280"/>
                <a:gridCol w="1645920"/>
              </a:tblGrid>
              <a:tr h="326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Share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Execution and estimation basis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 payers (base)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 attributed / incremental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Scale / stop rule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44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C1  Prospecting, cold tennis interest (learning test)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₹1.0L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 cold; P6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Meta/YouTube video, FTS ₹199 in marquee weeks; CPM ₹120 × CTR 0.7% × CVR 1.5% × 80% new; geo-split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C6282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₹1,429 / ₹2,381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CPM, CTR, CVR assumed; geo readout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Stop at day 30 unless CAC &lt; ₹300; money to C2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C2  High-intent search + retargeting at T-48h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₹3.5L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 new-to-pay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Search on tennis/live terms; retargeting of tennis-page visitors; CPC ₹7 × CVR 4.5% × 85% new; control IDs excluded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1,913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E8E3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₹183 / ₹282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Timing CF11; CPC, CVR assumed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Scale if ≤ ₹200 attributed and ≤ ₹300 incremental; pause at ₹250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4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C3  First-party CRM: push, email, in-app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₹1.0L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P2-free new payers; P3-P5 existing payers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Segment pushes at T-48h and 07:00 IST; per 100k eligible: 90% delivered × 5% click × 8% buy; 10% holdout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486 + 386 existing-payer ATP purchases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E8E3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₹83 / ₹167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Pools, rates assumed; holdout readout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 if measured lift ≥ 30%; else fold into C2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C4  Tennis communities and contests (ITD)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₹0.7L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P1/P2 community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contests with pass prizes (Shanghai, Paris, Finals); ~9,300 clicks × 7.8% (case CVR) × 55% new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E8E3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₹175 / ₹350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Case CVR 7.8%; CPC assumed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Continue only if effective CPC ≤ ₹8.6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26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C5  Editorial and native tennis personalities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₹1.5L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Race to Turin, 20-minute Morning Match cuts, weekly-show tie-ins; 2 editors on event weeks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CF14; cost assumption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Cut if replay opens &lt; 15% with no return lift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C6  ESPN.in takeover, geo/time-split test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₹1.0L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Broad tennis readers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in test cities, held out in matched cities; crossover Shanghai/Paris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CF13; lift readout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Scale only on positive geo lift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26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C7  Retention communications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₹0.6L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payers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Onboarding, replay, pre-event, expiry, season-end messages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 assumption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n/a (cohort KPIs)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C8  Measurement and analytics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₹0.7L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n/a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Holdout operations, geo design, dashboards, analyst time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67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directly attributed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 assumption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n/a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62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₹10.0L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 rows C1+C2+C4 = 52% (case today 65-70%, CF10); owned 10%; content 25%; retention 6%; measurement 7%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2,798 attributed; 1,693 incremental (dedup)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Paid rows ₹221 / ₹354; excl. C1 ₹184 / ₹294; programme ₹357 per new payer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Reallocation rule below</a:t>
                      </a:r>
                      <a:endParaRPr lang="en-US" sz="7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320040" y="5219598"/>
          <a:ext cx="3759098" cy="7057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4216298" y="5219598"/>
            <a:ext cx="3759098" cy="705714"/>
          </a:xfrm>
          <a:prstGeom prst="roundRect">
            <a:avLst>
              <a:gd name="adj" fmla="val 7774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326026" y="5265318"/>
            <a:ext cx="3539642" cy="6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Contest CPC sanity check (case CVR 7.8%).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₹150-₹200 CAC allows a media CPC of ₹11.70-₹15.60 only if every buyer is a new payer; at a 55% new-payer share the ceiling is ₹6.44-₹8.58, and on an incremental basis (50% validated) ₹3.22-₹4.29. The planned ₹7.5 clears the attributed ceiling only because prizes are passes, not cash; above ₹8.6, contests stop.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8112557" y="5219598"/>
            <a:ext cx="3759098" cy="705714"/>
          </a:xfrm>
          <a:prstGeom prst="roundRect">
            <a:avLst>
              <a:gd name="adj" fmla="val 7774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2285" y="5265318"/>
            <a:ext cx="3539642" cy="6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Downside exposure and reallocation rule.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Downside attributed CAC on the scalable rows is ₹263, incremental ₹674: the target is missed. Day 30: stop C1 unless attributed CAC &lt; ₹300. Day 45: move C6 money to C2 only if C2 is ≤ ₹200 attributed and ≤ ₹300 incremental. Pause any paid row above ₹250 attributed; owned rows keep running. CRM conversions are capped by the eligible pool and never rescue a missed paid target.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result (base, modelled): 2,798 attributed and 1,693 incremental new payers, ₹184 attributed CAC on the rows that would scale (₹221 with the prospecting test). The allocation change funds measurement and retention; evidence, not preference, returns money to performance.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is credited to ATP marketing only when a held-out control says so;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is reported only for matured cohorts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7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Incrementality and sustained-growth scorecard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CF9, CF17 (case). Sample sizes: two-sided α = 0.05, power 0.80, normal approximation, per arm; readouts wait until each arm reaches its sample, smaller pools report direction only; retention readouts wait for maturity (day 90 for the September-October cohorts falls between 22 Dec and 16 Jan). Owner: Growth analytics, at days 30, 45, 90 and 120. Qualified view = at least 20 minutes of live, replay or on-demand tennis. D90 = day 90 after first purchase.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7957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" y="1152144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design: causal impact, not last-click attribution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5760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15544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separates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7189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Owned channels (push, email, in-app)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 persistent user-level holdout for the whole pilot, stratified by payment state, sport affinity (P2-P5), tournament-tier exposure and viewing-window preference; control users receive no ATP CRM on any owned channel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Marketing-caused purchases from organic tennis demand, including demand created by F1 and football viewing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34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Paid retargeting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same control IDs are excluded from retargeting audiences via customer lists; intention-to-treat denominators; unavoidable prospecting spillover is reported, not assumed away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Retargeted conversions from conversions that would have happened anyway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34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Takeovers and prospecting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Geo/time crossover: live in test cities and held out in matched cities in the Shanghai week, then swapped for the Paris week; event-strength confounding is acknowledged in the readout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Broad-media lift from event strength</a:t>
                      </a:r>
                      <a:endParaRPr lang="en-US" sz="8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661486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" y="3688918"/>
            <a:ext cx="5541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Intention-to-treat arithmetic. </a:t>
            </a:r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 conversion = new payers in treatment ÷ eligible treatment users; control conversion = the same in control. Incremental new payers = (treatment − control conversion) × eligible treatment users; incremental CAC = incremental campaign cost ÷ incremental new payers. A zero or negative lift is reported as undefined and unfavourable. A paid customer already entitled to ATP is never an acquisition.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" y="4475302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" y="444787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sample per arm to detect a lift (proposed readout rule)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722190"/>
          <a:ext cx="5760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1737360"/>
              </a:tblGrid>
              <a:tr h="3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Baseline conversion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+30% lift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+50% lift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Eligible pool at 10% holdout (+50%)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3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0.36% (CRM, P2-free, per treated user)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55,486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21,704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2,17,032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1.0% (retargeting audience)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19,827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7,750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77,496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2.0% (lapsed 2025 buyers)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9,798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3,826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38,252</a:t>
                      </a:r>
                      <a:endParaRPr lang="en-US" sz="8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355080" y="117957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64808" y="1152144"/>
            <a:ext cx="5404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Scorecard: one north star plus nine supporting metrics</a:t>
            </a:r>
            <a:endParaRPr lang="en-US" sz="11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444752"/>
          <a:ext cx="55138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99232"/>
                <a:gridCol w="11430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Definition (numerator ÷ denominator, window)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Proposed threshold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F5E1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North star: D90 retained-payer rate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Incremental new payers who at day 90 hold a paid ATP entitlement and made ≥ 1 qualified view in days 61-90 ÷ incremental new payers acquired ≥ 90 days earlier; if days 61-90 fall in the off-season, the window is the first 30 days of the 2027 season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30%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Contribution per acquired payer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Contribution before marketing ÷ attributed new payers, 12-month view (modelled, then measured); a retained user can still be uneconomic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₹150 (base ₹148)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Attributed / incremental CAC (row C2)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 spend ÷ attributed new payers; incremental cost ÷ incremental new payers (holdout)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≤ ₹200 / ≤ ₹300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Next-event return (leading)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 payers with a qualified view in the next qualifying tournament ÷ new payers whose next tournament has ended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45%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Upgrade share within 30 days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Tournament entrants buying Finish-the-Season inside 30 days ÷ entrants whose window has closed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20% (ladder target 30%; break-even 21% at 24 months)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Behavioural / commercial retention (day 60)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Qualified views in ≥ 2 distinct event weeks ÷ new payers ≥ 60 days old; active paid ATP entitlement on day 60 ÷ the same base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35% / ≥ 40%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Renewal (matured cohorts only)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2027 season purchases by 15 Feb ÷ 2026 Finish-the-Season holders; separately ÷ 2026 season holders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50% / ≥ 85% (case-informed)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Cross-sport bridge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Pass purchases within 14 days of ATP expiry ÷ expiring ATP-only holders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8%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39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experience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Replay-push opens ÷ delivered; weekly opt-outs ÷ recipients; refunds ÷ purchases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≥ 25% · &lt; 1% · &lt; 2%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Marketing-caused new payers = treatment minus control, never last click. Organic F1/football demand sits inside the control group and is subtracted; subscribers already entitled to ATP are never counted as new. Because a retained user can still be uneconomic, contribution per payer sits beside the north star.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 a ₹10 lakh measured pilot plus ₹4 lakh implementation;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acquisition in the February 2027 wave only if three gates pass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8 of 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Implementation, risks and investment decision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CF18 (rights through 2028); S3 calendar (the February-March 2027 events are placed by their 2026 dates until the 2027 calendar is published). Implementation budget is an assumption (about 6 engineer-weeks plus analytics tooling). D90 gates apply only to cohorts observed for 90 days.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52144"/>
          <a:ext cx="1154887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5029200"/>
                <a:gridCol w="2011680"/>
                <a:gridCol w="2633472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Phase (dates, events)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Actions (accountable function)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Depends 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Gate and decision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Days 0-14 · 23 Sep-6 Oct · Chengdu/Hangzhou, Tokyo/Beijing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Replace planning pools with CRM counts; build segments and the 10% holdout (Growth analytics, CRM). Approve rate card, credits, refund policy (Commercial, Legal). Contests with ITD (Community). Morning-replay v0: CRM-only spoiler-free push (CRM, Editorial).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CRM and editorial tools; legal review of credits; no engineering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G1 (day 14): holdout live, rate card signed off, control IDs loaded into ad platforms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Days 15-45 · 7 Oct-6 Nov · Shanghai, 250s, Basel/Vienna, Paris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T-48h paid rows live in marquee weeks; credit ladder live; ESPN.in geo test in the Shanghai week; morning-replay v1 (hidden scores, 20-minute cuts) when engineering ships (Product, Editorial); Race-to-Turin updates after finals.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Engineering: spoiler-free surfaces, timed replay automation, checkout credits (~6 engineer-weeks); ATP Media clip rights within the agreement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G2 (day 45): C2 attributed CAC ≤ ₹200; CRM relative lift ≥ 30%; upgrade share ≥ 12% so far. Fail: stop C1 and C6, keep owned rows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Days 46-90 · 7 Nov-21 Dec · Paris, Stockholm, ATP Finals, off-season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 Finals push (18:30 and 01:00 IST sessions, replay-first for the latter); season-end bridge to the Monthly Pass on 23 Nov; 2027 loyalty price opens; D30 and D45 cohort readouts.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Renewal SKU in checkout; Next Gen Finals date from ATP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G3 (day 90): next-event return ≥ 45%; upgrade share ≥ 20% for closed windows; incremental CAC ≤ ₹300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Days 91-120 · 22 Dec-20 Jan · off-season, 2027 season from 5 Jan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D90 retained-payer readout for the September-October cohorts; season-start reactivation; decision memo on the February-March wave (Feb ATP 500s, Indian Wells, Miami).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Matured cohorts only; 2027 calendar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Scale decision: G2 and G3 passed → scale C2 + C3 to ₹5-₹8 lakh a month for the wave; otherwise redesign the ladder or stop paid acquisition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6368"/>
          <a:ext cx="5806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16459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 risk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Mitigation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impact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354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Cannibalisation of full-price buyers by credits and the loyalty price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credit per account; three sessions per tournament; loyalty price only for prior holders; monitored weekly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₹0.2 lakh base, ₹0.1 lakh downside (12 months)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Insufficient incremental lift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Holdout and geo designs; stop rules at days 30 and 45; owned rows keep running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Incremental CAC ₹354 base, ₹674 downside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354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Scheduling and player uncertainty (withdrawals, overnight moves)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Event-defined SKUs; automatic session credits; copy never promises a player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Refunds assumed &lt; 2% of purchases; 2% support cost in every price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Delivery capacity (editorial cuts, engineering)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 editors on event weeks; v0 CRM-only fallback; engineering scoped to two features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C5 ₹1.5 lakh; ₹4 lakh one-off implementation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20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Smaller eligible pools; consent limits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First-party consented data only; no Dream11 data; pools replaced on day 0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CRM totals scale linearly; paid rows unaffected</a:t>
                      </a:r>
                      <a:endParaRPr lang="en-US" sz="7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63640" y="3706368"/>
            <a:ext cx="5608015" cy="2218944"/>
          </a:xfrm>
          <a:prstGeom prst="roundRect">
            <a:avLst>
              <a:gd name="adj" fmla="val 247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73368" y="3761232"/>
            <a:ext cx="5388559" cy="210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F5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decision (proposed). </a:t>
            </a:r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₹10 lakh of marketing for the nine-week pilot plus about ₹4 lakh of one-off implementation. Expected in the base case (modelled): 2,798 attributed and 1,693 incremental new payers, ₹184 attributed CAC on the scalable rows, −₹5.4 lakh programme net at 12 months, ₹0.7 lakh on the scalable rows within the rights horizon.</a:t>
            </a:r>
            <a:endParaRPr lang="en-US" sz="850" dirty="0"/>
          </a:p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accountable actions (this week): </a:t>
            </a:r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analytics loads CRM counts and the holdout; Commercial signs the rate card and credit terms; Product scopes the two engineering features; Editorial books the event-week editors.</a:t>
            </a:r>
            <a:endParaRPr lang="en-US" sz="850" dirty="0"/>
          </a:p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required to expand: </a:t>
            </a:r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 and G3 passed on measured, not attributed, data.</a:t>
            </a:r>
            <a:endParaRPr lang="en-US" sz="850" dirty="0"/>
          </a:p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0B6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12 months: </a:t>
            </a:r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February-March 2027 wave (500s, Indian Wells, Miami) is funded by the scale decision; clay and grass swings run on owned channels and the ladder; 2027 season renewals in January 2028 feed the final rights year.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0040" y="5998464"/>
            <a:ext cx="11551615" cy="420624"/>
          </a:xfrm>
          <a:prstGeom prst="roundRect">
            <a:avLst>
              <a:gd name="adj" fmla="val 13043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8056" y="59984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E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TAKEAWAY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601675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821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smallest version that tests the proposition is CRM-only on day 0; engineering, rights approvals and the paid rows are added only as gates pass. Scale or stop is decided on day 90 with matured cohorts, and later cohorts are re-read at their own day 90.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(1 of 2):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 with dates and links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solution slide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cut-off: sources published on or before 19 September 2026; accessed 21 September 2026 through search-index copies because the build environment could not open the sites directly. CF = case fact from the Round 3 brief (page indices per the case PDF). Case facts govern where public figures differ.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52144"/>
          <a:ext cx="115488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468880"/>
                <a:gridCol w="1417320"/>
                <a:gridCol w="4233672"/>
                <a:gridCol w="30175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Organisation and title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Published / accessed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Claim supported (geography; evidence type)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URL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74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 Media: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signs exclusive ATP Tour multi-year broadcast deal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January 2026 / 2026-09-21 (search-index copy; direct fetch blocked in build environment)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Exclusive broadcast and streaming rights in the Indian Subcontinent (India Bangladesh Sri Lanka Maldives Nepal) until 2028; live plus non-live content highlights features and a weekly tennis programme (Indian Subcontinent; external fact)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https://www.atpmedia.tv/article/fancode-signs-exclusive-atp-tour-multi-year-broadcast-deal/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S2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Moneycontrol: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strikes exclusive multi-year deal to broadcast ATP Tour events in Indian subcontinent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January 2026 / 2026-09-21 (search-index copy)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 ATP Tour events per year covered by the FanCode deal until 2028 (India; external fact (industry press))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https://www.moneycontrol.com/news/business/startup/fancode-strikes-exclusive-multi-year-deal-to-broadcast-atp-tour-events-in-indian-subcontinent-13757010.html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6957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S3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 Tour: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is the 2026 ATP Tour calendar?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2025-11-27 / 2026-09-21 (search-index copy)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 calendar: Chengdu/Hangzhou ATP 250 23-29 Sep; Tokyo/Beijing ATP 500 30 Sep-6 Oct; Rolex Shanghai Masters 7-18 Oct; Almaty/Brussels/Lyon ATP 250 19-25 Oct; Basel/Vienna ATP 500 26 Oct-1 Nov; Rolex Paris Masters 2-8 Nov; Stockholm ATP 250 8-14 Nov; Nitto ATP Finals 15-22 Nov; Next Gen ATP Finals Dec TBD; 9 Masters 1000 16 ATP 500 29 ATP 250 (Global; external fact)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https://www.atptour.com/en/news/what-is-the-2026-atp-tour-calendar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S4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 Tour: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TV Schedule (broadcaster list)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 (page) / 2026-09-21 (search-index copy)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India broadcaster for ATP Tour listed as FanCode (India; external fact)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https://www.atptour.com/en/tournaments/tv-schedule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74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S5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JioStar (press release):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JioHotstar introduces monthly plans across tiers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2026-01-21 (effective 2026-01-28 for new subscribers) / 2026-09-21 (search-index copy)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New-subscriber prices in INR: Mobile 79/month 149/quarter 499/year (1 mobile device ad-supported all content except Hollywood); Super 149/349/1099 (2 devices ad-supported); Premium 299/699/2199 (4 devices ad-free except live sports) (India; external fact)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https://www.jiostar.com/news/jiohotstar-introduces-monthly-plans-across-tiers-giving-viewers-more-choice-in-how-they-watch-their-favourite-entertainment/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S6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Sony LIV Help Centre: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are the types of subscription available? / How much does Sony LIV cost?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undated help article (current at access) / 2026-09-21 (search-index copy)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India prices: Mobile Only (Yearly) INR 699 (720p 1 device); LIV Premium Monthly INR 399; LIV Premium Yearly INR 1499 (up to 4K; 2 concurrent devices); live sports and tournaments included in all; ads remain on sports (India; external fact)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https://help.sonyliv.com/top-articles/what-are-the-types-of-subscription-available-on-liv-how-much-does-sony-liv-cost-1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4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S7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Tennis TV Help Centre: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much does Tennis TV cost?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undated help article / 2026-09-21 (search-index copy)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 depends on country; monthly six-month and annual subscriptions exist (Global; external fact)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https://support.tennistv.com/hc/en-us/articles/21872957780636-How-much-does-Tennis-TV-cost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S8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Apple App Store (India storefront):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Tennis TV - Live Streaming (app listing with in-app purchases)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listing at access / 2026-09-21 (search-index copy)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In-app purchase list shows Monthly ₹449 and Annual ₹4499; ATP-only service (no Grand Slams); live availability of ATP matches in India under FanCode exclusivity not verified (India (App Store); external fact (storefront listing) with caveat)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https://apps.apple.com/in/app/tennis-tv-live-streaming/id1114471030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74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S9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Tennis TV Help Centre: 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is Spoiler Mode on Tennis TV?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undated help article / 2026-09-21 (existence verified via search index; full text not fetched)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Spoiler control for replays is an existing product pattern in the ATP's own streaming service; not a novel invention (Global; external fact (existence))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https://support.tennistv.com/hc/en-us/articles/21873584842652-What-is-Spoiler-Mode-on-Tennis-TV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448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1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(2 of 2):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sources, definitions and method notes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48640" cy="4114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68535" y="201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438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solution slide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4556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Acronyms: ATP = Association of Tennis Professionals; CAC = customer acquisition cost; CRM = customer relationship management; CVR = conversion rate; CPC / CPM / CTR = cost per click / per thousand impressions / click-through rate; FTS = Finish-the-Season pass; GST = goods and services tax; IST = India Standard Time; ITD = Indian Tennis Daily; ITT = intention to treat; D90 = day 90 after first purchase.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52144"/>
          <a:ext cx="115488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468880"/>
                <a:gridCol w="1417320"/>
                <a:gridCol w="4233672"/>
                <a:gridCol w="30175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Organisation and title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Published / accessed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Claim supported (geography; evidence type)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URL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308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S10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subscription page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at access / 2026-09-21 (search-index copy)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Pass offered at ₹179 (₹199 struck through); Unlimited Yearly Pass advertised as covering 120+ tours (India; external fact)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https://www.fancode.com/content/subscribe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S11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Terms and Conditions of Use (pass definitions)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at access / 2026-09-21 (search-index copy)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Tour Pass = access to paywalled streaming for the entire tournament/event/series; Monthly and Annual Pass = all applicable paywalled streaming for a month or a year (India; external fact)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https://www.fancode.com/terms-conditions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25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S12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Indian Tennis Daily (ITD) on X and Instagram: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Posts promoting FanCode ATP passes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March 2026 (X) and 2026 in-season (Instagram) / 2026-09-21 (search-index copies)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Indian Wells pass ₹89 and ATP 2026 Season Pass ₹399 on FanCode (March 2026); a later in-season 'Season Pass ₹199 limited-time offer' corroborates the in-season decline; ITD is the active tennis community named in the case (India; external fact (community posts; corroborative only))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https://x.com/IndTennisDaily/status/2032792847951516150
</a:t>
                      </a:r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https://www.instagram.com/p/DZ1s6SPmRwd/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S13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ATP Tour This Week - Episode 35 (weekly show page)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 / 2026-09-21 (search-index copy)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weekly ATP programme already exists on FanCode; the Race-to-Turin narrative rides on it rather than creating a new show (India; external fact)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https://www.fancode.com/np/tennis/tour/-0/video-highlights/atp-tour-this-week-episode-35-223193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S14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Autocar India: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F1 2026: FanCode F1 TV India subscription prices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early 2026 / 2026-09-21 (search-index copy)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 F1 race-weekend pass Rs 99; F1 season pass Rs 899; motorsports pass (1 year) Rs 999 at time of article (secondary source; in-season discounts reported elsewhere) (India; external fact (secondary press))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https://www.autocarindia.com/motor-sports-news/f1-2026-fancode-f1-tv-india-subscription-prices-439142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S15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FanCode: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LALIGA 2026-27: Live on FanCode (tour page)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 / 2026-09-21 (search-index copy)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LaLiga 2026-27 is streamed on FanCode (football bridge audience exists on-platform) (India; external fact)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https://www.fancode.com/football/tour/laliga-202627-19782952/video-highlights/laliga-202627-live-on-fancode-222601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S16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Unstop / BITS Goa Consulting Club: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Case Consilium 2026 competition page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 / not reachable on 2026-09-21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Competition page (per master prompt it shows an earlier Round 3 end date; no extension established); round rules follow the case PDF unless a later organizer instruction supersedes (India; external fact (not re-verified))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u="sng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https://unstop.com/competitions/case-consilium-bits-goa-consulting-club-bgcc-1734140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S17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BITS Goa Consulting Club / FanCode: 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Case Consilium 2026 Round 3 case brief (6aa5263937ad7_bgcc_case_consilium_round_3.pdf)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n/a / n/a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case facts CF1-CF19 and submission rules, quoted via the master prompt's register with PDF page indices; verify against the PDF before upload (India; case fact)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available in the build session</a:t>
                      </a:r>
                      <a:endParaRPr lang="en-US" sz="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626356"/>
            <a:ext cx="45720" cy="1828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" y="4598924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Definitions and method notes</a:t>
            </a:r>
            <a:endParaRPr lang="en-US" sz="11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873244"/>
          <a:ext cx="115488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811512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Term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B66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Definition used throughout the deck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 payer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First-ever FanCode payment is an ATP pass in the pilot window. A first ATP purchase by an existing F1, MotoGP, LaLiga or Monthly payer is an existing-payer ATP purchase, reported separately, never a new payer.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CAC, attributed vs incremental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Attributed CAC = row spend ÷ attributed new payers. Incremental CAC = spend ÷ incremental new payers (attributed × validated incremental share from the holdout or geo test). Blended CAC = spend ÷ deduplicated new payers; the harmonic form 1 ÷ Σ(wᵢ ÷ CACᵢ) is only a check across rows with the same denominator.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Contribution before marketing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 ÷ 1.18 (18% GST assumed included) − 4% of gross (gateway 2%, support and refunds 2%) − ₹2 per assumed streaming hour. Excludes the fixed, confidential ATP rights fee, so it is not profit. Credits are price reductions, never revenue; a rupee of bundle revenue appears once.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1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Horizons, case observations, pools, times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821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days, 12 and 24 months from a 7 Oct 2026 purchase; 24 months sits inside the rights term through 2028 (CF18). CF7 and CF8 are baselines with unspecified windows, so new entrants use lower, disclosed renewal assumptions. CRM pools (150k / 120k / 40k / 60k) are assumptions replaced by counts on day 0. Session times are typical of recent editions, converted with time-zone-aware tools. The brief's illustrative 240M/120M/24M chart is never used as an audience estimate.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TEAMNAME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 the Second Occasion: FanCode ATP growth (BGCC Case Consilium 2026, Round 3)</dc:title>
  <dc:subject>PptxGenJS Presentation</dc:subject>
  <dc:creator>TEAMNAME</dc:creator>
  <cp:lastModifiedBy>TEAMNAME</cp:lastModifiedBy>
  <cp:revision>1</cp:revision>
  <dcterms:created xsi:type="dcterms:W3CDTF">2026-09-21T16:10:15Z</dcterms:created>
  <dcterms:modified xsi:type="dcterms:W3CDTF">2026-09-21T16:10:15Z</dcterms:modified>
</cp:coreProperties>
</file>