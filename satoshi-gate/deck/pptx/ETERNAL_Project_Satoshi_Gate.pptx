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E63D6">
                <a:alpha val="100000"/>
              </a:srgbClr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C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A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A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Liminal ARR</c:v>
                  </c:pt>
                  <c:pt idx="1">
                    <c:v>Paytm PAT</c:v>
                  </c:pt>
                  <c:pt idx="2">
                    <c:v>Paytm EBITDA</c:v>
                  </c:pt>
                  <c:pt idx="3">
                    <c:v>Capital drag/yr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</c:v>
                </c:pt>
                <c:pt idx="1">
                  <c:v>480</c:v>
                </c:pt>
                <c:pt idx="2">
                  <c:v>640</c:v>
                </c:pt>
                <c:pt idx="3">
                  <c:v>750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b="1" i="0" strike="noStrike" sz="800" u="none">
                  <a:solidFill>
                    <a:srgbClr val="1C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E63D6">
                <a:alpha val="100000"/>
              </a:srgbClr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C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A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A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0% churn</c:v>
                  </c:pt>
                  <c:pt idx="1">
                    <c:v>30%</c:v>
                  </c:pt>
                  <c:pt idx="2">
                    <c:v>37.5%</c:v>
                  </c:pt>
                  <c:pt idx="3">
                    <c:v>45%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26</c:v>
                </c:pt>
                <c:pt idx="2">
                  <c:v>29.1</c:v>
                </c:pt>
                <c:pt idx="3">
                  <c:v>33.1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C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B8A4C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C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8A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8A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8A1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37.5%</c:v>
                  </c:pt>
                  <c:pt idx="5">
                    <c:v>45%</c:v>
                  </c:pt>
                  <c:pt idx="6">
                    <c:v>55%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2960</c:v>
                </c:pt>
                <c:pt idx="1">
                  <c:v>2669</c:v>
                </c:pt>
                <c:pt idx="2">
                  <c:v>2378</c:v>
                </c:pt>
                <c:pt idx="3">
                  <c:v>2087</c:v>
                </c:pt>
                <c:pt idx="4">
                  <c:v>1868</c:v>
                </c:pt>
                <c:pt idx="5">
                  <c:v>1650</c:v>
                </c:pt>
                <c:pt idx="6">
                  <c:v>1650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1C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6B7A90">
                <a:alpha val="100000"/>
              </a:srgbClr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C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8A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8A4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10% bear</c:v>
                  </c:pt>
                  <c:pt idx="1">
                    <c:v>20% base</c:v>
                  </c:pt>
                  <c:pt idx="2">
                    <c:v>30% bull</c:v>
                  </c:pt>
                  <c:pt idx="3">
                    <c:v>31.3% b/e</c:v>
                  </c:pt>
                  <c:pt idx="4">
                    <c:v>40%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811</c:v>
                </c:pt>
                <c:pt idx="1">
                  <c:v>1753</c:v>
                </c:pt>
                <c:pt idx="2">
                  <c:v>3658</c:v>
                </c:pt>
                <c:pt idx="3">
                  <c:v>4000</c:v>
                </c:pt>
                <c:pt idx="4">
                  <c:v>7345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b="1" i="0" strike="noStrike" sz="800" u="none">
                  <a:solidFill>
                    <a:srgbClr val="1C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2A5B">
                <a:alpha val="100000"/>
              </a:srgbClr>
            </a:solidFill>
            <a:effectLst/>
          </c:spPr>
          <c:invertIfNegative val="0"/>
          <c:dLbls>
            <c:numFmt formatCode="&quot;₹&quot;0.0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C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8A1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8A4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</c:v>
                  </c:pt>
                  <c:pt idx="1">
                    <c:v>Case mix</c:v>
                  </c:pt>
                  <c:pt idx="2">
                    <c:v>Debt+eq.</c:v>
                  </c:pt>
                  <c:pt idx="3">
                    <c:v>Mix</c:v>
                  </c:pt>
                  <c:pt idx="4">
                    <c:v>All cash</c:v>
                  </c:pt>
                  <c:pt idx="5">
                    <c:v>All equity</c:v>
                  </c:pt>
                  <c:pt idx="6">
                    <c:v>Phase 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7.5</c:v>
                </c:pt>
                <c:pt idx="1">
                  <c:v>5.29</c:v>
                </c:pt>
                <c:pt idx="2">
                  <c:v>4.69</c:v>
                </c:pt>
                <c:pt idx="3">
                  <c:v>5.09</c:v>
                </c:pt>
                <c:pt idx="4">
                  <c:v>4.04</c:v>
                </c:pt>
                <c:pt idx="5">
                  <c:v>6.63</c:v>
                </c:pt>
                <c:pt idx="6">
                  <c:v>6.81</c:v>
                </c:pt>
              </c:numCache>
            </c:numRef>
          </c:val>
        </c:ser>
        <c:dLbls>
          <c:numFmt formatCode="&quot;₹&quot;0.00" sourceLinked="0"/>
          <c:txPr>
            <a:bodyPr/>
            <a:lstStyle/>
            <a:p>
              <a:pPr>
                <a:defRPr b="1" i="0" strike="noStrike" sz="800" u="none">
                  <a:solidFill>
                    <a:srgbClr val="1C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end-Y1, bull 30%</c:v>
                </c:pt>
              </c:strCache>
            </c:strRef>
          </c:tx>
          <c:spPr>
            <a:solidFill>
              <a:srgbClr val="1B8A4C"/>
            </a:solidFill>
            <a:ln w="31750" cap="flat">
              <a:solidFill>
                <a:srgbClr val="1B8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8A4C"/>
              </a:solidFill>
              <a:ln w="9525" cap="flat">
                <a:solidFill>
                  <a:srgbClr val="1B8A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6.81</c:v>
                </c:pt>
                <c:pt idx="1">
                  <c:v>5.83</c:v>
                </c:pt>
                <c:pt idx="2">
                  <c:v>6.24</c:v>
                </c:pt>
                <c:pt idx="3">
                  <c:v>6.86</c:v>
                </c:pt>
                <c:pt idx="4">
                  <c:v>7.77</c:v>
                </c:pt>
                <c:pt idx="5">
                  <c:v>8.48</c:v>
                </c:pt>
                <c:pt idx="6">
                  <c:v>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end-Y1, base 20%</c:v>
                </c:pt>
              </c:strCache>
            </c:strRef>
          </c:tx>
          <c:spPr>
            <a:solidFill>
              <a:srgbClr val="D98A1B"/>
            </a:solidFill>
            <a:ln w="31750" cap="flat">
              <a:solidFill>
                <a:srgbClr val="D98A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8A1B"/>
              </a:solidFill>
              <a:ln w="9525" cap="flat">
                <a:solidFill>
                  <a:srgbClr val="D98A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6.81</c:v>
                </c:pt>
                <c:pt idx="1">
                  <c:v>5.77</c:v>
                </c:pt>
                <c:pt idx="2">
                  <c:v>6.06</c:v>
                </c:pt>
                <c:pt idx="3">
                  <c:v>6.46</c:v>
                </c:pt>
                <c:pt idx="4">
                  <c:v>6.99</c:v>
                </c:pt>
                <c:pt idx="5">
                  <c:v>7.31</c:v>
                </c:pt>
                <c:pt idx="6">
                  <c:v>7.69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 acquisition today</c:v>
                </c:pt>
              </c:strCache>
            </c:strRef>
          </c:tx>
          <c:spPr>
            <a:solidFill>
              <a:srgbClr val="C63C3C"/>
            </a:solidFill>
            <a:ln w="31750" cap="flat">
              <a:solidFill>
                <a:srgbClr val="C63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63C3C"/>
              </a:solidFill>
              <a:ln w="9525" cap="flat">
                <a:solidFill>
                  <a:srgbClr val="C63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5.29</c:v>
                </c:pt>
                <c:pt idx="1">
                  <c:v>6.16</c:v>
                </c:pt>
                <c:pt idx="2">
                  <c:v>6.34</c:v>
                </c:pt>
                <c:pt idx="3">
                  <c:v>6.59</c:v>
                </c:pt>
                <c:pt idx="4">
                  <c:v>6.92</c:v>
                </c:pt>
                <c:pt idx="5">
                  <c:v>7.11</c:v>
                </c:pt>
                <c:pt idx="6">
                  <c:v>7.35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₹7.50 baseline</c:v>
                </c:pt>
              </c:strCache>
            </c:strRef>
          </c:tx>
          <c:spPr>
            <a:solidFill>
              <a:srgbClr val="6B7A90"/>
            </a:solidFill>
            <a:ln w="31750" cap="flat">
              <a:solidFill>
                <a:srgbClr val="6B7A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B7A90"/>
              </a:solidFill>
              <a:ln w="9525" cap="flat">
                <a:solidFill>
                  <a:srgbClr val="6B7A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7.5</c:v>
                </c:pt>
                <c:pt idx="1">
                  <c:v>7.5</c:v>
                </c:pt>
                <c:pt idx="2">
                  <c:v>7.5</c:v>
                </c:pt>
                <c:pt idx="3">
                  <c:v>7.5</c:v>
                </c:pt>
                <c:pt idx="4">
                  <c:v>7.5</c:v>
                </c:pt>
                <c:pt idx="5">
                  <c:v>7.5</c:v>
                </c:pt>
                <c:pt idx="6">
                  <c:v>7.5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4"/>
        </c:scaling>
        <c:delete val="0"/>
        <c:axPos val="l"/>
        <c:majorGridlines>
          <c:spPr>
            <a:ln w="6350" cap="flat">
              <a:solidFill>
                <a:srgbClr val="D9E2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A465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63C3C"/>
            </a:solidFill>
            <a:effectLst/>
          </c:spPr>
          <c:invertIfNegative val="0"/>
          <c:dLbls>
            <c:numFmt formatCode="&quot;₹&quot;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3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63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E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Drag</c:v>
                  </c:pt>
                  <c:pt idx="1">
                    <c:v>MDR gross</c:v>
                  </c:pt>
                  <c:pt idx="2">
                    <c:v>MDR after PAT/FCF conv.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</c:v>
                </c:pt>
                <c:pt idx="1">
                  <c:v>115</c:v>
                </c:pt>
                <c:pt idx="2">
                  <c:v>69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46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3D6"/>
              </a:solidFill>
              <a:effectLst/>
            </c:spPr>
          </c:dPt>
          <c:dPt>
            <c:idx val="1"/>
            <c:bubble3D val="0"/>
            <c:spPr>
              <a:solidFill>
                <a:srgbClr val="D9E2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Top-4 clients</c:v>
                </c:pt>
                <c:pt idx="1">
                  <c:v>Other clients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thesis: buy access and an option now; pay for control only after client retention and regulatory capital treatment are observable.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five tiles, then the four pressures. Say the word Hold before anyone asks whether this is just a minority 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is the story: each stage needs the one before it. Then answer 5.1 directly: partnership-only fails on security of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red bar: the drag alone exceeds Paytm’s EBITDA. Everything else follows from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column by column; the starred column wins on defence, drag and reversibility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earn-out chart is the mechanism: green is full value, red is the floor. Fundamental value of 26% is ₹456–951 Cr, so the ₹1,040 Cr ceiling carries a disclosed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Modeling Clarification asks for: 21 assumptions with values and ranges.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amber bar is the hinge: 31.3% growth for ten years with zero churn just to break even on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 bar is the recommended path; the only way to stay near ₹7.50 is not to do the full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line crosses the baseline in year 5: the only route that passes both gates. Red never does on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mechanisms, each with an owner; number seven aligns sellers with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lanes, left to right in time. The signing condition in lane one is the most important line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matrix answers the Mission’s “show how your recommendation changes”: capital treatment decides the column, consents decide the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six gates and the final message. Each gate is auditable by the committee with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the finance panel; the bridge shows where the blueprint’s 1.6% went.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E9F0FB"/>
          </a:solidFill>
          <a:ln w="12700">
            <a:solidFill>
              <a:srgbClr val="E9F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777240"/>
            <a:ext cx="3959352" cy="60807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0"/>
            <a:ext cx="2770632" cy="3291840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4114800"/>
            <a:ext cx="1673352" cy="2743200"/>
          </a:xfrm>
          <a:prstGeom prst="rect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14400"/>
            <a:ext cx="54864" cy="4206240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9144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868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Paytm</a:t>
            </a:r>
            <a:r>
              <a:rPr lang="en-US" sz="16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r>
              <a:rPr lang="en-US" sz="16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Liminal Custody Solutions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TRANSACTION RECOMMENDATION · SEPTEMBER 2026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6916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Satoshi Gate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5204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access today.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only when the economics are proven.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434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26% strategic stake, a commercial custody/MPC partnership and a pre-agreed call option, instead of a ₹4,000 Cr full acquisition — supported by an auditable accretion/dilution and PAT/FCF breakeven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5303520"/>
            <a:ext cx="6217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14300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ETERNAL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5760720"/>
            <a:ext cx="256032" cy="256032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6035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Jain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1720" y="5760720"/>
            <a:ext cx="256032" cy="256032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3172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6035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Sambhav Khandelwal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20440" y="5760720"/>
            <a:ext cx="256032" cy="256032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6035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Swarup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5760720"/>
            <a:ext cx="256032" cy="256032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6035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Ghosh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97880" y="5760720"/>
            <a:ext cx="256032" cy="256032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9788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6035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 Aitha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86800" y="137160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D3F7A"/>
          </a:solidFill>
          <a:ln w="12700">
            <a:solidFill>
              <a:srgbClr val="2E52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₹1,040 Cr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2029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cheque: 26% stake, cash-funded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0" y="278892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D3F7A"/>
          </a:solidFill>
          <a:ln w="12700">
            <a:solidFill>
              <a:srgbClr val="2E529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6968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₹2,960 Cr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3447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tranche, paid only against retained ARR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86800" y="420624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D3F7A"/>
          </a:solidFill>
          <a:ln w="12700">
            <a:solidFill>
              <a:srgbClr val="2E529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9680" y="4297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gates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4864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· Capital · Valuation · PAT · FCF ·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RECOMMENDATION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recommendation: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access and an option, not full control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298448"/>
            <a:ext cx="82296" cy="548640"/>
          </a:xfrm>
          <a:prstGeom prst="roundRect">
            <a:avLst>
              <a:gd name="adj" fmla="val 44444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₹1,040 Cr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investment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stake · cash · 0.9% of mkt cap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79192" y="1143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8920" y="1298448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53512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−29%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953512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Full-deal year-1 EPS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953512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₹5.29 vs ₹7.50 at headline mix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92624" y="1143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02352" y="1298448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66944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₹750 Cr/yr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66944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drag at control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266944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117% of EBITDA · NPV ₹4,238 Cr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06056" y="1143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15784" y="1298448"/>
            <a:ext cx="82296" cy="548640"/>
          </a:xfrm>
          <a:prstGeom prst="roundRect">
            <a:avLst>
              <a:gd name="adj" fmla="val 44444"/>
            </a:avLst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0376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26–33×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580376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Retained-ARR multiple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18.2× headline after 30–45% churn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19488" y="1143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29216" y="1298448"/>
            <a:ext cx="82296" cy="548640"/>
          </a:xfrm>
          <a:prstGeom prst="roundRect">
            <a:avLst>
              <a:gd name="adj" fmla="val 44444"/>
            </a:avLst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93808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outcome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893808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only if Liminal earns 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14884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" y="226771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22219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a staged structure, not a full acquisition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2606040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27614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" y="26609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₹1,040 Cr in cash for 26%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share above the 25% special-resolution threshold: negative control without operational control (TA).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264408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34198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60120" y="33192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custody/MPC partnership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tokenized-treasury, e₹ and cross-border settlement use cases.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3922776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40782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6012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 Liminal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standalone brand, arm’s-length board, information barriers, independent compliance.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4581144"/>
            <a:ext cx="5212080" cy="585216"/>
          </a:xfrm>
          <a:prstGeom prst="roundRect">
            <a:avLst>
              <a:gd name="adj" fmla="val 9375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" y="47365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436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60120" y="4636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option on the remaining 74%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months 12–24, capped at ₹2,960 Cr: ₹1,650 Cr upfront + up to ₹1,310 Cr retention earn-out. Never more than ₹4,000 Cr in total; never more than ₹1,040 Cr unconditional.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35040" y="2148840"/>
            <a:ext cx="578815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2200" y="226771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10528" y="2221992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100% today — four numbers the Board should hold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606040"/>
          <a:ext cx="5513832" cy="914400"/>
        </p:xfrm>
        <a:graphic>
          <a:graphicData uri="http://schemas.openxmlformats.org/drawingml/2006/table">
            <a:tbl>
              <a:tblPr/>
              <a:tblGrid>
                <a:gridCol w="1213043"/>
                <a:gridCol w="2095256"/>
                <a:gridCol w="220553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fact → calc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what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revolt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 ARR lost in 12 months (CF)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 becomes 26–33× retained ARR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trap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Cr/yr FCF drag (CF)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than Paytm EBITDA; NPV &gt; price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~breakeven (CF)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EPS ₹5.29 (−29%); ₹6.08 at 0% churn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vs ₹115 Cr MDR (CF)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never breaks even in 10 yrs; MDR ≤15%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57" name="Shape 54"/>
          <p:cNvSpPr/>
          <p:nvPr/>
        </p:nvSpPr>
        <p:spPr>
          <a:xfrm>
            <a:off x="6172200" y="4526280"/>
            <a:ext cx="5513832" cy="777240"/>
          </a:xfrm>
          <a:prstGeom prst="roundRect">
            <a:avLst>
              <a:gd name="adj" fmla="val 9412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309360" y="479602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309360" y="47960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6629400" y="4526280"/>
            <a:ext cx="4965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expectation, stated plainly: under the case’s own assumptions the modal outcome is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option is insurance and a block on PhonePe–Mastercard, not a plan to buy.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65760" y="5532120"/>
            <a:ext cx="1145743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E63D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02920" y="55961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ASK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645920" y="5577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</a:t>
            </a: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→ Validate (12 months) → Exercise / Hold / Walk away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authorise the ₹1,040 Cr investment, option negotiation and guardrails (cash ≥ ₹5,000 Cr, gross debt/EBITDA ≤ 1.5×, no unconditional equity); delegate gate reviews to the M&amp;A/Risk committee.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8366760" y="56509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366760" y="56509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509760" y="56509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509760" y="56509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10652760" y="56509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652760" y="56509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8366760" y="598017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366760" y="5980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9509760" y="598017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509760" y="5980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10652760" y="598017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652760" y="5980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STRATEGIC RATIONALE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rationale: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captures the value, ownership adds the risk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14574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" y="114300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BRIDGE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12801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91640" y="1280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· merchants · consumer (CF)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517904"/>
            <a:ext cx="274320" cy="201168"/>
          </a:xfrm>
          <a:prstGeom prst="rightArrow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2801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280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&amp; MPC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Liminal: ISO 27001, SOC 2 (CF)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40680" y="1517904"/>
            <a:ext cx="274320" cy="201168"/>
          </a:xfrm>
          <a:prstGeom prst="rightArrow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12801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1280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assets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digital assets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52360" y="1517904"/>
            <a:ext cx="274320" cy="201168"/>
          </a:xfrm>
          <a:prstGeom prst="rightArrow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12801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1280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e₹ / CBDC rails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pilot alignment (CF)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64040" y="1517904"/>
            <a:ext cx="274320" cy="201168"/>
          </a:xfrm>
          <a:prstGeom prst="rightArrow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38360" y="12801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38360" y="1280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cross-border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infrastructure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368296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233172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Paytm today (CF)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" y="269748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₹1,18,750 Cr market cap on a turnaround re-rating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and checkout growth slowing; PhonePe and Google Pay dominate volume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scrutiny since RBI’s 2024 Paytm Payments Bank restrictions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ambition: tokenized treasury and cross-border settlement aligned with e₹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24528" y="224028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61688" y="2368296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00016" y="233172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Liminal adds (CF)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334256" y="269748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digital-asset custody + MPC infrastructure, founded 2021 (Mahin Gupta)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exchanges, hedge funds, OTC desks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Bank, Axis Bank, CoinDCX, ZebPay = 60% of ₹220 Cr ARR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PAT breakeven today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74152" y="224028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11312" y="2368296"/>
            <a:ext cx="274320" cy="274320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49640" y="233172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(TA)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269748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Custody/MPC is the trust layer every tokenized-settlement product needs; certifications take years to build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the core, not a replacement for it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hedge on the e₹ thesis: if it scales Paytm holds the rail; if not, the cheque is ₹1,040 Cr, not ₹4,000 Cr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67665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446227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1248" y="44165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a partnership alone do the job? (5.1)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4800600"/>
            <a:ext cx="6492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</a:t>
            </a:r>
            <a:r>
              <a:rPr lang="en-US" sz="10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largely yes. For </a:t>
            </a:r>
            <a:r>
              <a:rPr lang="en-US" sz="10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supply</a:t>
            </a: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no: a pure partnership leaves Liminal for sale, and the case says the consortium buys it if Paytm walks. Then Paytm’s critical custody supplier is owned by its main competitor. The 26% stake + ROFR/ROFO + call option buys the blocking right and the information rights to run the validation; the partnership captures the capability. Together they cost 26% of the headline price.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251192" y="4343400"/>
            <a:ext cx="4572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88352" y="446227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26680" y="441655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enough to leave the core?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88352" y="480060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for a 26% position and a partnership; not large enough, on the case’s numbers, for a ₹4,000 Cr control cheque with a ₹750 Cr/yr carrying cost. </a:t>
            </a:r>
            <a:r>
              <a:rPr lang="en-US" sz="10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size the bet to the evidence.</a:t>
            </a: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Walking away costs the neutral custodian and a 24–36 month build-or-partner path (TA). On pure earnings no structure is accretive before year 5.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OWNERSHIP PARADOX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ownership paradox: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impairs the asset; the drag alone outweighs the price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71016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123444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conflict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1600200"/>
            <a:ext cx="25694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= ₹132 Cr of ₹220 Cr ARR (CF)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₹66–99 Cr leaves in 12 months = 50–75% of the top-4 book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 competing consumer wallet owning the custodian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55264" y="1143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92424" y="1271016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92424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123444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capital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64992" y="1600200"/>
            <a:ext cx="25694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₹750 Cr/yr = 117% of EBITDA, 156% of PAT, 3.4× Liminal revenue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 needs ~₹4,000 Cr ARR (18× today) to self-fund it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years away at 20% growth, 11 at 30% (TA)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44768" y="1143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81928" y="1271016"/>
            <a:ext cx="274320" cy="274320"/>
          </a:xfrm>
          <a:prstGeom prst="ellipse">
            <a:avLst/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620256" y="123444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1600200"/>
            <a:ext cx="25694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Liminal ~breakeven: no earnings to offset the deal’s own cost (CF)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EPS ₹5.29 (−29%) at the headline mix (TA)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“share-count only” ₹7.38 hides 95% of the dilution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34272" y="11430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71432" y="1271016"/>
            <a:ext cx="274320" cy="274320"/>
          </a:xfrm>
          <a:prstGeom prst="ellipse">
            <a:avLst/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71432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123444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1600200"/>
            <a:ext cx="25694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18.2× headline → 26–33× retained ARR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10 pts of churn destroys ₹400 Cr at the paid multiple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at ~247× trailing P/E: a −29% print invites the buyback debate (CF §3.3)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18211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313639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drag in context — ₹ Cr per year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347472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02920" y="5806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NPV of the drag at 12% WACC: </a:t>
            </a:r>
            <a:r>
              <a:rPr lang="en-US" sz="85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₹4,238 Cr</a:t>
            </a: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more than the ₹4,000 Cr price (TA).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434840" y="30632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0" y="3182112"/>
            <a:ext cx="274320" cy="274320"/>
          </a:xfrm>
          <a:prstGeom prst="ellipse">
            <a:avLst/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10328" y="313639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multiple on retained ARR</a:t>
            </a:r>
            <a:endParaRPr lang="en-US" sz="1050" dirty="0"/>
          </a:p>
        </p:txBody>
      </p:sp>
      <p:graphicFrame>
        <p:nvGraphicFramePr>
          <p:cNvPr id="37" name="Chart 1" descr=""/>
          <p:cNvGraphicFramePr/>
          <p:nvPr/>
        </p:nvGraphicFramePr>
        <p:xfrm>
          <a:off x="4526280" y="347472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Text 34"/>
          <p:cNvSpPr txBox="1"/>
          <p:nvPr/>
        </p:nvSpPr>
        <p:spPr>
          <a:xfrm>
            <a:off x="4572000" y="5806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₹4,000 Cr ÷ retained ARR. Growth needed just to recover ₹220 Cr: +42.9% after 30% churn, +81.8% after 45% (CALC).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8503920" y="3063240"/>
            <a:ext cx="3319272" cy="1554480"/>
          </a:xfrm>
          <a:prstGeom prst="roundRect">
            <a:avLst>
              <a:gd name="adj" fmla="val 4706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641080" y="372160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641080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8961120" y="3063240"/>
            <a:ext cx="2770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DEAL PARADOX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Paytm wants Liminal for its institutional franchise. Taking control is what breaks that franchise and what triggers the capital requirement.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8503920" y="4754880"/>
            <a:ext cx="3319272" cy="1600200"/>
          </a:xfrm>
          <a:prstGeom prst="roundRect">
            <a:avLst>
              <a:gd name="adj" fmla="val 4571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641080" y="543610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641080" y="54361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8961120" y="4754880"/>
            <a:ext cx="2770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IMPLICATION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Separate the strategic attractiveness of Liminal (high) from the economic attractiveness of owning 100% today (negative under the case’s own assumptions).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STRATEGIC OPTIONS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options: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minority + option secures access and blocks the bid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914400"/>
        </p:xfrm>
        <a:graphic>
          <a:graphicData uri="http://schemas.openxmlformats.org/drawingml/2006/table">
            <a:tbl>
              <a:tblPr/>
              <a:tblGrid>
                <a:gridCol w="2062338"/>
                <a:gridCol w="2291486"/>
                <a:gridCol w="2978932"/>
                <a:gridCol w="2062338"/>
                <a:gridCol w="206233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acquisition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minority + option  ★ recommended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venture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away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access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partnership + board seat + info rights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inside JV scope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24–36 mo build (TA)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now; positive optional (months 12–24)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Counter-bid defence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ROFR/ROFO + 26% veto + call 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Weak: Liminal still for sale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consortium acquires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exposure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 (CF)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triggered (TA), tested via consents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triggered (TA)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 capital drag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(CF)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expected at 26% (TA); RBI comfort is a CP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JV custody 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commitment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 Cr cash + 1.02 Cr shares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₹1,040 Cr cash; no shares, no debt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+ IP licence (TA)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EPS vs ₹7.50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₹5.29 (−29%)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₹6.81 (−9%): foregone interest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modelled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profile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breaks even (drag)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is equity value; no cash yield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modelled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 (tag-along, ROFO)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Future-control optionality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spent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and priced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663440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478231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473659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JV, if needed (TA)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0749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Paytm-majority “SettleCo” for e₹/tokenized-treasury settlement: Liminal licenses MPC and runs custody ops; Paytm brings distribution, merchants and capital; Liminal’s institutional book stays outside. No revolt, no reserve on Paytm, but it does not block the consortium and splits governance.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fallback if RBI applies a reserve at minority level.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83480" y="466344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20640" y="4782312"/>
            <a:ext cx="274320" cy="27432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58968" y="473659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50749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+ partnership + call option defers the two largest unresolved risks —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response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treatment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until they are observable, at 26% of the cheque, while removing the consortium’s easiest path.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778240" y="4663440"/>
            <a:ext cx="30449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15400" y="478231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53728" y="473659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507492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assume a minority automatically eliminates churn or the ₹750 Cr requirement. Both are gates, tested before any control is exercised.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TRANSACTION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architecture: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access now, pay for control against retained ARR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375818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71016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1234440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entry · ₹1,040 Cr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1600200"/>
            <a:ext cx="3538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purchase of 26% at pro-rata of the ₹4,000 Cr headline = ceiling; target ₹850–950 Cr (bull-DCF pro-rata)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balance-sheet cash; no debt, no shares; equity-method associate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5 board seats + observer; info/audit rights; ROFR/ROFO; tag-along; anti-dilution; reserved matters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15384" y="1143000"/>
            <a:ext cx="375818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52544" y="1271016"/>
            <a:ext cx="274320" cy="274320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52544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690872" y="1234440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+ ring-fence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25112" y="1600200"/>
            <a:ext cx="3538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custody/MPC agreement for tokenized-treasury, e₹ and cross-border pilots, at arm’s length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brand, independent chair, information barriers, published client charter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MPC-engineering retention pool vesting over 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65008" y="1143000"/>
            <a:ext cx="375818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02168" y="1271016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02168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540496" y="1234440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option on 74%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174736" y="1600200"/>
            <a:ext cx="35387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months 12–24; a right, not an obligation; ROFR/ROFO persist after lapse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₹2,960 Cr = ₹1,650 Cr at exercise + earn-out ≤ ₹1,310 Cr, linear 55–100% retained ARR at month 18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Earn-out in Paytm shares (≤0.71 Cr, ±15% collar) or cash at Paytm’s election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6309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18211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3136392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consideration vs post-control churn (₹ Cr)</a:t>
            </a:r>
            <a:endParaRPr lang="en-US" sz="10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3429000"/>
          <a:ext cx="61264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502920" y="5715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74% × 18.2× × retained ARR within 1–2%: the upfront covers the worst case, the earn-out pays only for revenue that survives control. Measured on the pre-control client base, audited, Paytm-related revenue excluded. Grand total: ₹4,000 Cr at 0% churn → ₹2,690 Cr at ≥45%.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812280" y="3063240"/>
            <a:ext cx="501091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949440" y="318211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87768" y="313639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26%, not 25%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3474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 above 25% blocks special resolutions (new-investor allotment, charter changes, schemes). The veto does not stop a secondary sale; the ROFR/ROFO does. With the call option they close every route to the consortium.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12280" y="4773168"/>
            <a:ext cx="5010912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949440" y="4892040"/>
            <a:ext cx="274320" cy="27432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87768" y="484632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Liminal’s shareholders say yes (TA)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949440" y="518464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₹1,040 Cr of liquidity now; a defined path to the full ₹4,000 Cr; Paytm as anchor client; retention pool; and the alternative buyer carries the same wallet conflict. If the option is refused: 26% + ROFR/ROFO without the call still blocks and still gives access.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ASSUMPTIONS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slide: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facts vs calculations vs team assumptions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16152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facts (CF)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212080" cy="914400"/>
        </p:xfrm>
        <a:graphic>
          <a:graphicData uri="http://schemas.openxmlformats.org/drawingml/2006/table">
            <a:tbl>
              <a:tblPr/>
              <a:tblGrid>
                <a:gridCol w="1198778"/>
                <a:gridCol w="1250899"/>
                <a:gridCol w="1198778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Paytm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/ deal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₹1,18,750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 = ₹2,100 cash + ₹1,900 equity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Diluted shares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gross debt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₹8,900 / ₹350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~breakeven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/ EBITDA / PAT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₹8,450 / ₹640 / ₹480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Top-4 clients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of ARR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Diluted EPS (start)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Full-acq. churn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 within 12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CRISIL AA− (Stable)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drag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₹750 Cr/yr recurring FCF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Cash-portion funding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Cash, debt, or mix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MDR (standalone)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₹115 Cr/yr net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2062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432511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4279392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calculations (CALC)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5902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 ₹1,855 (market cap ÷ shares) · 18.2× headline ARR · ₹1,900 Cr equity = 1.02 Cr shares · trailing P/E ≈ 247× · churn-adjusted multiples and values · drag ratios.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5760" y="53949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75614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57561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3949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FACT ≠ DERIVED CALCULATION ≠ TEAM ASSUMPTION. No case input is replaced by an external figure; every TA is flexed in the model.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97880" y="1143000"/>
            <a:ext cx="5925312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5040" y="126187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73368" y="1216152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assumptions (TA) — the values in the model</a:t>
            </a:r>
            <a:endParaRPr lang="en-US" sz="10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54480"/>
          <a:ext cx="5742432" cy="914400"/>
        </p:xfrm>
        <a:graphic>
          <a:graphicData uri="http://schemas.openxmlformats.org/drawingml/2006/table">
            <a:tbl>
              <a:tblPr/>
              <a:tblGrid>
                <a:gridCol w="287122"/>
                <a:gridCol w="1895003"/>
                <a:gridCol w="2584094"/>
                <a:gridCol w="976213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 /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/ ₹1,040 Cr (ceiling)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on surplus cash (pre-tax)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new debt (pre-tax)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Liminal ARR growth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(bear 10%, bull 30%)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→ +5 pp/yr to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/ FCF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= 75% EBITDA; FCF ≈ 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under minority / JV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(consent gate)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at control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 counterfactual; ≤20% to exercise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stickiness after churn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for one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at minority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(RBI comfort CP); tested ₹195 / ₹750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treatment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only; PPA not modelled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conversion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flow-through → ₹69 Cr PAT/FCF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costs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Fees ₹15; integration ₹100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base; upside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/ terminal growth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/ 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tranche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₹1,650 up (₹1,150 cash + ₹500 debt) + ≤₹1,310 earn-out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≥ ₹5,000; GD/EBITDA ≤ 1.5×; collar ±15%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/ option window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/ months 12–24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gate on breakeven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and FCF ≤ 5 yrs after exercise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Build-or-partner alternative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24–36 months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VALUATION &amp; CHURN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churn: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18.2× becomes 26–33×; the price needs 31% growth for 10 years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852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16152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sensitivity (CALC) — ₹ Cr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680314"/>
                <a:gridCol w="737006"/>
                <a:gridCol w="737006"/>
                <a:gridCol w="850392"/>
                <a:gridCol w="907085"/>
                <a:gridCol w="793699"/>
                <a:gridCol w="96377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lost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multiple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@18.2×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₹82.5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02920" y="3200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points of churn destroys ₹400 Cr of value at the paid multiple.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55080" y="1143000"/>
            <a:ext cx="54681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126187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30568" y="1216152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 to believe — standalone DCF vs ₹4,000 Cr (TA)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0" y="1508760"/>
          <a:ext cx="53492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492240" y="312724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WACC, 5% TG, margin → 25%. Break-even growth </a:t>
            </a:r>
            <a:r>
              <a:rPr lang="en-US" sz="85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31.3% p.a. for 10 years</a:t>
            </a: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zero churn and no drag. WACC 11–14% moves base value ₹2,127 → ₹1,265 Cr.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" y="379476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3922776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41248" y="388620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valuation supportable? (5.3)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75488" y="4251960"/>
            <a:ext cx="352958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an unconditional ₹4,000 Cr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a cap reached through retained ARR: ₹3,127 Cr total at 30% churn, ₹2,690 Cr at 45%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Liminal delivers 30% growth, the cap sits 16% below the then-DCF of ~₹4,756 Cr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drag NPV (₹4,238 Cr) and 100% ownership is negative below 40% growth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224528" y="379476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61688" y="3922776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700016" y="388620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tolerance (5.2)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334256" y="4251960"/>
            <a:ext cx="352958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headline price,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churn above 0%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the deal unattractive: the price is unsupported before churn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our structure the price self-corrects down to 55% retention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55% retention (churn &gt; 45%) control is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exercised — the Board’s tolerance lives in the earn-out floor, not in a fixed price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074152" y="379476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211312" y="3922776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549640" y="388620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response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8183880" y="4251960"/>
            <a:ext cx="352958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consideration · retention earn-out · CVR-style payout on retained ARR · valuation cap at headline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value of 26%: ₹456 Cr (base) – ₹951 Cr (bull); the ₹1,040 Cr ceiling carries a disclosed premium for blocking and access</a:t>
            </a:r>
            <a:endParaRPr lang="en-US" sz="10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pay ₹4,000 Cr unconditionally for revenue that may disappear because of the acquisition itself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· FINANCING &amp; EPS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&amp; EPS: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the capital; every full-deal mix is 12–46% dilutive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70408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16152"/>
            <a:ext cx="6473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Full-acquisition year-1 EPS by financing mix (TA: 6% cash yield, 8.5% debt, 25% tax, 37.5% churn)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85800"/>
                <a:gridCol w="617220"/>
                <a:gridCol w="617220"/>
                <a:gridCol w="617220"/>
                <a:gridCol w="754380"/>
                <a:gridCol w="754380"/>
                <a:gridCol w="7543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shares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EPS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₹7.50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+MDR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after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debt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GD/EBITDA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 cash + ₹1,900 equity (case)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 debt + ₹1,900 equity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₹8,900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3.8× 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₹1,400 cash + ₹700 debt + ₹1,900 eq.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 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cash ₹4,000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₹4,900 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equity ₹4,000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₹8,900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Share-count-only view of case mix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543800" y="1143000"/>
            <a:ext cx="42793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80960" y="126187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19288" y="121615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EPS (₹/share)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589520" y="1508760"/>
          <a:ext cx="4160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3"/>
          <p:cNvSpPr/>
          <p:nvPr/>
        </p:nvSpPr>
        <p:spPr>
          <a:xfrm>
            <a:off x="365760" y="379476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913632"/>
            <a:ext cx="274320" cy="27432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1248" y="3867912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Phase 1 — ₹1,040 Cr cash for 26%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42062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Year-1 EPS </a:t>
            </a: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₹6.81 (−9.2% vs ₹7.50; −8.1% vs the ₹8.58 standalone-with-MDR baseline)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entirely foregone treasury income (₹46.8 Cr/yr) less ₹2.6 Cr associate share. This is the option premium.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Sensitivity: ₹6.93 at 5% yield, ₹6.69 at 7%. With MDR added: ₹7.89.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Share-count dilution nil; new debt nil; cash after ₹7,860 Cr; GD/EBITDA 0.5×; net cash ₹7,510 Cr.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532120" y="3794760"/>
            <a:ext cx="62910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69280" y="391363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007608" y="3867912"/>
            <a:ext cx="572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uses (TA)</a:t>
            </a:r>
            <a:endParaRPr lang="en-US" sz="10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4187952"/>
          <a:ext cx="6108192" cy="914400"/>
        </p:xfrm>
        <a:graphic>
          <a:graphicData uri="http://schemas.openxmlformats.org/drawingml/2006/table">
            <a:tbl>
              <a:tblPr/>
              <a:tblGrid>
                <a:gridCol w="1221638"/>
                <a:gridCol w="2443277"/>
                <a:gridCol w="244327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stake ₹1,040 + fees ₹15 = ₹1,055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Balance-sheet cash ₹1,055; debt 0; equity 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(if exercised)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₹1,650 + integration ₹100 + earn-out ≤ ₹1,310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₹1,250 + new debt ₹500 + shares ≤ ₹1,310 (≤0.71 Cr, collared)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₹4,000 Cr total = headline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Unconditional maximum ₹1,040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0"/>
          <p:cNvSpPr txBox="1"/>
          <p:nvPr/>
        </p:nvSpPr>
        <p:spPr>
          <a:xfrm>
            <a:off x="5623560" y="53035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Post-control: cash ₹6,710 Cr, gross debt ₹850 Cr (1.3×), net cash ₹5,860 Cr — inside both guardrails. Cost of funds after control ₹130 Cr/yr.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65760" y="5715000"/>
            <a:ext cx="11457432" cy="640080"/>
          </a:xfrm>
          <a:prstGeom prst="roundRect">
            <a:avLst>
              <a:gd name="adj" fmla="val 11429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02920" y="591616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02920" y="5916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822960" y="57150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it: at ~247× P/E equity is Paytm’s cheapest currency in EPS terms and cash its most expensive (4.5% post-tax yield vs 0.4% earnings yield); but all-equity issues 3.3% of the company for a breakeven asset, and debt-funding the cash leg breaches AA− headroom (3.8× EBITDA).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 rescues a full acquisition. Financing follows risk resolution.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· PAT &amp; FCF BREAKEVEN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&amp; FCF breakeven: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deal never gets there; control only if Liminal earns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658368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16152"/>
            <a:ext cx="6016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path by route (₹/share, TA base) — dashed = ₹7.50 baseline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508760"/>
          <a:ext cx="6400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086600" y="1143000"/>
            <a:ext cx="4736592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23760" y="126187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62088" y="12161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₹750 Cr drag vs ₹115 Cr MDR (5.3)</a:t>
            </a:r>
            <a:endParaRPr lang="en-US" sz="10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7178040" y="1508760"/>
          <a:ext cx="457200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7223760" y="27889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covers </a:t>
            </a: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drag at the revenue line, </a:t>
            </a: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conversion. Net cash cost of full ownership ~₹681 Cr/yr. The MDR accrues whether or not Paytm buys Liminal: a standalone tailwind (+₹1.08 EPS), never a deal synergy. Even a </a:t>
            </a: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Cr/yr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recurring capital cost fails the 5-year FCF gate in every trajectory; ₹50 Cr passes only in bull with zero churn.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65760" y="4251960"/>
            <a:ext cx="1145743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437083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1248" y="4325112"/>
            <a:ext cx="1089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results — two tests, both required: PAT (accounting) and FCF (cash, after drag). TA base: 20% growth, margin ramp; 37.5% churn in the full-acquisition counterfactual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11274552" cy="914400"/>
        </p:xfrm>
        <a:graphic>
          <a:graphicData uri="http://schemas.openxmlformats.org/drawingml/2006/table">
            <a:tbl>
              <a:tblPr/>
              <a:tblGrid>
                <a:gridCol w="2480401"/>
                <a:gridCol w="1352946"/>
                <a:gridCol w="2480401"/>
                <a:gridCol w="2705892"/>
                <a:gridCol w="225491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EPS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breakeven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breakeven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Read-across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acquisition today (case mix)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8 (Y3 only if MDR credited)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in 10 yrs; Y1 FCF −₹986 Cr; cum. −₹9,965 Cr by Y10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0% churn + 30% growth + MDR: no FCF breakeven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26% minority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 income covers interest Y9 base / Y6 bull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cash yield until dividends or exit; return is equity 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₹47 Cr/yr; a pro-rata drag would make it ₹242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end-Y1, base 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₹5.77 trough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≤5-yr gate → Hold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end-Y1, bull 30%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₹5.83 → ₹7.77 (Y5)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→ Exercise (Y6 with 20% churn)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RETENTION &amp; GOVERNANCE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&amp; governance: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clients can verify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1615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 (CF → CALC)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11480" y="1463040"/>
          <a:ext cx="155448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114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1554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+ Axis Bank + CoinDCX + ZebPay = ₹132 Cr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₹220 Cr ARR.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churn ₹66–99 Cr =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50–75% of the top-4 book</a:t>
            </a: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Revolt trigger: a competing wallet operator seeing custody flows.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57800" y="1143000"/>
            <a:ext cx="65653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94960" y="1261872"/>
            <a:ext cx="274320" cy="274320"/>
          </a:xfrm>
          <a:prstGeom prst="ellipse">
            <a:avLst/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33288" y="1216152"/>
            <a:ext cx="5998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significant is the risk of losing the top-4? (5.2)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155448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full control, </a:t>
            </a:r>
            <a:r>
              <a:rPr lang="en-US" sz="9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case removes half to three-quarters of top-4 revenue. Under the ring-fenced minority, </a:t>
            </a:r>
            <a:r>
              <a:rPr lang="en-US" sz="9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</a:t>
            </a: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change of control occurs, contracts are unaffected, and the consent process tells the Board in advance what control would cost. Governance converts a 30–45% churn assumption into a ≤20% consent gate — and the earn-out pays sellers to protect the same clients.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315468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" y="32644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246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brand &amp; entity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75488" y="361188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Paytm branding or shared front-ends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255264" y="315468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64992" y="32644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64992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712464" y="3246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Arm’s-length board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3364992" y="361188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chair; Paytm 1 of 5 (2 of 7 on control); reserved matters exclude custody ops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144768" y="315468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54496" y="32644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54496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601968" y="3246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barriers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254496" y="361188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data to Paytm; MPC key shares never on Paytm infrastructure; segregated desk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9034272" y="315468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144000" y="32644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491472" y="3246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compliance &amp; cyber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144000" y="361188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CCO/CISO report to Liminal risk committee; annual attestation shared with clients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65760" y="438912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" y="4498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5488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service standards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75488" y="4846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client charter: no preferential pricing, routing or SLAs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255264" y="438912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364992" y="4498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36499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3712464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Client-protection framework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3364992" y="4846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Change-of-control consent rights, data portability, top-4 soundings, named owners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144768" y="438912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254496" y="4498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25449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601968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Retention-linked consideration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254496" y="4846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Earn-out and management pool scale with retained ARR: ₹291 Cr per 10 pts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9034272" y="4389120"/>
            <a:ext cx="2788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144000" y="4498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14400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9491472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engineer retention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9144000" y="4846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 Gupta and MPC core on vesting economics through validation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65760" y="5760720"/>
            <a:ext cx="11457432" cy="566928"/>
          </a:xfrm>
          <a:prstGeom prst="roundRect">
            <a:avLst>
              <a:gd name="adj" fmla="val 12903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02920" y="5925312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02920" y="5925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822960" y="576072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not cosmetic: it is the valuation-protection mechanism, designed to be audited by clients, not just described to them.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· REGULATORY PATH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closing: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capital question in writing before control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signing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indicative 8–12 weeks (TA)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1783080"/>
            <a:ext cx="257860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consultation: PA-licence holder at 26% of a custody provider; capital treatment at minority vs control. </a:t>
            </a:r>
            <a:r>
              <a:rPr lang="en-US" sz="9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condition: written comfort that no bank-like reserve applies at 26%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Diligence: AML programme and FIU-IND standing; data protection and key-material localisation; ISO 27001 / SOC 2 evidence; client change-of-control clauses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soundings under NDA; competition and securities notifiability analysis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5264" y="114300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92424" y="1261872"/>
            <a:ext cx="274320" cy="274320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92424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→ closing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conditions precedent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1783080"/>
            <a:ext cx="257860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comfort letter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adverse regulatory change on either side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Key-client consents where contracts bite at minority level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registration in good standing; clean cyber audit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Stock-exchange disclosure on signing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44768" y="114300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81928" y="126187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81928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620256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control exercise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620256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indicative 4–6 months (TA)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254496" y="1783080"/>
            <a:ext cx="257860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change-in-control approval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clearance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SEBI/exchange approvals for share-settled earn-out (preferential-issue rules, shareholder resolution)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change-of-control consents (Gate 1)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AML/cyber audit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34272" y="114300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71432" y="1261872"/>
            <a:ext cx="274320" cy="27432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71432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Post-close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1783080"/>
            <a:ext cx="257860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compliance framework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transaction monitoring and reporting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Segregated data and key infrastructure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cyber monitoring and incident reporting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compliance reporting to both boards’ risk committees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464515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" y="45994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owning custody add requirements? (5.4)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937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per the case: bank-like reserves against custodied assets at full ownership (₹750 Cr/yr). Our design keeps the custody licence, the custodied assets and any reserves inside Liminal, and keeps Paytm at negative control until the treatment is written down.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24528" y="452628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61688" y="464515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0016" y="45994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question that decides the deal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361688" y="4937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minority ownership avoid, reduce or still trigger the ₹750 Cr requirement? The case does not say. Slide 10 shows why it decides everything: even a </a:t>
            </a: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Cr/yr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recurring cost defeats the five-year FCF gate in every trajectory.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74152" y="452628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11312" y="4645152"/>
            <a:ext cx="274320" cy="27432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49640" y="45994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decision gate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211312" y="4937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without written regulatory capital treatment incorporated into the FCF model.</a:t>
            </a:r>
            <a:r>
              <a:rPr lang="en-US" sz="10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 reserve applies at minority level, Phase 1 is restructured toward the JV/licence path before signing.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· COMPETITIVE &amp; DOWNSIDE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&amp; downside: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walk-away line now; the structure absorbs the rest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71016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344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PhonePe–Mastercard threat (CF)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160020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consortium if Paytm walks; no competing price, terms, synergies or certainty in the case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win: they get the rail + Mastercard cross-border; Paytm builds or partners elsewhere (24–36 mo, TA)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inherit the same wallet conflict, price and capital question; Mastercard’s bank ties are their one real edge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24528" y="114300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271016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0016" y="12344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Paytm’s response (5.5)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334256" y="160020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value: total ≤ ₹4,000 Cr, ≤ ₹1,040 Cr unconditional, no tranche above 18.2× retained ARR, no control at a drag that defeats 5-yr FCF breakeven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outbid on unconditional terms: let them</a:t>
            </a: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winner’s curse the case describes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alternative custodian partnership; redeploy toward buybacks and organic e₹ build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74152" y="114300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11312" y="1271016"/>
            <a:ext cx="274320" cy="274320"/>
          </a:xfrm>
          <a:prstGeom prst="ellipse">
            <a:avLst/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12344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Paytm’s multiple compresses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1600200"/>
            <a:ext cx="3529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cash: independent of the stock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25% price fall lifts the ₹1,900 Cr equity leg from 1.02 to 1.37 Cr shares — still ~2%; the real risk is the narrative of a −29% print at ~247× P/E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 unconditional equity, ±15% collar, cash-settle election; the unconditional cheque is 0.9% of market cap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66751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364992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3319272"/>
            <a:ext cx="6108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matrix — how the recommendation changes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6492240" cy="914400"/>
        </p:xfrm>
        <a:graphic>
          <a:graphicData uri="http://schemas.openxmlformats.org/drawingml/2006/table">
            <a:tbl>
              <a:tblPr/>
              <a:tblGrid>
                <a:gridCol w="1817827"/>
                <a:gridCol w="1558138"/>
                <a:gridCol w="1558138"/>
                <a:gridCol w="155813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Consents / churn ↓ · Capital drag 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structured away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Pro-rata at 26% (≈₹195 Cr)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₹750 Cr at any ownership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consents (churn ≤20%)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if bull trajectory and cap hold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Hold; JV/licence for capability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26% only if drag-free, else restructure/exit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55–80% (churn 20–45%)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HOLD; earn-out floor protects; re-test m24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or restructure to JV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Restructure or 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&lt;55% (churn &gt;45%)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CONTROL; remediation ladder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178040" y="3246120"/>
            <a:ext cx="464515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0" y="336499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53528" y="331927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&amp; unwind ladder if churn breaches 45% (5.6)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5200" y="37673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36576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cause review; CEO outreach to each top-4 client; Paytm director steps back to observer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315200" y="44074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90d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42976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reset; published barrier attestation; fee holidays / SLA guarantees funded from the sellers’ earn-out at risk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315200" y="50474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0" y="5047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180d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9377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&lt;55% retention: no exercise; ROFO/tag process to a neutral buyer, or convert to licence + warrants. Sunk cost never justifies escalation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65760" y="5806440"/>
            <a:ext cx="11457432" cy="548640"/>
          </a:xfrm>
          <a:prstGeom prst="roundRect">
            <a:avLst>
              <a:gd name="adj" fmla="val 13333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596188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" y="5961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22960" y="5806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may change timing; it must not change valuation discipline.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· ROADMAP &amp; GATES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decision gates: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→ Validate → Exercise / Hold / Walk away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359027" cy="182880"/>
          </a:xfrm>
          <a:prstGeom prst="roundRect">
            <a:avLst>
              <a:gd name="adj" fmla="val 50000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344168"/>
            <a:ext cx="13590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0–3 · INVEST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97939" y="1143000"/>
            <a:ext cx="4223385" cy="182880"/>
          </a:xfrm>
          <a:prstGeom prst="roundRect">
            <a:avLst>
              <a:gd name="adj" fmla="val 50000"/>
            </a:avLst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97939" y="1344168"/>
            <a:ext cx="4223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3–12 · VALIDATE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94476" y="1143000"/>
            <a:ext cx="5655564" cy="18288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4476" y="1344168"/>
            <a:ext cx="5655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 · DECIDE: Exercise / Hold / Walk away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4297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819656"/>
            <a:ext cx="274320" cy="274320"/>
          </a:xfrm>
          <a:prstGeom prst="ellipse">
            <a:avLst/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178308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· months 0–3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" y="2148840"/>
            <a:ext cx="40782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26% for ≤ ₹1,040 Cr; partnership live; ring-fence installed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Option, earn-out, ROFR/ROFO documented; RBI comfort obtained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pool in place; Board model with quarterly gate reporting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297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465576"/>
            <a:ext cx="274320" cy="274320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42900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· months 3–12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" y="3794760"/>
            <a:ext cx="407822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retention, top-4 renewals, written consents to control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 written capital treatment; approval path; AML standing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Financials: month-12 ARR ≥ ₹286 Cr = bull, ~₹264 Cr = base; margins; cash; MDR tracked separately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cyber, AML, data segregation, barrier attestation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691640"/>
            <a:ext cx="7022592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81051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76088" y="1764792"/>
            <a:ext cx="645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· months 12–24 — six quantified gates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103120"/>
          <a:ext cx="6839712" cy="914400"/>
        </p:xfrm>
        <a:graphic>
          <a:graphicData uri="http://schemas.openxmlformats.org/drawingml/2006/table">
            <a:tbl>
              <a:tblPr/>
              <a:tblGrid>
                <a:gridCol w="1641531"/>
                <a:gridCol w="5198181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to exercise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Client consents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of ARR consents in writing to Paytm control under the ring-fence; implied churn ≤20%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Regulatory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RBI treatment; recurring cost nil or structured away (₹50 Cr passes only in bull/0% churn; ₹100 Cr fails every case)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Valuation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price ≤ ₹2,960 Cr and ≤ 18.2× retained ARR; total ≤ ₹4,000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PAT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Consolidated PAT breakeven ≤5 yrs after exercise on the Board model (bull passes; base does not)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FCF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Consolidated FCF breakeven ≤5 yrs after confirmed capital cost; cash ≥ ₹5,000 Cr; GD/EBITDA ≤ 1.5×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Compliance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AML/cyber/data audit; ISO 27001 and SOC 2 maintained; no unresolved regulatory matter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937760" y="45262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six clear · </a:t>
            </a: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gate open: Liminal can remain an arm’s-length associate indefinitely, and after control an arm’s-length subsidiary · </a:t>
            </a:r>
            <a:r>
              <a:rPr lang="en-US" sz="850" b="1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/ UNWIND</a:t>
            </a: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churn &gt;45%, drag defeats returns, top-4 reject ownership, regulatory deterioration, price above reservation value — including after signing where CPs and termination rights allow.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" y="5715000"/>
            <a:ext cx="11457432" cy="640080"/>
          </a:xfrm>
          <a:prstGeom prst="roundRect">
            <a:avLst>
              <a:gd name="adj" fmla="val 11429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5916168"/>
            <a:ext cx="237744" cy="237744"/>
          </a:xfrm>
          <a:prstGeom prst="ellipse">
            <a:avLst/>
          </a:prstGeom>
          <a:solidFill>
            <a:srgbClr val="00B4E6"/>
          </a:solidFill>
          <a:ln w="12700">
            <a:solidFill>
              <a:srgbClr val="00B4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5916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57150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BOARD MESSAGE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Paytm should not pay today for risks it can observe tomorrow. Secure the infrastructure through a 26% stake and a partnership; preserve the right, not the obligation, to acquire control; commit the remaining ₹2,960 Cr only after client trust, capital treatment, valuation and cash flow are proven.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access now. Control only when value is protected.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TRANSACTION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</a:t>
            </a:r>
            <a:r>
              <a:rPr lang="en-US" sz="1800" b="1" dirty="0">
                <a:solidFill>
                  <a:srgbClr val="1E6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bridge, 10-year breakeven table and Phase-1 returns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12680" y="347472"/>
            <a:ext cx="18105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31552" y="457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347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Satoshi Gate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× Liminal · Team ETERNAL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case fact · CALC = arithmetic on case facts · TA = team assumption (slide 7) · ₹ in Cr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92240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3931920" cy="521208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21615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/ dilution bridge (year 1, full acquisition)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1600200"/>
            <a:ext cx="3712464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6916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691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₹7.50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16367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diluted EPS (CF)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" y="2167128"/>
            <a:ext cx="3712464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258568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D98A1B"/>
          </a:solidFill>
          <a:ln w="12700">
            <a:solidFill>
              <a:srgbClr val="D98A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2585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203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shares: 1.02 Cr at ₹1,855 (the “mechanical” ₹7.38)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2734056"/>
            <a:ext cx="3712464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25496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8254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2770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Foregone post-tax interest on ₹2,100 Cr cash (₹94.5 Cr, TA 6% yield)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" y="3300984"/>
            <a:ext cx="3712464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392424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3924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−0.63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Post-churn Liminal loss ₹41 Cr, no group relief (TA)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" y="3867912"/>
            <a:ext cx="3712464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959352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9593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₹5.29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EPS, headline mix, 37.5% churn (−29%)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" y="4434840"/>
            <a:ext cx="3712464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D9E2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5262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1E63D6"/>
          </a:solidFill>
          <a:ln w="12700">
            <a:solidFill>
              <a:srgbClr val="1E63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526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+1.08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44714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MDR ₹69 Cr PAT — shown beside, never inside, the deal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074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₹7.50 → −₹0.73 foregone interest → +₹0.04 associate share → </a:t>
            </a:r>
            <a:r>
              <a:rPr lang="en-US" sz="85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₹6.81</a:t>
            </a:r>
            <a:r>
              <a:rPr lang="en-US" sz="8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 modelled: PPA amortisation; one-time integration ₹100 Cr (in FCF). Model: Python, 17 sections, reprints every figure in this deck.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34840" y="1143000"/>
            <a:ext cx="73883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1261872"/>
            <a:ext cx="274320" cy="2743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0328" y="1216152"/>
            <a:ext cx="682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10-year PAT &amp; FCF table — full acquisition, case mix, 20% growth, 37.5% churn (₹ Cr; EPS ₹/share)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554480"/>
          <a:ext cx="7205472" cy="914400"/>
        </p:xfrm>
        <a:graphic>
          <a:graphicData uri="http://schemas.openxmlformats.org/drawingml/2006/table">
            <a:tbl>
              <a:tblPr/>
              <a:tblGrid>
                <a:gridCol w="504383"/>
                <a:gridCol w="864657"/>
                <a:gridCol w="864657"/>
                <a:gridCol w="936711"/>
                <a:gridCol w="792602"/>
                <a:gridCol w="936711"/>
                <a:gridCol w="1080821"/>
                <a:gridCol w="122493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 rev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 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 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EPS+MDR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 FCF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 FCF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−3,086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−3,915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−4,733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−5,535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−6,315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−768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−7,083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−7,835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−8,569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−9,280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−685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−9,965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 txBox="1"/>
          <p:nvPr/>
        </p:nvSpPr>
        <p:spPr>
          <a:xfrm>
            <a:off x="4526280" y="4023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breakeven year 8; FCF never (₹750 drag + ₹94.5 cost of funds exceed Liminal FCF every year). Cumulative includes the ₹2,100 Cr outlay and ₹100 Cr integration.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434840" y="4480560"/>
            <a:ext cx="73883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9E2F0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572000" y="4599432"/>
            <a:ext cx="274320" cy="274320"/>
          </a:xfrm>
          <a:prstGeom prst="ellipse">
            <a:avLst/>
          </a:prstGeom>
          <a:solidFill>
            <a:srgbClr val="1B8A4C"/>
          </a:solidFill>
          <a:ln w="12700">
            <a:solidFill>
              <a:srgbClr val="1B8A4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910328" y="4553712"/>
            <a:ext cx="682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stake IRR — exit end-Y5 at multiple × ARR₅, 26% stake, no dividends (TA)</a:t>
            </a:r>
            <a:endParaRPr lang="en-US" sz="10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4892040"/>
          <a:ext cx="3931920" cy="914400"/>
        </p:xfrm>
        <a:graphic>
          <a:graphicData uri="http://schemas.openxmlformats.org/drawingml/2006/table">
            <a:tbl>
              <a:tblPr/>
              <a:tblGrid>
                <a:gridCol w="1258214"/>
                <a:gridCol w="668426"/>
                <a:gridCol w="668426"/>
                <a:gridCol w="668426"/>
                <a:gridCol w="66842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↓ · exit multiple 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(base)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(bull)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42"/>
          <p:cNvSpPr txBox="1"/>
          <p:nvPr/>
        </p:nvSpPr>
        <p:spPr>
          <a:xfrm>
            <a:off x="8595360" y="48920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12% hurdle the stake earns its cost of capital at ≥20% growth and ≥13× exit, or ≥30% growth and ≥9×. Fundamental value of 26%: ₹456 Cr (base) – ₹951 Cr (bull) vs the ₹1,040 Cr ceiling — the premium buys blocking and access.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Satoshi Gate</dc:title>
  <dc:subject>PptxGenJS Presentation</dc:subject>
  <dc:creator>Team ETERNAL</dc:creator>
  <cp:lastModifiedBy>Team ETERNAL</cp:lastModifiedBy>
  <cp:revision>1</cp:revision>
  <dcterms:created xsi:type="dcterms:W3CDTF">2026-09-24T14:28:23Z</dcterms:created>
  <dcterms:modified xsi:type="dcterms:W3CDTF">2026-09-24T14:28:23Z</dcterms:modified>
</cp:coreProperties>
</file>