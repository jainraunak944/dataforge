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1D57"/>
                </a:solidFill>
              </a:rPr>
              <a:t>Cost per km, base case (model)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Fuel or energy, ₹/km (2028)</c:v>
                </c:pt>
              </c:strCache>
            </c:strRef>
          </c:tx>
          <c:spPr>
            <a:solidFill>
              <a:srgbClr val="8CC5F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Continue on CNG</c:v>
                </c:pt>
                <c:pt idx="1">
                  <c:v>Hydrogen retrofit</c:v>
                </c:pt>
                <c:pt idx="2">
                  <c:v>Sell, buy compact BEV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3.65</c:v>
                </c:pt>
                <c:pt idx="1">
                  <c:v>12</c:v>
                </c:pt>
                <c:pt idx="2">
                  <c:v>1.53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All-in levelised cost, ₹/km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Continue on CNG</c:v>
                </c:pt>
                <c:pt idx="1">
                  <c:v>Hydrogen retrofit</c:v>
                </c:pt>
                <c:pt idx="2">
                  <c:v>Sell, buy compact BEV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5.25</c:v>
                </c:pt>
                <c:pt idx="1">
                  <c:v>13.73</c:v>
                </c:pt>
                <c:pt idx="2">
                  <c:v>5.55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3D3D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/>
                  <a:t>₹ per km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001D57"/>
                </a:solidFill>
              </a:rPr>
              <a:t>Delivered price build-up, unsubsidised (model): ₹1,433 pilot, ₹584 hub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(green, plant gate)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</c:v>
                </c:pt>
                <c:pt idx="1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Tube-trailer transport</c:v>
                </c:pt>
              </c:strCache>
            </c:strRef>
          </c:tx>
          <c:spPr>
            <a:solidFill>
              <a:srgbClr val="256B9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Compression electricity</c:v>
                </c:pt>
              </c:strCache>
            </c:strRef>
          </c:tx>
          <c:spPr>
            <a:solidFill>
              <a:srgbClr val="8CC5F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</c:v>
                </c:pt>
                <c:pt idx="1">
                  <c:v>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Station capital recovery</c:v>
                </c:pt>
              </c:strCache>
            </c:strRef>
          </c:tx>
          <c:spPr>
            <a:solidFill>
              <a:srgbClr val="2C466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646.517494647832</c:v>
                </c:pt>
                <c:pt idx="1">
                  <c:v>166.247355766585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Station O&amp;M</c:v>
                </c:pt>
              </c:strCache>
            </c:strRef>
          </c:tx>
          <c:spPr>
            <a:solidFill>
              <a:srgbClr val="78797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146.118721461187</c:v>
                </c:pt>
                <c:pt idx="1">
                  <c:v>37.573385518591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Losses, margin, taxes</c:v>
                </c:pt>
              </c:strCache>
            </c:strRef>
          </c:tx>
          <c:spPr>
            <a:solidFill>
              <a:srgbClr val="F5C24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point 2028 (150 kg/day, 50 percent used)</c:v>
                </c:pt>
                <c:pt idx="1">
                  <c:v>Hub station 2030 (500 kg/day, 70 percent used)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168.19661674250096</c:v>
                </c:pt>
                <c:pt idx="1">
                  <c:v>68.60415859092905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0" b="0"/>
                  <a:t>₹ per kg delivered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50"/>
          </a:pPr>
        </a:p>
      </c:txPr>
    </c:legend>
    <c:dispBlanksAs val="gap"/>
  </c:chart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001D57"/>
                </a:solidFill>
              </a:rPr>
              <a:t>Emissions per km, same car and duty (model)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 CO2e per km, well-to-wheel incl. amortised manufacturing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Continue on CNG</c:v>
                </c:pt>
                <c:pt idx="1">
                  <c:v>Retrofit, green H2</c:v>
                </c:pt>
                <c:pt idx="2">
                  <c:v>Retrofit, grey H2</c:v>
                </c:pt>
                <c:pt idx="3">
                  <c:v>BEV, 2025 grid</c:v>
                </c:pt>
                <c:pt idx="4">
                  <c:v>BEV, 2030 grid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</c:v>
                </c:pt>
                <c:pt idx="1">
                  <c:v>89</c:v>
                </c:pt>
                <c:pt idx="2">
                  <c:v>208</c:v>
                </c:pt>
                <c:pt idx="3">
                  <c:v>176</c:v>
                </c:pt>
                <c:pt idx="4">
                  <c:v>134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3D3D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0" b="0"/>
                  <a:t>g CO2e per km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1pag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71"/>
            <a:ext cx="18288000" cy="1021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Recommendation: validate before selling. A 30-car hydrogen retrofit pilot in a captive Faridabad fleet, scaled only if delivered hydrogen falls below about ₹190 per 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Answer to the brief: a CNG-to-hydrogen retrofit can be made safe by 2030, but at unsubsidised hydrogen prices it is not affordable; its 2030 role is a policy-supported niche of about 1,400 cars, not a mass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02920" y="2194560"/>
            <a:ext cx="5577840" cy="5760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2404872"/>
            <a:ext cx="5577840" cy="21031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577840" cy="420624"/>
          </a:xfrm>
          <a:prstGeom prst="roundRect">
            <a:avLst>
              <a:gd name="adj" fmla="val 18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72" y="2194560"/>
            <a:ext cx="543153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1. THE ANSWER TO THE BRIEF'S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88336"/>
            <a:ext cx="5358384" cy="5193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•  </a:t>
            </a:r>
            <a:r>
              <a:rPr b="1" sz="1600">
                <a:solidFill>
                  <a:srgbClr val="3D3D3B"/>
                </a:solidFill>
                <a:latin typeface="Arial"/>
              </a:rPr>
              <a:t>Safe:</a:t>
            </a:r>
            <a:r>
              <a:rPr b="0" i="0" sz="1600">
                <a:solidFill>
                  <a:srgbClr val="3D3D3B"/>
                </a:solidFill>
                <a:latin typeface="Arial"/>
              </a:rPr>
              <a:t> yes, with known engineering (composite cylinder, thermally activated relief, twin leak sensors, lean burn with NOx control). But no approval route exists today for a hydrogen retrofit of a car; creating one is gate 1.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•  </a:t>
            </a:r>
            <a:r>
              <a:rPr b="1" sz="1600">
                <a:solidFill>
                  <a:srgbClr val="3D3D3B"/>
                </a:solidFill>
                <a:latin typeface="Arial"/>
              </a:rPr>
              <a:t>Affordable:</a:t>
            </a:r>
            <a:r>
              <a:rPr b="0" i="0" sz="1600">
                <a:solidFill>
                  <a:srgbClr val="3D3D3B"/>
                </a:solidFill>
                <a:latin typeface="Arial"/>
              </a:rPr>
              <a:t> not by 2030. At ₹800/kg delivered (2028) the converted car costs ₹13.7/km all-in versus ₹5.2/km on CNG. Fuel parity with CNG needs ₹188/kg; the cheapest 2030 forecast found is about ₹360/kg delivered.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•  </a:t>
            </a:r>
            <a:r>
              <a:rPr b="1" sz="1600">
                <a:solidFill>
                  <a:srgbClr val="3D3D3B"/>
                </a:solidFill>
                <a:latin typeface="Arial"/>
              </a:rPr>
              <a:t>Viable complement:</a:t>
            </a:r>
            <a:r>
              <a:rPr b="0" i="0" sz="1600">
                <a:solidFill>
                  <a:srgbClr val="3D3D3B"/>
                </a:solidFill>
                <a:latin typeface="Arial"/>
              </a:rPr>
              <a:t> only as a captive-fleet niche next to hydrogen hubs. A compact BEV bought in 2028 comes to ₹5.6/km including purchase, so BEVs stay the economic default for high-utilisation fleets.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•  </a:t>
            </a:r>
            <a:r>
              <a:rPr b="1" sz="1600">
                <a:solidFill>
                  <a:srgbClr val="3D3D3B"/>
                </a:solidFill>
                <a:latin typeface="Arial"/>
              </a:rPr>
              <a:t>So the strategy is an option, not a launch:</a:t>
            </a:r>
            <a:r>
              <a:rPr b="0" i="0" sz="1600">
                <a:solidFill>
                  <a:srgbClr val="3D3D3B"/>
                </a:solidFill>
                <a:latin typeface="Arial"/>
              </a:rPr>
              <a:t> an HCNG step that needs no vehicle change, a bounded H2-ICE retrofit pilot that creates the approval route and the data, and a scale decision in 2030 against explicit price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577840" cy="5760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309360" y="2404872"/>
            <a:ext cx="5577840" cy="21031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5577840" cy="420624"/>
          </a:xfrm>
          <a:prstGeom prst="roundRect">
            <a:avLst>
              <a:gd name="adj" fmla="val 18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82512" y="2194560"/>
            <a:ext cx="543153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2. FIRST CUSTOMER AND USE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88336"/>
            <a:ext cx="5358384" cy="5193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550">
                <a:solidFill>
                  <a:srgbClr val="3D3D3B"/>
                </a:solidFill>
                <a:latin typeface="Arial"/>
              </a:rPr>
              <a:t>•  </a:t>
            </a:r>
            <a:r>
              <a:rPr b="1" sz="1550">
                <a:solidFill>
                  <a:srgbClr val="3D3D3B"/>
                </a:solidFill>
                <a:latin typeface="Arial"/>
              </a:rPr>
              <a:t>Donor:</a:t>
            </a:r>
            <a:r>
              <a:rPr b="0" i="0" sz="1550">
                <a:solidFill>
                  <a:srgbClr val="3D3D3B"/>
                </a:solidFill>
                <a:latin typeface="Arial"/>
              </a:rPr>
              <a:t> Maruti Suzuki Dzire Tour S CNG, 3 to 5 years old, factory bi-fuel; petrol stays as the automatic backup fuel.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550">
                <a:solidFill>
                  <a:srgbClr val="3D3D3B"/>
                </a:solidFill>
                <a:latin typeface="Arial"/>
              </a:rPr>
              <a:t>•  </a:t>
            </a:r>
            <a:r>
              <a:rPr b="1" sz="1550">
                <a:solidFill>
                  <a:srgbClr val="3D3D3B"/>
                </a:solidFill>
                <a:latin typeface="Arial"/>
              </a:rPr>
              <a:t>Fleet:</a:t>
            </a:r>
            <a:r>
              <a:rPr b="0" i="0" sz="1550">
                <a:solidFill>
                  <a:srgbClr val="3D3D3B"/>
                </a:solidFill>
                <a:latin typeface="Arial"/>
              </a:rPr>
              <a:t> captive, return-to-base institutional and contract fleets (PSU and corporate staff transport, airport contracts) in Faridabad, Delhi-NCR, running 150 to 210 km per day with two depot fills.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550">
                <a:solidFill>
                  <a:srgbClr val="3D3D3B"/>
                </a:solidFill>
                <a:latin typeface="Arial"/>
              </a:rPr>
              <a:t>•  </a:t>
            </a:r>
            <a:r>
              <a:rPr b="1" sz="1550">
                <a:solidFill>
                  <a:srgbClr val="3D3D3B"/>
                </a:solidFill>
                <a:latin typeface="Arial"/>
              </a:rPr>
              <a:t>Why here:</a:t>
            </a:r>
            <a:r>
              <a:rPr b="0" i="0" sz="1550">
                <a:solidFill>
                  <a:srgbClr val="3D3D3B"/>
                </a:solidFill>
                <a:latin typeface="Arial"/>
              </a:rPr>
              <a:t> IOCL R&amp;D Faridabad hosts India's only car-capable hydrogen dispensing point, and the MNRE Sahibabad-Faridabad-Delhi hydrogen corridor (sanctioned March 2025) brings buses and trucks that a shared station needs.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550">
                <a:solidFill>
                  <a:srgbClr val="3D3D3B"/>
                </a:solidFill>
                <a:latin typeface="Arial"/>
              </a:rPr>
              <a:t>•  </a:t>
            </a:r>
            <a:r>
              <a:rPr b="1" sz="1550">
                <a:solidFill>
                  <a:srgbClr val="3D3D3B"/>
                </a:solidFill>
                <a:latin typeface="Arial"/>
              </a:rPr>
              <a:t>Why not Delhi app-cabs first:</a:t>
            </a:r>
            <a:r>
              <a:rPr b="0" i="0" sz="1550">
                <a:solidFill>
                  <a:srgbClr val="3D3D3B"/>
                </a:solidFill>
                <a:latin typeface="Arial"/>
              </a:rPr>
              <a:t> the 2023 aggregator scheme counts only electric cars toward onboarding ratios, and CAQM allows only CNG or EV new aggregator vehicles in NCR from January 2026. A hydrogen conversion earns no credit there.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b="0" i="0" sz="1550">
                <a:solidFill>
                  <a:srgbClr val="3D3D3B"/>
                </a:solidFill>
                <a:latin typeface="Arial"/>
              </a:rPr>
              <a:t>•  </a:t>
            </a:r>
            <a:r>
              <a:rPr b="1" sz="1550">
                <a:solidFill>
                  <a:srgbClr val="3D3D3B"/>
                </a:solidFill>
                <a:latin typeface="Arial"/>
              </a:rPr>
              <a:t>Second hub:</a:t>
            </a:r>
            <a:r>
              <a:rPr b="0" i="0" sz="1550">
                <a:solidFill>
                  <a:srgbClr val="3D3D3B"/>
                </a:solidFill>
                <a:latin typeface="Arial"/>
              </a:rPr>
              <a:t> Ahmedabad-Vadodara-Surat corridor (Gujarat funds 30 percent of the first 20 hydrogen stations).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15800" y="2194560"/>
            <a:ext cx="5577840" cy="5760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115800" y="2404872"/>
            <a:ext cx="5577840" cy="21031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2115800" y="2194560"/>
            <a:ext cx="5577840" cy="420624"/>
          </a:xfrm>
          <a:prstGeom prst="roundRect">
            <a:avLst>
              <a:gd name="adj" fmla="val 18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88952" y="2194560"/>
            <a:ext cx="543153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3. HOW BIG, HONESTLY (bottom-up, 2030)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2225528" y="2688336"/>
          <a:ext cx="5358383" cy="388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87634"/>
                <a:gridCol w="1370749"/>
              </a:tblGrid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Vehicles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CNG vehicles on road, Mar 2025 (all types)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8,195,000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Passenger cars among them (estimate)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4,507,250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Factory-fitted, boot cylinder, under 6 yr in 2028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2,253,625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In commercial or institutional fleets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450,725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In cities with a hydrogen hub by 2030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180,290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Plausible early adopters (hypothesis)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9,014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Station-limited capacity: 8 hubs x 174 cars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50">
                          <a:solidFill>
                            <a:srgbClr val="3D3D3B"/>
                          </a:solidFill>
                          <a:latin typeface="Arial"/>
                        </a:rPr>
                        <a:t>1,394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b="1" i="0" sz="1350">
                          <a:solidFill>
                            <a:srgbClr val="001D57"/>
                          </a:solidFill>
                          <a:latin typeface="Arial"/>
                        </a:rPr>
                        <a:t>Realistic converted fleet by 2030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350">
                          <a:solidFill>
                            <a:srgbClr val="3D3D3B"/>
                          </a:solidFill>
                          <a:latin typeface="Arial"/>
                        </a:rPr>
                        <a:t>1,394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2225528" y="6665975"/>
            <a:ext cx="5358384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350">
                <a:solidFill>
                  <a:srgbClr val="3D3D3B"/>
                </a:solidFill>
                <a:latin typeface="Arial"/>
              </a:rPr>
              <a:t>Round 1 said 1,00,000 cars by 2030. Stations, not demand, set the ceiling: one 500 kg/day hub at 70 percent utilisation serves about 174 cars.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350">
                <a:solidFill>
                  <a:srgbClr val="3D3D3B"/>
                </a:solidFill>
                <a:latin typeface="Arial"/>
              </a:rPr>
              <a:t>Customer demand is a hypothesis: no fleet interviews exist yet; Phase 0 buys 30 of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8046720"/>
            <a:ext cx="17282160" cy="868680"/>
          </a:xfrm>
          <a:prstGeom prst="roundRect">
            <a:avLst>
              <a:gd name="adj" fmla="val 15000"/>
            </a:avLst>
          </a:prstGeom>
          <a:solidFill>
            <a:srgbClr val="0B3D2E"/>
          </a:solidFill>
          <a:ln>
            <a:noFill/>
          </a:ln>
          <a:effectLst/>
        </p:spPr>
        <p:txBody>
          <a:bodyPr rtlCol="0" anchor="ctr" wrap="square" lIns="274320" rIns="274320"/>
          <a:lstStyle/>
          <a:p>
            <a:pPr algn="l">
              <a:lnSpc>
                <a:spcPct val="100000"/>
              </a:lnSpc>
            </a:pPr>
            <a:r>
              <a:rPr b="1" i="0" sz="1600">
                <a:solidFill>
                  <a:srgbClr val="FFFFFF"/>
                </a:solidFill>
                <a:latin typeface="Arial"/>
              </a:rPr>
              <a:t>Same idea as Round 1: convert the installed CNG base, fleets first, aggregate hydrogen demand at hubs. What changed: pump price instead of production cost, petrol backup instead of a second cylinder, a station-limited rollout, and explicit stop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9006840"/>
            <a:ext cx="17373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Evidence labels used throughout: verified = external source in the register; model = workbook output; assumption = stated input range; target = proposed value requiring validation.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PNGRB/Vahan 81.95 lakh CNG vehicles, Aug 2025 [W3-S2]; Delhi aggregator scheme 2023 [W3-S17]; CAQM NCR direction [W3-S19]; IOCL Faridabad dispensing [W3-S46]; MNRE pilot routes, PIB 3 Mar 2025 [W3-S36]; Gujarat Green Hydrogen Policy [W4-S76]; CEEW 2025 delivered cost [W4-S22]; model workbook (TCO, Market).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2444"/>
                </a:solidFill>
                <a:latin typeface="Arial"/>
              </a:rPr>
              <a:t>H2-ICE is the only conversion at conversion cost, but it carries the weakest fuel economics; a fuel-cell conversion costs as much as a new BEV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800">
                <a:solidFill>
                  <a:srgbClr val="3D3D3B"/>
                </a:solidFill>
                <a:latin typeface="Arial"/>
              </a:rPr>
              <a:t>Matched criteria for the same donor and duty (Dzire Tour S CNG, 55,000 km per year, owner decision in 2028). Values are model outputs unless a source is named.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521437" cy="5852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8527"/>
                <a:gridCol w="2819075"/>
                <a:gridCol w="2573938"/>
                <a:gridCol w="2451370"/>
                <a:gridCol w="1838527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H2-ICE retrofit (selected)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Fuel-cell conversion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New compact BEV (donor sold)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Continue on CNG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What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Cylinder, lines, injectors, ECU, sensors; engine and petrol system retained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Whole powertrain: stack, battery, motor, inverter, cooling, tank,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New vehicle; donor sold for about ₹3.5 lakh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Nothing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Cost to the owner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₹3.2 lakh installed at 10,000/yr; ₹7.7 lakh in the pilot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₹15 to 25 lakh pilot; ₹8 to 12 lakh at volume (estimate)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₹10.5 lakh purchase (Tiago EV to Punch EV class)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Energy cost per km, 2028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₹12.0 blended (hydrogen km ₹14.8 at ₹800/kg)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half of H2-ICE per hydrogen 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₹1.5 (depot and public mix)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₹3.6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Range per fill or charge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61 km on hydrogen plus 555 km on petrol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2x H2-ICE on the same tank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187 to 260 km in real-world tests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250 km at 25 km/kg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Refuel or recharge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3 to 5 min (350 bar, non-cooled fill)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3 to 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1 h DC (10 to 80 percent); 6 to 8 h 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3 to 5 min plus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Peak power versus petrol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52 percent (lean burn); city duty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Restored by electric drive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85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Tailpipe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Zero CO2 on hydrogen km; NOx must be controlled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Water vapour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Zero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105 g CO2/km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Approval route today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None for retrofits; AIS-195 covers new H2-ICE vehicles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None; AIS-157 scope excludes retrofitted or converted FCEVs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Established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Established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Supplier readiness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Injectors, valves, regulators production-intent; car-size cylinders scarce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Imported stacks; no light-duty supply chain in India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252960" y="2194560"/>
            <a:ext cx="5532120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2252960" y="2404872"/>
            <a:ext cx="5532120" cy="21031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2252960" y="2194560"/>
            <a:ext cx="5532120" cy="420624"/>
          </a:xfrm>
          <a:prstGeom prst="roundRect">
            <a:avLst>
              <a:gd name="adj" fmla="val 18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26112" y="2194560"/>
            <a:ext cx="538581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WHAT GLOBAL EXPERIENCE TEACHES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62688" y="2688336"/>
            <a:ext cx="5312664" cy="57424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•  </a:t>
            </a:r>
            <a:r>
              <a:rPr b="1" sz="1450">
                <a:solidFill>
                  <a:srgbClr val="3D3D3B"/>
                </a:solidFill>
                <a:latin typeface="Arial"/>
              </a:rPr>
              <a:t>Captive fleets with depot fuelling survive:</a:t>
            </a:r>
            <a:r>
              <a:rPr b="0" i="0" sz="1450">
                <a:solidFill>
                  <a:srgbClr val="3D3D3B"/>
                </a:solidFill>
                <a:latin typeface="Arial"/>
              </a:rPr>
              <a:t> KEYOU truck conversions (Germany, 2024 to 2027 with Daimler), ULEMCo van conversions (UK), Toyota's hydrogen HiAce at its Altona depot (2024), NTPC Leh buses (80 kg/day, 350 bar).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•  </a:t>
            </a:r>
            <a:r>
              <a:rPr b="1" sz="1450">
                <a:solidFill>
                  <a:srgbClr val="3D3D3B"/>
                </a:solidFill>
                <a:latin typeface="Arial"/>
              </a:rPr>
              <a:t>Retail light-duty networks retreat:</a:t>
            </a:r>
            <a:r>
              <a:rPr b="0" i="0" sz="1450">
                <a:solidFill>
                  <a:srgbClr val="3D3D3B"/>
                </a:solidFill>
                <a:latin typeface="Arial"/>
              </a:rPr>
              <a:t> Shell closed its 7 California car stations (Feb 2024); H2 Mobility closed 36 German car stations (2025); Stellantis cancelled its hydrogen vans (Jul 2025); Toyota sold 210 Mirai in the US in 2025.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•  </a:t>
            </a:r>
            <a:r>
              <a:rPr b="1" sz="1450">
                <a:solidFill>
                  <a:srgbClr val="3D3D3B"/>
                </a:solidFill>
                <a:latin typeface="Arial"/>
              </a:rPr>
              <a:t>H2-ICE momentum is heavy-duty:</a:t>
            </a:r>
            <a:r>
              <a:rPr b="0" i="0" sz="1450">
                <a:solidFill>
                  <a:srgbClr val="3D3D3B"/>
                </a:solidFill>
                <a:latin typeface="Arial"/>
              </a:rPr>
              <a:t> JCB EU type approval (May 2025); Cummins B6.7H built in Jamshedpur for Tata trucks (Mar 2025); 70 MNRE pilot vehicles are buses and trucks, zero cars.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•  </a:t>
            </a:r>
            <a:r>
              <a:rPr b="1" sz="1450">
                <a:solidFill>
                  <a:srgbClr val="3D3D3B"/>
                </a:solidFill>
                <a:latin typeface="Arial"/>
              </a:rPr>
              <a:t>Small-car hydrogen combustion is live but pre-commercial:</a:t>
            </a:r>
            <a:r>
              <a:rPr b="0" i="0" sz="1450">
                <a:solidFill>
                  <a:srgbClr val="3D3D3B"/>
                </a:solidFill>
                <a:latin typeface="Arial"/>
              </a:rPr>
              <a:t> Suzuki and AVL hydrogen Swift prototype (1.4 L direct injection, 100 kW, Vienna, May 2026); Suzuki hydrogen Burgman (2023, 2025). No company sells a passenger-car hydrogen conversion anywhere.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•  </a:t>
            </a:r>
            <a:r>
              <a:rPr b="1" sz="1450">
                <a:solidFill>
                  <a:srgbClr val="3D3D3B"/>
                </a:solidFill>
                <a:latin typeface="Arial"/>
              </a:rPr>
              <a:t>Transfer to India:</a:t>
            </a:r>
            <a:r>
              <a:rPr b="0" i="0" sz="1450">
                <a:solidFill>
                  <a:srgbClr val="3D3D3B"/>
                </a:solidFill>
                <a:latin typeface="Arial"/>
              </a:rPr>
              <a:t> design for a depot, not a network; treat fuel price as the gating variable; borrow heavy-duty supplier parts; do not cite prototypes as proof of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8549640"/>
            <a:ext cx="17373600" cy="73152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0B3D2E"/>
                </a:solidFill>
                <a:latin typeface="Arial"/>
              </a:rPr>
              <a:t>Selected route: H2-ICE with port injection, lean burn and automatic petrol fallback. It is the only architecture that is a retrofit in cost and scope; its case rests entirely on the delivered hydrogen price, so the pilot is designed to measure exactly that.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KEYOU, ULEMCo, Toyota Australia, NTPC [W3-S61, S63, S55, S44]; Shell, H2 Mobility, Stellantis, Toyota sales [W3-S65, S66, S64, S51]; JCB, Cummins, MNRE pilots [W3-S60, S59, S37]; Suzuki-AVL Swift (Fuel Cells Works, 7 May 2026), Burgman [W3-S58]; AIS-157 scope [W2-S11 and Scribd copy]; BEV data [W3-S27, S30]; fuel-cell conversion costs are estimates.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2444"/>
                </a:solidFill>
                <a:latin typeface="Arial"/>
              </a:rPr>
              <a:t>What the retrofit changes: storage, fuel delivery, controls and safety are new; the engine, petrol system and body are retained (concept, to be verified by mock-up)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800">
                <a:solidFill>
                  <a:srgbClr val="3D3D3B"/>
                </a:solidFill>
                <a:latin typeface="Arial"/>
              </a:rPr>
              <a:t>Donor: Maruti Suzuki Dzire Tour S CNG, 1.2 L K-series, 60 kW on petrol, 55 L steel CNG cylinder in the boot, 37 L petrol tank, 163 mm ground clearance (no under-floor cylinder option).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02920" y="2194560"/>
            <a:ext cx="8412480" cy="4251960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 sz="1300">
                <a:solidFill>
                  <a:srgbClr val="3D3D3B"/>
                </a:solidFill>
                <a:latin typeface="Arial"/>
              </a:rPr>
              <a:t>System architecture (schematic, not to scale). Green = new, blue = retained, grey = removed.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FFFFFF"/>
                </a:solidFill>
                <a:latin typeface="Arial"/>
              </a:rPr>
              <a:t>H35 receptacle, check valve, filter (new)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26517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60 L composite cylinder, 350 bar, OTV with TPRD, boot frame (new)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4296" y="26517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FFFFFF"/>
                </a:solidFill>
                <a:latin typeface="Arial"/>
              </a:rPr>
              <a:t>316L high-pressure line, two-stage regulator (new)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8544" y="265176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FFFFFF"/>
                </a:solidFill>
                <a:latin typeface="Arial"/>
              </a:rPr>
              <a:t>Hydrogen rail and 4 port injectors (new)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086100"/>
            <a:ext cx="384048" cy="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70248" y="3086100"/>
            <a:ext cx="384048" cy="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54496" y="3086100"/>
            <a:ext cx="384048" cy="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38544" y="38862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1.2 L K-series engine, gearbox, three-way catalyst (retained)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38644" y="3520440"/>
            <a:ext cx="0" cy="36576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54296" y="38862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Petrol tank 37 L and petrol injection (retained, automatic backup)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54496" y="4320540"/>
            <a:ext cx="384048" cy="0"/>
          </a:xfrm>
          <a:prstGeom prst="line">
            <a:avLst/>
          </a:prstGeom>
          <a:ln w="31750">
            <a:solidFill>
              <a:srgbClr val="256B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70048" y="38862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Hydrogen ECU: dual map, lambda 1.6 to 2.2, fallback logic, diagnostics (new)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70248" y="4320540"/>
            <a:ext cx="384048" cy="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8862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Twin hydrogen sensors, boot vent fan, cabin warning, manual shut-off (new)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4320540"/>
            <a:ext cx="384048" cy="0"/>
          </a:xfrm>
          <a:prstGeom prst="line">
            <a:avLst/>
          </a:prstGeom>
          <a:ln w="31750">
            <a:solidFill>
              <a:srgbClr val="0B3D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5212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TPRD vent line to outside, sealed boot bulkhead (new)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0048" y="5212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Lean NOx trap provision and lambda sensor (new, if cycle test needs 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4296" y="5212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787974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150">
                <a:solidFill>
                  <a:srgbClr val="FFFFFF"/>
                </a:solidFill>
                <a:latin typeface="Arial"/>
              </a:rPr>
              <a:t>55 L steel CNG cylinder, CNG regulator, rail, lines (removed, not reusable)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38544" y="521208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54864" tIns="27432" rIns="54864" bIns="27432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Cold plugs, PCV route, calibration (modified)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19456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0" y="224028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1.12 kg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76148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usable hydrogen per fill (1.44 kg nominal at 350 bar, 85 percent fill, 20 bar residual)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55980" y="219456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555980" y="224028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61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01700" y="276148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range per fill at 1.85 kg/100 km; 105 km with a 700 bar cylinder of the same size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65760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0" y="370332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~121 km/day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22452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on hydrogen with two depot fills (73 percent of a 167 km day); petrol covers the 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555980" y="365760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555980" y="370332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42 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01700" y="422452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peak power in hydrogen mode, 48 percent below petrol; city duty, automatic petrol switch at high 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512064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4000" y="516636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-13 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568756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net kerb mass change; cylinder is 84 mm larger in diameter, so the boot loses a further 40 to 60 L (estimate)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555980" y="5120640"/>
            <a:ext cx="4229100" cy="1298448"/>
          </a:xfrm>
          <a:prstGeom prst="roundRect">
            <a:avLst>
              <a:gd name="adj" fmla="val 8000"/>
            </a:avLst>
          </a:prstGeom>
          <a:solidFill>
            <a:srgbClr val="DDF1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3555980" y="5166360"/>
            <a:ext cx="42291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1D57"/>
                </a:solidFill>
                <a:latin typeface="Arial"/>
              </a:rPr>
              <a:t>3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01700" y="5687568"/>
            <a:ext cx="4137660" cy="704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conversion downtime per car in the pilot; 14 labour hours at volume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02920" y="6629400"/>
          <a:ext cx="17282158" cy="1810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77055"/>
                <a:gridCol w="4412466"/>
                <a:gridCol w="4044760"/>
                <a:gridCol w="5147877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Retained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Modified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Removed (cannot be reused with hydrogen)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Added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001D57"/>
                          </a:solidFill>
                          <a:latin typeface="Arial"/>
                        </a:rPr>
                        <a:t>Engine, gearbox, body, brakes, suspension, petrol tank and injection, three-way catalyst, CNG-hardened valve seats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Calibration (lean lambda 1.6 to 2.2, retarded spark, injection timed after intake valve closing to stop backfire), cold-grade plugs, crankcase ventilation, boot bulkhead sealing and ventilation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55 L steel CNG cylinder (ISO 11439 steel is limited to 2 percent hydrogen), CNG regulator, rail, injectors, hoses and 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Composite cylinder (60 L, OD 400 x 767 mm, 36 kg), on-tank valve with TPRD, H35 receptacle, 316L lines, two-stage regulator, hydrogen injectors and rail, hydrogen ECU, two sensors, vent fan, lean NOx trap provision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502920" y="8641080"/>
            <a:ext cx="17373600" cy="658368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300">
                <a:solidFill>
                  <a:srgbClr val="3D3D3B"/>
                </a:solidFill>
                <a:latin typeface="Arial"/>
              </a:rPr>
              <a:t>Injection strategy: port injection with late timing and lean mixtures avoids backfire and pre-ignition but costs power; direct injection (as in the Suzuki-AVL Swift prototype) recovers it but is not a retrofit. Durability items to prove: valve seats and guides, lubricant ash, sensor drift. Consumption cross-check: 1.85 kg/100 km equals 0.87 of the CNG car's energy efficiency at 25 km/kg.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Maruti Suzuki Tour S and Dzire specifications [W1-S3a to S3c]; Luxfer G-Stor Pro V060H35 [W1-S2]; hydrogen densities 24.0 and 40.2 g/L at 15 C [W1-S13a]; PFI power loss and lambda-NOx behaviour [W1-S9a, S9b, S9h]; ISO 11439 hydrogen limit [W1-S11a]; UN R110 20 g / 8 g mounting loads [W1-S14d]; model workbook (Energy_Range, BOM).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900">
                <a:solidFill>
                  <a:srgbClr val="002444"/>
                </a:solidFill>
                <a:latin typeface="Arial"/>
              </a:rPr>
              <a:t>Safety: the hazards are known and controllable; approval is the real gap, because no route exists yet for a hydrogen retrofit of a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Hydrogen ignites between 4 and 75 percent in air at 0.017 mJ, diffuses 3.8 times faster than natural gas and burns almost invisibly: different risks, not automatically higher, if designed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247118" cy="5760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89875"/>
                <a:gridCol w="3028070"/>
                <a:gridCol w="3028070"/>
                <a:gridCol w="3201103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Hazard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Prevention (design)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Detection and response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Validation evidence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Leak into boot, cabin, garage or basement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Sealed boot bulkhead, vented boot, no ignition sources in the bay, valve closed when engine 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Two hydrogen sensors (alarm at 1 and 2 percent), tank valve closes within 1 s, ECU switches to petrol, driver warning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Concentration below 4 percent in cabin and below 8 percent at vents (GTR 13 / AIS-195 type tests); enclosed-space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Embrittlement, permeation, material ageing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Hydrogen-rated 316L lines, elastomers and composite liner; no reuse of CNG steel parts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3-yearly cylinder requalification (Gas Cylinder Rules 2025), 15-year life, leak check at service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Supplier qualification to ISO 19881 / UN R134; cycling and permeation tests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Crash damage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Cylinder behind rear seat inside the crush-free zone; frame designed to 20 g / 8 g loads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Inertia switch closes the tank valve; post-crash leak limit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Sled test of the mounting, full-vehicle rear crash under AIS-195 procedures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Overpressure and fire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TPRD vents away from occupants, wheel wells and electrics; burst ratio 2.25 x working pressure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TPRD opens on heat; controlled release rather than rupture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Bonfire, burst, drop and cycling tests (GTR 13); vent-line routing review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Detection or control failure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Redundant sensors, ECU watchdog, manual shut-off valve, limp-home on petrol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Fault codes, forced petrol mode, service lock-out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Hardware-in-the-loop and fault-injection tests; 500 h engine durability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Workshop and refuelling incidents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NFPA 2 type ventilation (1 cfm per sq ft), hydrogen detection, permit-to-work, PESO-trained staff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Gas detection interlocks on the dispenser and in the bay; nitrogen purge for venting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PESO Form-H licence for the dispensing point; SAE J2601 fill protocol; lessons from Kjørbo 2019 (assembly error) and Santa Clara 2019 (procedures)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978640" y="2194560"/>
            <a:ext cx="5806440" cy="5760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1978640" y="2404872"/>
            <a:ext cx="5806440" cy="21031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1978640" y="2194560"/>
            <a:ext cx="5806440" cy="420624"/>
          </a:xfrm>
          <a:prstGeom prst="roundRect">
            <a:avLst>
              <a:gd name="adj" fmla="val 18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051792" y="2194560"/>
            <a:ext cx="566013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APPROVAL PATH AND OPEN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88368" y="2688336"/>
            <a:ext cx="5586984" cy="5193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Exists: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AIS-195:2023 (Amd 1, May 2025) for new M and N hydrogen ICE vehicles via CMVR Rule 125M (GSR 746(E), 16 Oct 2023).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Exists in principle: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MV Act s.52 and CMVR Rule 126 proviso (retrofitted vehicles tested and type-approved by test agencies) plus the Rule 115 CNG-kit machinery: kit type approval, authorised workshops, RC endorsement (Form 22D).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Gap: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no hydrogen retrofit kit standard or emission procedure; AIS-157 explicitly excludes retrofitted or converted fuel-cell vehicles; the AIS-195 position on retrofits could not be verified (document inaccessible in this study).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Cylinders and stations: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Gas Cylinder Rules 2025 now cover on-board hydrogen cylinders; PESO Form-H licences for dispensing online since May 2025; no car-size PESO-approved cylinder yet.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Trial route: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trade certificate plus test-agency evaluation, as used for the ICAT Mirai pilot (2022) and the Tata truck trials (2025); the MNRE transport pilot scheme names 4-wheelers.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•  </a:t>
            </a:r>
            <a:r>
              <a:rPr b="1" sz="1300">
                <a:solidFill>
                  <a:srgbClr val="3D3D3B"/>
                </a:solidFill>
                <a:latin typeface="Arial"/>
              </a:rPr>
              <a:t>Insurance and warranty:</a:t>
            </a:r>
            <a:r>
              <a:rPr b="0" i="0" sz="1300">
                <a:solidFill>
                  <a:srgbClr val="3D3D3B"/>
                </a:solidFill>
                <a:latin typeface="Arial"/>
              </a:rPr>
              <a:t> IMT-25 covers only CNG and LPG kits; OEM warranty is void after conversion. Both need new instruments.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809244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350">
                <a:solidFill>
                  <a:srgbClr val="3D3D3B"/>
                </a:solidFill>
                <a:latin typeface="Arial"/>
              </a:rPr>
              <a:t>NOx: hydrogen combustion still forms thermal NOx (US DOE). Lean burn above lambda 2 keeps engine-out NOx near zero at steady state, but accelerations leave that regime, so the design carries a lean NOx trap provision and must meet BS-VI 60 mg/km on the certification cycle. This is a target to demonstrate, not a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78640" y="8092440"/>
            <a:ext cx="5806440" cy="118872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400">
                <a:solidFill>
                  <a:srgbClr val="0B3D2E"/>
                </a:solidFill>
                <a:latin typeface="Arial"/>
              </a:rPr>
              <a:t>We do not claim 'approved' or 'fully safe'. Gate 1 (March 2027): a written regulator and test-agency view on the retrofit route, or the programme stops.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H2Tools hydrogen properties [W2-S43]; DOE 'Similar but Different' [W2-S44]; NFPA 2 [W2-S45]; GTR 13 limits [W2-S42]; Gas Cylinder Rules 2025, GSR 225(E) [W2-S24]; PESO Form-H [W2-S27]; GSR 746(E) Rule 125M [W2-S13]; Rule 126 and Rule 115 [W2-S9, S3]; AIS-157 scope [W2-S11, Scribd copy]; IMT-25 [W2-S53]; incidents [W2-S48, S49]; DOE NOx page [W2-S52].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900">
                <a:solidFill>
                  <a:srgbClr val="002444"/>
                </a:solidFill>
                <a:latin typeface="Arial"/>
              </a:rPr>
              <a:t>Economics: at every credible hydrogen price to 2032 the retrofit costs the owner more than staying on CNG; the sign never 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Fair comparison for an owner deciding in 2028 with a 3-year-old Dzire Tour S CNG: keep it, convert it, or sell it and buy a compact BEV. Five years, 55,000 km per year, 12 percent discount rate, unsubsidised, same time costs for queues and charging.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6766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Five-year NPV of costs: continue ₹10.4 lakh; retrofit ₹27.3 lakh; BEV ₹11.0 lakh (donor sale of ₹3.5 lakh and BEV resale credited).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Hydrogen at ₹800/kg in 2028 falling 10 percent a year; CNG ₹87/kg; petrol ₹102/L; depot power ₹6/kWh, public DC ₹20/kWh.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0" y="2194560"/>
          <a:ext cx="5394959" cy="5303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0129"/>
                <a:gridCol w="3014830"/>
              </a:tblGrid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Condition for competitiveness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Value (model)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Fuel-cost parity with CNG (₹/kg delivered)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₹188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Fuel-cost parity with petrol (₹/kg)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₹368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Full-TCO break-even versus continuing on CNG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None within 5 years at any hydrogen price: kit cost and petrol backup km outweigh the fuel saving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Full-TCO break-even versus the BEV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None at base; needs hydrogen below about ₹150/kg with a ₹2 lakh kit and 85 percent hydrogen km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Conversion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₹7.7 lakh pilot; ₹3.2 lakh installed at 10,000/yr (₹2.3 lakh ex-works). Round 1 said ₹1.8 to 2.2 lakh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Extra cost of converting versus continuing (5 yr)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₹16.8 lakh at base; ₹5.8 lakh even at ₹250/kg hydrogen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Abatement cost versus continuing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₹129,000 per t CO2e at base; about ₹45,000/t at ₹250/kg (India voluntary credits trade at ₹1,350 to 2,800/t)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121640" y="2194560"/>
            <a:ext cx="4663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 sz="1300">
                <a:solidFill>
                  <a:srgbClr val="001D57"/>
                </a:solidFill>
                <a:latin typeface="Arial"/>
              </a:rPr>
              <a:t>Extra cost of the retrofit versus continuing on CNG over 5 years, ₹ lakh (model)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121640" y="2651760"/>
          <a:ext cx="4663437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32411"/>
                <a:gridCol w="1110342"/>
                <a:gridCol w="1110342"/>
                <a:gridCol w="111034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₹/kg \ km/yr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50,000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70,000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001D57"/>
                          </a:solidFill>
                          <a:latin typeface="Arial"/>
                        </a:rPr>
                        <a:t>₹150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+3.6</a:t>
                      </a:r>
                    </a:p>
                  </a:txBody>
                  <a:tcPr marL="54864" marR="54864" marT="27432" marB="27432" anchor="ctr">
                    <a:solidFill>
                      <a:srgbClr val="C7DA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+3.8</a:t>
                      </a:r>
                    </a:p>
                  </a:txBody>
                  <a:tcPr marL="54864" marR="54864" marT="27432" marB="27432" anchor="ctr">
                    <a:solidFill>
                      <a:srgbClr val="C7D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 marL="54864" marR="54864" marT="27432" marB="27432" anchor="ctr">
                    <a:solidFill>
                      <a:srgbClr val="C8D8C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001D57"/>
                          </a:solidFill>
                          <a:latin typeface="Arial"/>
                        </a:rPr>
                        <a:t>₹250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+4.7</a:t>
                      </a:r>
                    </a:p>
                  </a:txBody>
                  <a:tcPr marL="54864" marR="54864" marT="27432" marB="27432" anchor="ctr">
                    <a:solidFill>
                      <a:srgbClr val="C9D4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 marL="54864" marR="54864" marT="27432" marB="27432" anchor="ctr">
                    <a:solidFill>
                      <a:srgbClr val="CACF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+6.5</a:t>
                      </a:r>
                    </a:p>
                  </a:txBody>
                  <a:tcPr marL="54864" marR="54864" marT="27432" marB="27432" anchor="ctr">
                    <a:solidFill>
                      <a:srgbClr val="CBCAB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001D57"/>
                          </a:solidFill>
                          <a:latin typeface="Arial"/>
                        </a:rPr>
                        <a:t>₹400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+6.3</a:t>
                      </a:r>
                    </a:p>
                  </a:txBody>
                  <a:tcPr marL="54864" marR="54864" marT="27432" marB="27432" anchor="ctr">
                    <a:solidFill>
                      <a:srgbClr val="CBCC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+8.3</a:t>
                      </a:r>
                    </a:p>
                  </a:txBody>
                  <a:tcPr marL="54864" marR="54864" marT="27432" marB="27432" anchor="ctr">
                    <a:solidFill>
                      <a:srgbClr val="CDC1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+10.3</a:t>
                      </a:r>
                    </a:p>
                  </a:txBody>
                  <a:tcPr marL="54864" marR="54864" marT="27432" marB="27432" anchor="ctr">
                    <a:solidFill>
                      <a:srgbClr val="D0B6A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001D57"/>
                          </a:solidFill>
                          <a:latin typeface="Arial"/>
                        </a:rPr>
                        <a:t>₹600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+8.5</a:t>
                      </a:r>
                    </a:p>
                  </a:txBody>
                  <a:tcPr marL="54864" marR="54864" marT="27432" marB="27432" anchor="ctr">
                    <a:solidFill>
                      <a:srgbClr val="CEC0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+11.9</a:t>
                      </a:r>
                    </a:p>
                  </a:txBody>
                  <a:tcPr marL="54864" marR="54864" marT="27432" marB="27432" anchor="ctr">
                    <a:solidFill>
                      <a:srgbClr val="D2A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+15.4</a:t>
                      </a:r>
                    </a:p>
                  </a:txBody>
                  <a:tcPr marL="54864" marR="54864" marT="27432" marB="27432" anchor="ctr">
                    <a:solidFill>
                      <a:srgbClr val="D79C8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001D57"/>
                          </a:solidFill>
                          <a:latin typeface="Arial"/>
                        </a:rPr>
                        <a:t>₹800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+10.7</a:t>
                      </a:r>
                    </a:p>
                  </a:txBody>
                  <a:tcPr marL="54864" marR="54864" marT="27432" marB="27432" anchor="ctr">
                    <a:solidFill>
                      <a:srgbClr val="D1B5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+15.6</a:t>
                      </a:r>
                    </a:p>
                  </a:txBody>
                  <a:tcPr marL="54864" marR="54864" marT="27432" marB="27432" anchor="ctr">
                    <a:solidFill>
                      <a:srgbClr val="D79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300">
                          <a:solidFill>
                            <a:srgbClr val="3D3D3B"/>
                          </a:solidFill>
                          <a:latin typeface="Arial"/>
                        </a:rPr>
                        <a:t>+20.5</a:t>
                      </a:r>
                    </a:p>
                  </a:txBody>
                  <a:tcPr marL="54864" marR="54864" marT="27432" marB="27432" anchor="ctr">
                    <a:solidFill>
                      <a:srgbClr val="DE816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121640" y="5760720"/>
            <a:ext cx="466344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Every cell is positive: the conversion never saves money against CNG in this horizon. Higher mileage makes it worse while hydrogen is dearer than ₹188/kg.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Against a petrol-only donor, fuel parity sits at ₹368/kg, inside the 2030 forecast range, but a ₹60,000 CNG conversion beats it wherever CNG exists. LNG passenger cars do not exist in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8275320"/>
            <a:ext cx="17373600" cy="73152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400">
                <a:solidFill>
                  <a:srgbClr val="0B3D2E"/>
                </a:solidFill>
                <a:latin typeface="Arial"/>
              </a:rPr>
              <a:t>Reading: the retrofit is a decarbonisation cost, not a saving. It needs a paying counterparty (policy or a corporate abatement budget) or a far cheaper hydrogen molecule than any 2030 forecast found (CEEW ₹360/kg delivered; record refinery-gate tender ₹279/kg before compression and dispensing).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CNG and petrol prices Sep 2026 [W4-S16, S19]; DERC EV tariff and public charging [W4-S20, S21]; BEV prices and tests [W3-S27, S30]; battery warranties and degradation [W4-S26, S27]; NITI Aayog taxi mileage [W4-S30]; CEEW 2025 delivered hydrogen [W4-S22]; Numaligarh tender ₹279/kg [W3-S39]; carbon credit prices [W4-S73]; model workbook (TCO, Sensitivities, BOM).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Fuel supply: a 30-car pilot needs about 60 kg a day; delivered hydrogen costs about ₹1,433/kg at a pilot point and about ₹584/kg at a 2030 hub at 70 percent 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Pilot setting: Faridabad, Delhi-NCR. IOCL R&amp;D dispensed hydrogen for the 2022 Mirai pilot and its fuel-cell buses; the MNRE Sahibabad-Faridabad-Delhi corridor was sanctioned in March 2025 (18 to 24 months to commission). No station is public or confirmed available: access is a proposed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6309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812280"/>
            <a:ext cx="630936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Production ₹400/kg (2026-28) and ₹240/kg (2030) from CEEW, IEA and SIGHT auction evidence; capex ₹10 crore (pilot) and ₹12 crore (hub) recovered over 10 years at 12 percent. CEEW's central 2030 case is ₹360/kg at a 1,000 kg/day station; ours is deliberately conservative.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2194560"/>
          <a:ext cx="5120639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42910"/>
                <a:gridCol w="247772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Station sizing from the fleet (pilot)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30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Cars x km/day x kg/km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30 x 167 x 0.0185 x 0.65 share = 60 kg/day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Fills per day; peak-window rate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60 fills; 10 per hour in a 3 h start-of-shift window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Dispenser positions (6 fills/h each)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Compressor throughput (16 h/day, 150 kg/day design)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9.4 kg/h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Cascade storage buffer (1.5 days)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90 kg at 450 bar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Tube-trailer deliveries (300 kg payload)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1.4 per week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Utilisation from cars alone; assumed with bus and truck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40 percent; 50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Planned downtime, supply interruption cover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Buffer covers 1.5 days; petrol backup covers the rest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001D57"/>
                          </a:solidFill>
                          <a:latin typeface="Arial"/>
                        </a:rPr>
                        <a:t>Cars one 2030 hub can serve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50">
                          <a:solidFill>
                            <a:srgbClr val="3D3D3B"/>
                          </a:solidFill>
                          <a:latin typeface="Arial"/>
                        </a:rPr>
                        <a:t>174 at 70 percent utilisation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390120" y="2194560"/>
            <a:ext cx="539496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2390120" y="2404872"/>
            <a:ext cx="5394960" cy="21031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2390120" y="2194560"/>
            <a:ext cx="5394960" cy="420624"/>
          </a:xfrm>
          <a:prstGeom prst="roundRect">
            <a:avLst>
              <a:gd name="adj" fmla="val 18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63272" y="2194560"/>
            <a:ext cx="524865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WHO DOES WHAT (proposed, not committed)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9848" y="2688336"/>
            <a:ext cx="5175504" cy="41879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Vehicles: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fleet partner owns and operates; programme buy-back guarantee on residual value.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Kits: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SRDI-led consortium owns during the pilot; kit integrator warrants parts and workmanship.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Station: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oil marketing company partner (proposed IOCL, Faridabad) owns and operates under a PESO Form-H licence; take-or-pay from the fleet covers utilisation risk.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Fuel: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certified green hydrogen (2 kg CO2e/kg standard) by tube trailer from a SIGHT-awarded producer; delivered price is a programme cost during the pilot.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Service: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two hydrogen-ready workshops with trained staff; 3-yearly cylinder tests at a PESO-approved station.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Risk carriers: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development (programme); utilisation (station partner with take-or-pay); residual value (fleet, backed by buy-back).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7863840"/>
            <a:ext cx="17373600" cy="91440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350">
                <a:solidFill>
                  <a:srgbClr val="3D3D3B"/>
                </a:solidFill>
                <a:latin typeface="Arial"/>
              </a:rPr>
              <a:t>Utilisation alone cannot close the gap: at 95 percent utilisation the hub price is still about ₹524/kg, and CNG parity (₹188/kg) is out of reach because production, transport and compression alone exceed it. Delivered versus on-site electrolysis: delivered hydrogen keeps the pilot's capital to a dispensing point; an electrolyser is justified only at hub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MNRE pilot corridors, PIB 3 Mar 2025 [W3-S36]; IOCL Faridabad dispensing [W3-S46, W4-S81]; CEEW 2025 station model [W4-S22]; ICCT station cost by utilisation [W4-S46]; Indian station capex indication [W4-S56]; green hydrogen cost evidence [W4-S33, S38, S57]; Gas Cylinder Rules and Form-H [W2-S24, S27]; model workbook (H2_Supply).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900">
                <a:solidFill>
                  <a:srgbClr val="002444"/>
                </a:solidFill>
                <a:latin typeface="Arial"/>
              </a:rPr>
              <a:t>Roadmap to 2030: four gated phases, ₹37.6 crore including contingency, with a proceed, redesign or stop decision at each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600">
                <a:solidFill>
                  <a:srgbClr val="3D3D3B"/>
                </a:solidFill>
                <a:latin typeface="Arial"/>
              </a:rPr>
              <a:t>Calendar phases from October 2026; each phase ends with evidence, not a date. Suzuki R&amp;D Center India is proposed as engineering lead; public support is sought under the MNRE transport pilot scheme, which names 4-wheelers.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Pentagon 5"/>
          <p:cNvSpPr/>
          <p:nvPr/>
        </p:nvSpPr>
        <p:spPr>
          <a:xfrm>
            <a:off x="502920" y="2194560"/>
            <a:ext cx="3520440" cy="731520"/>
          </a:xfrm>
          <a:prstGeom prst="homePlate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228600" tIns="18288" rIns="137160" bIns="18288"/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Arial"/>
              </a:rPr>
              <a:t>PHASE 0  Oct 2026 to Mar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sz="1300">
                <a:solidFill>
                  <a:srgbClr val="001D57"/>
                </a:solidFill>
                <a:latin typeface="Arial"/>
              </a:rPr>
              <a:t>Feasibility and validation</a:t>
            </a:r>
            <a:r>
              <a:rPr b="0" i="0" sz="1300">
                <a:solidFill>
                  <a:srgbClr val="001D57"/>
                </a:solidFill>
                <a:latin typeface="Arial"/>
              </a:rPr>
              <a:t>  |  ₹0.9 cr</a:t>
            </a:r>
          </a:p>
        </p:txBody>
      </p:sp>
      <p:sp>
        <p:nvSpPr>
          <p:cNvPr id="8" name="Chevron 7"/>
          <p:cNvSpPr/>
          <p:nvPr/>
        </p:nvSpPr>
        <p:spPr>
          <a:xfrm>
            <a:off x="3913632" y="2194560"/>
            <a:ext cx="3520440" cy="731520"/>
          </a:xfrm>
          <a:prstGeom prst="chevron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228600" tIns="18288" rIns="137160" bIns="18288"/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Arial"/>
              </a:rPr>
              <a:t>PHASE 1  Apr 2027 to Mar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297180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sz="1300">
                <a:solidFill>
                  <a:srgbClr val="001D57"/>
                </a:solidFill>
                <a:latin typeface="Arial"/>
              </a:rPr>
              <a:t>Engineering and controlled validation</a:t>
            </a:r>
            <a:r>
              <a:rPr b="0" i="0" sz="1300">
                <a:solidFill>
                  <a:srgbClr val="001D57"/>
                </a:solidFill>
                <a:latin typeface="Arial"/>
              </a:rPr>
              <a:t>  |  ₹8.5 cr</a:t>
            </a:r>
          </a:p>
        </p:txBody>
      </p:sp>
      <p:sp>
        <p:nvSpPr>
          <p:cNvPr id="10" name="Chevron 9"/>
          <p:cNvSpPr/>
          <p:nvPr/>
        </p:nvSpPr>
        <p:spPr>
          <a:xfrm>
            <a:off x="7324344" y="2194560"/>
            <a:ext cx="3520440" cy="731520"/>
          </a:xfrm>
          <a:prstGeom prst="chevron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228600" tIns="18288" rIns="137160" bIns="18288"/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Arial"/>
              </a:rPr>
              <a:t>PHASE 2  Apr 2028 to Mar 2029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5784" y="297180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sz="1300">
                <a:solidFill>
                  <a:srgbClr val="001D57"/>
                </a:solidFill>
                <a:latin typeface="Arial"/>
              </a:rPr>
              <a:t>Certification and pilot build</a:t>
            </a:r>
            <a:r>
              <a:rPr b="0" i="0" sz="1300">
                <a:solidFill>
                  <a:srgbClr val="001D57"/>
                </a:solidFill>
                <a:latin typeface="Arial"/>
              </a:rPr>
              <a:t>  |  ₹15.2 cr</a:t>
            </a:r>
          </a:p>
        </p:txBody>
      </p:sp>
      <p:sp>
        <p:nvSpPr>
          <p:cNvPr id="12" name="Chevron 11"/>
          <p:cNvSpPr/>
          <p:nvPr/>
        </p:nvSpPr>
        <p:spPr>
          <a:xfrm>
            <a:off x="10735056" y="2194560"/>
            <a:ext cx="3520440" cy="731520"/>
          </a:xfrm>
          <a:prstGeom prst="chevron">
            <a:avLst/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228600" tIns="18288" rIns="137160" bIns="18288"/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Arial"/>
              </a:rPr>
              <a:t>PHASE 3  Apr 2029 to Sep 2030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297180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sz="1300">
                <a:solidFill>
                  <a:srgbClr val="001D57"/>
                </a:solidFill>
                <a:latin typeface="Arial"/>
              </a:rPr>
              <a:t>Pilot operation and evaluation</a:t>
            </a:r>
            <a:r>
              <a:rPr b="0" i="0" sz="1300">
                <a:solidFill>
                  <a:srgbClr val="001D57"/>
                </a:solidFill>
                <a:latin typeface="Arial"/>
              </a:rPr>
              <a:t>  |  ₹8.1 cr</a:t>
            </a:r>
          </a:p>
        </p:txBody>
      </p:sp>
      <p:sp>
        <p:nvSpPr>
          <p:cNvPr id="14" name="Chevron 13"/>
          <p:cNvSpPr/>
          <p:nvPr/>
        </p:nvSpPr>
        <p:spPr>
          <a:xfrm>
            <a:off x="14145768" y="2194560"/>
            <a:ext cx="3520440" cy="731520"/>
          </a:xfrm>
          <a:prstGeom prst="chevron">
            <a:avLst/>
          </a:prstGeom>
          <a:solidFill>
            <a:srgbClr val="0B3D2E"/>
          </a:solidFill>
          <a:ln>
            <a:noFill/>
          </a:ln>
          <a:effectLst/>
        </p:spPr>
        <p:txBody>
          <a:bodyPr rtlCol="0" anchor="ctr" wrap="square" lIns="228600" tIns="18288" rIns="137160" bIns="18288"/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Arial"/>
              </a:rPr>
              <a:t>PHASE 4  from Oct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37208" y="297180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sz="1300">
                <a:solidFill>
                  <a:srgbClr val="001D57"/>
                </a:solidFill>
                <a:latin typeface="Arial"/>
              </a:rPr>
              <a:t>Expansion only if gate 4 passes</a:t>
            </a:r>
            <a:r>
              <a:rPr b="0" i="0" sz="1300">
                <a:solidFill>
                  <a:srgbClr val="001D57"/>
                </a:solidFill>
                <a:latin typeface="Arial"/>
              </a:rPr>
              <a:t>  |  conditional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474720"/>
          <a:ext cx="17282156" cy="39959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08120"/>
                <a:gridCol w="3114807"/>
                <a:gridCol w="3416240"/>
                <a:gridCol w="3114807"/>
                <a:gridCol w="3516718"/>
                <a:gridCol w="241146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Phase 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Phase 1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Phase 2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Phase 3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Phase 4 (conditional)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Written regulator and test-agency view on the retrofit route; 30 fleet interviews and telematics on 20 cars; boot mock-up and CAD packaging; station partner letter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500 h hydrogen engine test-cell programme; 3 converted prototypes; storage qualification (burst, cycling, bonfire, drop); vehicle leak, ventilation and crash-structure tests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Kit type approval under the agreed route; 80,000 km durability on 2 cars; 30 conversions; dispensing point commissioned; 2 workshops upgraded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18 months of operation with 10 CNG and 10 BEV comparison cars; quarterly emission tests; independent evaluation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1,000 to 1,500 cars at up to 8 hub stations; localised cylinders and kit production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Accountable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SRDI engineering lead; ARAI or ICAT; PESO liaison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SRDI with a test-cell partner (HORIBA Chakan or ARAI); cylinder supplier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Kit integrator; ARAI or ICAT; OMC station partner; fleet partner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Fleet partner operations; independent evaluator (IIT or CEEW); SRDI data team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Consortium and public programme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Dependencies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Regulator engagement; fleet 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Car-size cylinder samples (Luxfer, Quantum, NPROXX, Time Technoplast); hydrogen injectors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MNRE pilot sanction; PESO approvals; corridor station 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Fuel supply contract; insurer endorsement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Delivered hydrogen price; policy 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Gate and decision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Gate 1: route defined, partner secured, demand evidence from 3 fleets. Otherwise stop.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Gate 2: consumption at or below 2.2 kg/100 km, NOx at or below 60 mg/km on cycle, no abnormal combustion in 500 h, safety tests passed. Otherwise redesign once, then stop.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Gate 3: approval granted and station commissioned within 6 months of plan. Otherwise pause.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Gate 4 (Sep 2030): availability 95 percent or better, zero reportable hydrogen incidents, measured ₹/km published, delivered hydrogen at or below ₹250/kg with a credible path to ₹190/kg. Otherwise stop and publish.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Proceed only with fuel price and approval in place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7726679"/>
          <a:ext cx="11521439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834579"/>
                <a:gridCol w="1843430"/>
                <a:gridCol w="184343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Proposed funding split (not committed)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₹ crore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Suzuki R&amp;D Center India and Maruti Suzuki: engineering, prototypes, test cells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40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15.0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Public support sought: MNRE transport pilot scheme (4-wheelers named) or R&amp;D scheme, state hydrogen policy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35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13.1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Oil marketing company partner: dispensing 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15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5.6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Fleet partner: vehicles, drivers, operations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10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Total to September 2030 (incl. 15 percent contingency)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100">
                          <a:solidFill>
                            <a:srgbClr val="3D3D3B"/>
                          </a:solidFill>
                          <a:latin typeface="Arial"/>
                        </a:rPr>
                        <a:t>100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100">
                          <a:solidFill>
                            <a:srgbClr val="3D3D3B"/>
                          </a:solidFill>
                          <a:latin typeface="Arial"/>
                        </a:rPr>
                        <a:t>37.6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12252960" y="7726679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250">
                <a:solidFill>
                  <a:srgbClr val="0B3D2E"/>
                </a:solidFill>
                <a:latin typeface="Arial"/>
              </a:rPr>
              <a:t>Why Suzuki's role is plausible: CNG engine and calibration know-how, a 70 percent share of India's CNG cars, and its own hydrogen combustion work (Swift prototype with AVL, 2026; Burgman). This is a proposal; no endorsement is implied.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MNRE scheme guidelines, PIB 14 Feb 2024 (buses, trucks and 4-wheelers) [PIB PRID 2006052]; ARAI Phase-II call for proposals (Sep to Dec 2025); HORIBA and ARAI hydrogen test facilities [W4-S14, S15]; CNG kit approval precedent [W2-S3, S8]; PESO rules [W2-S24]; model workbook (Pilot_Budget).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2444"/>
                </a:solidFill>
                <a:latin typeface="Arial"/>
              </a:rPr>
              <a:t>Expected impact is real but small by 2030; the decision requested is ₹0.9 crore for Phase 0, which buys the facts that decide whether ₹37.6 crore is worth spending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800">
                <a:solidFill>
                  <a:srgbClr val="3D3D3B"/>
                </a:solidFill>
                <a:latin typeface="Arial"/>
              </a:rPr>
              <a:t>Bounded outcomes at matched service (same car, same duty), with the assumptions under which each conclusion reverses.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02996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172199"/>
            <a:ext cx="603504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Green-hydrogen retrofit: 35 percent below CNG (petrol backup km included). Grid-electrolysis hydrogen would be 533 g/km, four times worse than CNG. Reversal thresholds: hydrogen above 5.9 kg CO2e/kg makes the retrofit worse than CNG; grid below 0.29 kg/kWh at the meter makes the BEV cleaner than the green-hydrogen retrofit (CEA path reaches about 0.5 by 2032).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NOx is the other tailpipe issue: zero CO2 on hydrogen km does not mean zero pollutants.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194560"/>
          <a:ext cx="576072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0270"/>
                <a:gridCol w="1440180"/>
                <a:gridCol w="216027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Bounded outcome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Pilot (30 cars)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50">
                          <a:solidFill>
                            <a:srgbClr val="FFFFFF"/>
                          </a:solidFill>
                          <a:latin typeface="Arial"/>
                        </a:rPr>
                        <a:t>2030 conditional (about 1,400 cars)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CO2e avoided per year (green hydrogen)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78 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3,645 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Hydrogen demand per year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20 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924 t (about one hub station)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Conversion kits sold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30 (₹7.7 lakh each)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about 1,400 (₹3.2 lakh each, ₹45 crore)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001D57"/>
                          </a:solidFill>
                          <a:latin typeface="Arial"/>
                        </a:rPr>
                        <a:t>Round 1 claim for 2030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200">
                          <a:solidFill>
                            <a:srgbClr val="3D3D3B"/>
                          </a:solidFill>
                          <a:latin typeface="Arial"/>
                        </a:rPr>
                        <a:t>1,00,000 cars; 0.9 Mt CO2; 15,000 t/yr hydrogen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4663440"/>
            <a:ext cx="57607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766560" y="4873752"/>
            <a:ext cx="5760720" cy="21031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766560" y="4663440"/>
            <a:ext cx="5760720" cy="420624"/>
          </a:xfrm>
          <a:prstGeom prst="roundRect">
            <a:avLst>
              <a:gd name="adj" fmla="val 18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39712" y="4663440"/>
            <a:ext cx="561441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TOP REMAINING UNCERTAINTIES (ranked)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5157216"/>
            <a:ext cx="5541264" cy="2450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1. Delivered hydrogen price: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₹360 to ₹1,430/kg across sources and our build-up; the single variable that decides everything.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2. Approval route: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none exists; timing depends on AISC, MoRTH and PESO.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3. NOx on transients: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lean burn is clean at steady state only; aftertreatment and cycle results pending.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4. Car-size cylinder supply and PESO approval: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only 150 to 250 L truck cylinders approved in India so far.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5. Customer demand: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a hypothesis until Phase 0 interviews; power loss and boot loss may be refused.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55880" y="2194560"/>
            <a:ext cx="5029200" cy="5486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755880" y="2404872"/>
            <a:ext cx="5029200" cy="21031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2755880" y="2194560"/>
            <a:ext cx="5029200" cy="420624"/>
          </a:xfrm>
          <a:prstGeom prst="roundRect">
            <a:avLst>
              <a:gd name="adj" fmla="val 18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29032" y="2194560"/>
            <a:ext cx="488289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DECISION REQUESTED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65608" y="2688336"/>
            <a:ext cx="4809744" cy="4919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Approve Phase 0 (₹0.9 crore, six months)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and the four-gate framework; no commitment beyond gate 1.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Endorse an application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under the MNRE transport pilot scheme (4-wheeler category) with ARAI as implementing agency, and a Gujarat hydrogen-station subsidy request for the second hub.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Nominate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an SRDI engineering lead and a fleet and fuel partner shortlist (proposed: IOCL Faridabad, PSU and airport-contract fleets).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Start the HCNG step in parallel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where a CGD company can blend to IS 17314: legal since 2020, no vehicle change, about 6 percent of energy from hydrogen, an air-quality measure rather than a decarbonisation step.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50">
                <a:solidFill>
                  <a:srgbClr val="3D3D3B"/>
                </a:solidFill>
                <a:latin typeface="Arial"/>
              </a:rPr>
              <a:t>•  </a:t>
            </a:r>
            <a:r>
              <a:rPr b="1" sz="1250">
                <a:solidFill>
                  <a:srgbClr val="3D3D3B"/>
                </a:solidFill>
                <a:latin typeface="Arial"/>
              </a:rPr>
              <a:t>What would make us stop:</a:t>
            </a:r>
            <a:r>
              <a:rPr b="0" i="0" sz="1250">
                <a:solidFill>
                  <a:srgbClr val="3D3D3B"/>
                </a:solidFill>
                <a:latin typeface="Arial"/>
              </a:rPr>
              <a:t> no regulator route by March 2027; NOx or backfire not controlled in 500 h; delivered hydrogen still above ₹250/kg with no path to ₹190/kg in 2030; fleets unwilling to accept a 48 percent power loss and a smaller boot.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8412480"/>
            <a:ext cx="17282160" cy="640080"/>
          </a:xfrm>
          <a:prstGeom prst="roundRect">
            <a:avLst>
              <a:gd name="adj" fmla="val 20000"/>
            </a:avLst>
          </a:prstGeom>
          <a:solidFill>
            <a:srgbClr val="0B3D2E"/>
          </a:solidFill>
          <a:ln>
            <a:noFill/>
          </a:ln>
          <a:effectLst/>
        </p:spPr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Arial"/>
              </a:rPr>
              <a:t>H2-SHIFT keeps India's hydrogen retrofit option open at low cost, tells the truth about price, and hands the 2030 scale decision to evidence instead of ambition.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Sources: CEA CO2 baseline v21 and National Electricity Plan [W4-S59, S60]; IPCC fuel factors [W4-S62]; ICCT 2025 lifecycle factors and battery footprint [W4-S63]; hydrogen carbon intensities [W4-S64, S65]; DOE NOx page [W2-S52]; MNRE scheme scope, PIB 14 Feb 2024; Gujarat policy [W4-S76]; H-CNG notification GSR 585(E) [W2-S1]; model workbook (Emissions, Market, Pilot_Budget).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45389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3200">
                <a:solidFill>
                  <a:srgbClr val="002444"/>
                </a:solidFill>
                <a:latin typeface="Arial"/>
              </a:rPr>
              <a:t>Key sources and annexure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481328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800">
                <a:solidFill>
                  <a:srgbClr val="3D3D3B"/>
                </a:solidFill>
                <a:latin typeface="Arial"/>
              </a:rPr>
              <a:t>Research cut-off 14 September 2026. Full register of 300 plus entries with URLs, dates, sections and limitations is in the annexure and the workbook (Sources sheet).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0" y="320040"/>
            <a:ext cx="2651760" cy="9144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3000" b="1" i="1">
                <a:solidFill>
                  <a:srgbClr val="15448C"/>
                </a:solidFill>
                <a:latin typeface="Arial"/>
              </a:rPr>
              <a:t>H</a:t>
            </a:r>
            <a:r>
              <a:rPr sz="30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30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30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664208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28800"/>
            <a:ext cx="11338560" cy="74980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1. PIB, MNRE, 'Pilot Projects on Hydrogen Fuelled Buses and Trucks Launched under the NGHM', 3 Mar 2025 (PRID 2107795): 5 projects, 37 vehicles, 9 stations, 10 routes incl. Sahibabad-Faridabad-Delhi, ₹208 crore.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2. PIB, MNRE, 'Scheme Guidelines for Pilot Projects on use of Green Hydrogen in the Transport Sector', 14 Feb 2024 (PRID 2006052): buses, trucks and 4-wheelers; ₹496 crore; PIB 29 Jul 2026: 12 projects, 70 vehicles, 16 stations, ₹410.77 crore.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3. MoRTH, GSR 746(E), 16 Oct 2023: CMVR Rule 125M, AIS 195:2023 for hydrogen ICE vehicles of categories M and N; ARAI AIS-195 with Amendment 1 (May 2025); AIS 157:2020 (GSR 579(E), 23 Sep 2020), scope excludes retrofitted or converted fuel-cell vehicles.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4. DPIIT/PESO, Gas Cylinders (Amendment) Rules 2025, GSR 225(E), 11 Apr 2025: on-board hydrogen cylinders, 3-yearly testing, 15-year life; PESO Form-H online licensing for hydrogen dispensing, May 2025.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5. MoRTH, GSR 585(E), 25 Sep 2020: H-CNG per IS 17314:2019 added to CMVR Rule 115; IOCL and DTC 50-bus HCNG trial, Oct 2020.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6. PNGRB citing Vahan (Aug 2025): 81.95 lakh CNG vehicles (Mar 2025); MoPNG: 8,150 plus CNG stations, 17,700 to 18,000 targeted by 2030; IGL, MGL, MNGL price notices Sep 2026.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7. Maruti Suzuki specifications and releases (Tour S, Dzire, WagonR, Ertiga, Eeco); Maruti CNG sales FY25 6.12 to 6.2 lakh, FY26 above 7 lakh; Suzuki Growth Strategy FY2030.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8. Luxfer G-Stor Pro H2 specification table (V060H35: 60 L, 350 bar, 36 kg, 1.45 kg); Hexagon Purus Type 4 table (Rev 08/22); US DOE Records 19008 and 24006 on Type IV storage cost.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9. US DOE and H2Tools: hydrogen properties; 'Does the use of hydrogen produce NOx'; NFPA 2 (2023); UN GTR 13 Amendment 1 (2023) and UN R134; SAE J2601 (2020); ISO 19881:2025; ISO 14687.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10. CEEW (2025) India hydrogen and EV TCO model: delivered green hydrogen USD 4.2/kg in 2030; ICCT (2022, 2025): station cost by utilisation, lifecycle factors; IEA Global Hydrogen Review 2025; NITI Aayog (Feb 2026) taxi mileage 70,000 km/yr.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11. CEA CO2 Baseline Database v21 (FY2024-25, 0.710 t/MWh) and National Electricity Plan 2022-32; IPCC 2006 fuel factors; MNRE Green Hydrogen Standard (2 kg CO2e/kg).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12. Global programmes: Toyota (Mirai, HiAce, GR Corolla), Hyundai Nexo, KEYOU, ULEMCo, JCB, Cummins B6.7H India, Stellantis (Jul 2025), Shell California (Feb 2024), H2 Mobility Germany (2025); Suzuki-AVL hydrogen Swift, Vienna Motor Symposium, May 2026 (Fuel Cells Works, RushLane).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b="0" i="0" sz="1300">
                <a:solidFill>
                  <a:srgbClr val="3D3D3B"/>
                </a:solidFill>
                <a:latin typeface="Arial"/>
              </a:rPr>
              <a:t>13. Delhi Motor Vehicle Aggregator and Delivery Service Provider Scheme 2023; Delhi EV Policy 2026; CAQM NCR direction (Jan 2026); Gujarat Green Hydrogen Policy 2025; Maharashtra Green Hydrogen Policy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70080" y="1828800"/>
            <a:ext cx="57150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2070080" y="2039112"/>
            <a:ext cx="5715000" cy="21031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2070080" y="1828800"/>
            <a:ext cx="5715000" cy="420624"/>
          </a:xfrm>
          <a:prstGeom prst="roundRect">
            <a:avLst>
              <a:gd name="adj" fmla="val 18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143232" y="1828800"/>
            <a:ext cx="5568696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Arial"/>
              </a:rPr>
              <a:t>ANNEXURE INDEX (separate PDF and workbook)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9808" y="2322576"/>
            <a:ext cx="5495544" cy="45537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A1  Claim audit: Round 1 versus evidence, with corrections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A2  Assumptions, evidence classes and full source register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A3  Cost model: BOM, TCO, break-even, sensitivities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A4  Packaging, energy balance and performance calculations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A5  Regulatory compliance matrix and hazard analysis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A6  Market sizing method and bottom-up funnel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A7  Global benchmark evidence (progress and setbacks)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A8  Pilot design, instrumentation and first 90 days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A9  Phase budgets, responsibilities and funding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A10 Judge Q&amp;A, validation log and change log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Workbook: H2SHIFT_model.xlsx (11 sheets, formula-driven, recalculated)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7132320"/>
            <a:ext cx="5715000" cy="210312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250">
                <a:solidFill>
                  <a:srgbClr val="3D3D3B"/>
                </a:solidFill>
                <a:latin typeface="Arial"/>
              </a:rPr>
              <a:t>Evidence discipline: every headline number traces to a source ID (verified), a workbook cell (model) or a stated assumption. Many original documents were inaccessible through the build environment's network policy; such entries are marked 'excerpt' or 'summary' in the register and should be re-verified before external use. No customer interviews, letters of interest, test results or partnerships are claimed.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9619488"/>
            <a:ext cx="13350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787974"/>
                </a:solidFill>
                <a:latin typeface="Arial"/>
              </a:rPr>
              <a:t>Team Wookies, NIT Warangal. SRDI Igniters Innovation Challenge 2026, Engineering Track, Option 2: Hydrogen Retrofit Solution. Round 2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0" y="9802368"/>
            <a:ext cx="548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