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SAM</c:v>
                </c:pt>
              </c:strCache>
            </c:strRef>
          </c:tx>
          <c:spPr>
            <a:solidFill>
              <a:srgbClr val="1568DC"/>
            </a:solidFill>
            <a:effectLst/>
          </c:spPr>
          <c:invertIfNegative val="0"/>
          <c:dLbls>
            <c:numFmt formatCode="0.#" sourceLinked="0"/>
            <c:txPr>
              <a:bodyPr/>
              <a:lstStyle/>
              <a:p>
                <a:pPr>
                  <a:defRPr b="0" i="0" strike="noStrike" sz="800" u="none">
                    <a:solidFill>
                      <a:srgbClr val="0C3E86"/>
                    </a:solidFill>
                    <a:latin typeface="Arial"/>
                  </a:defRPr>
                </a:pPr>
              </a:p>
            </c:txPr>
            <c:showLegendKey val="0"/>
            <c:showVal val="1"/>
            <c:showCatName val="0"/>
            <c:showSerName val="0"/>
            <c:showPercent val="0"/>
            <c:showBubbleSize val="0"/>
            <c:showLeaderLines val="0"/>
          </c:dLbls>
          <c:cat>
            <c:multiLvlStrRef>
              <c:f>Sheet1!$A$2:$A$8</c:f>
              <c:multiLvlStrCache>
                <c:ptCount val="7"/>
                <c:lvl>
                  <c:pt idx="0">
                    <c:v>Residential developers</c:v>
                  </c:pt>
                  <c:pt idx="1">
                    <c:v>Hospitality</c:v>
                  </c:pt>
                  <c:pt idx="2">
                    <c:v>Bio-digesters (retail)</c:v>
                  </c:pt>
                  <c:pt idx="3">
                    <c:v>Hospitals</c:v>
                  </c:pt>
                  <c:pt idx="4">
                    <c:v>Societies retrofit</c:v>
                  </c:pt>
                  <c:pt idx="5">
                    <c:v>Education &amp; CSR</c:v>
                  </c:pt>
                  <c:pt idx="6">
                    <c:v>Commercial</c:v>
                  </c:pt>
                </c:lvl>
              </c:multiLvlStrCache>
            </c:multiLvlStrRef>
          </c:cat>
          <c:val>
            <c:numRef>
              <c:f>Sheet1!$B$2:$B$8</c:f>
              <c:numCache>
                <c:formatCode>General</c:formatCode>
                <c:ptCount val="7"/>
                <c:pt idx="0">
                  <c:v>96.8</c:v>
                </c:pt>
                <c:pt idx="1">
                  <c:v>27.5</c:v>
                </c:pt>
                <c:pt idx="2">
                  <c:v>20.9</c:v>
                </c:pt>
                <c:pt idx="3">
                  <c:v>8.6</c:v>
                </c:pt>
                <c:pt idx="4">
                  <c:v>5.9</c:v>
                </c:pt>
                <c:pt idx="5">
                  <c:v>3.4</c:v>
                </c:pt>
                <c:pt idx="6">
                  <c:v>2.4</c:v>
                </c:pt>
              </c:numCache>
            </c:numRef>
          </c:val>
        </c:ser>
        <c:dLbls>
          <c:numFmt formatCode="0.#" sourceLinked="0"/>
          <c:txPr>
            <a:bodyPr/>
            <a:lstStyle/>
            <a:p>
              <a:pPr>
                <a:defRPr b="0" i="0" strike="noStrike" sz="800" u="none">
                  <a:solidFill>
                    <a:srgbClr val="0C3E86"/>
                  </a:solidFill>
                  <a:latin typeface="Arial"/>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16202B"/>
                </a:solidFill>
                <a:latin typeface="Arial"/>
              </a:defRPr>
            </a:pPr>
            <a:endParaRPr lang="en-US"/>
          </a:p>
        </c:txPr>
        <c:crossAx val="2094734552"/>
        <c:crosses val="autoZero"/>
        <c:auto val="1"/>
        <c:lblAlgn val="ctr"/>
        <c:noMultiLvlLbl val="1"/>
      </c:catAx>
      <c:valAx>
        <c:axId val="2094734552"/>
        <c:scaling>
          <c:orientation val="minMax"/>
          <c:max val="1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Existing base (5%/yr)</c:v>
                </c:pt>
              </c:strCache>
            </c:strRef>
          </c:tx>
          <c:spPr>
            <a:solidFill>
              <a:srgbClr val="1568DC"/>
            </a:solidFill>
            <a:effectLst/>
          </c:spPr>
          <c:invertIfNegative val="0"/>
          <c:dLbls>
            <c:numFmt formatCode="0.#;;" sourceLinked="0"/>
            <c:txPr>
              <a:bodyPr/>
              <a:lstStyle/>
              <a:p>
                <a:pPr>
                  <a:defRPr b="0" i="0" strike="noStrike" sz="68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Sheet1!$B$2:$B$5</c:f>
              <c:numCache>
                <c:formatCode>General</c:formatCode>
                <c:ptCount val="4"/>
                <c:pt idx="0">
                  <c:v>11.7</c:v>
                </c:pt>
                <c:pt idx="1">
                  <c:v>12.3</c:v>
                </c:pt>
                <c:pt idx="2">
                  <c:v>12.9</c:v>
                </c:pt>
                <c:pt idx="3">
                  <c:v>13.5</c:v>
                </c:pt>
              </c:numCache>
            </c:numRef>
          </c:val>
        </c:ser>
        <c:ser>
          <c:idx val="1"/>
          <c:order val="1"/>
          <c:tx>
            <c:strRef>
              <c:f>Sheet1!$C$1</c:f>
              <c:strCache>
                <c:ptCount val="1"/>
                <c:pt idx="0">
                  <c:v>New private-market</c:v>
                </c:pt>
              </c:strCache>
            </c:strRef>
          </c:tx>
          <c:spPr>
            <a:solidFill>
              <a:srgbClr val="ED9B12"/>
            </a:solidFill>
            <a:effectLst/>
          </c:spPr>
          <c:invertIfNegative val="0"/>
          <c:dLbls>
            <c:numFmt formatCode="0.#;;" sourceLinked="0"/>
            <c:txPr>
              <a:bodyPr/>
              <a:lstStyle/>
              <a:p>
                <a:pPr>
                  <a:defRPr b="0" i="0" strike="noStrike" sz="68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FY26</c:v>
                  </c:pt>
                  <c:pt idx="1">
                    <c:v>FY27</c:v>
                  </c:pt>
                  <c:pt idx="2">
                    <c:v>FY28</c:v>
                  </c:pt>
                  <c:pt idx="3">
                    <c:v>FY29</c:v>
                  </c:pt>
                </c:lvl>
              </c:multiLvlStrCache>
            </c:multiLvlStrRef>
          </c:cat>
          <c:val>
            <c:numRef>
              <c:f>Sheet1!$C$2:$C$5</c:f>
              <c:numCache>
                <c:formatCode>General</c:formatCode>
                <c:ptCount val="4"/>
                <c:pt idx="0">
                  <c:v>0</c:v>
                </c:pt>
                <c:pt idx="1">
                  <c:v>2.4</c:v>
                </c:pt>
                <c:pt idx="2">
                  <c:v>6.4</c:v>
                </c:pt>
                <c:pt idx="3">
                  <c:v>11.9</c:v>
                </c:pt>
              </c:numCache>
            </c:numRef>
          </c:val>
        </c:ser>
        <c:dLbls>
          <c:numFmt formatCode="0.#;;" sourceLinked="0"/>
          <c:txPr>
            <a:bodyPr/>
            <a:lstStyle/>
            <a:p>
              <a:pPr>
                <a:defRPr b="0" i="0" strike="noStrike" sz="680" u="none">
                  <a:solidFill>
                    <a:srgbClr val="FFFFFF"/>
                  </a:solidFill>
                  <a:latin typeface="Arial"/>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6202B"/>
                </a:solidFill>
                <a:latin typeface="Arial"/>
              </a:defRPr>
            </a:pPr>
            <a:endParaRPr lang="en-US"/>
          </a:p>
        </c:txPr>
        <c:crossAx val="2094734552"/>
        <c:crosses val="autoZero"/>
        <c:auto val="1"/>
        <c:lblAlgn val="ctr"/>
        <c:noMultiLvlLbl val="1"/>
      </c:catAx>
      <c:valAx>
        <c:axId val="2094734552"/>
        <c:scaling>
          <c:orientation val="minMax"/>
          <c:max val="3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700">
              <a:solidFill>
                <a:srgbClr val="16202B"/>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Evaluated</c:v>
                </c:pt>
              </c:strCache>
            </c:strRef>
          </c:tx>
          <c:spPr>
            <a:solidFill>
              <a:srgbClr val="A9C7EF"/>
            </a:solidFill>
            <a:effectLst/>
          </c:spPr>
          <c:invertIfNegative val="0"/>
          <c:dLbls>
            <c:numFmt formatCode="0.00;;" sourceLinked="0"/>
            <c:txPr>
              <a:bodyPr/>
              <a:lstStyle/>
              <a:p>
                <a:pPr>
                  <a:defRPr b="0" i="0" strike="noStrike" sz="74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Biogas &amp; nutrient recovery</c:v>
                  </c:pt>
                  <c:pt idx="1">
                    <c:v>Sludge / faecal-sludge svcs</c:v>
                  </c:pt>
                  <c:pt idx="2">
                    <c:v>Water-as-a-service (BOOT)</c:v>
                  </c:pt>
                  <c:pt idx="3">
                    <c:v>Constructed wetlands / DEWATS</c:v>
                  </c:pt>
                  <c:pt idx="4">
                    <c:v>MBR premium line</c:v>
                  </c:pt>
                  <c:pt idx="5">
                    <c:v>Advanced disinfection</c:v>
                  </c:pt>
                  <c:pt idx="6">
                    <c:v>Greywater recycling</c:v>
                  </c:pt>
                  <c:pt idx="7">
                    <c:v>Water-reuse module (tertiary)</c:v>
                  </c:pt>
                  <c:pt idx="8">
                    <c:v>IoT monitoring &amp; dashboards</c:v>
                  </c:pt>
                  <c:pt idx="9">
                    <c:v>STP retrofit + O&amp;M takeover</c:v>
                  </c:pt>
                </c:lvl>
              </c:multiLvlStrCache>
            </c:multiLvlStrRef>
          </c:cat>
          <c:val>
            <c:numRef>
              <c:f>Sheet1!$B$2:$B$11</c:f>
              <c:numCache>
                <c:formatCode>General</c:formatCode>
                <c:ptCount val="10"/>
                <c:pt idx="0">
                  <c:v>2.3</c:v>
                </c:pt>
                <c:pt idx="1">
                  <c:v>3</c:v>
                </c:pt>
                <c:pt idx="2">
                  <c:v>3.05</c:v>
                </c:pt>
                <c:pt idx="3">
                  <c:v>3.2</c:v>
                </c:pt>
                <c:pt idx="4">
                  <c:v>3.2</c:v>
                </c:pt>
                <c:pt idx="5">
                  <c:v>3.55</c:v>
                </c:pt>
                <c:pt idx="6">
                  <c:v>3.55</c:v>
                </c:pt>
                <c:pt idx="7">
                  <c:v/>
                </c:pt>
                <c:pt idx="8">
                  <c:v/>
                </c:pt>
                <c:pt idx="9">
                  <c:v/>
                </c:pt>
              </c:numCache>
            </c:numRef>
          </c:val>
        </c:ser>
        <c:ser>
          <c:idx val="1"/>
          <c:order val="1"/>
          <c:tx>
            <c:strRef>
              <c:f>Sheet1!$C$1</c:f>
              <c:strCache>
                <c:ptCount val="1"/>
                <c:pt idx="0">
                  <c:v>Selected</c:v>
                </c:pt>
              </c:strCache>
            </c:strRef>
          </c:tx>
          <c:spPr>
            <a:solidFill>
              <a:srgbClr val="1568DC"/>
            </a:solidFill>
            <a:effectLst/>
          </c:spPr>
          <c:invertIfNegative val="0"/>
          <c:dLbls>
            <c:numFmt formatCode="0.00;;" sourceLinked="0"/>
            <c:txPr>
              <a:bodyPr/>
              <a:lstStyle/>
              <a:p>
                <a:pPr>
                  <a:defRPr b="0" i="0" strike="noStrike" sz="74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Biogas &amp; nutrient recovery</c:v>
                  </c:pt>
                  <c:pt idx="1">
                    <c:v>Sludge / faecal-sludge svcs</c:v>
                  </c:pt>
                  <c:pt idx="2">
                    <c:v>Water-as-a-service (BOOT)</c:v>
                  </c:pt>
                  <c:pt idx="3">
                    <c:v>Constructed wetlands / DEWATS</c:v>
                  </c:pt>
                  <c:pt idx="4">
                    <c:v>MBR premium line</c:v>
                  </c:pt>
                  <c:pt idx="5">
                    <c:v>Advanced disinfection</c:v>
                  </c:pt>
                  <c:pt idx="6">
                    <c:v>Greywater recycling</c:v>
                  </c:pt>
                  <c:pt idx="7">
                    <c:v>Water-reuse module (tertiary)</c:v>
                  </c:pt>
                  <c:pt idx="8">
                    <c:v>IoT monitoring &amp; dashboards</c:v>
                  </c:pt>
                  <c:pt idx="9">
                    <c:v>STP retrofit + O&amp;M takeover</c:v>
                  </c:pt>
                </c:lvl>
              </c:multiLvlStrCache>
            </c:multiLvlStrRef>
          </c:cat>
          <c:val>
            <c:numRef>
              <c:f>Sheet1!$C$2:$C$11</c:f>
              <c:numCache>
                <c:formatCode>General</c:formatCode>
                <c:ptCount val="10"/>
                <c:pt idx="0">
                  <c:v/>
                </c:pt>
                <c:pt idx="1">
                  <c:v/>
                </c:pt>
                <c:pt idx="2">
                  <c:v/>
                </c:pt>
                <c:pt idx="3">
                  <c:v/>
                </c:pt>
                <c:pt idx="4">
                  <c:v/>
                </c:pt>
                <c:pt idx="5">
                  <c:v/>
                </c:pt>
                <c:pt idx="6">
                  <c:v/>
                </c:pt>
                <c:pt idx="7">
                  <c:v>4.3</c:v>
                </c:pt>
                <c:pt idx="8">
                  <c:v>4.55</c:v>
                </c:pt>
                <c:pt idx="9">
                  <c:v>4.65</c:v>
                </c:pt>
              </c:numCache>
            </c:numRef>
          </c:val>
        </c:ser>
        <c:dLbls>
          <c:numFmt formatCode="0.00;;" sourceLinked="0"/>
          <c:txPr>
            <a:bodyPr/>
            <a:lstStyle/>
            <a:p>
              <a:pPr>
                <a:defRPr b="0" i="0" strike="noStrike" sz="740" u="none">
                  <a:solidFill>
                    <a:srgbClr val="FFFFFF"/>
                  </a:solidFill>
                  <a:latin typeface="Arial"/>
                </a:defRPr>
              </a:pPr>
            </a:p>
          </c:txPr>
          <c:dLblPos val="ctr"/>
          <c:showLegendKey val="0"/>
          <c:showVal val="1"/>
          <c:showCatName val="0"/>
          <c:showSerName val="0"/>
          <c:showPercent val="0"/>
          <c:showBubbleSize val="0"/>
          <c:showLeaderLines val="0"/>
        </c:dLbls>
        <c:gapWidth val="36"/>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60" b="0" i="0" u="none" strike="noStrike">
                <a:solidFill>
                  <a:srgbClr val="16202B"/>
                </a:solidFill>
                <a:latin typeface="Arial"/>
              </a:defRPr>
            </a:pPr>
            <a:endParaRPr lang="en-US"/>
          </a:p>
        </c:txPr>
        <c:crossAx val="2094734552"/>
        <c:crosses val="autoZero"/>
        <c:auto val="1"/>
        <c:lblAlgn val="ctr"/>
        <c:noMultiLvlLbl val="1"/>
      </c:catAx>
      <c:valAx>
        <c:axId val="2094734552"/>
        <c:scaling>
          <c:orientation val="minMax"/>
          <c:max val="5.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slideLayout" Target="../slideLayouts/slideLayout1.xml"/><Relationship Id="rId1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image" Target="../media/image-3-15.png"/><Relationship Id="rId16" Type="http://schemas.openxmlformats.org/officeDocument/2006/relationships/image" Target="../media/image-3-16.png"/><Relationship Id="rId17" Type="http://schemas.openxmlformats.org/officeDocument/2006/relationships/image" Target="../media/image-3-17.png"/><Relationship Id="rId18" Type="http://schemas.openxmlformats.org/officeDocument/2006/relationships/image" Target="../media/image-3-18.png"/><Relationship Id="rId19" Type="http://schemas.openxmlformats.org/officeDocument/2006/relationships/image" Target="../media/image-3-19.png"/><Relationship Id="rId20" Type="http://schemas.openxmlformats.org/officeDocument/2006/relationships/image" Target="../media/image-3-20.png"/><Relationship Id="rId21" Type="http://schemas.openxmlformats.org/officeDocument/2006/relationships/image" Target="../media/image-3-21.png"/><Relationship Id="rId22" Type="http://schemas.openxmlformats.org/officeDocument/2006/relationships/image" Target="../media/image-3-22.png"/><Relationship Id="rId23" Type="http://schemas.openxmlformats.org/officeDocument/2006/relationships/image" Target="../media/image-3-23.png"/><Relationship Id="rId24" Type="http://schemas.openxmlformats.org/officeDocument/2006/relationships/image" Target="../media/image-3-24.png"/><Relationship Id="rId25" Type="http://schemas.openxmlformats.org/officeDocument/2006/relationships/image" Target="../media/image-3-25.png"/><Relationship Id="rId26" Type="http://schemas.openxmlformats.org/officeDocument/2006/relationships/image" Target="../media/image-3-26.png"/><Relationship Id="rId27" Type="http://schemas.openxmlformats.org/officeDocument/2006/relationships/image" Target="../media/image-3-27.png"/><Relationship Id="rId28" Type="http://schemas.openxmlformats.org/officeDocument/2006/relationships/slideLayout" Target="../slideLayouts/slideLayout1.xml"/><Relationship Id="rId2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6"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 Id="rId10" Type="http://schemas.openxmlformats.org/officeDocument/2006/relationships/image" Target="../media/image-4-9.png"/><Relationship Id="rId11" Type="http://schemas.openxmlformats.org/officeDocument/2006/relationships/image" Target="../media/image-4-10.png"/><Relationship Id="rId12" Type="http://schemas.openxmlformats.org/officeDocument/2006/relationships/image" Target="../media/image-4-11.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3" Type="http://schemas.openxmlformats.org/officeDocument/2006/relationships/chart" Target="/ppt/charts/chart2.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image" Target="../media/image-5-21.png"/><Relationship Id="rId22" Type="http://schemas.openxmlformats.org/officeDocument/2006/relationships/image" Target="../media/image-5-22.png"/><Relationship Id="rId24" Type="http://schemas.openxmlformats.org/officeDocument/2006/relationships/image" Target="../media/image-5-23.png"/><Relationship Id="rId25" Type="http://schemas.openxmlformats.org/officeDocument/2006/relationships/slideLayout" Target="../slideLayouts/slideLayout1.xml"/><Relationship Id="rId2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image" Target="../media/image-7-9.png"/><Relationship Id="rId11" Type="http://schemas.openxmlformats.org/officeDocument/2006/relationships/image" Target="../media/image-7-10.png"/><Relationship Id="rId12" Type="http://schemas.openxmlformats.org/officeDocument/2006/relationships/image" Target="../media/image-7-11.png"/><Relationship Id="rId13" Type="http://schemas.openxmlformats.org/officeDocument/2006/relationships/image" Target="../media/image-7-12.png"/><Relationship Id="rId14" Type="http://schemas.openxmlformats.org/officeDocument/2006/relationships/image" Target="../media/image-7-13.png"/><Relationship Id="rId15" Type="http://schemas.openxmlformats.org/officeDocument/2006/relationships/image" Target="../media/image-7-14.png"/><Relationship Id="rId16" Type="http://schemas.openxmlformats.org/officeDocument/2006/relationships/image" Target="../media/image-7-15.png"/><Relationship Id="rId17" Type="http://schemas.openxmlformats.org/officeDocument/2006/relationships/image" Target="../media/image-7-16.png"/><Relationship Id="rId18" Type="http://schemas.openxmlformats.org/officeDocument/2006/relationships/image" Target="../media/image-7-17.png"/><Relationship Id="rId19" Type="http://schemas.openxmlformats.org/officeDocument/2006/relationships/image" Target="../media/image-7-18.png"/><Relationship Id="rId20" Type="http://schemas.openxmlformats.org/officeDocument/2006/relationships/image" Target="../media/image-7-19.png"/><Relationship Id="rId21" Type="http://schemas.openxmlformats.org/officeDocument/2006/relationships/image" Target="../media/image-7-20.png"/><Relationship Id="rId22" Type="http://schemas.openxmlformats.org/officeDocument/2006/relationships/image" Target="../media/image-7-21.png"/><Relationship Id="rId23" Type="http://schemas.openxmlformats.org/officeDocument/2006/relationships/image" Target="../media/image-7-22.png"/><Relationship Id="rId24" Type="http://schemas.openxmlformats.org/officeDocument/2006/relationships/slideLayout" Target="../slideLayouts/slideLayout1.xml"/><Relationship Id="rId2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rot="1440000">
            <a:off x="8595360" y="-1463040"/>
            <a:ext cx="6583680" cy="4937760"/>
          </a:xfrm>
          <a:prstGeom prst="rect">
            <a:avLst/>
          </a:prstGeom>
          <a:solidFill>
            <a:srgbClr val="E8F1FC"/>
          </a:solidFill>
          <a:ln/>
        </p:spPr>
      </p:sp>
      <p:sp>
        <p:nvSpPr>
          <p:cNvPr id="3" name="Shape 1"/>
          <p:cNvSpPr/>
          <p:nvPr/>
        </p:nvSpPr>
        <p:spPr>
          <a:xfrm rot="1440000">
            <a:off x="9692640" y="2377440"/>
            <a:ext cx="5852160" cy="4206240"/>
          </a:xfrm>
          <a:prstGeom prst="rect">
            <a:avLst/>
          </a:prstGeom>
          <a:solidFill>
            <a:srgbClr val="1568DC"/>
          </a:solidFill>
          <a:ln/>
        </p:spPr>
      </p:sp>
      <p:sp>
        <p:nvSpPr>
          <p:cNvPr id="4" name="Shape 2"/>
          <p:cNvSpPr/>
          <p:nvPr/>
        </p:nvSpPr>
        <p:spPr>
          <a:xfrm rot="1440000">
            <a:off x="7818120" y="5120640"/>
            <a:ext cx="3108960" cy="2377440"/>
          </a:xfrm>
          <a:prstGeom prst="rect">
            <a:avLst/>
          </a:prstGeom>
          <a:solidFill>
            <a:srgbClr val="E4F5EB"/>
          </a:solidFill>
          <a:ln/>
        </p:spPr>
      </p:sp>
      <p:sp>
        <p:nvSpPr>
          <p:cNvPr id="5" name="Shape 3"/>
          <p:cNvSpPr/>
          <p:nvPr/>
        </p:nvSpPr>
        <p:spPr>
          <a:xfrm>
            <a:off x="8138160" y="566928"/>
            <a:ext cx="146304" cy="146304"/>
          </a:xfrm>
          <a:prstGeom prst="ellipse">
            <a:avLst/>
          </a:prstGeom>
          <a:solidFill>
            <a:srgbClr val="ED9B12"/>
          </a:solidFill>
          <a:ln/>
        </p:spPr>
      </p:sp>
      <p:pic>
        <p:nvPicPr>
          <p:cNvPr id="6" name="Image 0" descr="preencoded.png">    </p:cNvPr>
          <p:cNvPicPr>
            <a:picLocks noChangeAspect="1"/>
          </p:cNvPicPr>
          <p:nvPr/>
        </p:nvPicPr>
        <p:blipFill>
          <a:blip r:embed="rId1">
            <a:alphaModFix amt="82000"/>
          </a:blip>
          <a:stretch>
            <a:fillRect/>
          </a:stretch>
        </p:blipFill>
        <p:spPr>
          <a:xfrm>
            <a:off x="10561320" y="3977640"/>
            <a:ext cx="777240" cy="777240"/>
          </a:xfrm>
          <a:prstGeom prst="rect">
            <a:avLst/>
          </a:prstGeom>
        </p:spPr>
      </p:pic>
      <p:sp>
        <p:nvSpPr>
          <p:cNvPr id="7" name="Shape 4"/>
          <p:cNvSpPr/>
          <p:nvPr/>
        </p:nvSpPr>
        <p:spPr>
          <a:xfrm>
            <a:off x="8229600" y="960120"/>
            <a:ext cx="2286000" cy="841248"/>
          </a:xfrm>
          <a:prstGeom prst="roundRect">
            <a:avLst>
              <a:gd name="adj" fmla="val 869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pic>
        <p:nvPicPr>
          <p:cNvPr id="8" name="Image 1" descr="preencoded.png">    </p:cNvPr>
          <p:cNvPicPr>
            <a:picLocks noChangeAspect="1"/>
          </p:cNvPicPr>
          <p:nvPr/>
        </p:nvPicPr>
        <p:blipFill>
          <a:blip r:embed="rId2"/>
          <a:stretch>
            <a:fillRect/>
          </a:stretch>
        </p:blipFill>
        <p:spPr>
          <a:xfrm>
            <a:off x="8375904" y="1197864"/>
            <a:ext cx="365760" cy="365760"/>
          </a:xfrm>
          <a:prstGeom prst="rect">
            <a:avLst/>
          </a:prstGeom>
        </p:spPr>
      </p:pic>
      <p:sp>
        <p:nvSpPr>
          <p:cNvPr id="9" name="Text 5"/>
          <p:cNvSpPr txBox="1"/>
          <p:nvPr/>
        </p:nvSpPr>
        <p:spPr>
          <a:xfrm>
            <a:off x="8851392" y="1069848"/>
            <a:ext cx="1600200" cy="329184"/>
          </a:xfrm>
          <a:prstGeom prst="rect">
            <a:avLst/>
          </a:prstGeom>
          <a:noFill/>
          <a:ln/>
        </p:spPr>
        <p:txBody>
          <a:bodyPr wrap="square" lIns="0" tIns="0" rIns="0" bIns="0" rtlCol="0" anchor="ctr"/>
          <a:lstStyle/>
          <a:p>
            <a:pPr indent="0" marL="0">
              <a:buNone/>
            </a:pPr>
            <a:r>
              <a:rPr lang="en-US" sz="1650" b="1" dirty="0">
                <a:solidFill>
                  <a:srgbClr val="0C3E86"/>
                </a:solidFill>
                <a:latin typeface="Arial" pitchFamily="34" charset="0"/>
                <a:ea typeface="Arial" pitchFamily="34" charset="-122"/>
                <a:cs typeface="Arial" pitchFamily="34" charset="-120"/>
              </a:rPr>
              <a:t>₹270 cr/yr</a:t>
            </a:r>
            <a:endParaRPr lang="en-US" sz="1650" dirty="0"/>
          </a:p>
        </p:txBody>
      </p:sp>
      <p:sp>
        <p:nvSpPr>
          <p:cNvPr id="10" name="Text 6"/>
          <p:cNvSpPr txBox="1"/>
          <p:nvPr/>
        </p:nvSpPr>
        <p:spPr>
          <a:xfrm>
            <a:off x="8851392" y="1399032"/>
            <a:ext cx="1627632" cy="329184"/>
          </a:xfrm>
          <a:prstGeom prst="rect">
            <a:avLst/>
          </a:prstGeom>
          <a:noFill/>
          <a:ln/>
        </p:spPr>
        <p:txBody>
          <a:bodyPr wrap="square" lIns="0" tIns="0" rIns="0" bIns="0" rtlCol="0" anchor="ctr"/>
          <a:lstStyle/>
          <a:p>
            <a:pPr indent="0" marL="0">
              <a:lnSpc>
                <a:spcPct val="100000"/>
              </a:lnSpc>
              <a:buNone/>
            </a:pPr>
            <a:r>
              <a:rPr lang="en-US" sz="780" dirty="0">
                <a:solidFill>
                  <a:srgbClr val="55616D"/>
                </a:solidFill>
                <a:latin typeface="Arial" pitchFamily="34" charset="0"/>
                <a:ea typeface="Arial" pitchFamily="34" charset="-122"/>
                <a:cs typeface="Arial" pitchFamily="34" charset="-120"/>
              </a:rPr>
              <a:t>private-pay TAM, 3 states</a:t>
            </a:r>
            <a:endParaRPr lang="en-US" sz="780" dirty="0"/>
          </a:p>
        </p:txBody>
      </p:sp>
      <p:sp>
        <p:nvSpPr>
          <p:cNvPr id="11" name="Shape 7"/>
          <p:cNvSpPr/>
          <p:nvPr/>
        </p:nvSpPr>
        <p:spPr>
          <a:xfrm>
            <a:off x="9098280" y="2240280"/>
            <a:ext cx="2286000" cy="841248"/>
          </a:xfrm>
          <a:prstGeom prst="roundRect">
            <a:avLst>
              <a:gd name="adj" fmla="val 869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pic>
        <p:nvPicPr>
          <p:cNvPr id="12" name="Image 2" descr="preencoded.png">    </p:cNvPr>
          <p:cNvPicPr>
            <a:picLocks noChangeAspect="1"/>
          </p:cNvPicPr>
          <p:nvPr/>
        </p:nvPicPr>
        <p:blipFill>
          <a:blip r:embed="rId3"/>
          <a:stretch>
            <a:fillRect/>
          </a:stretch>
        </p:blipFill>
        <p:spPr>
          <a:xfrm>
            <a:off x="9244584" y="2478024"/>
            <a:ext cx="365760" cy="365760"/>
          </a:xfrm>
          <a:prstGeom prst="rect">
            <a:avLst/>
          </a:prstGeom>
        </p:spPr>
      </p:pic>
      <p:sp>
        <p:nvSpPr>
          <p:cNvPr id="13" name="Text 8"/>
          <p:cNvSpPr txBox="1"/>
          <p:nvPr/>
        </p:nvSpPr>
        <p:spPr>
          <a:xfrm>
            <a:off x="9720072" y="2350008"/>
            <a:ext cx="1600200" cy="329184"/>
          </a:xfrm>
          <a:prstGeom prst="rect">
            <a:avLst/>
          </a:prstGeom>
          <a:noFill/>
          <a:ln/>
        </p:spPr>
        <p:txBody>
          <a:bodyPr wrap="square" lIns="0" tIns="0" rIns="0" bIns="0" rtlCol="0" anchor="ctr"/>
          <a:lstStyle/>
          <a:p>
            <a:pPr indent="0" marL="0">
              <a:buNone/>
            </a:pPr>
            <a:r>
              <a:rPr lang="en-US" sz="1650" b="1" dirty="0">
                <a:solidFill>
                  <a:srgbClr val="0C3E86"/>
                </a:solidFill>
                <a:latin typeface="Arial" pitchFamily="34" charset="0"/>
                <a:ea typeface="Arial" pitchFamily="34" charset="-122"/>
                <a:cs typeface="Arial" pitchFamily="34" charset="-120"/>
              </a:rPr>
              <a:t>3 buyers</a:t>
            </a:r>
            <a:endParaRPr lang="en-US" sz="1650" dirty="0"/>
          </a:p>
        </p:txBody>
      </p:sp>
      <p:sp>
        <p:nvSpPr>
          <p:cNvPr id="14" name="Text 9"/>
          <p:cNvSpPr txBox="1"/>
          <p:nvPr/>
        </p:nvSpPr>
        <p:spPr>
          <a:xfrm>
            <a:off x="9720072" y="2679192"/>
            <a:ext cx="1627632" cy="329184"/>
          </a:xfrm>
          <a:prstGeom prst="rect">
            <a:avLst/>
          </a:prstGeom>
          <a:noFill/>
          <a:ln/>
        </p:spPr>
        <p:txBody>
          <a:bodyPr wrap="square" lIns="0" tIns="0" rIns="0" bIns="0" rtlCol="0" anchor="ctr"/>
          <a:lstStyle/>
          <a:p>
            <a:pPr indent="0" marL="0">
              <a:lnSpc>
                <a:spcPct val="100000"/>
              </a:lnSpc>
              <a:buNone/>
            </a:pPr>
            <a:r>
              <a:rPr lang="en-US" sz="780" dirty="0">
                <a:solidFill>
                  <a:srgbClr val="55616D"/>
                </a:solidFill>
                <a:latin typeface="Arial" pitchFamily="34" charset="0"/>
                <a:ea typeface="Arial" pitchFamily="34" charset="-122"/>
                <a:cs typeface="Arial" pitchFamily="34" charset="-120"/>
              </a:rPr>
              <a:t>one 250 km service corridor</a:t>
            </a:r>
            <a:endParaRPr lang="en-US" sz="780" dirty="0"/>
          </a:p>
        </p:txBody>
      </p:sp>
      <p:sp>
        <p:nvSpPr>
          <p:cNvPr id="15" name="Shape 10"/>
          <p:cNvSpPr/>
          <p:nvPr/>
        </p:nvSpPr>
        <p:spPr>
          <a:xfrm>
            <a:off x="7863840" y="3520440"/>
            <a:ext cx="2286000" cy="841248"/>
          </a:xfrm>
          <a:prstGeom prst="roundRect">
            <a:avLst>
              <a:gd name="adj" fmla="val 869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pic>
        <p:nvPicPr>
          <p:cNvPr id="16" name="Image 3" descr="preencoded.png">    </p:cNvPr>
          <p:cNvPicPr>
            <a:picLocks noChangeAspect="1"/>
          </p:cNvPicPr>
          <p:nvPr/>
        </p:nvPicPr>
        <p:blipFill>
          <a:blip r:embed="rId4"/>
          <a:stretch>
            <a:fillRect/>
          </a:stretch>
        </p:blipFill>
        <p:spPr>
          <a:xfrm>
            <a:off x="8010144" y="3758184"/>
            <a:ext cx="365760" cy="365760"/>
          </a:xfrm>
          <a:prstGeom prst="rect">
            <a:avLst/>
          </a:prstGeom>
        </p:spPr>
      </p:pic>
      <p:sp>
        <p:nvSpPr>
          <p:cNvPr id="17" name="Text 11"/>
          <p:cNvSpPr txBox="1"/>
          <p:nvPr/>
        </p:nvSpPr>
        <p:spPr>
          <a:xfrm>
            <a:off x="8485632" y="3630168"/>
            <a:ext cx="1600200" cy="329184"/>
          </a:xfrm>
          <a:prstGeom prst="rect">
            <a:avLst/>
          </a:prstGeom>
          <a:noFill/>
          <a:ln/>
        </p:spPr>
        <p:txBody>
          <a:bodyPr wrap="square" lIns="0" tIns="0" rIns="0" bIns="0" rtlCol="0" anchor="ctr"/>
          <a:lstStyle/>
          <a:p>
            <a:pPr indent="0" marL="0">
              <a:buNone/>
            </a:pPr>
            <a:r>
              <a:rPr lang="en-US" sz="1650" b="1" dirty="0">
                <a:solidFill>
                  <a:srgbClr val="0C3E86"/>
                </a:solidFill>
                <a:latin typeface="Arial" pitchFamily="34" charset="0"/>
                <a:ea typeface="Arial" pitchFamily="34" charset="-122"/>
                <a:cs typeface="Arial" pitchFamily="34" charset="-120"/>
              </a:rPr>
              <a:t>₹25.4 cr</a:t>
            </a:r>
            <a:endParaRPr lang="en-US" sz="1650" dirty="0"/>
          </a:p>
        </p:txBody>
      </p:sp>
      <p:sp>
        <p:nvSpPr>
          <p:cNvPr id="18" name="Text 12"/>
          <p:cNvSpPr txBox="1"/>
          <p:nvPr/>
        </p:nvSpPr>
        <p:spPr>
          <a:xfrm>
            <a:off x="8485632" y="3959352"/>
            <a:ext cx="1627632" cy="329184"/>
          </a:xfrm>
          <a:prstGeom prst="rect">
            <a:avLst/>
          </a:prstGeom>
          <a:noFill/>
          <a:ln/>
        </p:spPr>
        <p:txBody>
          <a:bodyPr wrap="square" lIns="0" tIns="0" rIns="0" bIns="0" rtlCol="0" anchor="ctr"/>
          <a:lstStyle/>
          <a:p>
            <a:pPr indent="0" marL="0">
              <a:lnSpc>
                <a:spcPct val="100000"/>
              </a:lnSpc>
              <a:buNone/>
            </a:pPr>
            <a:r>
              <a:rPr lang="en-US" sz="780" dirty="0">
                <a:solidFill>
                  <a:srgbClr val="55616D"/>
                </a:solidFill>
                <a:latin typeface="Arial" pitchFamily="34" charset="0"/>
                <a:ea typeface="Arial" pitchFamily="34" charset="-122"/>
                <a:cs typeface="Arial" pitchFamily="34" charset="-120"/>
              </a:rPr>
              <a:t>FY29 revenue, 2.2× FY26</a:t>
            </a:r>
            <a:endParaRPr lang="en-US" sz="780" dirty="0"/>
          </a:p>
        </p:txBody>
      </p:sp>
      <p:sp>
        <p:nvSpPr>
          <p:cNvPr id="19" name="Shape 13"/>
          <p:cNvSpPr/>
          <p:nvPr/>
        </p:nvSpPr>
        <p:spPr>
          <a:xfrm>
            <a:off x="502920" y="457200"/>
            <a:ext cx="457200" cy="457200"/>
          </a:xfrm>
          <a:prstGeom prst="roundRect">
            <a:avLst>
              <a:gd name="adj" fmla="val 24000"/>
            </a:avLst>
          </a:prstGeom>
          <a:solidFill>
            <a:srgbClr val="E8F1FC"/>
          </a:solidFill>
          <a:ln/>
        </p:spPr>
      </p:sp>
      <p:pic>
        <p:nvPicPr>
          <p:cNvPr id="20" name="Image 4" descr="preencoded.png">    </p:cNvPr>
          <p:cNvPicPr>
            <a:picLocks noChangeAspect="1"/>
          </p:cNvPicPr>
          <p:nvPr/>
        </p:nvPicPr>
        <p:blipFill>
          <a:blip r:embed="rId5"/>
          <a:stretch>
            <a:fillRect/>
          </a:stretch>
        </p:blipFill>
        <p:spPr>
          <a:xfrm>
            <a:off x="598932" y="553212"/>
            <a:ext cx="265176" cy="265176"/>
          </a:xfrm>
          <a:prstGeom prst="rect">
            <a:avLst/>
          </a:prstGeom>
        </p:spPr>
      </p:pic>
      <p:sp>
        <p:nvSpPr>
          <p:cNvPr id="21" name="Text 14"/>
          <p:cNvSpPr txBox="1"/>
          <p:nvPr/>
        </p:nvSpPr>
        <p:spPr>
          <a:xfrm>
            <a:off x="1078992" y="457200"/>
            <a:ext cx="5029200" cy="292608"/>
          </a:xfrm>
          <a:prstGeom prst="rect">
            <a:avLst/>
          </a:prstGeom>
          <a:noFill/>
          <a:ln/>
        </p:spPr>
        <p:txBody>
          <a:bodyPr wrap="square" lIns="0" tIns="0" rIns="0" bIns="0" rtlCol="0" anchor="ctr"/>
          <a:lstStyle/>
          <a:p>
            <a:pPr indent="0" marL="0">
              <a:buNone/>
            </a:pPr>
            <a:r>
              <a:rPr lang="en-US" sz="1600" b="1" dirty="0">
                <a:solidFill>
                  <a:srgbClr val="16202B"/>
                </a:solidFill>
                <a:latin typeface="Arial" pitchFamily="34" charset="0"/>
                <a:ea typeface="Arial" pitchFamily="34" charset="-122"/>
                <a:cs typeface="Arial" pitchFamily="34" charset="-120"/>
              </a:rPr>
              <a:t>EP BIOCOMPOSITES LTD</a:t>
            </a:r>
            <a:endParaRPr lang="en-US" sz="1600" dirty="0"/>
          </a:p>
        </p:txBody>
      </p:sp>
      <p:sp>
        <p:nvSpPr>
          <p:cNvPr id="22" name="Text 15"/>
          <p:cNvSpPr txBox="1"/>
          <p:nvPr/>
        </p:nvSpPr>
        <p:spPr>
          <a:xfrm>
            <a:off x="1078992" y="749808"/>
            <a:ext cx="5029200" cy="201168"/>
          </a:xfrm>
          <a:prstGeom prst="rect">
            <a:avLst/>
          </a:prstGeom>
          <a:noFill/>
          <a:ln/>
        </p:spPr>
        <p:txBody>
          <a:bodyPr wrap="square" lIns="0" tIns="0" rIns="0" bIns="0" rtlCol="0" anchor="ctr"/>
          <a:lstStyle/>
          <a:p>
            <a:pPr indent="0" marL="0">
              <a:buNone/>
            </a:pPr>
            <a:r>
              <a:rPr lang="en-US" sz="900" dirty="0">
                <a:solidFill>
                  <a:srgbClr val="55616D"/>
                </a:solidFill>
                <a:latin typeface="Arial" pitchFamily="34" charset="0"/>
                <a:ea typeface="Arial" pitchFamily="34" charset="-122"/>
                <a:cs typeface="Arial" pitchFamily="34" charset="-120"/>
              </a:rPr>
              <a:t>EP Kamat Group  ·  BSE SME listed  ·  Bicholim, Goa</a:t>
            </a:r>
            <a:endParaRPr lang="en-US" sz="900" dirty="0"/>
          </a:p>
        </p:txBody>
      </p:sp>
      <p:sp>
        <p:nvSpPr>
          <p:cNvPr id="23" name="Shape 16"/>
          <p:cNvSpPr/>
          <p:nvPr/>
        </p:nvSpPr>
        <p:spPr>
          <a:xfrm>
            <a:off x="502920" y="1207008"/>
            <a:ext cx="2834640" cy="310896"/>
          </a:xfrm>
          <a:prstGeom prst="roundRect">
            <a:avLst>
              <a:gd name="adj" fmla="val 50000"/>
            </a:avLst>
          </a:prstGeom>
          <a:solidFill>
            <a:srgbClr val="E8F1FC"/>
          </a:solidFill>
          <a:ln/>
        </p:spPr>
      </p:sp>
      <p:sp>
        <p:nvSpPr>
          <p:cNvPr id="24" name="Text 17"/>
          <p:cNvSpPr txBox="1"/>
          <p:nvPr/>
        </p:nvSpPr>
        <p:spPr>
          <a:xfrm>
            <a:off x="502920" y="1207008"/>
            <a:ext cx="2834640" cy="310896"/>
          </a:xfrm>
          <a:prstGeom prst="rect">
            <a:avLst/>
          </a:prstGeom>
          <a:noFill/>
          <a:ln/>
        </p:spPr>
        <p:txBody>
          <a:bodyPr wrap="square" lIns="0" tIns="0" rIns="0" bIns="0" rtlCol="0" anchor="ctr"/>
          <a:lstStyle/>
          <a:p>
            <a:pPr algn="ctr" indent="0" marL="0">
              <a:buNone/>
            </a:pPr>
            <a:r>
              <a:rPr lang="en-US" sz="850" b="1" spc="120" kern="0" dirty="0">
                <a:solidFill>
                  <a:srgbClr val="1568DC"/>
                </a:solidFill>
                <a:latin typeface="Arial" pitchFamily="34" charset="0"/>
                <a:ea typeface="Arial" pitchFamily="34" charset="-122"/>
                <a:cs typeface="Arial" pitchFamily="34" charset="-120"/>
              </a:rPr>
              <a:t>CASE CONSILIUM 2026  ·  ROUND 2</a:t>
            </a:r>
            <a:endParaRPr lang="en-US" sz="850" dirty="0"/>
          </a:p>
        </p:txBody>
      </p:sp>
      <p:sp>
        <p:nvSpPr>
          <p:cNvPr id="25" name="Text 18"/>
          <p:cNvSpPr txBox="1"/>
          <p:nvPr/>
        </p:nvSpPr>
        <p:spPr>
          <a:xfrm>
            <a:off x="502920" y="2103120"/>
            <a:ext cx="7589520" cy="1463040"/>
          </a:xfrm>
          <a:prstGeom prst="rect">
            <a:avLst/>
          </a:prstGeom>
          <a:noFill/>
          <a:ln/>
        </p:spPr>
        <p:txBody>
          <a:bodyPr wrap="square" lIns="0" tIns="0" rIns="0" bIns="0" rtlCol="0" anchor="ctr"/>
          <a:lstStyle/>
          <a:p>
            <a:pPr indent="0" marL="0">
              <a:lnSpc>
                <a:spcPct val="104000"/>
              </a:lnSpc>
              <a:buNone/>
            </a:pPr>
            <a:r>
              <a:rPr lang="en-US" sz="3400" b="1" dirty="0">
                <a:solidFill>
                  <a:srgbClr val="16202B"/>
                </a:solidFill>
                <a:latin typeface="Arial" pitchFamily="34" charset="0"/>
                <a:ea typeface="Arial" pitchFamily="34" charset="-122"/>
                <a:cs typeface="Arial" pitchFamily="34" charset="-120"/>
              </a:rPr>
              <a:t>Concentrate to Conquer
</a:t>
            </a:r>
            <a:pPr indent="0" marL="0">
              <a:lnSpc>
                <a:spcPct val="104000"/>
              </a:lnSpc>
              <a:buNone/>
            </a:pPr>
            <a:r>
              <a:rPr lang="en-US" sz="3400" b="1" dirty="0">
                <a:solidFill>
                  <a:srgbClr val="1568DC"/>
                </a:solidFill>
                <a:latin typeface="Arial" pitchFamily="34" charset="0"/>
                <a:ea typeface="Arial" pitchFamily="34" charset="-122"/>
                <a:cs typeface="Arial" pitchFamily="34" charset="-120"/>
              </a:rPr>
              <a:t>the Private Wastewater Market</a:t>
            </a:r>
            <a:endParaRPr lang="en-US" sz="3400" dirty="0"/>
          </a:p>
        </p:txBody>
      </p:sp>
      <p:sp>
        <p:nvSpPr>
          <p:cNvPr id="26" name="Shape 19"/>
          <p:cNvSpPr/>
          <p:nvPr/>
        </p:nvSpPr>
        <p:spPr>
          <a:xfrm>
            <a:off x="530352" y="3639312"/>
            <a:ext cx="1005840" cy="64008"/>
          </a:xfrm>
          <a:prstGeom prst="roundRect">
            <a:avLst>
              <a:gd name="adj" fmla="val 42857"/>
            </a:avLst>
          </a:prstGeom>
          <a:solidFill>
            <a:srgbClr val="1568DC"/>
          </a:solidFill>
          <a:ln/>
        </p:spPr>
      </p:sp>
      <p:sp>
        <p:nvSpPr>
          <p:cNvPr id="27" name="Text 20"/>
          <p:cNvSpPr txBox="1"/>
          <p:nvPr/>
        </p:nvSpPr>
        <p:spPr>
          <a:xfrm>
            <a:off x="502920" y="3858768"/>
            <a:ext cx="6949440" cy="777240"/>
          </a:xfrm>
          <a:prstGeom prst="rect">
            <a:avLst/>
          </a:prstGeom>
          <a:noFill/>
          <a:ln/>
        </p:spPr>
        <p:txBody>
          <a:bodyPr wrap="square" lIns="0" tIns="0" rIns="0" bIns="0" rtlCol="0" anchor="ctr"/>
          <a:lstStyle/>
          <a:p>
            <a:pPr indent="0" marL="0">
              <a:lnSpc>
                <a:spcPct val="112000"/>
              </a:lnSpc>
              <a:buNone/>
            </a:pPr>
            <a:r>
              <a:rPr lang="en-US" sz="1300" b="1" dirty="0">
                <a:solidFill>
                  <a:srgbClr val="16202B"/>
                </a:solidFill>
                <a:latin typeface="Arial" pitchFamily="34" charset="0"/>
                <a:ea typeface="Arial" pitchFamily="34" charset="-122"/>
                <a:cs typeface="Arial" pitchFamily="34" charset="-120"/>
              </a:rPr>
              <a:t>Three compliance-driven buyers, one west-coast service corridor: ₹11.7 crore → ₹25.4 crore by FY29 on DRDO-certified bio-digesters, FRP modular STPs and recurring service revenue.</a:t>
            </a:r>
            <a:endParaRPr lang="en-US" sz="1300" dirty="0"/>
          </a:p>
        </p:txBody>
      </p:sp>
      <p:sp>
        <p:nvSpPr>
          <p:cNvPr id="28" name="Text 21"/>
          <p:cNvSpPr txBox="1"/>
          <p:nvPr/>
        </p:nvSpPr>
        <p:spPr>
          <a:xfrm>
            <a:off x="502920" y="4983480"/>
            <a:ext cx="3657600" cy="274320"/>
          </a:xfrm>
          <a:prstGeom prst="rect">
            <a:avLst/>
          </a:prstGeom>
          <a:noFill/>
          <a:ln/>
        </p:spPr>
        <p:txBody>
          <a:bodyPr wrap="square" lIns="0" tIns="0" rIns="0" bIns="0" rtlCol="0" anchor="ctr"/>
          <a:lstStyle/>
          <a:p>
            <a:pPr indent="0" marL="0">
              <a:buNone/>
            </a:pPr>
            <a:r>
              <a:rPr lang="en-US" sz="1300" b="1" spc="250" kern="0" dirty="0">
                <a:solidFill>
                  <a:srgbClr val="1568DC"/>
                </a:solidFill>
                <a:latin typeface="Arial" pitchFamily="34" charset="0"/>
                <a:ea typeface="Arial" pitchFamily="34" charset="-122"/>
                <a:cs typeface="Arial" pitchFamily="34" charset="-120"/>
              </a:rPr>
              <a:t>TEAM WOOKIES</a:t>
            </a:r>
            <a:endParaRPr lang="en-US" sz="1300" dirty="0"/>
          </a:p>
        </p:txBody>
      </p:sp>
      <p:sp>
        <p:nvSpPr>
          <p:cNvPr id="29" name="Shape 22"/>
          <p:cNvSpPr/>
          <p:nvPr/>
        </p:nvSpPr>
        <p:spPr>
          <a:xfrm>
            <a:off x="502920" y="5349240"/>
            <a:ext cx="1700784" cy="365760"/>
          </a:xfrm>
          <a:prstGeom prst="roundRect">
            <a:avLst>
              <a:gd name="adj" fmla="val 50000"/>
            </a:avLst>
          </a:prstGeom>
          <a:solidFill>
            <a:srgbClr val="F5F9FE"/>
          </a:solidFill>
          <a:ln w="9525">
            <a:solidFill>
              <a:srgbClr val="DCE5EE"/>
            </a:solidFill>
            <a:prstDash val="solid"/>
          </a:ln>
        </p:spPr>
      </p:sp>
      <p:pic>
        <p:nvPicPr>
          <p:cNvPr id="30" name="Image 5" descr="preencoded.png">    </p:cNvPr>
          <p:cNvPicPr>
            <a:picLocks noChangeAspect="1"/>
          </p:cNvPicPr>
          <p:nvPr/>
        </p:nvPicPr>
        <p:blipFill>
          <a:blip r:embed="rId6"/>
          <a:stretch>
            <a:fillRect/>
          </a:stretch>
        </p:blipFill>
        <p:spPr>
          <a:xfrm>
            <a:off x="612648" y="5440680"/>
            <a:ext cx="182880" cy="182880"/>
          </a:xfrm>
          <a:prstGeom prst="rect">
            <a:avLst/>
          </a:prstGeom>
        </p:spPr>
      </p:pic>
      <p:sp>
        <p:nvSpPr>
          <p:cNvPr id="31" name="Text 23"/>
          <p:cNvSpPr txBox="1"/>
          <p:nvPr/>
        </p:nvSpPr>
        <p:spPr>
          <a:xfrm>
            <a:off x="850392" y="5349240"/>
            <a:ext cx="1325880" cy="365760"/>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Raunak Jain</a:t>
            </a:r>
            <a:endParaRPr lang="en-US" sz="950" dirty="0"/>
          </a:p>
        </p:txBody>
      </p:sp>
      <p:sp>
        <p:nvSpPr>
          <p:cNvPr id="32" name="Shape 24"/>
          <p:cNvSpPr/>
          <p:nvPr/>
        </p:nvSpPr>
        <p:spPr>
          <a:xfrm>
            <a:off x="2313432" y="5349240"/>
            <a:ext cx="1700784" cy="365760"/>
          </a:xfrm>
          <a:prstGeom prst="roundRect">
            <a:avLst>
              <a:gd name="adj" fmla="val 50000"/>
            </a:avLst>
          </a:prstGeom>
          <a:solidFill>
            <a:srgbClr val="F5F9FE"/>
          </a:solidFill>
          <a:ln w="9525">
            <a:solidFill>
              <a:srgbClr val="DCE5EE"/>
            </a:solidFill>
            <a:prstDash val="solid"/>
          </a:ln>
        </p:spPr>
      </p:sp>
      <p:pic>
        <p:nvPicPr>
          <p:cNvPr id="33" name="Image 6" descr="preencoded.png">    </p:cNvPr>
          <p:cNvPicPr>
            <a:picLocks noChangeAspect="1"/>
          </p:cNvPicPr>
          <p:nvPr/>
        </p:nvPicPr>
        <p:blipFill>
          <a:blip r:embed="rId7"/>
          <a:stretch>
            <a:fillRect/>
          </a:stretch>
        </p:blipFill>
        <p:spPr>
          <a:xfrm>
            <a:off x="2423160" y="5440680"/>
            <a:ext cx="182880" cy="182880"/>
          </a:xfrm>
          <a:prstGeom prst="rect">
            <a:avLst/>
          </a:prstGeom>
        </p:spPr>
      </p:pic>
      <p:sp>
        <p:nvSpPr>
          <p:cNvPr id="34" name="Text 25"/>
          <p:cNvSpPr txBox="1"/>
          <p:nvPr/>
        </p:nvSpPr>
        <p:spPr>
          <a:xfrm>
            <a:off x="2660904" y="5349240"/>
            <a:ext cx="1325880" cy="365760"/>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Dhruv Mundra</a:t>
            </a:r>
            <a:endParaRPr lang="en-US" sz="950" dirty="0"/>
          </a:p>
        </p:txBody>
      </p:sp>
      <p:sp>
        <p:nvSpPr>
          <p:cNvPr id="35" name="Shape 26"/>
          <p:cNvSpPr/>
          <p:nvPr/>
        </p:nvSpPr>
        <p:spPr>
          <a:xfrm>
            <a:off x="4123944" y="5349240"/>
            <a:ext cx="1700784" cy="365760"/>
          </a:xfrm>
          <a:prstGeom prst="roundRect">
            <a:avLst>
              <a:gd name="adj" fmla="val 50000"/>
            </a:avLst>
          </a:prstGeom>
          <a:solidFill>
            <a:srgbClr val="F5F9FE"/>
          </a:solidFill>
          <a:ln w="9525">
            <a:solidFill>
              <a:srgbClr val="DCE5EE"/>
            </a:solidFill>
            <a:prstDash val="solid"/>
          </a:ln>
        </p:spPr>
      </p:sp>
      <p:pic>
        <p:nvPicPr>
          <p:cNvPr id="36" name="Image 7" descr="preencoded.png">    </p:cNvPr>
          <p:cNvPicPr>
            <a:picLocks noChangeAspect="1"/>
          </p:cNvPicPr>
          <p:nvPr/>
        </p:nvPicPr>
        <p:blipFill>
          <a:blip r:embed="rId8"/>
          <a:stretch>
            <a:fillRect/>
          </a:stretch>
        </p:blipFill>
        <p:spPr>
          <a:xfrm>
            <a:off x="4233672" y="5440680"/>
            <a:ext cx="182880" cy="182880"/>
          </a:xfrm>
          <a:prstGeom prst="rect">
            <a:avLst/>
          </a:prstGeom>
        </p:spPr>
      </p:pic>
      <p:sp>
        <p:nvSpPr>
          <p:cNvPr id="37" name="Text 27"/>
          <p:cNvSpPr txBox="1"/>
          <p:nvPr/>
        </p:nvSpPr>
        <p:spPr>
          <a:xfrm>
            <a:off x="4471416" y="5349240"/>
            <a:ext cx="1325880" cy="365760"/>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Khushi Jha</a:t>
            </a:r>
            <a:endParaRPr lang="en-US" sz="950" dirty="0"/>
          </a:p>
        </p:txBody>
      </p:sp>
      <p:sp>
        <p:nvSpPr>
          <p:cNvPr id="38" name="Shape 28"/>
          <p:cNvSpPr/>
          <p:nvPr/>
        </p:nvSpPr>
        <p:spPr>
          <a:xfrm>
            <a:off x="5934456" y="5349240"/>
            <a:ext cx="1700784" cy="365760"/>
          </a:xfrm>
          <a:prstGeom prst="roundRect">
            <a:avLst>
              <a:gd name="adj" fmla="val 50000"/>
            </a:avLst>
          </a:prstGeom>
          <a:solidFill>
            <a:srgbClr val="F5F9FE"/>
          </a:solidFill>
          <a:ln w="9525">
            <a:solidFill>
              <a:srgbClr val="DCE5EE"/>
            </a:solidFill>
            <a:prstDash val="solid"/>
          </a:ln>
        </p:spPr>
      </p:sp>
      <p:pic>
        <p:nvPicPr>
          <p:cNvPr id="39" name="Image 8" descr="preencoded.png">    </p:cNvPr>
          <p:cNvPicPr>
            <a:picLocks noChangeAspect="1"/>
          </p:cNvPicPr>
          <p:nvPr/>
        </p:nvPicPr>
        <p:blipFill>
          <a:blip r:embed="rId9"/>
          <a:stretch>
            <a:fillRect/>
          </a:stretch>
        </p:blipFill>
        <p:spPr>
          <a:xfrm>
            <a:off x="6044184" y="5440680"/>
            <a:ext cx="182880" cy="182880"/>
          </a:xfrm>
          <a:prstGeom prst="rect">
            <a:avLst/>
          </a:prstGeom>
        </p:spPr>
      </p:pic>
      <p:sp>
        <p:nvSpPr>
          <p:cNvPr id="40" name="Text 29"/>
          <p:cNvSpPr txBox="1"/>
          <p:nvPr/>
        </p:nvSpPr>
        <p:spPr>
          <a:xfrm>
            <a:off x="6281928" y="5349240"/>
            <a:ext cx="1325880" cy="365760"/>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Sambhav Khandelwal</a:t>
            </a:r>
            <a:endParaRPr lang="en-US" sz="950" dirty="0"/>
          </a:p>
        </p:txBody>
      </p:sp>
      <p:sp>
        <p:nvSpPr>
          <p:cNvPr id="41" name="Text 30"/>
          <p:cNvSpPr txBox="1"/>
          <p:nvPr/>
        </p:nvSpPr>
        <p:spPr>
          <a:xfrm>
            <a:off x="502920" y="6263640"/>
            <a:ext cx="8778240" cy="274320"/>
          </a:xfrm>
          <a:prstGeom prst="rect">
            <a:avLst/>
          </a:prstGeom>
          <a:noFill/>
          <a:ln/>
        </p:spPr>
        <p:txBody>
          <a:bodyPr wrap="square" lIns="0" tIns="0" rIns="0" bIns="0" rtlCol="0" anchor="ctr"/>
          <a:lstStyle/>
          <a:p>
            <a:pPr indent="0" marL="0">
              <a:buNone/>
            </a:pPr>
            <a:r>
              <a:rPr lang="en-US" sz="850" dirty="0">
                <a:solidFill>
                  <a:srgbClr val="8C99A6"/>
                </a:solidFill>
                <a:latin typeface="Arial" pitchFamily="34" charset="0"/>
                <a:ea typeface="Arial" pitchFamily="34" charset="-122"/>
                <a:cs typeface="Arial" pitchFamily="34" charset="-120"/>
              </a:rPr>
              <a:t>Bio-digester toilets  ·  decentralised STP / ETP  ·  wastewater reuse   |   private-pay Tier 2/3 markets of Goa, Maharashtra &amp; Karnataka</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ONE-PAGE RECOMMENDATION</a:t>
            </a:r>
            <a:endParaRPr lang="en-US" sz="950" dirty="0"/>
          </a:p>
        </p:txBody>
      </p:sp>
      <p:sp>
        <p:nvSpPr>
          <p:cNvPr id="3" name="Text 1"/>
          <p:cNvSpPr txBox="1"/>
          <p:nvPr/>
        </p:nvSpPr>
        <p:spPr>
          <a:xfrm>
            <a:off x="457200"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Executive </a:t>
            </a:r>
            <a:pPr indent="0" marL="0">
              <a:buNone/>
            </a:pPr>
            <a:r>
              <a:rPr lang="en-US" sz="2500" b="1" dirty="0">
                <a:solidFill>
                  <a:srgbClr val="1568DC"/>
                </a:solidFill>
                <a:latin typeface="Arial" pitchFamily="34" charset="0"/>
                <a:ea typeface="Arial" pitchFamily="34" charset="-122"/>
                <a:cs typeface="Arial" pitchFamily="34" charset="-120"/>
              </a:rPr>
              <a:t>Summary</a:t>
            </a:r>
            <a:endParaRPr lang="en-US" sz="2500" dirty="0"/>
          </a:p>
        </p:txBody>
      </p:sp>
      <p:sp>
        <p:nvSpPr>
          <p:cNvPr id="4" name="Shape 2"/>
          <p:cNvSpPr/>
          <p:nvPr/>
        </p:nvSpPr>
        <p:spPr>
          <a:xfrm>
            <a:off x="457200" y="969264"/>
            <a:ext cx="777240" cy="50292"/>
          </a:xfrm>
          <a:prstGeom prst="roundRect">
            <a:avLst>
              <a:gd name="adj" fmla="val 36364"/>
            </a:avLst>
          </a:prstGeom>
          <a:solidFill>
            <a:srgbClr val="1568DC"/>
          </a:solidFill>
          <a:ln/>
        </p:spPr>
      </p:sp>
      <p:sp>
        <p:nvSpPr>
          <p:cNvPr id="5" name="Text 3"/>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6" name="Text 4"/>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7" name="Shape 5"/>
          <p:cNvSpPr/>
          <p:nvPr/>
        </p:nvSpPr>
        <p:spPr>
          <a:xfrm>
            <a:off x="457200" y="1280160"/>
            <a:ext cx="2729484" cy="969264"/>
          </a:xfrm>
          <a:prstGeom prst="roundRect">
            <a:avLst>
              <a:gd name="adj" fmla="val 754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8" name="Shape 6"/>
          <p:cNvSpPr/>
          <p:nvPr/>
        </p:nvSpPr>
        <p:spPr>
          <a:xfrm>
            <a:off x="585216" y="1426464"/>
            <a:ext cx="402336" cy="402336"/>
          </a:xfrm>
          <a:prstGeom prst="roundRect">
            <a:avLst>
              <a:gd name="adj" fmla="val 24000"/>
            </a:avLst>
          </a:prstGeom>
          <a:solidFill>
            <a:srgbClr val="E8F1FC"/>
          </a:solidFill>
          <a:ln/>
        </p:spPr>
      </p:sp>
      <p:pic>
        <p:nvPicPr>
          <p:cNvPr id="9" name="Image 0" descr="preencoded.png">    </p:cNvPr>
          <p:cNvPicPr>
            <a:picLocks noChangeAspect="1"/>
          </p:cNvPicPr>
          <p:nvPr/>
        </p:nvPicPr>
        <p:blipFill>
          <a:blip r:embed="rId1"/>
          <a:stretch>
            <a:fillRect/>
          </a:stretch>
        </p:blipFill>
        <p:spPr>
          <a:xfrm>
            <a:off x="669707" y="1510955"/>
            <a:ext cx="233355" cy="233355"/>
          </a:xfrm>
          <a:prstGeom prst="rect">
            <a:avLst/>
          </a:prstGeom>
        </p:spPr>
      </p:pic>
      <p:sp>
        <p:nvSpPr>
          <p:cNvPr id="10" name="Text 7"/>
          <p:cNvSpPr txBox="1"/>
          <p:nvPr/>
        </p:nvSpPr>
        <p:spPr>
          <a:xfrm>
            <a:off x="1097280" y="1371600"/>
            <a:ext cx="1997964" cy="365760"/>
          </a:xfrm>
          <a:prstGeom prst="rect">
            <a:avLst/>
          </a:prstGeom>
          <a:noFill/>
          <a:ln/>
        </p:spPr>
        <p:txBody>
          <a:bodyPr wrap="square" lIns="0" tIns="0" rIns="0" bIns="0" rtlCol="0" anchor="ctr"/>
          <a:lstStyle/>
          <a:p>
            <a:pPr indent="0" marL="0">
              <a:buNone/>
            </a:pPr>
            <a:r>
              <a:rPr lang="en-US" sz="2000" b="1" dirty="0">
                <a:solidFill>
                  <a:srgbClr val="0C3E86"/>
                </a:solidFill>
                <a:latin typeface="Arial" pitchFamily="34" charset="0"/>
                <a:ea typeface="Arial" pitchFamily="34" charset="-122"/>
                <a:cs typeface="Arial" pitchFamily="34" charset="-120"/>
              </a:rPr>
              <a:t>₹25.4 cr</a:t>
            </a:r>
            <a:endParaRPr lang="en-US" sz="2000" dirty="0"/>
          </a:p>
        </p:txBody>
      </p:sp>
      <p:sp>
        <p:nvSpPr>
          <p:cNvPr id="11" name="Text 8"/>
          <p:cNvSpPr txBox="1"/>
          <p:nvPr/>
        </p:nvSpPr>
        <p:spPr>
          <a:xfrm>
            <a:off x="1097280" y="1737360"/>
            <a:ext cx="1997964" cy="310896"/>
          </a:xfrm>
          <a:prstGeom prst="rect">
            <a:avLst/>
          </a:prstGeom>
          <a:noFill/>
          <a:ln/>
        </p:spPr>
        <p:txBody>
          <a:bodyPr wrap="square" lIns="0" tIns="0" rIns="0" bIns="0" rtlCol="0" anchor="ctr"/>
          <a:lstStyle/>
          <a:p>
            <a:pPr indent="0" marL="0">
              <a:lnSpc>
                <a:spcPct val="100000"/>
              </a:lnSpc>
              <a:buNone/>
            </a:pPr>
            <a:r>
              <a:rPr lang="en-US" sz="800" dirty="0">
                <a:solidFill>
                  <a:srgbClr val="55616D"/>
                </a:solidFill>
                <a:latin typeface="Arial" pitchFamily="34" charset="0"/>
                <a:ea typeface="Arial" pitchFamily="34" charset="-122"/>
                <a:cs typeface="Arial" pitchFamily="34" charset="-120"/>
              </a:rPr>
              <a:t>FY29 revenue, base case (cons ₹22.1 / up ₹29.3)</a:t>
            </a:r>
            <a:endParaRPr lang="en-US" sz="800" dirty="0"/>
          </a:p>
        </p:txBody>
      </p:sp>
      <p:sp>
        <p:nvSpPr>
          <p:cNvPr id="12" name="Text 9"/>
          <p:cNvSpPr txBox="1"/>
          <p:nvPr/>
        </p:nvSpPr>
        <p:spPr>
          <a:xfrm>
            <a:off x="585216" y="2011680"/>
            <a:ext cx="2473452" cy="182880"/>
          </a:xfrm>
          <a:prstGeom prst="rect">
            <a:avLst/>
          </a:prstGeom>
          <a:noFill/>
          <a:ln/>
        </p:spPr>
        <p:txBody>
          <a:bodyPr wrap="square" lIns="0" tIns="0" rIns="0" bIns="0" rtlCol="0" anchor="ctr"/>
          <a:lstStyle/>
          <a:p>
            <a:pPr indent="0" marL="0">
              <a:buNone/>
            </a:pPr>
            <a:r>
              <a:rPr lang="en-US" sz="800" b="1" dirty="0">
                <a:solidFill>
                  <a:srgbClr val="129454"/>
                </a:solidFill>
                <a:latin typeface="Arial" pitchFamily="34" charset="0"/>
                <a:ea typeface="Arial" pitchFamily="34" charset="-122"/>
                <a:cs typeface="Arial" pitchFamily="34" charset="-120"/>
              </a:rPr>
              <a:t>2.2× the FY26 base of ₹11.7 cr</a:t>
            </a:r>
            <a:endParaRPr lang="en-US" sz="800" dirty="0"/>
          </a:p>
        </p:txBody>
      </p:sp>
      <p:sp>
        <p:nvSpPr>
          <p:cNvPr id="13" name="Shape 10"/>
          <p:cNvSpPr/>
          <p:nvPr/>
        </p:nvSpPr>
        <p:spPr>
          <a:xfrm>
            <a:off x="3305556" y="1280160"/>
            <a:ext cx="2729484" cy="969264"/>
          </a:xfrm>
          <a:prstGeom prst="roundRect">
            <a:avLst>
              <a:gd name="adj" fmla="val 754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14" name="Shape 11"/>
          <p:cNvSpPr/>
          <p:nvPr/>
        </p:nvSpPr>
        <p:spPr>
          <a:xfrm>
            <a:off x="3433572" y="1426464"/>
            <a:ext cx="402336" cy="402336"/>
          </a:xfrm>
          <a:prstGeom prst="roundRect">
            <a:avLst>
              <a:gd name="adj" fmla="val 24000"/>
            </a:avLst>
          </a:prstGeom>
          <a:solidFill>
            <a:srgbClr val="E8F1FC"/>
          </a:solidFill>
          <a:ln/>
        </p:spPr>
      </p:sp>
      <p:pic>
        <p:nvPicPr>
          <p:cNvPr id="15" name="Image 1" descr="preencoded.png">    </p:cNvPr>
          <p:cNvPicPr>
            <a:picLocks noChangeAspect="1"/>
          </p:cNvPicPr>
          <p:nvPr/>
        </p:nvPicPr>
        <p:blipFill>
          <a:blip r:embed="rId2"/>
          <a:stretch>
            <a:fillRect/>
          </a:stretch>
        </p:blipFill>
        <p:spPr>
          <a:xfrm>
            <a:off x="3518063" y="1510955"/>
            <a:ext cx="233355" cy="233355"/>
          </a:xfrm>
          <a:prstGeom prst="rect">
            <a:avLst/>
          </a:prstGeom>
        </p:spPr>
      </p:pic>
      <p:sp>
        <p:nvSpPr>
          <p:cNvPr id="16" name="Text 12"/>
          <p:cNvSpPr txBox="1"/>
          <p:nvPr/>
        </p:nvSpPr>
        <p:spPr>
          <a:xfrm>
            <a:off x="3945636" y="1371600"/>
            <a:ext cx="1997964" cy="365760"/>
          </a:xfrm>
          <a:prstGeom prst="rect">
            <a:avLst/>
          </a:prstGeom>
          <a:noFill/>
          <a:ln/>
        </p:spPr>
        <p:txBody>
          <a:bodyPr wrap="square" lIns="0" tIns="0" rIns="0" bIns="0" rtlCol="0" anchor="ctr"/>
          <a:lstStyle/>
          <a:p>
            <a:pPr indent="0" marL="0">
              <a:buNone/>
            </a:pPr>
            <a:r>
              <a:rPr lang="en-US" sz="2000" b="1" dirty="0">
                <a:solidFill>
                  <a:srgbClr val="0C3E86"/>
                </a:solidFill>
                <a:latin typeface="Arial" pitchFamily="34" charset="0"/>
                <a:ea typeface="Arial" pitchFamily="34" charset="-122"/>
                <a:cs typeface="Arial" pitchFamily="34" charset="-120"/>
              </a:rPr>
              <a:t>₹21 cr</a:t>
            </a:r>
            <a:endParaRPr lang="en-US" sz="2000" dirty="0"/>
          </a:p>
        </p:txBody>
      </p:sp>
      <p:sp>
        <p:nvSpPr>
          <p:cNvPr id="17" name="Text 13"/>
          <p:cNvSpPr txBox="1"/>
          <p:nvPr/>
        </p:nvSpPr>
        <p:spPr>
          <a:xfrm>
            <a:off x="3945636" y="1737360"/>
            <a:ext cx="1997964" cy="310896"/>
          </a:xfrm>
          <a:prstGeom prst="rect">
            <a:avLst/>
          </a:prstGeom>
          <a:noFill/>
          <a:ln/>
        </p:spPr>
        <p:txBody>
          <a:bodyPr wrap="square" lIns="0" tIns="0" rIns="0" bIns="0" rtlCol="0" anchor="ctr"/>
          <a:lstStyle/>
          <a:p>
            <a:pPr indent="0" marL="0">
              <a:lnSpc>
                <a:spcPct val="100000"/>
              </a:lnSpc>
              <a:buNone/>
            </a:pPr>
            <a:r>
              <a:rPr lang="en-US" sz="800" dirty="0">
                <a:solidFill>
                  <a:srgbClr val="55616D"/>
                </a:solidFill>
                <a:latin typeface="Arial" pitchFamily="34" charset="0"/>
                <a:ea typeface="Arial" pitchFamily="34" charset="-122"/>
                <a:cs typeface="Arial" pitchFamily="34" charset="-120"/>
              </a:rPr>
              <a:t>cumulative NEW private-market revenue, FY27-29</a:t>
            </a:r>
            <a:endParaRPr lang="en-US" sz="800" dirty="0"/>
          </a:p>
        </p:txBody>
      </p:sp>
      <p:sp>
        <p:nvSpPr>
          <p:cNvPr id="18" name="Text 14"/>
          <p:cNvSpPr txBox="1"/>
          <p:nvPr/>
        </p:nvSpPr>
        <p:spPr>
          <a:xfrm>
            <a:off x="3433572" y="2011680"/>
            <a:ext cx="2473452" cy="182880"/>
          </a:xfrm>
          <a:prstGeom prst="rect">
            <a:avLst/>
          </a:prstGeom>
          <a:noFill/>
          <a:ln/>
        </p:spPr>
        <p:txBody>
          <a:bodyPr wrap="square" lIns="0" tIns="0" rIns="0" bIns="0" rtlCol="0" anchor="ctr"/>
          <a:lstStyle/>
          <a:p>
            <a:pPr indent="0" marL="0">
              <a:buNone/>
            </a:pPr>
            <a:r>
              <a:rPr lang="en-US" sz="800" b="1" dirty="0">
                <a:solidFill>
                  <a:srgbClr val="129454"/>
                </a:solidFill>
                <a:latin typeface="Arial" pitchFamily="34" charset="0"/>
                <a:ea typeface="Arial" pitchFamily="34" charset="-122"/>
                <a:cs typeface="Arial" pitchFamily="34" charset="-120"/>
              </a:rPr>
              <a:t>range ₹15-28 cr across scenarios</a:t>
            </a:r>
            <a:endParaRPr lang="en-US" sz="800" dirty="0"/>
          </a:p>
        </p:txBody>
      </p:sp>
      <p:sp>
        <p:nvSpPr>
          <p:cNvPr id="19" name="Shape 15"/>
          <p:cNvSpPr/>
          <p:nvPr/>
        </p:nvSpPr>
        <p:spPr>
          <a:xfrm>
            <a:off x="6153912" y="1280160"/>
            <a:ext cx="2729484" cy="969264"/>
          </a:xfrm>
          <a:prstGeom prst="roundRect">
            <a:avLst>
              <a:gd name="adj" fmla="val 754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20" name="Shape 16"/>
          <p:cNvSpPr/>
          <p:nvPr/>
        </p:nvSpPr>
        <p:spPr>
          <a:xfrm>
            <a:off x="6281928" y="1426464"/>
            <a:ext cx="402336" cy="402336"/>
          </a:xfrm>
          <a:prstGeom prst="roundRect">
            <a:avLst>
              <a:gd name="adj" fmla="val 24000"/>
            </a:avLst>
          </a:prstGeom>
          <a:solidFill>
            <a:srgbClr val="E8F1FC"/>
          </a:solidFill>
          <a:ln/>
        </p:spPr>
      </p:sp>
      <p:pic>
        <p:nvPicPr>
          <p:cNvPr id="21" name="Image 2" descr="preencoded.png">    </p:cNvPr>
          <p:cNvPicPr>
            <a:picLocks noChangeAspect="1"/>
          </p:cNvPicPr>
          <p:nvPr/>
        </p:nvPicPr>
        <p:blipFill>
          <a:blip r:embed="rId3"/>
          <a:stretch>
            <a:fillRect/>
          </a:stretch>
        </p:blipFill>
        <p:spPr>
          <a:xfrm>
            <a:off x="6366419" y="1510955"/>
            <a:ext cx="233355" cy="233355"/>
          </a:xfrm>
          <a:prstGeom prst="rect">
            <a:avLst/>
          </a:prstGeom>
        </p:spPr>
      </p:pic>
      <p:sp>
        <p:nvSpPr>
          <p:cNvPr id="22" name="Text 17"/>
          <p:cNvSpPr txBox="1"/>
          <p:nvPr/>
        </p:nvSpPr>
        <p:spPr>
          <a:xfrm>
            <a:off x="6793992" y="1371600"/>
            <a:ext cx="1997964" cy="365760"/>
          </a:xfrm>
          <a:prstGeom prst="rect">
            <a:avLst/>
          </a:prstGeom>
          <a:noFill/>
          <a:ln/>
        </p:spPr>
        <p:txBody>
          <a:bodyPr wrap="square" lIns="0" tIns="0" rIns="0" bIns="0" rtlCol="0" anchor="ctr"/>
          <a:lstStyle/>
          <a:p>
            <a:pPr indent="0" marL="0">
              <a:buNone/>
            </a:pPr>
            <a:r>
              <a:rPr lang="en-US" sz="2000" b="1" dirty="0">
                <a:solidFill>
                  <a:srgbClr val="0C3E86"/>
                </a:solidFill>
                <a:latin typeface="Arial" pitchFamily="34" charset="0"/>
                <a:ea typeface="Arial" pitchFamily="34" charset="-122"/>
                <a:cs typeface="Arial" pitchFamily="34" charset="-120"/>
              </a:rPr>
              <a:t>7.2%</a:t>
            </a:r>
            <a:endParaRPr lang="en-US" sz="2000" dirty="0"/>
          </a:p>
        </p:txBody>
      </p:sp>
      <p:sp>
        <p:nvSpPr>
          <p:cNvPr id="23" name="Text 18"/>
          <p:cNvSpPr txBox="1"/>
          <p:nvPr/>
        </p:nvSpPr>
        <p:spPr>
          <a:xfrm>
            <a:off x="6793992" y="1737360"/>
            <a:ext cx="1997964" cy="310896"/>
          </a:xfrm>
          <a:prstGeom prst="rect">
            <a:avLst/>
          </a:prstGeom>
          <a:noFill/>
          <a:ln/>
        </p:spPr>
        <p:txBody>
          <a:bodyPr wrap="square" lIns="0" tIns="0" rIns="0" bIns="0" rtlCol="0" anchor="ctr"/>
          <a:lstStyle/>
          <a:p>
            <a:pPr indent="0" marL="0">
              <a:lnSpc>
                <a:spcPct val="100000"/>
              </a:lnSpc>
              <a:buNone/>
            </a:pPr>
            <a:r>
              <a:rPr lang="en-US" sz="800" dirty="0">
                <a:solidFill>
                  <a:srgbClr val="55616D"/>
                </a:solidFill>
                <a:latin typeface="Arial" pitchFamily="34" charset="0"/>
                <a:ea typeface="Arial" pitchFamily="34" charset="-122"/>
                <a:cs typeface="Arial" pitchFamily="34" charset="-120"/>
              </a:rPr>
              <a:t>share of ₹165 cr/yr serviceable demand by FY29</a:t>
            </a:r>
            <a:endParaRPr lang="en-US" sz="800" dirty="0"/>
          </a:p>
        </p:txBody>
      </p:sp>
      <p:sp>
        <p:nvSpPr>
          <p:cNvPr id="24" name="Text 19"/>
          <p:cNvSpPr txBox="1"/>
          <p:nvPr/>
        </p:nvSpPr>
        <p:spPr>
          <a:xfrm>
            <a:off x="6281928" y="2011680"/>
            <a:ext cx="2473452" cy="182880"/>
          </a:xfrm>
          <a:prstGeom prst="rect">
            <a:avLst/>
          </a:prstGeom>
          <a:noFill/>
          <a:ln/>
        </p:spPr>
        <p:txBody>
          <a:bodyPr wrap="square" lIns="0" tIns="0" rIns="0" bIns="0" rtlCol="0" anchor="ctr"/>
          <a:lstStyle/>
          <a:p>
            <a:pPr indent="0" marL="0">
              <a:buNone/>
            </a:pPr>
            <a:r>
              <a:rPr lang="en-US" sz="800" b="1" dirty="0">
                <a:solidFill>
                  <a:srgbClr val="129454"/>
                </a:solidFill>
                <a:latin typeface="Arial" pitchFamily="34" charset="0"/>
                <a:ea typeface="Arial" pitchFamily="34" charset="-122"/>
                <a:cs typeface="Arial" pitchFamily="34" charset="-120"/>
              </a:rPr>
              <a:t>from ~0% today</a:t>
            </a:r>
            <a:endParaRPr lang="en-US" sz="800" dirty="0"/>
          </a:p>
        </p:txBody>
      </p:sp>
      <p:sp>
        <p:nvSpPr>
          <p:cNvPr id="25" name="Shape 20"/>
          <p:cNvSpPr/>
          <p:nvPr/>
        </p:nvSpPr>
        <p:spPr>
          <a:xfrm>
            <a:off x="9002268" y="1280160"/>
            <a:ext cx="2729484" cy="969264"/>
          </a:xfrm>
          <a:prstGeom prst="roundRect">
            <a:avLst>
              <a:gd name="adj" fmla="val 754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26" name="Shape 21"/>
          <p:cNvSpPr/>
          <p:nvPr/>
        </p:nvSpPr>
        <p:spPr>
          <a:xfrm>
            <a:off x="9130284" y="1426464"/>
            <a:ext cx="402336" cy="402336"/>
          </a:xfrm>
          <a:prstGeom prst="roundRect">
            <a:avLst>
              <a:gd name="adj" fmla="val 24000"/>
            </a:avLst>
          </a:prstGeom>
          <a:solidFill>
            <a:srgbClr val="E8F1FC"/>
          </a:solidFill>
          <a:ln/>
        </p:spPr>
      </p:sp>
      <p:pic>
        <p:nvPicPr>
          <p:cNvPr id="27" name="Image 3" descr="preencoded.png">    </p:cNvPr>
          <p:cNvPicPr>
            <a:picLocks noChangeAspect="1"/>
          </p:cNvPicPr>
          <p:nvPr/>
        </p:nvPicPr>
        <p:blipFill>
          <a:blip r:embed="rId4"/>
          <a:stretch>
            <a:fillRect/>
          </a:stretch>
        </p:blipFill>
        <p:spPr>
          <a:xfrm>
            <a:off x="9214775" y="1510955"/>
            <a:ext cx="233355" cy="233355"/>
          </a:xfrm>
          <a:prstGeom prst="rect">
            <a:avLst/>
          </a:prstGeom>
        </p:spPr>
      </p:pic>
      <p:sp>
        <p:nvSpPr>
          <p:cNvPr id="28" name="Text 22"/>
          <p:cNvSpPr txBox="1"/>
          <p:nvPr/>
        </p:nvSpPr>
        <p:spPr>
          <a:xfrm>
            <a:off x="9642348" y="1371600"/>
            <a:ext cx="1997964" cy="365760"/>
          </a:xfrm>
          <a:prstGeom prst="rect">
            <a:avLst/>
          </a:prstGeom>
          <a:noFill/>
          <a:ln/>
        </p:spPr>
        <p:txBody>
          <a:bodyPr wrap="square" lIns="0" tIns="0" rIns="0" bIns="0" rtlCol="0" anchor="ctr"/>
          <a:lstStyle/>
          <a:p>
            <a:pPr indent="0" marL="0">
              <a:buNone/>
            </a:pPr>
            <a:r>
              <a:rPr lang="en-US" sz="2000" b="1" dirty="0">
                <a:solidFill>
                  <a:srgbClr val="0C3E86"/>
                </a:solidFill>
                <a:latin typeface="Arial" pitchFamily="34" charset="0"/>
                <a:ea typeface="Arial" pitchFamily="34" charset="-122"/>
                <a:cs typeface="Arial" pitchFamily="34" charset="-120"/>
              </a:rPr>
              <a:t>₹2.4 cr/yr</a:t>
            </a:r>
            <a:endParaRPr lang="en-US" sz="2000" dirty="0"/>
          </a:p>
        </p:txBody>
      </p:sp>
      <p:sp>
        <p:nvSpPr>
          <p:cNvPr id="29" name="Text 23"/>
          <p:cNvSpPr txBox="1"/>
          <p:nvPr/>
        </p:nvSpPr>
        <p:spPr>
          <a:xfrm>
            <a:off x="9642348" y="1737360"/>
            <a:ext cx="1997964" cy="310896"/>
          </a:xfrm>
          <a:prstGeom prst="rect">
            <a:avLst/>
          </a:prstGeom>
          <a:noFill/>
          <a:ln/>
        </p:spPr>
        <p:txBody>
          <a:bodyPr wrap="square" lIns="0" tIns="0" rIns="0" bIns="0" rtlCol="0" anchor="ctr"/>
          <a:lstStyle/>
          <a:p>
            <a:pPr indent="0" marL="0">
              <a:lnSpc>
                <a:spcPct val="100000"/>
              </a:lnSpc>
              <a:buNone/>
            </a:pPr>
            <a:r>
              <a:rPr lang="en-US" sz="800" dirty="0">
                <a:solidFill>
                  <a:srgbClr val="55616D"/>
                </a:solidFill>
                <a:latin typeface="Arial" pitchFamily="34" charset="0"/>
                <a:ea typeface="Arial" pitchFamily="34" charset="-122"/>
                <a:cs typeface="Arial" pitchFamily="34" charset="-120"/>
              </a:rPr>
              <a:t>recurring AMC, O&amp;M and monitoring revenue</a:t>
            </a:r>
            <a:endParaRPr lang="en-US" sz="800" dirty="0"/>
          </a:p>
        </p:txBody>
      </p:sp>
      <p:sp>
        <p:nvSpPr>
          <p:cNvPr id="30" name="Text 24"/>
          <p:cNvSpPr txBox="1"/>
          <p:nvPr/>
        </p:nvSpPr>
        <p:spPr>
          <a:xfrm>
            <a:off x="9130284" y="2011680"/>
            <a:ext cx="2473452" cy="182880"/>
          </a:xfrm>
          <a:prstGeom prst="rect">
            <a:avLst/>
          </a:prstGeom>
          <a:noFill/>
          <a:ln/>
        </p:spPr>
        <p:txBody>
          <a:bodyPr wrap="square" lIns="0" tIns="0" rIns="0" bIns="0" rtlCol="0" anchor="ctr"/>
          <a:lstStyle/>
          <a:p>
            <a:pPr indent="0" marL="0">
              <a:buNone/>
            </a:pPr>
            <a:r>
              <a:rPr lang="en-US" sz="800" b="1" dirty="0">
                <a:solidFill>
                  <a:srgbClr val="129454"/>
                </a:solidFill>
                <a:latin typeface="Arial" pitchFamily="34" charset="0"/>
                <a:ea typeface="Arial" pitchFamily="34" charset="-122"/>
                <a:cs typeface="Arial" pitchFamily="34" charset="-120"/>
              </a:rPr>
              <a:t>~10% of FY29 sales</a:t>
            </a:r>
            <a:endParaRPr lang="en-US" sz="800" dirty="0"/>
          </a:p>
        </p:txBody>
      </p:sp>
      <p:sp>
        <p:nvSpPr>
          <p:cNvPr id="31" name="Shape 25"/>
          <p:cNvSpPr/>
          <p:nvPr/>
        </p:nvSpPr>
        <p:spPr>
          <a:xfrm>
            <a:off x="457200" y="2432304"/>
            <a:ext cx="3630168" cy="3017520"/>
          </a:xfrm>
          <a:prstGeom prst="roundRect">
            <a:avLst>
              <a:gd name="adj" fmla="val 2424"/>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32" name="Shape 26"/>
          <p:cNvSpPr/>
          <p:nvPr/>
        </p:nvSpPr>
        <p:spPr>
          <a:xfrm>
            <a:off x="603504" y="2560320"/>
            <a:ext cx="274320" cy="274320"/>
          </a:xfrm>
          <a:prstGeom prst="roundRect">
            <a:avLst>
              <a:gd name="adj" fmla="val 24000"/>
            </a:avLst>
          </a:prstGeom>
          <a:solidFill>
            <a:srgbClr val="E8F1FC"/>
          </a:solidFill>
          <a:ln/>
        </p:spPr>
      </p:sp>
      <p:pic>
        <p:nvPicPr>
          <p:cNvPr id="33" name="Image 4" descr="preencoded.png">    </p:cNvPr>
          <p:cNvPicPr>
            <a:picLocks noChangeAspect="1"/>
          </p:cNvPicPr>
          <p:nvPr/>
        </p:nvPicPr>
        <p:blipFill>
          <a:blip r:embed="rId5"/>
          <a:stretch>
            <a:fillRect/>
          </a:stretch>
        </p:blipFill>
        <p:spPr>
          <a:xfrm>
            <a:off x="661111" y="2617927"/>
            <a:ext cx="159106" cy="159106"/>
          </a:xfrm>
          <a:prstGeom prst="rect">
            <a:avLst/>
          </a:prstGeom>
        </p:spPr>
      </p:pic>
      <p:sp>
        <p:nvSpPr>
          <p:cNvPr id="34" name="Text 27"/>
          <p:cNvSpPr txBox="1"/>
          <p:nvPr/>
        </p:nvSpPr>
        <p:spPr>
          <a:xfrm>
            <a:off x="987552" y="2537460"/>
            <a:ext cx="3108960" cy="329184"/>
          </a:xfrm>
          <a:prstGeom prst="rect">
            <a:avLst/>
          </a:prstGeom>
          <a:noFill/>
          <a:ln/>
        </p:spPr>
        <p:txBody>
          <a:bodyPr wrap="square" lIns="0" tIns="0" rIns="0" bIns="0" rtlCol="0" anchor="ctr"/>
          <a:lstStyle/>
          <a:p>
            <a:pPr indent="0" marL="0">
              <a:buNone/>
            </a:pPr>
            <a:r>
              <a:rPr lang="en-US" sz="1300" b="1" dirty="0">
                <a:solidFill>
                  <a:srgbClr val="0C3E86"/>
                </a:solidFill>
                <a:latin typeface="Arial" pitchFamily="34" charset="0"/>
                <a:ea typeface="Arial" pitchFamily="34" charset="-122"/>
                <a:cs typeface="Arial" pitchFamily="34" charset="-120"/>
              </a:rPr>
              <a:t>The play in 5 moves</a:t>
            </a:r>
            <a:endParaRPr lang="en-US" sz="1300" dirty="0"/>
          </a:p>
        </p:txBody>
      </p:sp>
      <p:sp>
        <p:nvSpPr>
          <p:cNvPr id="35" name="Shape 28"/>
          <p:cNvSpPr/>
          <p:nvPr/>
        </p:nvSpPr>
        <p:spPr>
          <a:xfrm>
            <a:off x="603504" y="2944368"/>
            <a:ext cx="237744" cy="237744"/>
          </a:xfrm>
          <a:prstGeom prst="roundRect">
            <a:avLst>
              <a:gd name="adj" fmla="val 19231"/>
            </a:avLst>
          </a:prstGeom>
          <a:solidFill>
            <a:srgbClr val="1568DC"/>
          </a:solidFill>
          <a:ln/>
        </p:spPr>
      </p:sp>
      <p:sp>
        <p:nvSpPr>
          <p:cNvPr id="36" name="Text 29"/>
          <p:cNvSpPr txBox="1"/>
          <p:nvPr/>
        </p:nvSpPr>
        <p:spPr>
          <a:xfrm>
            <a:off x="603504" y="2944368"/>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7" name="Text 30"/>
          <p:cNvSpPr txBox="1"/>
          <p:nvPr/>
        </p:nvSpPr>
        <p:spPr>
          <a:xfrm>
            <a:off x="932688" y="2926080"/>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Prioritise 3 compliance-triggered buyers: hoteliers, Tier-2 developers, private hospitals</a:t>
            </a:r>
            <a:endParaRPr lang="en-US" sz="830" dirty="0"/>
          </a:p>
        </p:txBody>
      </p:sp>
      <p:sp>
        <p:nvSpPr>
          <p:cNvPr id="38" name="Shape 31"/>
          <p:cNvSpPr/>
          <p:nvPr/>
        </p:nvSpPr>
        <p:spPr>
          <a:xfrm>
            <a:off x="603504" y="3433572"/>
            <a:ext cx="237744" cy="237744"/>
          </a:xfrm>
          <a:prstGeom prst="roundRect">
            <a:avLst>
              <a:gd name="adj" fmla="val 19231"/>
            </a:avLst>
          </a:prstGeom>
          <a:solidFill>
            <a:srgbClr val="1568DC"/>
          </a:solidFill>
          <a:ln/>
        </p:spPr>
      </p:sp>
      <p:sp>
        <p:nvSpPr>
          <p:cNvPr id="39" name="Text 32"/>
          <p:cNvSpPr txBox="1"/>
          <p:nvPr/>
        </p:nvSpPr>
        <p:spPr>
          <a:xfrm>
            <a:off x="603504" y="3433572"/>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40" name="Text 33"/>
          <p:cNvSpPr txBox="1"/>
          <p:nvPr/>
        </p:nvSpPr>
        <p:spPr>
          <a:xfrm>
            <a:off x="932688" y="3415284"/>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Start in Goa + the 250 km corridor; expand ONLY through KPI gates</a:t>
            </a:r>
            <a:endParaRPr lang="en-US" sz="830" dirty="0"/>
          </a:p>
        </p:txBody>
      </p:sp>
      <p:sp>
        <p:nvSpPr>
          <p:cNvPr id="41" name="Shape 34"/>
          <p:cNvSpPr/>
          <p:nvPr/>
        </p:nvSpPr>
        <p:spPr>
          <a:xfrm>
            <a:off x="603504" y="3922776"/>
            <a:ext cx="237744" cy="237744"/>
          </a:xfrm>
          <a:prstGeom prst="roundRect">
            <a:avLst>
              <a:gd name="adj" fmla="val 19231"/>
            </a:avLst>
          </a:prstGeom>
          <a:solidFill>
            <a:srgbClr val="1568DC"/>
          </a:solidFill>
          <a:ln/>
        </p:spPr>
      </p:sp>
      <p:sp>
        <p:nvSpPr>
          <p:cNvPr id="42" name="Text 35"/>
          <p:cNvSpPr txBox="1"/>
          <p:nvPr/>
        </p:nvSpPr>
        <p:spPr>
          <a:xfrm>
            <a:off x="603504" y="3922776"/>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43" name="Text 36"/>
          <p:cNvSpPr txBox="1"/>
          <p:nvPr/>
        </p:nvSpPr>
        <p:spPr>
          <a:xfrm>
            <a:off x="932688" y="3904488"/>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Sell ₹25k audits → standard 10/25/50/100 KLD FRP packages, milestone-billed</a:t>
            </a:r>
            <a:endParaRPr lang="en-US" sz="830" dirty="0"/>
          </a:p>
        </p:txBody>
      </p:sp>
      <p:sp>
        <p:nvSpPr>
          <p:cNvPr id="44" name="Shape 37"/>
          <p:cNvSpPr/>
          <p:nvPr/>
        </p:nvSpPr>
        <p:spPr>
          <a:xfrm>
            <a:off x="603504" y="4411980"/>
            <a:ext cx="237744" cy="237744"/>
          </a:xfrm>
          <a:prstGeom prst="roundRect">
            <a:avLst>
              <a:gd name="adj" fmla="val 19231"/>
            </a:avLst>
          </a:prstGeom>
          <a:solidFill>
            <a:srgbClr val="1568DC"/>
          </a:solidFill>
          <a:ln/>
        </p:spPr>
      </p:sp>
      <p:sp>
        <p:nvSpPr>
          <p:cNvPr id="45" name="Text 38"/>
          <p:cNvSpPr txBox="1"/>
          <p:nvPr/>
        </p:nvSpPr>
        <p:spPr>
          <a:xfrm>
            <a:off x="603504" y="4411980"/>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46" name="Text 39"/>
          <p:cNvSpPr txBox="1"/>
          <p:nvPr/>
        </p:nvSpPr>
        <p:spPr>
          <a:xfrm>
            <a:off x="932688" y="4393692"/>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Attach AMC to ≥60% of installs; add IoT monitoring for consent-ready data</a:t>
            </a:r>
            <a:endParaRPr lang="en-US" sz="830" dirty="0"/>
          </a:p>
        </p:txBody>
      </p:sp>
      <p:sp>
        <p:nvSpPr>
          <p:cNvPr id="47" name="Shape 40"/>
          <p:cNvSpPr/>
          <p:nvPr/>
        </p:nvSpPr>
        <p:spPr>
          <a:xfrm>
            <a:off x="603504" y="4901184"/>
            <a:ext cx="237744" cy="237744"/>
          </a:xfrm>
          <a:prstGeom prst="roundRect">
            <a:avLst>
              <a:gd name="adj" fmla="val 19231"/>
            </a:avLst>
          </a:prstGeom>
          <a:solidFill>
            <a:srgbClr val="1568DC"/>
          </a:solidFill>
          <a:ln/>
        </p:spPr>
      </p:sp>
      <p:sp>
        <p:nvSpPr>
          <p:cNvPr id="48" name="Text 41"/>
          <p:cNvSpPr txBox="1"/>
          <p:nvPr/>
        </p:nvSpPr>
        <p:spPr>
          <a:xfrm>
            <a:off x="603504" y="4901184"/>
            <a:ext cx="237744" cy="237744"/>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49" name="Text 42"/>
          <p:cNvSpPr txBox="1"/>
          <p:nvPr/>
        </p:nvSpPr>
        <p:spPr>
          <a:xfrm>
            <a:off x="932688" y="4882896"/>
            <a:ext cx="3035808" cy="475488"/>
          </a:xfrm>
          <a:prstGeom prst="rect">
            <a:avLst/>
          </a:prstGeom>
          <a:noFill/>
          <a:ln/>
        </p:spPr>
        <p:txBody>
          <a:bodyPr wrap="square" lIns="0" tIns="0" rIns="0" bIns="0" rtlCol="0" anchor="ctr"/>
          <a:lstStyle/>
          <a:p>
            <a:pPr indent="0" marL="0">
              <a:lnSpc>
                <a:spcPct val="100000"/>
              </a:lnSpc>
              <a:buNone/>
            </a:pPr>
            <a:r>
              <a:rPr lang="en-US" sz="830" dirty="0">
                <a:solidFill>
                  <a:srgbClr val="16202B"/>
                </a:solidFill>
                <a:latin typeface="Arial" pitchFamily="34" charset="0"/>
                <a:ea typeface="Arial" pitchFamily="34" charset="-122"/>
                <a:cs typeface="Arial" pitchFamily="34" charset="-120"/>
              </a:rPr>
              <a:t>Extend the installed base: retrofit &amp; O&amp;M, monitoring, water reuse (IISc)</a:t>
            </a:r>
            <a:endParaRPr lang="en-US" sz="830" dirty="0"/>
          </a:p>
        </p:txBody>
      </p:sp>
      <p:sp>
        <p:nvSpPr>
          <p:cNvPr id="50" name="Shape 43"/>
          <p:cNvSpPr/>
          <p:nvPr/>
        </p:nvSpPr>
        <p:spPr>
          <a:xfrm>
            <a:off x="4279392" y="2432304"/>
            <a:ext cx="3630168" cy="3017520"/>
          </a:xfrm>
          <a:prstGeom prst="roundRect">
            <a:avLst>
              <a:gd name="adj" fmla="val 2424"/>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51" name="Shape 44"/>
          <p:cNvSpPr/>
          <p:nvPr/>
        </p:nvSpPr>
        <p:spPr>
          <a:xfrm>
            <a:off x="4425696" y="2560320"/>
            <a:ext cx="274320" cy="274320"/>
          </a:xfrm>
          <a:prstGeom prst="roundRect">
            <a:avLst>
              <a:gd name="adj" fmla="val 24000"/>
            </a:avLst>
          </a:prstGeom>
          <a:solidFill>
            <a:srgbClr val="E8F1FC"/>
          </a:solidFill>
          <a:ln/>
        </p:spPr>
      </p:sp>
      <p:pic>
        <p:nvPicPr>
          <p:cNvPr id="52" name="Image 5" descr="preencoded.png">    </p:cNvPr>
          <p:cNvPicPr>
            <a:picLocks noChangeAspect="1"/>
          </p:cNvPicPr>
          <p:nvPr/>
        </p:nvPicPr>
        <p:blipFill>
          <a:blip r:embed="rId6"/>
          <a:stretch>
            <a:fillRect/>
          </a:stretch>
        </p:blipFill>
        <p:spPr>
          <a:xfrm>
            <a:off x="4483303" y="2617927"/>
            <a:ext cx="159106" cy="159106"/>
          </a:xfrm>
          <a:prstGeom prst="rect">
            <a:avLst/>
          </a:prstGeom>
        </p:spPr>
      </p:pic>
      <p:sp>
        <p:nvSpPr>
          <p:cNvPr id="53" name="Text 45"/>
          <p:cNvSpPr txBox="1"/>
          <p:nvPr/>
        </p:nvSpPr>
        <p:spPr>
          <a:xfrm>
            <a:off x="4809744" y="2537460"/>
            <a:ext cx="329184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Priority personas (weighted score)</a:t>
            </a:r>
            <a:endParaRPr lang="en-US" sz="1200" dirty="0"/>
          </a:p>
        </p:txBody>
      </p:sp>
      <p:sp>
        <p:nvSpPr>
          <p:cNvPr id="54" name="Shape 46"/>
          <p:cNvSpPr/>
          <p:nvPr/>
        </p:nvSpPr>
        <p:spPr>
          <a:xfrm>
            <a:off x="4425696" y="2980944"/>
            <a:ext cx="365760" cy="365760"/>
          </a:xfrm>
          <a:prstGeom prst="roundRect">
            <a:avLst>
              <a:gd name="adj" fmla="val 24000"/>
            </a:avLst>
          </a:prstGeom>
          <a:solidFill>
            <a:srgbClr val="E8F1FC"/>
          </a:solidFill>
          <a:ln/>
        </p:spPr>
      </p:sp>
      <p:pic>
        <p:nvPicPr>
          <p:cNvPr id="55" name="Image 6" descr="preencoded.png">    </p:cNvPr>
          <p:cNvPicPr>
            <a:picLocks noChangeAspect="1"/>
          </p:cNvPicPr>
          <p:nvPr/>
        </p:nvPicPr>
        <p:blipFill>
          <a:blip r:embed="rId7"/>
          <a:stretch>
            <a:fillRect/>
          </a:stretch>
        </p:blipFill>
        <p:spPr>
          <a:xfrm>
            <a:off x="4502506" y="3057754"/>
            <a:ext cx="212141" cy="212141"/>
          </a:xfrm>
          <a:prstGeom prst="rect">
            <a:avLst/>
          </a:prstGeom>
        </p:spPr>
      </p:pic>
      <p:sp>
        <p:nvSpPr>
          <p:cNvPr id="56" name="Text 47"/>
          <p:cNvSpPr txBox="1"/>
          <p:nvPr/>
        </p:nvSpPr>
        <p:spPr>
          <a:xfrm>
            <a:off x="4882896" y="2953512"/>
            <a:ext cx="2331720" cy="219456"/>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Coastal &amp; leisure hoteliers</a:t>
            </a:r>
            <a:endParaRPr lang="en-US" sz="950" dirty="0"/>
          </a:p>
        </p:txBody>
      </p:sp>
      <p:sp>
        <p:nvSpPr>
          <p:cNvPr id="57" name="Shape 48"/>
          <p:cNvSpPr/>
          <p:nvPr/>
        </p:nvSpPr>
        <p:spPr>
          <a:xfrm>
            <a:off x="7342632" y="2962656"/>
            <a:ext cx="457200" cy="219456"/>
          </a:xfrm>
          <a:prstGeom prst="roundRect">
            <a:avLst>
              <a:gd name="adj" fmla="val 50000"/>
            </a:avLst>
          </a:prstGeom>
          <a:solidFill>
            <a:srgbClr val="1568DC"/>
          </a:solidFill>
          <a:ln/>
        </p:spPr>
      </p:sp>
      <p:sp>
        <p:nvSpPr>
          <p:cNvPr id="58" name="Text 49"/>
          <p:cNvSpPr txBox="1"/>
          <p:nvPr/>
        </p:nvSpPr>
        <p:spPr>
          <a:xfrm>
            <a:off x="7342632" y="2962656"/>
            <a:ext cx="45720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4.50</a:t>
            </a:r>
            <a:endParaRPr lang="en-US" sz="850" dirty="0"/>
          </a:p>
        </p:txBody>
      </p:sp>
      <p:sp>
        <p:nvSpPr>
          <p:cNvPr id="59" name="Text 50"/>
          <p:cNvSpPr txBox="1"/>
          <p:nvPr/>
        </p:nvSpPr>
        <p:spPr>
          <a:xfrm>
            <a:off x="4882896" y="3172968"/>
            <a:ext cx="2834640" cy="182880"/>
          </a:xfrm>
          <a:prstGeom prst="rect">
            <a:avLst/>
          </a:prstGeom>
          <a:noFill/>
          <a:ln/>
        </p:spPr>
        <p:txBody>
          <a:bodyPr wrap="square" lIns="0" tIns="0" rIns="0" bIns="0" rtlCol="0" anchor="ctr"/>
          <a:lstStyle/>
          <a:p>
            <a:pPr indent="0" marL="0">
              <a:buNone/>
            </a:pPr>
            <a:r>
              <a:rPr lang="en-US" sz="800" b="1" dirty="0">
                <a:solidFill>
                  <a:srgbClr val="0C3E86"/>
                </a:solidFill>
                <a:latin typeface="Arial" pitchFamily="34" charset="0"/>
                <a:ea typeface="Arial" pitchFamily="34" charset="-122"/>
                <a:cs typeface="Arial" pitchFamily="34" charset="-120"/>
              </a:rPr>
              <a:t>20-150 keys · ₹18-45 L + AMC</a:t>
            </a:r>
            <a:endParaRPr lang="en-US" sz="800" dirty="0"/>
          </a:p>
        </p:txBody>
      </p:sp>
      <p:sp>
        <p:nvSpPr>
          <p:cNvPr id="60" name="Text 51"/>
          <p:cNvSpPr txBox="1"/>
          <p:nvPr/>
        </p:nvSpPr>
        <p:spPr>
          <a:xfrm>
            <a:off x="4882896" y="3346704"/>
            <a:ext cx="2880360" cy="310896"/>
          </a:xfrm>
          <a:prstGeom prst="rect">
            <a:avLst/>
          </a:prstGeom>
          <a:noFill/>
          <a:ln/>
        </p:spPr>
        <p:txBody>
          <a:bodyPr wrap="square" lIns="0" tIns="0" rIns="0" bIns="0" rtlCol="0" anchor="ctr"/>
          <a:lstStyle/>
          <a:p>
            <a:pPr indent="0" marL="0">
              <a:lnSpc>
                <a:spcPct val="100000"/>
              </a:lnSpc>
              <a:buNone/>
            </a:pPr>
            <a:r>
              <a:rPr lang="en-US" sz="760" dirty="0">
                <a:solidFill>
                  <a:srgbClr val="55616D"/>
                </a:solidFill>
                <a:latin typeface="Arial" pitchFamily="34" charset="0"/>
                <a:ea typeface="Arial" pitchFamily="34" charset="-122"/>
                <a:cs typeface="Arial" pitchFamily="34" charset="-120"/>
              </a:rPr>
              <a:t>Trigger: PCB consent, expansion, water cost</a:t>
            </a:r>
            <a:endParaRPr lang="en-US" sz="760" dirty="0"/>
          </a:p>
        </p:txBody>
      </p:sp>
      <p:sp>
        <p:nvSpPr>
          <p:cNvPr id="61" name="Shape 52"/>
          <p:cNvSpPr/>
          <p:nvPr/>
        </p:nvSpPr>
        <p:spPr>
          <a:xfrm>
            <a:off x="4425696" y="3794760"/>
            <a:ext cx="365760" cy="365760"/>
          </a:xfrm>
          <a:prstGeom prst="roundRect">
            <a:avLst>
              <a:gd name="adj" fmla="val 24000"/>
            </a:avLst>
          </a:prstGeom>
          <a:solidFill>
            <a:srgbClr val="E8F1FC"/>
          </a:solidFill>
          <a:ln/>
        </p:spPr>
      </p:sp>
      <p:pic>
        <p:nvPicPr>
          <p:cNvPr id="62" name="Image 7" descr="preencoded.png">    </p:cNvPr>
          <p:cNvPicPr>
            <a:picLocks noChangeAspect="1"/>
          </p:cNvPicPr>
          <p:nvPr/>
        </p:nvPicPr>
        <p:blipFill>
          <a:blip r:embed="rId8"/>
          <a:stretch>
            <a:fillRect/>
          </a:stretch>
        </p:blipFill>
        <p:spPr>
          <a:xfrm>
            <a:off x="4502506" y="3871570"/>
            <a:ext cx="212141" cy="212141"/>
          </a:xfrm>
          <a:prstGeom prst="rect">
            <a:avLst/>
          </a:prstGeom>
        </p:spPr>
      </p:pic>
      <p:sp>
        <p:nvSpPr>
          <p:cNvPr id="63" name="Text 53"/>
          <p:cNvSpPr txBox="1"/>
          <p:nvPr/>
        </p:nvSpPr>
        <p:spPr>
          <a:xfrm>
            <a:off x="4882896" y="3767328"/>
            <a:ext cx="2331720" cy="219456"/>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Tier-2 residential developers</a:t>
            </a:r>
            <a:endParaRPr lang="en-US" sz="950" dirty="0"/>
          </a:p>
        </p:txBody>
      </p:sp>
      <p:sp>
        <p:nvSpPr>
          <p:cNvPr id="64" name="Shape 54"/>
          <p:cNvSpPr/>
          <p:nvPr/>
        </p:nvSpPr>
        <p:spPr>
          <a:xfrm>
            <a:off x="7342632" y="3776472"/>
            <a:ext cx="457200" cy="219456"/>
          </a:xfrm>
          <a:prstGeom prst="roundRect">
            <a:avLst>
              <a:gd name="adj" fmla="val 50000"/>
            </a:avLst>
          </a:prstGeom>
          <a:solidFill>
            <a:srgbClr val="1568DC"/>
          </a:solidFill>
          <a:ln/>
        </p:spPr>
      </p:sp>
      <p:sp>
        <p:nvSpPr>
          <p:cNvPr id="65" name="Text 55"/>
          <p:cNvSpPr txBox="1"/>
          <p:nvPr/>
        </p:nvSpPr>
        <p:spPr>
          <a:xfrm>
            <a:off x="7342632" y="3776472"/>
            <a:ext cx="45720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3.80</a:t>
            </a:r>
            <a:endParaRPr lang="en-US" sz="850" dirty="0"/>
          </a:p>
        </p:txBody>
      </p:sp>
      <p:sp>
        <p:nvSpPr>
          <p:cNvPr id="66" name="Text 56"/>
          <p:cNvSpPr txBox="1"/>
          <p:nvPr/>
        </p:nvSpPr>
        <p:spPr>
          <a:xfrm>
            <a:off x="4882896" y="3986784"/>
            <a:ext cx="2834640" cy="182880"/>
          </a:xfrm>
          <a:prstGeom prst="rect">
            <a:avLst/>
          </a:prstGeom>
          <a:noFill/>
          <a:ln/>
        </p:spPr>
        <p:txBody>
          <a:bodyPr wrap="square" lIns="0" tIns="0" rIns="0" bIns="0" rtlCol="0" anchor="ctr"/>
          <a:lstStyle/>
          <a:p>
            <a:pPr indent="0" marL="0">
              <a:buNone/>
            </a:pPr>
            <a:r>
              <a:rPr lang="en-US" sz="800" b="1" dirty="0">
                <a:solidFill>
                  <a:srgbClr val="0C3E86"/>
                </a:solidFill>
                <a:latin typeface="Arial" pitchFamily="34" charset="0"/>
                <a:ea typeface="Arial" pitchFamily="34" charset="-122"/>
                <a:cs typeface="Arial" pitchFamily="34" charset="-120"/>
              </a:rPr>
              <a:t>100-400 units · ₹35 L-1.2 cr</a:t>
            </a:r>
            <a:endParaRPr lang="en-US" sz="800" dirty="0"/>
          </a:p>
        </p:txBody>
      </p:sp>
      <p:sp>
        <p:nvSpPr>
          <p:cNvPr id="67" name="Text 57"/>
          <p:cNvSpPr txBox="1"/>
          <p:nvPr/>
        </p:nvSpPr>
        <p:spPr>
          <a:xfrm>
            <a:off x="4882896" y="4160520"/>
            <a:ext cx="2880360" cy="310896"/>
          </a:xfrm>
          <a:prstGeom prst="rect">
            <a:avLst/>
          </a:prstGeom>
          <a:noFill/>
          <a:ln/>
        </p:spPr>
        <p:txBody>
          <a:bodyPr wrap="square" lIns="0" tIns="0" rIns="0" bIns="0" rtlCol="0" anchor="ctr"/>
          <a:lstStyle/>
          <a:p>
            <a:pPr indent="0" marL="0">
              <a:lnSpc>
                <a:spcPct val="100000"/>
              </a:lnSpc>
              <a:buNone/>
            </a:pPr>
            <a:r>
              <a:rPr lang="en-US" sz="760" dirty="0">
                <a:solidFill>
                  <a:srgbClr val="55616D"/>
                </a:solidFill>
                <a:latin typeface="Arial" pitchFamily="34" charset="0"/>
                <a:ea typeface="Arial" pitchFamily="34" charset="-122"/>
                <a:cs typeface="Arial" pitchFamily="34" charset="-120"/>
              </a:rPr>
              <a:t>Trigger: EC condition &amp; occupancy certificate</a:t>
            </a:r>
            <a:endParaRPr lang="en-US" sz="760" dirty="0"/>
          </a:p>
        </p:txBody>
      </p:sp>
      <p:sp>
        <p:nvSpPr>
          <p:cNvPr id="68" name="Shape 58"/>
          <p:cNvSpPr/>
          <p:nvPr/>
        </p:nvSpPr>
        <p:spPr>
          <a:xfrm>
            <a:off x="4425696" y="4608576"/>
            <a:ext cx="365760" cy="365760"/>
          </a:xfrm>
          <a:prstGeom prst="roundRect">
            <a:avLst>
              <a:gd name="adj" fmla="val 24000"/>
            </a:avLst>
          </a:prstGeom>
          <a:solidFill>
            <a:srgbClr val="E8F1FC"/>
          </a:solidFill>
          <a:ln/>
        </p:spPr>
      </p:sp>
      <p:pic>
        <p:nvPicPr>
          <p:cNvPr id="69" name="Image 8" descr="preencoded.png">    </p:cNvPr>
          <p:cNvPicPr>
            <a:picLocks noChangeAspect="1"/>
          </p:cNvPicPr>
          <p:nvPr/>
        </p:nvPicPr>
        <p:blipFill>
          <a:blip r:embed="rId9"/>
          <a:stretch>
            <a:fillRect/>
          </a:stretch>
        </p:blipFill>
        <p:spPr>
          <a:xfrm>
            <a:off x="4502506" y="4685386"/>
            <a:ext cx="212141" cy="212141"/>
          </a:xfrm>
          <a:prstGeom prst="rect">
            <a:avLst/>
          </a:prstGeom>
        </p:spPr>
      </p:pic>
      <p:sp>
        <p:nvSpPr>
          <p:cNvPr id="70" name="Text 59"/>
          <p:cNvSpPr txBox="1"/>
          <p:nvPr/>
        </p:nvSpPr>
        <p:spPr>
          <a:xfrm>
            <a:off x="4882896" y="4581144"/>
            <a:ext cx="2331720" cy="219456"/>
          </a:xfrm>
          <a:prstGeom prst="rect">
            <a:avLst/>
          </a:prstGeom>
          <a:noFill/>
          <a:ln/>
        </p:spPr>
        <p:txBody>
          <a:bodyPr wrap="square" lIns="0" tIns="0" rIns="0" bIns="0" rtlCol="0" anchor="ctr"/>
          <a:lstStyle/>
          <a:p>
            <a:pPr indent="0" marL="0">
              <a:buNone/>
            </a:pPr>
            <a:r>
              <a:rPr lang="en-US" sz="950" b="1" dirty="0">
                <a:solidFill>
                  <a:srgbClr val="16202B"/>
                </a:solidFill>
                <a:latin typeface="Arial" pitchFamily="34" charset="0"/>
                <a:ea typeface="Arial" pitchFamily="34" charset="-122"/>
                <a:cs typeface="Arial" pitchFamily="34" charset="-120"/>
              </a:rPr>
              <a:t>Private hospitals &amp; clinics</a:t>
            </a:r>
            <a:endParaRPr lang="en-US" sz="950" dirty="0"/>
          </a:p>
        </p:txBody>
      </p:sp>
      <p:sp>
        <p:nvSpPr>
          <p:cNvPr id="71" name="Shape 60"/>
          <p:cNvSpPr/>
          <p:nvPr/>
        </p:nvSpPr>
        <p:spPr>
          <a:xfrm>
            <a:off x="7342632" y="4590288"/>
            <a:ext cx="457200" cy="219456"/>
          </a:xfrm>
          <a:prstGeom prst="roundRect">
            <a:avLst>
              <a:gd name="adj" fmla="val 50000"/>
            </a:avLst>
          </a:prstGeom>
          <a:solidFill>
            <a:srgbClr val="1568DC"/>
          </a:solidFill>
          <a:ln/>
        </p:spPr>
      </p:sp>
      <p:sp>
        <p:nvSpPr>
          <p:cNvPr id="72" name="Text 61"/>
          <p:cNvSpPr txBox="1"/>
          <p:nvPr/>
        </p:nvSpPr>
        <p:spPr>
          <a:xfrm>
            <a:off x="7342632" y="4590288"/>
            <a:ext cx="45720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3.75</a:t>
            </a:r>
            <a:endParaRPr lang="en-US" sz="850" dirty="0"/>
          </a:p>
        </p:txBody>
      </p:sp>
      <p:sp>
        <p:nvSpPr>
          <p:cNvPr id="73" name="Text 62"/>
          <p:cNvSpPr txBox="1"/>
          <p:nvPr/>
        </p:nvSpPr>
        <p:spPr>
          <a:xfrm>
            <a:off x="4882896" y="4800600"/>
            <a:ext cx="2834640" cy="182880"/>
          </a:xfrm>
          <a:prstGeom prst="rect">
            <a:avLst/>
          </a:prstGeom>
          <a:noFill/>
          <a:ln/>
        </p:spPr>
        <p:txBody>
          <a:bodyPr wrap="square" lIns="0" tIns="0" rIns="0" bIns="0" rtlCol="0" anchor="ctr"/>
          <a:lstStyle/>
          <a:p>
            <a:pPr indent="0" marL="0">
              <a:buNone/>
            </a:pPr>
            <a:r>
              <a:rPr lang="en-US" sz="800" b="1" dirty="0">
                <a:solidFill>
                  <a:srgbClr val="0C3E86"/>
                </a:solidFill>
                <a:latin typeface="Arial" pitchFamily="34" charset="0"/>
                <a:ea typeface="Arial" pitchFamily="34" charset="-122"/>
                <a:cs typeface="Arial" pitchFamily="34" charset="-120"/>
              </a:rPr>
              <a:t>30-150 beds · ₹12-35 L + AMC</a:t>
            </a:r>
            <a:endParaRPr lang="en-US" sz="800" dirty="0"/>
          </a:p>
        </p:txBody>
      </p:sp>
      <p:sp>
        <p:nvSpPr>
          <p:cNvPr id="74" name="Text 63"/>
          <p:cNvSpPr txBox="1"/>
          <p:nvPr/>
        </p:nvSpPr>
        <p:spPr>
          <a:xfrm>
            <a:off x="4882896" y="4974336"/>
            <a:ext cx="2880360" cy="310896"/>
          </a:xfrm>
          <a:prstGeom prst="rect">
            <a:avLst/>
          </a:prstGeom>
          <a:noFill/>
          <a:ln/>
        </p:spPr>
        <p:txBody>
          <a:bodyPr wrap="square" lIns="0" tIns="0" rIns="0" bIns="0" rtlCol="0" anchor="ctr"/>
          <a:lstStyle/>
          <a:p>
            <a:pPr indent="0" marL="0">
              <a:lnSpc>
                <a:spcPct val="100000"/>
              </a:lnSpc>
              <a:buNone/>
            </a:pPr>
            <a:r>
              <a:rPr lang="en-US" sz="760" dirty="0">
                <a:solidFill>
                  <a:srgbClr val="55616D"/>
                </a:solidFill>
                <a:latin typeface="Arial" pitchFamily="34" charset="0"/>
                <a:ea typeface="Arial" pitchFamily="34" charset="-122"/>
                <a:cs typeface="Arial" pitchFamily="34" charset="-120"/>
              </a:rPr>
              <a:t>Trigger: BMW Rules &gt;10-bed ETP mandate</a:t>
            </a:r>
            <a:endParaRPr lang="en-US" sz="760" dirty="0"/>
          </a:p>
        </p:txBody>
      </p:sp>
      <p:sp>
        <p:nvSpPr>
          <p:cNvPr id="75" name="Shape 64"/>
          <p:cNvSpPr/>
          <p:nvPr/>
        </p:nvSpPr>
        <p:spPr>
          <a:xfrm>
            <a:off x="8101584" y="2432304"/>
            <a:ext cx="3630168" cy="1755648"/>
          </a:xfrm>
          <a:prstGeom prst="roundRect">
            <a:avLst>
              <a:gd name="adj" fmla="val 4167"/>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76" name="Shape 65"/>
          <p:cNvSpPr/>
          <p:nvPr/>
        </p:nvSpPr>
        <p:spPr>
          <a:xfrm>
            <a:off x="8247888" y="2560320"/>
            <a:ext cx="274320" cy="274320"/>
          </a:xfrm>
          <a:prstGeom prst="roundRect">
            <a:avLst>
              <a:gd name="adj" fmla="val 24000"/>
            </a:avLst>
          </a:prstGeom>
          <a:solidFill>
            <a:srgbClr val="E8F1FC"/>
          </a:solidFill>
          <a:ln/>
        </p:spPr>
      </p:sp>
      <p:pic>
        <p:nvPicPr>
          <p:cNvPr id="77" name="Image 9" descr="preencoded.png">    </p:cNvPr>
          <p:cNvPicPr>
            <a:picLocks noChangeAspect="1"/>
          </p:cNvPicPr>
          <p:nvPr/>
        </p:nvPicPr>
        <p:blipFill>
          <a:blip r:embed="rId10"/>
          <a:stretch>
            <a:fillRect/>
          </a:stretch>
        </p:blipFill>
        <p:spPr>
          <a:xfrm>
            <a:off x="8305495" y="2617927"/>
            <a:ext cx="159106" cy="159106"/>
          </a:xfrm>
          <a:prstGeom prst="rect">
            <a:avLst/>
          </a:prstGeom>
        </p:spPr>
      </p:pic>
      <p:sp>
        <p:nvSpPr>
          <p:cNvPr id="78" name="Text 66"/>
          <p:cNvSpPr txBox="1"/>
          <p:nvPr/>
        </p:nvSpPr>
        <p:spPr>
          <a:xfrm>
            <a:off x="8631936" y="2537460"/>
            <a:ext cx="310896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Corridor sequencing</a:t>
            </a:r>
            <a:endParaRPr lang="en-US" sz="1200" dirty="0"/>
          </a:p>
        </p:txBody>
      </p:sp>
      <p:sp>
        <p:nvSpPr>
          <p:cNvPr id="79" name="Shape 67"/>
          <p:cNvSpPr/>
          <p:nvPr/>
        </p:nvSpPr>
        <p:spPr>
          <a:xfrm>
            <a:off x="8247888" y="2962656"/>
            <a:ext cx="713232" cy="274320"/>
          </a:xfrm>
          <a:prstGeom prst="roundRect">
            <a:avLst>
              <a:gd name="adj" fmla="val 20000"/>
            </a:avLst>
          </a:prstGeom>
          <a:solidFill>
            <a:srgbClr val="E8F1FC"/>
          </a:solidFill>
          <a:ln/>
        </p:spPr>
      </p:sp>
      <p:sp>
        <p:nvSpPr>
          <p:cNvPr id="80" name="Text 68"/>
          <p:cNvSpPr txBox="1"/>
          <p:nvPr/>
        </p:nvSpPr>
        <p:spPr>
          <a:xfrm>
            <a:off x="8247888" y="2962656"/>
            <a:ext cx="713232" cy="274320"/>
          </a:xfrm>
          <a:prstGeom prst="rect">
            <a:avLst/>
          </a:prstGeom>
          <a:noFill/>
          <a:ln/>
        </p:spPr>
        <p:txBody>
          <a:bodyPr wrap="square" lIns="0" tIns="0" rIns="0" bIns="0" rtlCol="0" anchor="ctr"/>
          <a:lstStyle/>
          <a:p>
            <a:pPr algn="ctr" indent="0" marL="0">
              <a:buNone/>
            </a:pPr>
            <a:r>
              <a:rPr lang="en-US" sz="800" b="1" dirty="0">
                <a:solidFill>
                  <a:srgbClr val="1568DC"/>
                </a:solidFill>
                <a:latin typeface="Arial" pitchFamily="34" charset="0"/>
                <a:ea typeface="Arial" pitchFamily="34" charset="-122"/>
                <a:cs typeface="Arial" pitchFamily="34" charset="-120"/>
              </a:rPr>
              <a:t>P1 · FY27</a:t>
            </a:r>
            <a:endParaRPr lang="en-US" sz="800" dirty="0"/>
          </a:p>
        </p:txBody>
      </p:sp>
      <p:sp>
        <p:nvSpPr>
          <p:cNvPr id="81" name="Text 69"/>
          <p:cNvSpPr txBox="1"/>
          <p:nvPr/>
        </p:nvSpPr>
        <p:spPr>
          <a:xfrm>
            <a:off x="9052560" y="2971800"/>
            <a:ext cx="2578608" cy="329184"/>
          </a:xfrm>
          <a:prstGeom prst="rect">
            <a:avLst/>
          </a:prstGeom>
          <a:noFill/>
          <a:ln/>
        </p:spPr>
        <p:txBody>
          <a:bodyPr wrap="square" lIns="0" tIns="0" rIns="0" bIns="0" rtlCol="0" anchor="ctr"/>
          <a:lstStyle/>
          <a:p>
            <a:pPr indent="0" marL="0">
              <a:lnSpc>
                <a:spcPct val="98000"/>
              </a:lnSpc>
              <a:buNone/>
            </a:pPr>
            <a:r>
              <a:rPr lang="en-US" sz="800" dirty="0">
                <a:solidFill>
                  <a:srgbClr val="16202B"/>
                </a:solidFill>
                <a:latin typeface="Arial" pitchFamily="34" charset="0"/>
                <a:ea typeface="Arial" pitchFamily="34" charset="-122"/>
                <a:cs typeface="Arial" pitchFamily="34" charset="-120"/>
              </a:rPr>
              <a:t>Goa + Konkan, Kolhapur, Belagavi (≤250 km)</a:t>
            </a:r>
            <a:endParaRPr lang="en-US" sz="800" dirty="0"/>
          </a:p>
        </p:txBody>
      </p:sp>
      <p:sp>
        <p:nvSpPr>
          <p:cNvPr id="82" name="Shape 70"/>
          <p:cNvSpPr/>
          <p:nvPr/>
        </p:nvSpPr>
        <p:spPr>
          <a:xfrm>
            <a:off x="8247888" y="3346704"/>
            <a:ext cx="713232" cy="274320"/>
          </a:xfrm>
          <a:prstGeom prst="roundRect">
            <a:avLst>
              <a:gd name="adj" fmla="val 20000"/>
            </a:avLst>
          </a:prstGeom>
          <a:solidFill>
            <a:srgbClr val="E8F1FC"/>
          </a:solidFill>
          <a:ln/>
        </p:spPr>
      </p:sp>
      <p:sp>
        <p:nvSpPr>
          <p:cNvPr id="83" name="Text 71"/>
          <p:cNvSpPr txBox="1"/>
          <p:nvPr/>
        </p:nvSpPr>
        <p:spPr>
          <a:xfrm>
            <a:off x="8247888" y="3346704"/>
            <a:ext cx="713232" cy="274320"/>
          </a:xfrm>
          <a:prstGeom prst="rect">
            <a:avLst/>
          </a:prstGeom>
          <a:noFill/>
          <a:ln/>
        </p:spPr>
        <p:txBody>
          <a:bodyPr wrap="square" lIns="0" tIns="0" rIns="0" bIns="0" rtlCol="0" anchor="ctr"/>
          <a:lstStyle/>
          <a:p>
            <a:pPr algn="ctr" indent="0" marL="0">
              <a:buNone/>
            </a:pPr>
            <a:r>
              <a:rPr lang="en-US" sz="800" b="1" dirty="0">
                <a:solidFill>
                  <a:srgbClr val="1568DC"/>
                </a:solidFill>
                <a:latin typeface="Arial" pitchFamily="34" charset="0"/>
                <a:ea typeface="Arial" pitchFamily="34" charset="-122"/>
                <a:cs typeface="Arial" pitchFamily="34" charset="-120"/>
              </a:rPr>
              <a:t>P2 · FY28</a:t>
            </a:r>
            <a:endParaRPr lang="en-US" sz="800" dirty="0"/>
          </a:p>
        </p:txBody>
      </p:sp>
      <p:sp>
        <p:nvSpPr>
          <p:cNvPr id="84" name="Text 72"/>
          <p:cNvSpPr txBox="1"/>
          <p:nvPr/>
        </p:nvSpPr>
        <p:spPr>
          <a:xfrm>
            <a:off x="9052560" y="3355848"/>
            <a:ext cx="2578608" cy="329184"/>
          </a:xfrm>
          <a:prstGeom prst="rect">
            <a:avLst/>
          </a:prstGeom>
          <a:noFill/>
          <a:ln/>
        </p:spPr>
        <p:txBody>
          <a:bodyPr wrap="square" lIns="0" tIns="0" rIns="0" bIns="0" rtlCol="0" anchor="ctr"/>
          <a:lstStyle/>
          <a:p>
            <a:pPr indent="0" marL="0">
              <a:lnSpc>
                <a:spcPct val="98000"/>
              </a:lnSpc>
              <a:buNone/>
            </a:pPr>
            <a:r>
              <a:rPr lang="en-US" sz="800" dirty="0">
                <a:solidFill>
                  <a:srgbClr val="16202B"/>
                </a:solidFill>
                <a:latin typeface="Arial" pitchFamily="34" charset="0"/>
                <a:ea typeface="Arial" pitchFamily="34" charset="-122"/>
                <a:cs typeface="Arial" pitchFamily="34" charset="-120"/>
              </a:rPr>
              <a:t>Hubballi-Dharwad, Mangaluru, Mysuru + hubs</a:t>
            </a:r>
            <a:endParaRPr lang="en-US" sz="800" dirty="0"/>
          </a:p>
        </p:txBody>
      </p:sp>
      <p:sp>
        <p:nvSpPr>
          <p:cNvPr id="85" name="Shape 73"/>
          <p:cNvSpPr/>
          <p:nvPr/>
        </p:nvSpPr>
        <p:spPr>
          <a:xfrm>
            <a:off x="8247888" y="3730752"/>
            <a:ext cx="713232" cy="274320"/>
          </a:xfrm>
          <a:prstGeom prst="roundRect">
            <a:avLst>
              <a:gd name="adj" fmla="val 20000"/>
            </a:avLst>
          </a:prstGeom>
          <a:solidFill>
            <a:srgbClr val="E8F1FC"/>
          </a:solidFill>
          <a:ln/>
        </p:spPr>
      </p:sp>
      <p:sp>
        <p:nvSpPr>
          <p:cNvPr id="86" name="Text 74"/>
          <p:cNvSpPr txBox="1"/>
          <p:nvPr/>
        </p:nvSpPr>
        <p:spPr>
          <a:xfrm>
            <a:off x="8247888" y="3730752"/>
            <a:ext cx="713232" cy="274320"/>
          </a:xfrm>
          <a:prstGeom prst="rect">
            <a:avLst/>
          </a:prstGeom>
          <a:noFill/>
          <a:ln/>
        </p:spPr>
        <p:txBody>
          <a:bodyPr wrap="square" lIns="0" tIns="0" rIns="0" bIns="0" rtlCol="0" anchor="ctr"/>
          <a:lstStyle/>
          <a:p>
            <a:pPr algn="ctr" indent="0" marL="0">
              <a:buNone/>
            </a:pPr>
            <a:r>
              <a:rPr lang="en-US" sz="800" b="1" dirty="0">
                <a:solidFill>
                  <a:srgbClr val="1568DC"/>
                </a:solidFill>
                <a:latin typeface="Arial" pitchFamily="34" charset="0"/>
                <a:ea typeface="Arial" pitchFamily="34" charset="-122"/>
                <a:cs typeface="Arial" pitchFamily="34" charset="-120"/>
              </a:rPr>
              <a:t>P3 · FY29</a:t>
            </a:r>
            <a:endParaRPr lang="en-US" sz="800" dirty="0"/>
          </a:p>
        </p:txBody>
      </p:sp>
      <p:sp>
        <p:nvSpPr>
          <p:cNvPr id="87" name="Text 75"/>
          <p:cNvSpPr txBox="1"/>
          <p:nvPr/>
        </p:nvSpPr>
        <p:spPr>
          <a:xfrm>
            <a:off x="9052560" y="3739896"/>
            <a:ext cx="2578608" cy="329184"/>
          </a:xfrm>
          <a:prstGeom prst="rect">
            <a:avLst/>
          </a:prstGeom>
          <a:noFill/>
          <a:ln/>
        </p:spPr>
        <p:txBody>
          <a:bodyPr wrap="square" lIns="0" tIns="0" rIns="0" bIns="0" rtlCol="0" anchor="ctr"/>
          <a:lstStyle/>
          <a:p>
            <a:pPr indent="0" marL="0">
              <a:lnSpc>
                <a:spcPct val="98000"/>
              </a:lnSpc>
              <a:buNone/>
            </a:pPr>
            <a:r>
              <a:rPr lang="en-US" sz="800" dirty="0">
                <a:solidFill>
                  <a:srgbClr val="16202B"/>
                </a:solidFill>
                <a:latin typeface="Arial" pitchFamily="34" charset="0"/>
                <a:ea typeface="Arial" pitchFamily="34" charset="-122"/>
                <a:cs typeface="Arial" pitchFamily="34" charset="-120"/>
              </a:rPr>
              <a:t>Tier-3 depth via 25 certified partners</a:t>
            </a:r>
            <a:endParaRPr lang="en-US" sz="800" dirty="0"/>
          </a:p>
        </p:txBody>
      </p:sp>
      <p:sp>
        <p:nvSpPr>
          <p:cNvPr id="88" name="Shape 76"/>
          <p:cNvSpPr/>
          <p:nvPr/>
        </p:nvSpPr>
        <p:spPr>
          <a:xfrm>
            <a:off x="8101584" y="4315968"/>
            <a:ext cx="3630168" cy="1133856"/>
          </a:xfrm>
          <a:prstGeom prst="roundRect">
            <a:avLst>
              <a:gd name="adj" fmla="val 6452"/>
            </a:avLst>
          </a:prstGeom>
          <a:solidFill>
            <a:srgbClr val="FBE8E3"/>
          </a:solidFill>
          <a:ln w="12700">
            <a:solidFill>
              <a:srgbClr val="F0C7BE"/>
            </a:solidFill>
            <a:prstDash val="solid"/>
          </a:ln>
          <a:effectLst>
            <a:outerShdw sx="100000" sy="100000" kx="0" ky="0" algn="bl" rotWithShape="0" blurRad="88900" dist="25400" dir="5400000">
              <a:srgbClr val="A8B4C2">
                <a:alpha val="38000"/>
              </a:srgbClr>
            </a:outerShdw>
          </a:effectLst>
        </p:spPr>
      </p:sp>
      <p:sp>
        <p:nvSpPr>
          <p:cNvPr id="89" name="Shape 77"/>
          <p:cNvSpPr/>
          <p:nvPr/>
        </p:nvSpPr>
        <p:spPr>
          <a:xfrm>
            <a:off x="8247888" y="4425696"/>
            <a:ext cx="274320" cy="274320"/>
          </a:xfrm>
          <a:prstGeom prst="roundRect">
            <a:avLst>
              <a:gd name="adj" fmla="val 24000"/>
            </a:avLst>
          </a:prstGeom>
          <a:solidFill>
            <a:srgbClr val="F7D9D2"/>
          </a:solidFill>
          <a:ln/>
        </p:spPr>
      </p:sp>
      <p:pic>
        <p:nvPicPr>
          <p:cNvPr id="90" name="Image 10" descr="preencoded.png">    </p:cNvPr>
          <p:cNvPicPr>
            <a:picLocks noChangeAspect="1"/>
          </p:cNvPicPr>
          <p:nvPr/>
        </p:nvPicPr>
        <p:blipFill>
          <a:blip r:embed="rId11"/>
          <a:stretch>
            <a:fillRect/>
          </a:stretch>
        </p:blipFill>
        <p:spPr>
          <a:xfrm>
            <a:off x="8305495" y="4483303"/>
            <a:ext cx="159106" cy="159106"/>
          </a:xfrm>
          <a:prstGeom prst="rect">
            <a:avLst/>
          </a:prstGeom>
        </p:spPr>
      </p:pic>
      <p:sp>
        <p:nvSpPr>
          <p:cNvPr id="91" name="Text 78"/>
          <p:cNvSpPr txBox="1"/>
          <p:nvPr/>
        </p:nvSpPr>
        <p:spPr>
          <a:xfrm>
            <a:off x="8631936" y="4402836"/>
            <a:ext cx="3108960" cy="329184"/>
          </a:xfrm>
          <a:prstGeom prst="rect">
            <a:avLst/>
          </a:prstGeom>
          <a:noFill/>
          <a:ln/>
        </p:spPr>
        <p:txBody>
          <a:bodyPr wrap="square" lIns="0" tIns="0" rIns="0" bIns="0" rtlCol="0" anchor="ctr"/>
          <a:lstStyle/>
          <a:p>
            <a:pPr indent="0" marL="0">
              <a:buNone/>
            </a:pPr>
            <a:r>
              <a:rPr lang="en-US" sz="1200" b="1" dirty="0">
                <a:solidFill>
                  <a:srgbClr val="D64226"/>
                </a:solidFill>
                <a:latin typeface="Arial" pitchFamily="34" charset="0"/>
                <a:ea typeface="Arial" pitchFamily="34" charset="-122"/>
                <a:cs typeface="Arial" pitchFamily="34" charset="-120"/>
              </a:rPr>
              <a:t>Biggest execution risk</a:t>
            </a:r>
            <a:endParaRPr lang="en-US" sz="1200" dirty="0"/>
          </a:p>
        </p:txBody>
      </p:sp>
      <p:sp>
        <p:nvSpPr>
          <p:cNvPr id="92" name="Text 79"/>
          <p:cNvSpPr txBox="1"/>
          <p:nvPr/>
        </p:nvSpPr>
        <p:spPr>
          <a:xfrm>
            <a:off x="8247888" y="4773168"/>
            <a:ext cx="3337560" cy="621792"/>
          </a:xfrm>
          <a:prstGeom prst="rect">
            <a:avLst/>
          </a:prstGeom>
          <a:noFill/>
          <a:ln/>
        </p:spPr>
        <p:txBody>
          <a:bodyPr wrap="square" lIns="0" tIns="0" rIns="0" bIns="0" rtlCol="0" anchor="ctr"/>
          <a:lstStyle/>
          <a:p>
            <a:pPr indent="0" marL="0">
              <a:lnSpc>
                <a:spcPct val="104000"/>
              </a:lnSpc>
              <a:buNone/>
            </a:pPr>
            <a:r>
              <a:rPr lang="en-US" sz="820" b="1" dirty="0">
                <a:solidFill>
                  <a:srgbClr val="16202B"/>
                </a:solidFill>
                <a:latin typeface="Arial" pitchFamily="34" charset="0"/>
                <a:ea typeface="Arial" pitchFamily="34" charset="-122"/>
                <a:cs typeface="Arial" pitchFamily="34" charset="-120"/>
              </a:rPr>
              <a:t>Developer receivables straining working capital. </a:t>
            </a:r>
            <a:pPr indent="0" marL="0">
              <a:lnSpc>
                <a:spcPct val="104000"/>
              </a:lnSpc>
              <a:buNone/>
            </a:pPr>
            <a:r>
              <a:rPr lang="en-US" sz="820" dirty="0">
                <a:solidFill>
                  <a:srgbClr val="16202B"/>
                </a:solidFill>
                <a:latin typeface="Arial" pitchFamily="34" charset="0"/>
                <a:ea typeface="Arial" pitchFamily="34" charset="-122"/>
                <a:cs typeface="Arial" pitchFamily="34" charset="-120"/>
              </a:rPr>
              <a:t>Controls: 30-40-25-5 milestone billing with advances, credit checks + PDCs, exposure cap 25% of order book, expansion stops if DSO &gt;75 days.</a:t>
            </a:r>
            <a:endParaRPr lang="en-US" sz="820" dirty="0"/>
          </a:p>
        </p:txBody>
      </p:sp>
      <p:sp>
        <p:nvSpPr>
          <p:cNvPr id="93" name="Shape 80"/>
          <p:cNvSpPr/>
          <p:nvPr/>
        </p:nvSpPr>
        <p:spPr>
          <a:xfrm>
            <a:off x="457200" y="5989320"/>
            <a:ext cx="11274552" cy="402336"/>
          </a:xfrm>
          <a:prstGeom prst="roundRect">
            <a:avLst>
              <a:gd name="adj" fmla="val 20455"/>
            </a:avLst>
          </a:prstGeom>
          <a:solidFill>
            <a:srgbClr val="1568DC"/>
          </a:solidFill>
          <a:ln/>
          <a:effectLst>
            <a:outerShdw sx="100000" sy="100000" kx="0" ky="0" algn="bl" rotWithShape="0" blurRad="50800" dist="12700" dir="5400000">
              <a:srgbClr val="B6C1CD">
                <a:alpha val="30000"/>
              </a:srgbClr>
            </a:outerShdw>
          </a:effectLst>
        </p:spPr>
      </p:sp>
      <p:pic>
        <p:nvPicPr>
          <p:cNvPr id="94" name="Image 11" descr="preencoded.png">    </p:cNvPr>
          <p:cNvPicPr>
            <a:picLocks noChangeAspect="1"/>
          </p:cNvPicPr>
          <p:nvPr/>
        </p:nvPicPr>
        <p:blipFill>
          <a:blip r:embed="rId12"/>
          <a:stretch>
            <a:fillRect/>
          </a:stretch>
        </p:blipFill>
        <p:spPr>
          <a:xfrm>
            <a:off x="621792" y="6071616"/>
            <a:ext cx="237744" cy="237744"/>
          </a:xfrm>
          <a:prstGeom prst="rect">
            <a:avLst/>
          </a:prstGeom>
        </p:spPr>
      </p:pic>
      <p:sp>
        <p:nvSpPr>
          <p:cNvPr id="95" name="Text 81"/>
          <p:cNvSpPr txBox="1"/>
          <p:nvPr/>
        </p:nvSpPr>
        <p:spPr>
          <a:xfrm>
            <a:off x="969264" y="5989320"/>
            <a:ext cx="10588752" cy="402336"/>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FY29 EXIT   </a:t>
            </a:r>
            <a:pPr indent="0" marL="0">
              <a:lnSpc>
                <a:spcPct val="100000"/>
              </a:lnSpc>
              <a:buNone/>
            </a:pPr>
            <a:r>
              <a:rPr lang="en-US" sz="1150" b="1" dirty="0">
                <a:solidFill>
                  <a:srgbClr val="FFFFFF"/>
                </a:solidFill>
                <a:latin typeface="Arial" pitchFamily="34" charset="0"/>
                <a:ea typeface="Arial" pitchFamily="34" charset="-122"/>
                <a:cs typeface="Arial" pitchFamily="34" charset="-120"/>
              </a:rPr>
              <a:t>66 treatment projects + 400 bio-digesters delivered · 14 clusters via 2 hubs &amp; 25 partners · ~₹6 cr investment, fully self-funded</a:t>
            </a:r>
            <a:endParaRPr lang="en-US" sz="1000" dirty="0"/>
          </a:p>
        </p:txBody>
      </p:sp>
      <p:sp>
        <p:nvSpPr>
          <p:cNvPr id="96" name="Text 82"/>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Figures from the p.4 market model and p.5 roadmap; FY26 base per BGCC problem statement. All FY27-29 figures are estimates.</a:t>
            </a:r>
            <a:endParaRPr lang="en-US" sz="680" dirty="0"/>
          </a:p>
        </p:txBody>
      </p:sp>
      <p:sp>
        <p:nvSpPr>
          <p:cNvPr id="97" name="Text 83"/>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1 · CUSTOMER SEGMENTATION &amp; TARGETING</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Eight segments, </a:t>
            </a:r>
            <a:pPr indent="0" marL="0">
              <a:buNone/>
            </a:pPr>
            <a:r>
              <a:rPr lang="en-US" sz="2500" b="1" dirty="0">
                <a:solidFill>
                  <a:srgbClr val="1568DC"/>
                </a:solidFill>
                <a:latin typeface="Arial" pitchFamily="34" charset="0"/>
                <a:ea typeface="Arial" pitchFamily="34" charset="-122"/>
                <a:cs typeface="Arial" pitchFamily="34" charset="-120"/>
              </a:rPr>
              <a:t>three worth pursuing</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316736"/>
            <a:ext cx="274320" cy="274320"/>
          </a:xfrm>
          <a:prstGeom prst="roundRect">
            <a:avLst>
              <a:gd name="adj" fmla="val 24000"/>
            </a:avLst>
          </a:prstGeom>
          <a:solidFill>
            <a:srgbClr val="E8F1FC"/>
          </a:solidFill>
          <a:ln/>
        </p:spPr>
      </p:sp>
      <p:pic>
        <p:nvPicPr>
          <p:cNvPr id="10" name="Image 0" descr="preencoded.png">    </p:cNvPr>
          <p:cNvPicPr>
            <a:picLocks noChangeAspect="1"/>
          </p:cNvPicPr>
          <p:nvPr/>
        </p:nvPicPr>
        <p:blipFill>
          <a:blip r:embed="rId1"/>
          <a:stretch>
            <a:fillRect/>
          </a:stretch>
        </p:blipFill>
        <p:spPr>
          <a:xfrm>
            <a:off x="514807" y="1374343"/>
            <a:ext cx="159106" cy="159106"/>
          </a:xfrm>
          <a:prstGeom prst="rect">
            <a:avLst/>
          </a:prstGeom>
        </p:spPr>
      </p:pic>
      <p:sp>
        <p:nvSpPr>
          <p:cNvPr id="11" name="Text 8"/>
          <p:cNvSpPr txBox="1"/>
          <p:nvPr/>
        </p:nvSpPr>
        <p:spPr>
          <a:xfrm>
            <a:off x="841248" y="1293876"/>
            <a:ext cx="41148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10-factor weighted attractiveness</a:t>
            </a:r>
            <a:endParaRPr lang="en-US" sz="1250" dirty="0"/>
          </a:p>
        </p:txBody>
      </p:sp>
      <p:sp>
        <p:nvSpPr>
          <p:cNvPr id="12" name="Shape 9"/>
          <p:cNvSpPr/>
          <p:nvPr/>
        </p:nvSpPr>
        <p:spPr>
          <a:xfrm>
            <a:off x="457200" y="1700784"/>
            <a:ext cx="4160520" cy="3127248"/>
          </a:xfrm>
          <a:prstGeom prst="roundRect">
            <a:avLst>
              <a:gd name="adj" fmla="val 1754"/>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13" name="Shape 10"/>
          <p:cNvSpPr/>
          <p:nvPr/>
        </p:nvSpPr>
        <p:spPr>
          <a:xfrm>
            <a:off x="2537460" y="1755648"/>
            <a:ext cx="0" cy="3017520"/>
          </a:xfrm>
          <a:prstGeom prst="line">
            <a:avLst/>
          </a:prstGeom>
          <a:noFill/>
          <a:ln w="9525">
            <a:solidFill>
              <a:srgbClr val="DCE5EE"/>
            </a:solidFill>
            <a:prstDash val="dash"/>
          </a:ln>
        </p:spPr>
      </p:sp>
      <p:sp>
        <p:nvSpPr>
          <p:cNvPr id="14" name="Shape 11"/>
          <p:cNvSpPr/>
          <p:nvPr/>
        </p:nvSpPr>
        <p:spPr>
          <a:xfrm>
            <a:off x="512064" y="3264408"/>
            <a:ext cx="4050792" cy="0"/>
          </a:xfrm>
          <a:prstGeom prst="line">
            <a:avLst/>
          </a:prstGeom>
          <a:noFill/>
          <a:ln w="9525">
            <a:solidFill>
              <a:srgbClr val="DCE5EE"/>
            </a:solidFill>
            <a:prstDash val="dash"/>
          </a:ln>
        </p:spPr>
      </p:sp>
      <p:sp>
        <p:nvSpPr>
          <p:cNvPr id="15" name="Shape 12"/>
          <p:cNvSpPr/>
          <p:nvPr/>
        </p:nvSpPr>
        <p:spPr>
          <a:xfrm>
            <a:off x="1374334" y="3559190"/>
            <a:ext cx="461192" cy="461192"/>
          </a:xfrm>
          <a:prstGeom prst="ellipse">
            <a:avLst/>
          </a:prstGeom>
          <a:solidFill>
            <a:srgbClr val="E8F1FC">
              <a:alpha val="82000"/>
            </a:srgbClr>
          </a:solidFill>
          <a:ln w="12700">
            <a:solidFill>
              <a:srgbClr val="9FC2EE"/>
            </a:solidFill>
            <a:prstDash val="solid"/>
          </a:ln>
        </p:spPr>
      </p:sp>
      <p:sp>
        <p:nvSpPr>
          <p:cNvPr id="16" name="Shape 13"/>
          <p:cNvSpPr/>
          <p:nvPr/>
        </p:nvSpPr>
        <p:spPr>
          <a:xfrm>
            <a:off x="925920" y="3256788"/>
            <a:ext cx="640689" cy="640689"/>
          </a:xfrm>
          <a:prstGeom prst="ellipse">
            <a:avLst/>
          </a:prstGeom>
          <a:solidFill>
            <a:srgbClr val="E8F1FC">
              <a:alpha val="82000"/>
            </a:srgbClr>
          </a:solidFill>
          <a:ln w="12700">
            <a:solidFill>
              <a:srgbClr val="9FC2EE"/>
            </a:solidFill>
            <a:prstDash val="solid"/>
          </a:ln>
        </p:spPr>
      </p:sp>
      <p:sp>
        <p:nvSpPr>
          <p:cNvPr id="17" name="Shape 14"/>
          <p:cNvSpPr/>
          <p:nvPr/>
        </p:nvSpPr>
        <p:spPr>
          <a:xfrm>
            <a:off x="1126619" y="3683778"/>
            <a:ext cx="612302" cy="612302"/>
          </a:xfrm>
          <a:prstGeom prst="ellipse">
            <a:avLst/>
          </a:prstGeom>
          <a:solidFill>
            <a:srgbClr val="E8F1FC">
              <a:alpha val="82000"/>
            </a:srgbClr>
          </a:solidFill>
          <a:ln w="12700">
            <a:solidFill>
              <a:srgbClr val="9FC2EE"/>
            </a:solidFill>
            <a:prstDash val="solid"/>
          </a:ln>
        </p:spPr>
      </p:sp>
      <p:sp>
        <p:nvSpPr>
          <p:cNvPr id="18" name="Shape 15"/>
          <p:cNvSpPr/>
          <p:nvPr/>
        </p:nvSpPr>
        <p:spPr>
          <a:xfrm>
            <a:off x="1732999" y="4072058"/>
            <a:ext cx="461192" cy="461192"/>
          </a:xfrm>
          <a:prstGeom prst="ellipse">
            <a:avLst/>
          </a:prstGeom>
          <a:solidFill>
            <a:srgbClr val="E8F1FC">
              <a:alpha val="82000"/>
            </a:srgbClr>
          </a:solidFill>
          <a:ln w="12700">
            <a:solidFill>
              <a:srgbClr val="9FC2EE"/>
            </a:solidFill>
            <a:prstDash val="solid"/>
          </a:ln>
        </p:spPr>
      </p:sp>
      <p:sp>
        <p:nvSpPr>
          <p:cNvPr id="19" name="Shape 16"/>
          <p:cNvSpPr/>
          <p:nvPr/>
        </p:nvSpPr>
        <p:spPr>
          <a:xfrm>
            <a:off x="3457264" y="4287736"/>
            <a:ext cx="254998" cy="254998"/>
          </a:xfrm>
          <a:prstGeom prst="ellipse">
            <a:avLst/>
          </a:prstGeom>
          <a:solidFill>
            <a:srgbClr val="E8F1FC">
              <a:alpha val="82000"/>
            </a:srgbClr>
          </a:solidFill>
          <a:ln w="12700">
            <a:solidFill>
              <a:srgbClr val="9FC2EE"/>
            </a:solidFill>
            <a:prstDash val="solid"/>
          </a:ln>
        </p:spPr>
      </p:sp>
      <p:sp>
        <p:nvSpPr>
          <p:cNvPr id="20" name="Shape 17"/>
          <p:cNvSpPr/>
          <p:nvPr/>
        </p:nvSpPr>
        <p:spPr>
          <a:xfrm>
            <a:off x="3313953" y="1955352"/>
            <a:ext cx="541620" cy="541620"/>
          </a:xfrm>
          <a:prstGeom prst="ellipse">
            <a:avLst/>
          </a:prstGeom>
          <a:solidFill>
            <a:srgbClr val="1568DC"/>
          </a:solidFill>
          <a:ln w="19050">
            <a:solidFill>
              <a:srgbClr val="0C3E86"/>
            </a:solidFill>
            <a:prstDash val="solid"/>
          </a:ln>
        </p:spPr>
      </p:sp>
      <p:sp>
        <p:nvSpPr>
          <p:cNvPr id="21" name="Shape 18"/>
          <p:cNvSpPr/>
          <p:nvPr/>
        </p:nvSpPr>
        <p:spPr>
          <a:xfrm>
            <a:off x="1091451" y="2084986"/>
            <a:ext cx="682639" cy="682639"/>
          </a:xfrm>
          <a:prstGeom prst="ellipse">
            <a:avLst/>
          </a:prstGeom>
          <a:solidFill>
            <a:srgbClr val="1568DC"/>
          </a:solidFill>
          <a:ln w="19050">
            <a:solidFill>
              <a:srgbClr val="0C3E86"/>
            </a:solidFill>
            <a:prstDash val="solid"/>
          </a:ln>
        </p:spPr>
      </p:sp>
      <p:sp>
        <p:nvSpPr>
          <p:cNvPr id="22" name="Shape 19"/>
          <p:cNvSpPr/>
          <p:nvPr/>
        </p:nvSpPr>
        <p:spPr>
          <a:xfrm>
            <a:off x="2627859" y="3124907"/>
            <a:ext cx="479146" cy="479146"/>
          </a:xfrm>
          <a:prstGeom prst="ellipse">
            <a:avLst/>
          </a:prstGeom>
          <a:solidFill>
            <a:srgbClr val="1568DC"/>
          </a:solidFill>
          <a:ln w="19050">
            <a:solidFill>
              <a:srgbClr val="0C3E86"/>
            </a:solidFill>
            <a:prstDash val="solid"/>
          </a:ln>
        </p:spPr>
      </p:sp>
      <p:sp>
        <p:nvSpPr>
          <p:cNvPr id="23" name="Text 20"/>
          <p:cNvSpPr txBox="1"/>
          <p:nvPr/>
        </p:nvSpPr>
        <p:spPr>
          <a:xfrm>
            <a:off x="2898963" y="1768962"/>
            <a:ext cx="1371600" cy="201168"/>
          </a:xfrm>
          <a:prstGeom prst="rect">
            <a:avLst/>
          </a:prstGeom>
          <a:noFill/>
          <a:ln/>
        </p:spPr>
        <p:txBody>
          <a:bodyPr wrap="square" lIns="0" tIns="0" rIns="0" bIns="0" rtlCol="0" anchor="ctr"/>
          <a:lstStyle/>
          <a:p>
            <a:pPr algn="ctr" indent="0" marL="0">
              <a:buNone/>
            </a:pPr>
            <a:r>
              <a:rPr lang="en-US" sz="800" b="1" dirty="0">
                <a:solidFill>
                  <a:srgbClr val="0C3E86"/>
                </a:solidFill>
                <a:latin typeface="Arial" pitchFamily="34" charset="0"/>
                <a:ea typeface="Arial" pitchFamily="34" charset="-122"/>
                <a:cs typeface="Arial" pitchFamily="34" charset="-120"/>
              </a:rPr>
              <a:t>Hoteliers</a:t>
            </a:r>
            <a:endParaRPr lang="en-US" sz="800" dirty="0"/>
          </a:p>
        </p:txBody>
      </p:sp>
      <p:sp>
        <p:nvSpPr>
          <p:cNvPr id="24" name="Text 21"/>
          <p:cNvSpPr txBox="1"/>
          <p:nvPr/>
        </p:nvSpPr>
        <p:spPr>
          <a:xfrm>
            <a:off x="792690" y="1877666"/>
            <a:ext cx="1371600" cy="201168"/>
          </a:xfrm>
          <a:prstGeom prst="rect">
            <a:avLst/>
          </a:prstGeom>
          <a:noFill/>
          <a:ln/>
        </p:spPr>
        <p:txBody>
          <a:bodyPr wrap="square" lIns="0" tIns="0" rIns="0" bIns="0" rtlCol="0" anchor="ctr"/>
          <a:lstStyle/>
          <a:p>
            <a:pPr algn="ctr" indent="0" marL="0">
              <a:buNone/>
            </a:pPr>
            <a:r>
              <a:rPr lang="en-US" sz="800" b="1" dirty="0">
                <a:solidFill>
                  <a:srgbClr val="0C3E86"/>
                </a:solidFill>
                <a:latin typeface="Arial" pitchFamily="34" charset="0"/>
                <a:ea typeface="Arial" pitchFamily="34" charset="-122"/>
                <a:cs typeface="Arial" pitchFamily="34" charset="-120"/>
              </a:rPr>
              <a:t>Developers</a:t>
            </a:r>
            <a:endParaRPr lang="en-US" sz="800" dirty="0"/>
          </a:p>
        </p:txBody>
      </p:sp>
      <p:sp>
        <p:nvSpPr>
          <p:cNvPr id="25" name="Text 22"/>
          <p:cNvSpPr txBox="1"/>
          <p:nvPr/>
        </p:nvSpPr>
        <p:spPr>
          <a:xfrm>
            <a:off x="2748560" y="3017008"/>
            <a:ext cx="1371600" cy="201168"/>
          </a:xfrm>
          <a:prstGeom prst="rect">
            <a:avLst/>
          </a:prstGeom>
          <a:noFill/>
          <a:ln/>
        </p:spPr>
        <p:txBody>
          <a:bodyPr wrap="square" lIns="0" tIns="0" rIns="0" bIns="0" rtlCol="0" anchor="ctr"/>
          <a:lstStyle/>
          <a:p>
            <a:pPr algn="ctr" indent="0" marL="0">
              <a:buNone/>
            </a:pPr>
            <a:r>
              <a:rPr lang="en-US" sz="800" b="1" dirty="0">
                <a:solidFill>
                  <a:srgbClr val="0C3E86"/>
                </a:solidFill>
                <a:latin typeface="Arial" pitchFamily="34" charset="0"/>
                <a:ea typeface="Arial" pitchFamily="34" charset="-122"/>
                <a:cs typeface="Arial" pitchFamily="34" charset="-120"/>
              </a:rPr>
              <a:t>Hospitals</a:t>
            </a:r>
            <a:endParaRPr lang="en-US" sz="800" dirty="0"/>
          </a:p>
        </p:txBody>
      </p:sp>
      <p:sp>
        <p:nvSpPr>
          <p:cNvPr id="26" name="Text 23"/>
          <p:cNvSpPr txBox="1"/>
          <p:nvPr/>
        </p:nvSpPr>
        <p:spPr>
          <a:xfrm>
            <a:off x="2898963" y="4561539"/>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Homeowners</a:t>
            </a:r>
            <a:endParaRPr lang="en-US" sz="800" dirty="0"/>
          </a:p>
        </p:txBody>
      </p:sp>
      <p:sp>
        <p:nvSpPr>
          <p:cNvPr id="27" name="Text 24"/>
          <p:cNvSpPr txBox="1"/>
          <p:nvPr/>
        </p:nvSpPr>
        <p:spPr>
          <a:xfrm>
            <a:off x="736250" y="3259434"/>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Societies (retrofit)</a:t>
            </a:r>
            <a:endParaRPr lang="en-US" sz="800" dirty="0"/>
          </a:p>
        </p:txBody>
      </p:sp>
      <p:sp>
        <p:nvSpPr>
          <p:cNvPr id="28" name="Text 25"/>
          <p:cNvSpPr txBox="1"/>
          <p:nvPr/>
        </p:nvSpPr>
        <p:spPr>
          <a:xfrm>
            <a:off x="834784" y="2937053"/>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MSME industrial</a:t>
            </a:r>
            <a:endParaRPr lang="en-US" sz="800" dirty="0"/>
          </a:p>
        </p:txBody>
      </p:sp>
      <p:sp>
        <p:nvSpPr>
          <p:cNvPr id="29" name="Text 26"/>
          <p:cNvSpPr txBox="1"/>
          <p:nvPr/>
        </p:nvSpPr>
        <p:spPr>
          <a:xfrm>
            <a:off x="1899587" y="4211214"/>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Schools &amp; CSR</a:t>
            </a:r>
            <a:endParaRPr lang="en-US" sz="800" dirty="0"/>
          </a:p>
        </p:txBody>
      </p:sp>
      <p:sp>
        <p:nvSpPr>
          <p:cNvPr id="30" name="Text 27"/>
          <p:cNvSpPr txBox="1"/>
          <p:nvPr/>
        </p:nvSpPr>
        <p:spPr>
          <a:xfrm>
            <a:off x="746970" y="4300826"/>
            <a:ext cx="1371600" cy="201168"/>
          </a:xfrm>
          <a:prstGeom prst="rect">
            <a:avLst/>
          </a:prstGeom>
          <a:noFill/>
          <a:ln/>
        </p:spPr>
        <p:txBody>
          <a:bodyPr wrap="square" lIns="0" tIns="0" rIns="0" bIns="0" rtlCol="0" anchor="ctr"/>
          <a:lstStyle/>
          <a:p>
            <a:pPr algn="ctr" indent="0" marL="0">
              <a:buNone/>
            </a:pPr>
            <a:r>
              <a:rPr lang="en-US" sz="800" dirty="0">
                <a:solidFill>
                  <a:srgbClr val="55616D"/>
                </a:solidFill>
                <a:latin typeface="Arial" pitchFamily="34" charset="0"/>
                <a:ea typeface="Arial" pitchFamily="34" charset="-122"/>
                <a:cs typeface="Arial" pitchFamily="34" charset="-120"/>
              </a:rPr>
              <a:t>Commercial dev.</a:t>
            </a:r>
            <a:endParaRPr lang="en-US" sz="800" dirty="0"/>
          </a:p>
        </p:txBody>
      </p:sp>
      <p:sp>
        <p:nvSpPr>
          <p:cNvPr id="31" name="Text 28"/>
          <p:cNvSpPr txBox="1"/>
          <p:nvPr/>
        </p:nvSpPr>
        <p:spPr>
          <a:xfrm>
            <a:off x="457200" y="4882896"/>
            <a:ext cx="4160520" cy="182880"/>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Ease of capture →   (decision-maker access · cycle · payment · serviceability · rivalry)</a:t>
            </a:r>
            <a:endParaRPr lang="en-US" sz="720" dirty="0"/>
          </a:p>
        </p:txBody>
      </p:sp>
      <p:sp>
        <p:nvSpPr>
          <p:cNvPr id="32" name="Text 29"/>
          <p:cNvSpPr txBox="1"/>
          <p:nvPr/>
        </p:nvSpPr>
        <p:spPr>
          <a:xfrm rot="16200000">
            <a:off x="-1005840" y="3172968"/>
            <a:ext cx="2926080" cy="182880"/>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Value at stake →</a:t>
            </a:r>
            <a:endParaRPr lang="en-US" sz="720" dirty="0"/>
          </a:p>
        </p:txBody>
      </p:sp>
      <p:sp>
        <p:nvSpPr>
          <p:cNvPr id="33" name="Text 30"/>
          <p:cNvSpPr txBox="1"/>
          <p:nvPr/>
        </p:nvSpPr>
        <p:spPr>
          <a:xfrm>
            <a:off x="457200" y="5084064"/>
            <a:ext cx="4160520" cy="182880"/>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Bubble area = avg ticket (₹0.6 L - ₹48 L)  ·  blue solid = priority</a:t>
            </a:r>
            <a:endParaRPr lang="en-US" sz="720" dirty="0"/>
          </a:p>
        </p:txBody>
      </p:sp>
      <p:sp>
        <p:nvSpPr>
          <p:cNvPr id="34" name="Shape 31"/>
          <p:cNvSpPr/>
          <p:nvPr/>
        </p:nvSpPr>
        <p:spPr>
          <a:xfrm>
            <a:off x="457200" y="5303520"/>
            <a:ext cx="4160520" cy="475488"/>
          </a:xfrm>
          <a:prstGeom prst="roundRect">
            <a:avLst>
              <a:gd name="adj" fmla="val 15385"/>
            </a:avLst>
          </a:prstGeom>
          <a:solidFill>
            <a:srgbClr val="F5F9FE"/>
          </a:solidFill>
          <a:ln w="12700">
            <a:solidFill>
              <a:srgbClr val="DCE5EE"/>
            </a:solidFill>
            <a:prstDash val="solid"/>
          </a:ln>
        </p:spPr>
      </p:sp>
      <p:sp>
        <p:nvSpPr>
          <p:cNvPr id="35" name="Text 32"/>
          <p:cNvSpPr txBox="1"/>
          <p:nvPr/>
        </p:nvSpPr>
        <p:spPr>
          <a:xfrm>
            <a:off x="548640" y="5330952"/>
            <a:ext cx="3977640" cy="420624"/>
          </a:xfrm>
          <a:prstGeom prst="rect">
            <a:avLst/>
          </a:prstGeom>
          <a:noFill/>
          <a:ln/>
        </p:spPr>
        <p:txBody>
          <a:bodyPr wrap="square" lIns="0" tIns="0" rIns="0" bIns="0" rtlCol="0" anchor="ctr"/>
          <a:lstStyle/>
          <a:p>
            <a:pPr indent="0" marL="0">
              <a:lnSpc>
                <a:spcPct val="105000"/>
              </a:lnSpc>
              <a:buNone/>
            </a:pPr>
            <a:r>
              <a:rPr lang="en-US" sz="700" b="1" dirty="0">
                <a:solidFill>
                  <a:srgbClr val="1568DC"/>
                </a:solidFill>
                <a:latin typeface="Arial" pitchFamily="34" charset="0"/>
                <a:ea typeface="Arial" pitchFamily="34" charset="-122"/>
                <a:cs typeface="Arial" pitchFamily="34" charset="-120"/>
              </a:rPr>
              <a:t>WEIGHTS  </a:t>
            </a:r>
            <a:pPr indent="0" marL="0">
              <a:lnSpc>
                <a:spcPct val="105000"/>
              </a:lnSpc>
              <a:buNone/>
            </a:pPr>
            <a:r>
              <a:rPr lang="en-US" sz="700" dirty="0">
                <a:solidFill>
                  <a:srgbClr val="55616D"/>
                </a:solidFill>
                <a:latin typeface="Arial" pitchFamily="34" charset="0"/>
                <a:ea typeface="Arial" pitchFamily="34" charset="-122"/>
                <a:cs typeface="Arial" pitchFamily="34" charset="-120"/>
              </a:rPr>
              <a:t>demand 15 · urgency 15 · fit 10 · ticket 10 · DM access 10 · payment 10 · repeat/AMC 10 · service 10 · rivalry 5 · cycle 5  (scores 1-5, backup p.9)</a:t>
            </a:r>
            <a:endParaRPr lang="en-US" sz="700" dirty="0"/>
          </a:p>
        </p:txBody>
      </p:sp>
      <p:sp>
        <p:nvSpPr>
          <p:cNvPr id="36" name="Shape 33"/>
          <p:cNvSpPr/>
          <p:nvPr/>
        </p:nvSpPr>
        <p:spPr>
          <a:xfrm>
            <a:off x="4864608" y="1316736"/>
            <a:ext cx="274320" cy="274320"/>
          </a:xfrm>
          <a:prstGeom prst="roundRect">
            <a:avLst>
              <a:gd name="adj" fmla="val 24000"/>
            </a:avLst>
          </a:prstGeom>
          <a:solidFill>
            <a:srgbClr val="E8F1FC"/>
          </a:solidFill>
          <a:ln/>
        </p:spPr>
      </p:sp>
      <p:pic>
        <p:nvPicPr>
          <p:cNvPr id="37" name="Image 1" descr="preencoded.png">    </p:cNvPr>
          <p:cNvPicPr>
            <a:picLocks noChangeAspect="1"/>
          </p:cNvPicPr>
          <p:nvPr/>
        </p:nvPicPr>
        <p:blipFill>
          <a:blip r:embed="rId2"/>
          <a:stretch>
            <a:fillRect/>
          </a:stretch>
        </p:blipFill>
        <p:spPr>
          <a:xfrm>
            <a:off x="4922215" y="1374343"/>
            <a:ext cx="159106" cy="159106"/>
          </a:xfrm>
          <a:prstGeom prst="rect">
            <a:avLst/>
          </a:prstGeom>
        </p:spPr>
      </p:pic>
      <p:sp>
        <p:nvSpPr>
          <p:cNvPr id="38" name="Text 34"/>
          <p:cNvSpPr txBox="1"/>
          <p:nvPr/>
        </p:nvSpPr>
        <p:spPr>
          <a:xfrm>
            <a:off x="5248656" y="1293876"/>
            <a:ext cx="54864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Priority persona playbook</a:t>
            </a:r>
            <a:endParaRPr lang="en-US" sz="1250" dirty="0"/>
          </a:p>
        </p:txBody>
      </p:sp>
      <p:sp>
        <p:nvSpPr>
          <p:cNvPr id="39" name="Shape 35"/>
          <p:cNvSpPr/>
          <p:nvPr/>
        </p:nvSpPr>
        <p:spPr>
          <a:xfrm>
            <a:off x="4864608" y="1700784"/>
            <a:ext cx="2212848" cy="4160520"/>
          </a:xfrm>
          <a:prstGeom prst="roundRect">
            <a:avLst>
              <a:gd name="adj" fmla="val 330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40" name="Shape 36"/>
          <p:cNvSpPr/>
          <p:nvPr/>
        </p:nvSpPr>
        <p:spPr>
          <a:xfrm>
            <a:off x="4983480" y="1819656"/>
            <a:ext cx="384048" cy="384048"/>
          </a:xfrm>
          <a:prstGeom prst="roundRect">
            <a:avLst>
              <a:gd name="adj" fmla="val 24000"/>
            </a:avLst>
          </a:prstGeom>
          <a:solidFill>
            <a:srgbClr val="E8F1FC"/>
          </a:solidFill>
          <a:ln/>
        </p:spPr>
      </p:sp>
      <p:pic>
        <p:nvPicPr>
          <p:cNvPr id="41" name="Image 2" descr="preencoded.png">    </p:cNvPr>
          <p:cNvPicPr>
            <a:picLocks noChangeAspect="1"/>
          </p:cNvPicPr>
          <p:nvPr/>
        </p:nvPicPr>
        <p:blipFill>
          <a:blip r:embed="rId3"/>
          <a:stretch>
            <a:fillRect/>
          </a:stretch>
        </p:blipFill>
        <p:spPr>
          <a:xfrm>
            <a:off x="5064130" y="1900306"/>
            <a:ext cx="222748" cy="222748"/>
          </a:xfrm>
          <a:prstGeom prst="rect">
            <a:avLst/>
          </a:prstGeom>
        </p:spPr>
      </p:pic>
      <p:sp>
        <p:nvSpPr>
          <p:cNvPr id="42" name="Text 37"/>
          <p:cNvSpPr txBox="1"/>
          <p:nvPr/>
        </p:nvSpPr>
        <p:spPr>
          <a:xfrm>
            <a:off x="5449824" y="1792224"/>
            <a:ext cx="1115568" cy="457200"/>
          </a:xfrm>
          <a:prstGeom prst="rect">
            <a:avLst/>
          </a:prstGeom>
          <a:noFill/>
          <a:ln/>
        </p:spPr>
        <p:txBody>
          <a:bodyPr wrap="square" lIns="0" tIns="0" rIns="0" bIns="0" rtlCol="0" anchor="ctr"/>
          <a:lstStyle/>
          <a:p>
            <a:pPr indent="0" marL="0">
              <a:lnSpc>
                <a:spcPct val="95000"/>
              </a:lnSpc>
              <a:buNone/>
            </a:pPr>
            <a:r>
              <a:rPr lang="en-US" sz="950" b="1" dirty="0">
                <a:solidFill>
                  <a:srgbClr val="16202B"/>
                </a:solidFill>
                <a:latin typeface="Arial" pitchFamily="34" charset="0"/>
                <a:ea typeface="Arial" pitchFamily="34" charset="-122"/>
                <a:cs typeface="Arial" pitchFamily="34" charset="-120"/>
              </a:rPr>
              <a:t>Coastal &amp; leisure</a:t>
            </a:r>
            <a:endParaRPr lang="en-US" sz="950" dirty="0"/>
          </a:p>
          <a:p>
            <a:pPr indent="0" marL="0">
              <a:lnSpc>
                <a:spcPct val="95000"/>
              </a:lnSpc>
              <a:buNone/>
            </a:pPr>
            <a:r>
              <a:rPr lang="en-US" sz="950" b="1" dirty="0">
                <a:solidFill>
                  <a:srgbClr val="16202B"/>
                </a:solidFill>
                <a:latin typeface="Arial" pitchFamily="34" charset="0"/>
                <a:ea typeface="Arial" pitchFamily="34" charset="-122"/>
                <a:cs typeface="Arial" pitchFamily="34" charset="-120"/>
              </a:rPr>
              <a:t>hotelier</a:t>
            </a:r>
            <a:endParaRPr lang="en-US" sz="950" dirty="0"/>
          </a:p>
        </p:txBody>
      </p:sp>
      <p:sp>
        <p:nvSpPr>
          <p:cNvPr id="43" name="Shape 38"/>
          <p:cNvSpPr/>
          <p:nvPr/>
        </p:nvSpPr>
        <p:spPr>
          <a:xfrm>
            <a:off x="6528816" y="1828800"/>
            <a:ext cx="438912" cy="237744"/>
          </a:xfrm>
          <a:prstGeom prst="roundRect">
            <a:avLst>
              <a:gd name="adj" fmla="val 50000"/>
            </a:avLst>
          </a:prstGeom>
          <a:solidFill>
            <a:srgbClr val="1568DC"/>
          </a:solidFill>
          <a:ln/>
        </p:spPr>
      </p:sp>
      <p:sp>
        <p:nvSpPr>
          <p:cNvPr id="44" name="Text 39"/>
          <p:cNvSpPr txBox="1"/>
          <p:nvPr/>
        </p:nvSpPr>
        <p:spPr>
          <a:xfrm>
            <a:off x="6528816" y="1828800"/>
            <a:ext cx="43891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4.50</a:t>
            </a:r>
            <a:endParaRPr lang="en-US" sz="850" dirty="0"/>
          </a:p>
        </p:txBody>
      </p:sp>
      <p:sp>
        <p:nvSpPr>
          <p:cNvPr id="45" name="Shape 40"/>
          <p:cNvSpPr/>
          <p:nvPr/>
        </p:nvSpPr>
        <p:spPr>
          <a:xfrm>
            <a:off x="4983480" y="2304288"/>
            <a:ext cx="1975104" cy="0"/>
          </a:xfrm>
          <a:prstGeom prst="line">
            <a:avLst/>
          </a:prstGeom>
          <a:noFill/>
          <a:ln w="9525">
            <a:solidFill>
              <a:srgbClr val="DCE5EE"/>
            </a:solidFill>
            <a:prstDash val="solid"/>
          </a:ln>
        </p:spPr>
      </p:sp>
      <p:pic>
        <p:nvPicPr>
          <p:cNvPr id="46" name="Image 3" descr="preencoded.png">    </p:cNvPr>
          <p:cNvPicPr>
            <a:picLocks noChangeAspect="1"/>
          </p:cNvPicPr>
          <p:nvPr/>
        </p:nvPicPr>
        <p:blipFill>
          <a:blip r:embed="rId4"/>
          <a:stretch>
            <a:fillRect/>
          </a:stretch>
        </p:blipFill>
        <p:spPr>
          <a:xfrm>
            <a:off x="4983480" y="2404872"/>
            <a:ext cx="137160" cy="137160"/>
          </a:xfrm>
          <a:prstGeom prst="rect">
            <a:avLst/>
          </a:prstGeom>
        </p:spPr>
      </p:pic>
      <p:sp>
        <p:nvSpPr>
          <p:cNvPr id="47" name="Text 41"/>
          <p:cNvSpPr txBox="1"/>
          <p:nvPr/>
        </p:nvSpPr>
        <p:spPr>
          <a:xfrm>
            <a:off x="5175504" y="237744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TRIGGER  </a:t>
            </a:r>
            <a:pPr indent="0" marL="0">
              <a:lnSpc>
                <a:spcPct val="98000"/>
              </a:lnSpc>
              <a:buNone/>
            </a:pPr>
            <a:r>
              <a:rPr lang="en-US" sz="730" dirty="0">
                <a:solidFill>
                  <a:srgbClr val="16202B"/>
                </a:solidFill>
                <a:latin typeface="Arial" pitchFamily="34" charset="0"/>
                <a:ea typeface="Arial" pitchFamily="34" charset="-122"/>
                <a:cs typeface="Arial" pitchFamily="34" charset="-120"/>
              </a:rPr>
              <a:t>PCB consent renewal, expansion, tanker-water cost</a:t>
            </a:r>
            <a:endParaRPr lang="en-US" sz="660" dirty="0"/>
          </a:p>
        </p:txBody>
      </p:sp>
      <p:pic>
        <p:nvPicPr>
          <p:cNvPr id="48" name="Image 4" descr="preencoded.png">    </p:cNvPr>
          <p:cNvPicPr>
            <a:picLocks noChangeAspect="1"/>
          </p:cNvPicPr>
          <p:nvPr/>
        </p:nvPicPr>
        <p:blipFill>
          <a:blip r:embed="rId5"/>
          <a:stretch>
            <a:fillRect/>
          </a:stretch>
        </p:blipFill>
        <p:spPr>
          <a:xfrm>
            <a:off x="4983480" y="2894076"/>
            <a:ext cx="137160" cy="137160"/>
          </a:xfrm>
          <a:prstGeom prst="rect">
            <a:avLst/>
          </a:prstGeom>
        </p:spPr>
      </p:pic>
      <p:sp>
        <p:nvSpPr>
          <p:cNvPr id="49" name="Text 42"/>
          <p:cNvSpPr txBox="1"/>
          <p:nvPr/>
        </p:nvSpPr>
        <p:spPr>
          <a:xfrm>
            <a:off x="5175504" y="286664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DECIDES  </a:t>
            </a:r>
            <a:pPr indent="0" marL="0">
              <a:lnSpc>
                <a:spcPct val="98000"/>
              </a:lnSpc>
              <a:buNone/>
            </a:pPr>
            <a:r>
              <a:rPr lang="en-US" sz="730" dirty="0">
                <a:solidFill>
                  <a:srgbClr val="16202B"/>
                </a:solidFill>
                <a:latin typeface="Arial" pitchFamily="34" charset="0"/>
                <a:ea typeface="Arial" pitchFamily="34" charset="-122"/>
                <a:cs typeface="Arial" pitchFamily="34" charset="-120"/>
              </a:rPr>
              <a:t>Owner-promoter; GM + MEP consultant influence</a:t>
            </a:r>
            <a:endParaRPr lang="en-US" sz="660" dirty="0"/>
          </a:p>
        </p:txBody>
      </p:sp>
      <p:pic>
        <p:nvPicPr>
          <p:cNvPr id="50" name="Image 5" descr="preencoded.png">    </p:cNvPr>
          <p:cNvPicPr>
            <a:picLocks noChangeAspect="1"/>
          </p:cNvPicPr>
          <p:nvPr/>
        </p:nvPicPr>
        <p:blipFill>
          <a:blip r:embed="rId6"/>
          <a:stretch>
            <a:fillRect/>
          </a:stretch>
        </p:blipFill>
        <p:spPr>
          <a:xfrm>
            <a:off x="4983480" y="3383280"/>
            <a:ext cx="137160" cy="137160"/>
          </a:xfrm>
          <a:prstGeom prst="rect">
            <a:avLst/>
          </a:prstGeom>
        </p:spPr>
      </p:pic>
      <p:sp>
        <p:nvSpPr>
          <p:cNvPr id="51" name="Text 43"/>
          <p:cNvSpPr txBox="1"/>
          <p:nvPr/>
        </p:nvSpPr>
        <p:spPr>
          <a:xfrm>
            <a:off x="5175504" y="3355848"/>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PRICE  </a:t>
            </a:r>
            <a:pPr indent="0" marL="0">
              <a:lnSpc>
                <a:spcPct val="98000"/>
              </a:lnSpc>
              <a:buNone/>
            </a:pPr>
            <a:r>
              <a:rPr lang="en-US" sz="730" dirty="0">
                <a:solidFill>
                  <a:srgbClr val="16202B"/>
                </a:solidFill>
                <a:latin typeface="Arial" pitchFamily="34" charset="0"/>
                <a:ea typeface="Arial" pitchFamily="34" charset="-122"/>
                <a:cs typeface="Arial" pitchFamily="34" charset="-120"/>
              </a:rPr>
              <a:t>₹18-45 L turnkey + AMC ₹0.6-1.5 L/yr</a:t>
            </a:r>
            <a:endParaRPr lang="en-US" sz="660" dirty="0"/>
          </a:p>
        </p:txBody>
      </p:sp>
      <p:pic>
        <p:nvPicPr>
          <p:cNvPr id="52" name="Image 6" descr="preencoded.png">    </p:cNvPr>
          <p:cNvPicPr>
            <a:picLocks noChangeAspect="1"/>
          </p:cNvPicPr>
          <p:nvPr/>
        </p:nvPicPr>
        <p:blipFill>
          <a:blip r:embed="rId7"/>
          <a:stretch>
            <a:fillRect/>
          </a:stretch>
        </p:blipFill>
        <p:spPr>
          <a:xfrm>
            <a:off x="4983480" y="3872484"/>
            <a:ext cx="137160" cy="137160"/>
          </a:xfrm>
          <a:prstGeom prst="rect">
            <a:avLst/>
          </a:prstGeom>
        </p:spPr>
      </p:pic>
      <p:sp>
        <p:nvSpPr>
          <p:cNvPr id="53" name="Text 44"/>
          <p:cNvSpPr txBox="1"/>
          <p:nvPr/>
        </p:nvSpPr>
        <p:spPr>
          <a:xfrm>
            <a:off x="5175504" y="3845052"/>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CYCLE  </a:t>
            </a:r>
            <a:pPr indent="0" marL="0">
              <a:lnSpc>
                <a:spcPct val="98000"/>
              </a:lnSpc>
              <a:buNone/>
            </a:pPr>
            <a:r>
              <a:rPr lang="en-US" sz="730" dirty="0">
                <a:solidFill>
                  <a:srgbClr val="16202B"/>
                </a:solidFill>
                <a:latin typeface="Arial" pitchFamily="34" charset="0"/>
                <a:ea typeface="Arial" pitchFamily="34" charset="-122"/>
                <a:cs typeface="Arial" pitchFamily="34" charset="-120"/>
              </a:rPr>
              <a:t>2-4 months</a:t>
            </a:r>
            <a:endParaRPr lang="en-US" sz="660" dirty="0"/>
          </a:p>
        </p:txBody>
      </p:sp>
      <p:pic>
        <p:nvPicPr>
          <p:cNvPr id="54" name="Image 7" descr="preencoded.png">    </p:cNvPr>
          <p:cNvPicPr>
            <a:picLocks noChangeAspect="1"/>
          </p:cNvPicPr>
          <p:nvPr/>
        </p:nvPicPr>
        <p:blipFill>
          <a:blip r:embed="rId8"/>
          <a:stretch>
            <a:fillRect/>
          </a:stretch>
        </p:blipFill>
        <p:spPr>
          <a:xfrm>
            <a:off x="4983480" y="4361688"/>
            <a:ext cx="137160" cy="137160"/>
          </a:xfrm>
          <a:prstGeom prst="rect">
            <a:avLst/>
          </a:prstGeom>
        </p:spPr>
      </p:pic>
      <p:sp>
        <p:nvSpPr>
          <p:cNvPr id="55" name="Text 45"/>
          <p:cNvSpPr txBox="1"/>
          <p:nvPr/>
        </p:nvSpPr>
        <p:spPr>
          <a:xfrm>
            <a:off x="5175504" y="4334256"/>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PROOF  </a:t>
            </a:r>
            <a:pPr indent="0" marL="0">
              <a:lnSpc>
                <a:spcPct val="98000"/>
              </a:lnSpc>
              <a:buNone/>
            </a:pPr>
            <a:r>
              <a:rPr lang="en-US" sz="730" dirty="0">
                <a:solidFill>
                  <a:srgbClr val="16202B"/>
                </a:solidFill>
                <a:latin typeface="Arial" pitchFamily="34" charset="0"/>
                <a:ea typeface="Arial" pitchFamily="34" charset="-122"/>
                <a:cs typeface="Arial" pitchFamily="34" charset="-120"/>
              </a:rPr>
              <a:t>Local reference visits, NABL lab reports, DRDO tech</a:t>
            </a:r>
            <a:endParaRPr lang="en-US" sz="660" dirty="0"/>
          </a:p>
        </p:txBody>
      </p:sp>
      <p:pic>
        <p:nvPicPr>
          <p:cNvPr id="56" name="Image 8" descr="preencoded.png">    </p:cNvPr>
          <p:cNvPicPr>
            <a:picLocks noChangeAspect="1"/>
          </p:cNvPicPr>
          <p:nvPr/>
        </p:nvPicPr>
        <p:blipFill>
          <a:blip r:embed="rId9"/>
          <a:stretch>
            <a:fillRect/>
          </a:stretch>
        </p:blipFill>
        <p:spPr>
          <a:xfrm>
            <a:off x="4983480" y="4850892"/>
            <a:ext cx="137160" cy="137160"/>
          </a:xfrm>
          <a:prstGeom prst="rect">
            <a:avLst/>
          </a:prstGeom>
        </p:spPr>
      </p:pic>
      <p:sp>
        <p:nvSpPr>
          <p:cNvPr id="57" name="Text 46"/>
          <p:cNvSpPr txBox="1"/>
          <p:nvPr/>
        </p:nvSpPr>
        <p:spPr>
          <a:xfrm>
            <a:off x="5175504" y="482346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ENTRY  </a:t>
            </a:r>
            <a:pPr indent="0" marL="0">
              <a:lnSpc>
                <a:spcPct val="98000"/>
              </a:lnSpc>
              <a:buNone/>
            </a:pPr>
            <a:r>
              <a:rPr lang="en-US" sz="730" dirty="0">
                <a:solidFill>
                  <a:srgbClr val="16202B"/>
                </a:solidFill>
                <a:latin typeface="Arial" pitchFamily="34" charset="0"/>
                <a:ea typeface="Arial" pitchFamily="34" charset="-122"/>
                <a:cs typeface="Arial" pitchFamily="34" charset="-120"/>
              </a:rPr>
              <a:t>₹25k audit credited to order; install ≤4 weeks</a:t>
            </a:r>
            <a:endParaRPr lang="en-US" sz="660" dirty="0"/>
          </a:p>
        </p:txBody>
      </p:sp>
      <p:pic>
        <p:nvPicPr>
          <p:cNvPr id="58" name="Image 9" descr="preencoded.png">    </p:cNvPr>
          <p:cNvPicPr>
            <a:picLocks noChangeAspect="1"/>
          </p:cNvPicPr>
          <p:nvPr/>
        </p:nvPicPr>
        <p:blipFill>
          <a:blip r:embed="rId10"/>
          <a:stretch>
            <a:fillRect/>
          </a:stretch>
        </p:blipFill>
        <p:spPr>
          <a:xfrm>
            <a:off x="4983480" y="5340096"/>
            <a:ext cx="137160" cy="137160"/>
          </a:xfrm>
          <a:prstGeom prst="rect">
            <a:avLst/>
          </a:prstGeom>
        </p:spPr>
      </p:pic>
      <p:sp>
        <p:nvSpPr>
          <p:cNvPr id="59" name="Text 47"/>
          <p:cNvSpPr txBox="1"/>
          <p:nvPr/>
        </p:nvSpPr>
        <p:spPr>
          <a:xfrm>
            <a:off x="5175504" y="531266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REPEAT  </a:t>
            </a:r>
            <a:pPr indent="0" marL="0">
              <a:lnSpc>
                <a:spcPct val="98000"/>
              </a:lnSpc>
              <a:buNone/>
            </a:pPr>
            <a:r>
              <a:rPr lang="en-US" sz="730" dirty="0">
                <a:solidFill>
                  <a:srgbClr val="16202B"/>
                </a:solidFill>
                <a:latin typeface="Arial" pitchFamily="34" charset="0"/>
                <a:ea typeface="Arial" pitchFamily="34" charset="-122"/>
                <a:cs typeface="Arial" pitchFamily="34" charset="-120"/>
              </a:rPr>
              <a:t>Sister properties, reuse-module upsell, consumables</a:t>
            </a:r>
            <a:endParaRPr lang="en-US" sz="660" dirty="0"/>
          </a:p>
        </p:txBody>
      </p:sp>
      <p:sp>
        <p:nvSpPr>
          <p:cNvPr id="60" name="Shape 48"/>
          <p:cNvSpPr/>
          <p:nvPr/>
        </p:nvSpPr>
        <p:spPr>
          <a:xfrm>
            <a:off x="7242048" y="1700784"/>
            <a:ext cx="2212848" cy="4160520"/>
          </a:xfrm>
          <a:prstGeom prst="roundRect">
            <a:avLst>
              <a:gd name="adj" fmla="val 330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61" name="Shape 49"/>
          <p:cNvSpPr/>
          <p:nvPr/>
        </p:nvSpPr>
        <p:spPr>
          <a:xfrm>
            <a:off x="7360920" y="1819656"/>
            <a:ext cx="384048" cy="384048"/>
          </a:xfrm>
          <a:prstGeom prst="roundRect">
            <a:avLst>
              <a:gd name="adj" fmla="val 24000"/>
            </a:avLst>
          </a:prstGeom>
          <a:solidFill>
            <a:srgbClr val="E8F1FC"/>
          </a:solidFill>
          <a:ln/>
        </p:spPr>
      </p:sp>
      <p:pic>
        <p:nvPicPr>
          <p:cNvPr id="62" name="Image 10" descr="preencoded.png">    </p:cNvPr>
          <p:cNvPicPr>
            <a:picLocks noChangeAspect="1"/>
          </p:cNvPicPr>
          <p:nvPr/>
        </p:nvPicPr>
        <p:blipFill>
          <a:blip r:embed="rId11"/>
          <a:stretch>
            <a:fillRect/>
          </a:stretch>
        </p:blipFill>
        <p:spPr>
          <a:xfrm>
            <a:off x="7441570" y="1900306"/>
            <a:ext cx="222748" cy="222748"/>
          </a:xfrm>
          <a:prstGeom prst="rect">
            <a:avLst/>
          </a:prstGeom>
        </p:spPr>
      </p:pic>
      <p:sp>
        <p:nvSpPr>
          <p:cNvPr id="63" name="Text 50"/>
          <p:cNvSpPr txBox="1"/>
          <p:nvPr/>
        </p:nvSpPr>
        <p:spPr>
          <a:xfrm>
            <a:off x="7827264" y="1792224"/>
            <a:ext cx="1115568" cy="457200"/>
          </a:xfrm>
          <a:prstGeom prst="rect">
            <a:avLst/>
          </a:prstGeom>
          <a:noFill/>
          <a:ln/>
        </p:spPr>
        <p:txBody>
          <a:bodyPr wrap="square" lIns="0" tIns="0" rIns="0" bIns="0" rtlCol="0" anchor="ctr"/>
          <a:lstStyle/>
          <a:p>
            <a:pPr indent="0" marL="0">
              <a:lnSpc>
                <a:spcPct val="95000"/>
              </a:lnSpc>
              <a:buNone/>
            </a:pPr>
            <a:r>
              <a:rPr lang="en-US" sz="950" b="1" dirty="0">
                <a:solidFill>
                  <a:srgbClr val="16202B"/>
                </a:solidFill>
                <a:latin typeface="Arial" pitchFamily="34" charset="0"/>
                <a:ea typeface="Arial" pitchFamily="34" charset="-122"/>
                <a:cs typeface="Arial" pitchFamily="34" charset="-120"/>
              </a:rPr>
              <a:t>Tier-2 residential</a:t>
            </a:r>
            <a:endParaRPr lang="en-US" sz="950" dirty="0"/>
          </a:p>
          <a:p>
            <a:pPr indent="0" marL="0">
              <a:lnSpc>
                <a:spcPct val="95000"/>
              </a:lnSpc>
              <a:buNone/>
            </a:pPr>
            <a:r>
              <a:rPr lang="en-US" sz="950" b="1" dirty="0">
                <a:solidFill>
                  <a:srgbClr val="16202B"/>
                </a:solidFill>
                <a:latin typeface="Arial" pitchFamily="34" charset="0"/>
                <a:ea typeface="Arial" pitchFamily="34" charset="-122"/>
                <a:cs typeface="Arial" pitchFamily="34" charset="-120"/>
              </a:rPr>
              <a:t>developer</a:t>
            </a:r>
            <a:endParaRPr lang="en-US" sz="950" dirty="0"/>
          </a:p>
        </p:txBody>
      </p:sp>
      <p:sp>
        <p:nvSpPr>
          <p:cNvPr id="64" name="Shape 51"/>
          <p:cNvSpPr/>
          <p:nvPr/>
        </p:nvSpPr>
        <p:spPr>
          <a:xfrm>
            <a:off x="8906256" y="1828800"/>
            <a:ext cx="438912" cy="237744"/>
          </a:xfrm>
          <a:prstGeom prst="roundRect">
            <a:avLst>
              <a:gd name="adj" fmla="val 50000"/>
            </a:avLst>
          </a:prstGeom>
          <a:solidFill>
            <a:srgbClr val="1568DC"/>
          </a:solidFill>
          <a:ln/>
        </p:spPr>
      </p:sp>
      <p:sp>
        <p:nvSpPr>
          <p:cNvPr id="65" name="Text 52"/>
          <p:cNvSpPr txBox="1"/>
          <p:nvPr/>
        </p:nvSpPr>
        <p:spPr>
          <a:xfrm>
            <a:off x="8906256" y="1828800"/>
            <a:ext cx="43891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3.80</a:t>
            </a:r>
            <a:endParaRPr lang="en-US" sz="850" dirty="0"/>
          </a:p>
        </p:txBody>
      </p:sp>
      <p:sp>
        <p:nvSpPr>
          <p:cNvPr id="66" name="Shape 53"/>
          <p:cNvSpPr/>
          <p:nvPr/>
        </p:nvSpPr>
        <p:spPr>
          <a:xfrm>
            <a:off x="7360920" y="2304288"/>
            <a:ext cx="1975104" cy="0"/>
          </a:xfrm>
          <a:prstGeom prst="line">
            <a:avLst/>
          </a:prstGeom>
          <a:noFill/>
          <a:ln w="9525">
            <a:solidFill>
              <a:srgbClr val="DCE5EE"/>
            </a:solidFill>
            <a:prstDash val="solid"/>
          </a:ln>
        </p:spPr>
      </p:sp>
      <p:pic>
        <p:nvPicPr>
          <p:cNvPr id="67" name="Image 11" descr="preencoded.png">    </p:cNvPr>
          <p:cNvPicPr>
            <a:picLocks noChangeAspect="1"/>
          </p:cNvPicPr>
          <p:nvPr/>
        </p:nvPicPr>
        <p:blipFill>
          <a:blip r:embed="rId12"/>
          <a:stretch>
            <a:fillRect/>
          </a:stretch>
        </p:blipFill>
        <p:spPr>
          <a:xfrm>
            <a:off x="7360920" y="2404872"/>
            <a:ext cx="137160" cy="137160"/>
          </a:xfrm>
          <a:prstGeom prst="rect">
            <a:avLst/>
          </a:prstGeom>
        </p:spPr>
      </p:pic>
      <p:sp>
        <p:nvSpPr>
          <p:cNvPr id="68" name="Text 54"/>
          <p:cNvSpPr txBox="1"/>
          <p:nvPr/>
        </p:nvSpPr>
        <p:spPr>
          <a:xfrm>
            <a:off x="7552944" y="237744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TRIGGER  </a:t>
            </a:r>
            <a:pPr indent="0" marL="0">
              <a:lnSpc>
                <a:spcPct val="98000"/>
              </a:lnSpc>
              <a:buNone/>
            </a:pPr>
            <a:r>
              <a:rPr lang="en-US" sz="730" dirty="0">
                <a:solidFill>
                  <a:srgbClr val="16202B"/>
                </a:solidFill>
                <a:latin typeface="Arial" pitchFamily="34" charset="0"/>
                <a:ea typeface="Arial" pitchFamily="34" charset="-122"/>
                <a:cs typeface="Arial" pitchFamily="34" charset="-120"/>
              </a:rPr>
              <a:t>EC ≥20,000 sqm &amp; occupancy certificate need live STP</a:t>
            </a:r>
            <a:endParaRPr lang="en-US" sz="660" dirty="0"/>
          </a:p>
        </p:txBody>
      </p:sp>
      <p:pic>
        <p:nvPicPr>
          <p:cNvPr id="69" name="Image 12" descr="preencoded.png">    </p:cNvPr>
          <p:cNvPicPr>
            <a:picLocks noChangeAspect="1"/>
          </p:cNvPicPr>
          <p:nvPr/>
        </p:nvPicPr>
        <p:blipFill>
          <a:blip r:embed="rId13"/>
          <a:stretch>
            <a:fillRect/>
          </a:stretch>
        </p:blipFill>
        <p:spPr>
          <a:xfrm>
            <a:off x="7360920" y="2894076"/>
            <a:ext cx="137160" cy="137160"/>
          </a:xfrm>
          <a:prstGeom prst="rect">
            <a:avLst/>
          </a:prstGeom>
        </p:spPr>
      </p:pic>
      <p:sp>
        <p:nvSpPr>
          <p:cNvPr id="70" name="Text 55"/>
          <p:cNvSpPr txBox="1"/>
          <p:nvPr/>
        </p:nvSpPr>
        <p:spPr>
          <a:xfrm>
            <a:off x="7552944" y="286664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DECIDES  </a:t>
            </a:r>
            <a:pPr indent="0" marL="0">
              <a:lnSpc>
                <a:spcPct val="98000"/>
              </a:lnSpc>
              <a:buNone/>
            </a:pPr>
            <a:r>
              <a:rPr lang="en-US" sz="730" dirty="0">
                <a:solidFill>
                  <a:srgbClr val="16202B"/>
                </a:solidFill>
                <a:latin typeface="Arial" pitchFamily="34" charset="0"/>
                <a:ea typeface="Arial" pitchFamily="34" charset="-122"/>
                <a:cs typeface="Arial" pitchFamily="34" charset="-120"/>
              </a:rPr>
              <a:t>Promoter; MEP consultant + PMC specify</a:t>
            </a:r>
            <a:endParaRPr lang="en-US" sz="660" dirty="0"/>
          </a:p>
        </p:txBody>
      </p:sp>
      <p:pic>
        <p:nvPicPr>
          <p:cNvPr id="71" name="Image 13" descr="preencoded.png">    </p:cNvPr>
          <p:cNvPicPr>
            <a:picLocks noChangeAspect="1"/>
          </p:cNvPicPr>
          <p:nvPr/>
        </p:nvPicPr>
        <p:blipFill>
          <a:blip r:embed="rId14"/>
          <a:stretch>
            <a:fillRect/>
          </a:stretch>
        </p:blipFill>
        <p:spPr>
          <a:xfrm>
            <a:off x="7360920" y="3383280"/>
            <a:ext cx="137160" cy="137160"/>
          </a:xfrm>
          <a:prstGeom prst="rect">
            <a:avLst/>
          </a:prstGeom>
        </p:spPr>
      </p:pic>
      <p:sp>
        <p:nvSpPr>
          <p:cNvPr id="72" name="Text 56"/>
          <p:cNvSpPr txBox="1"/>
          <p:nvPr/>
        </p:nvSpPr>
        <p:spPr>
          <a:xfrm>
            <a:off x="7552944" y="3355848"/>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PRICE  </a:t>
            </a:r>
            <a:pPr indent="0" marL="0">
              <a:lnSpc>
                <a:spcPct val="98000"/>
              </a:lnSpc>
              <a:buNone/>
            </a:pPr>
            <a:r>
              <a:rPr lang="en-US" sz="730" dirty="0">
                <a:solidFill>
                  <a:srgbClr val="16202B"/>
                </a:solidFill>
                <a:latin typeface="Arial" pitchFamily="34" charset="0"/>
                <a:ea typeface="Arial" pitchFamily="34" charset="-122"/>
                <a:cs typeface="Arial" pitchFamily="34" charset="-120"/>
              </a:rPr>
              <a:t>₹35 L-1.2 cr design-build, milestone billed</a:t>
            </a:r>
            <a:endParaRPr lang="en-US" sz="660" dirty="0"/>
          </a:p>
        </p:txBody>
      </p:sp>
      <p:pic>
        <p:nvPicPr>
          <p:cNvPr id="73" name="Image 14" descr="preencoded.png">    </p:cNvPr>
          <p:cNvPicPr>
            <a:picLocks noChangeAspect="1"/>
          </p:cNvPicPr>
          <p:nvPr/>
        </p:nvPicPr>
        <p:blipFill>
          <a:blip r:embed="rId15"/>
          <a:stretch>
            <a:fillRect/>
          </a:stretch>
        </p:blipFill>
        <p:spPr>
          <a:xfrm>
            <a:off x="7360920" y="3872484"/>
            <a:ext cx="137160" cy="137160"/>
          </a:xfrm>
          <a:prstGeom prst="rect">
            <a:avLst/>
          </a:prstGeom>
        </p:spPr>
      </p:pic>
      <p:sp>
        <p:nvSpPr>
          <p:cNvPr id="74" name="Text 57"/>
          <p:cNvSpPr txBox="1"/>
          <p:nvPr/>
        </p:nvSpPr>
        <p:spPr>
          <a:xfrm>
            <a:off x="7552944" y="3845052"/>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CYCLE  </a:t>
            </a:r>
            <a:pPr indent="0" marL="0">
              <a:lnSpc>
                <a:spcPct val="98000"/>
              </a:lnSpc>
              <a:buNone/>
            </a:pPr>
            <a:r>
              <a:rPr lang="en-US" sz="730" dirty="0">
                <a:solidFill>
                  <a:srgbClr val="16202B"/>
                </a:solidFill>
                <a:latin typeface="Arial" pitchFamily="34" charset="0"/>
                <a:ea typeface="Arial" pitchFamily="34" charset="-122"/>
                <a:cs typeface="Arial" pitchFamily="34" charset="-120"/>
              </a:rPr>
              <a:t>6-9 months (tracks construction)</a:t>
            </a:r>
            <a:endParaRPr lang="en-US" sz="660" dirty="0"/>
          </a:p>
        </p:txBody>
      </p:sp>
      <p:pic>
        <p:nvPicPr>
          <p:cNvPr id="75" name="Image 15" descr="preencoded.png">    </p:cNvPr>
          <p:cNvPicPr>
            <a:picLocks noChangeAspect="1"/>
          </p:cNvPicPr>
          <p:nvPr/>
        </p:nvPicPr>
        <p:blipFill>
          <a:blip r:embed="rId16"/>
          <a:stretch>
            <a:fillRect/>
          </a:stretch>
        </p:blipFill>
        <p:spPr>
          <a:xfrm>
            <a:off x="7360920" y="4361688"/>
            <a:ext cx="137160" cy="137160"/>
          </a:xfrm>
          <a:prstGeom prst="rect">
            <a:avLst/>
          </a:prstGeom>
        </p:spPr>
      </p:pic>
      <p:sp>
        <p:nvSpPr>
          <p:cNvPr id="76" name="Text 58"/>
          <p:cNvSpPr txBox="1"/>
          <p:nvPr/>
        </p:nvSpPr>
        <p:spPr>
          <a:xfrm>
            <a:off x="7552944" y="4334256"/>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PROOF  </a:t>
            </a:r>
            <a:pPr indent="0" marL="0">
              <a:lnSpc>
                <a:spcPct val="98000"/>
              </a:lnSpc>
              <a:buNone/>
            </a:pPr>
            <a:r>
              <a:rPr lang="en-US" sz="730" dirty="0">
                <a:solidFill>
                  <a:srgbClr val="16202B"/>
                </a:solidFill>
                <a:latin typeface="Arial" pitchFamily="34" charset="0"/>
                <a:ea typeface="Arial" pitchFamily="34" charset="-122"/>
                <a:cs typeface="Arial" pitchFamily="34" charset="-120"/>
              </a:rPr>
              <a:t>200+ housing installs, ONGC 100-KLD MBR, BG</a:t>
            </a:r>
            <a:endParaRPr lang="en-US" sz="660" dirty="0"/>
          </a:p>
        </p:txBody>
      </p:sp>
      <p:pic>
        <p:nvPicPr>
          <p:cNvPr id="77" name="Image 16" descr="preencoded.png">    </p:cNvPr>
          <p:cNvPicPr>
            <a:picLocks noChangeAspect="1"/>
          </p:cNvPicPr>
          <p:nvPr/>
        </p:nvPicPr>
        <p:blipFill>
          <a:blip r:embed="rId17"/>
          <a:stretch>
            <a:fillRect/>
          </a:stretch>
        </p:blipFill>
        <p:spPr>
          <a:xfrm>
            <a:off x="7360920" y="4850892"/>
            <a:ext cx="137160" cy="137160"/>
          </a:xfrm>
          <a:prstGeom prst="rect">
            <a:avLst/>
          </a:prstGeom>
        </p:spPr>
      </p:pic>
      <p:sp>
        <p:nvSpPr>
          <p:cNvPr id="78" name="Text 59"/>
          <p:cNvSpPr txBox="1"/>
          <p:nvPr/>
        </p:nvSpPr>
        <p:spPr>
          <a:xfrm>
            <a:off x="7552944" y="482346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ENTRY  </a:t>
            </a:r>
            <a:pPr indent="0" marL="0">
              <a:lnSpc>
                <a:spcPct val="98000"/>
              </a:lnSpc>
              <a:buNone/>
            </a:pPr>
            <a:r>
              <a:rPr lang="en-US" sz="730" dirty="0">
                <a:solidFill>
                  <a:srgbClr val="16202B"/>
                </a:solidFill>
                <a:latin typeface="Arial" pitchFamily="34" charset="0"/>
                <a:ea typeface="Arial" pitchFamily="34" charset="-122"/>
                <a:cs typeface="Arial" pitchFamily="34" charset="-120"/>
              </a:rPr>
              <a:t>Free sizing at EC stage; spec-in via consultant</a:t>
            </a:r>
            <a:endParaRPr lang="en-US" sz="660" dirty="0"/>
          </a:p>
        </p:txBody>
      </p:sp>
      <p:pic>
        <p:nvPicPr>
          <p:cNvPr id="79" name="Image 17" descr="preencoded.png">    </p:cNvPr>
          <p:cNvPicPr>
            <a:picLocks noChangeAspect="1"/>
          </p:cNvPicPr>
          <p:nvPr/>
        </p:nvPicPr>
        <p:blipFill>
          <a:blip r:embed="rId18"/>
          <a:stretch>
            <a:fillRect/>
          </a:stretch>
        </p:blipFill>
        <p:spPr>
          <a:xfrm>
            <a:off x="7360920" y="5340096"/>
            <a:ext cx="137160" cy="137160"/>
          </a:xfrm>
          <a:prstGeom prst="rect">
            <a:avLst/>
          </a:prstGeom>
        </p:spPr>
      </p:pic>
      <p:sp>
        <p:nvSpPr>
          <p:cNvPr id="80" name="Text 60"/>
          <p:cNvSpPr txBox="1"/>
          <p:nvPr/>
        </p:nvSpPr>
        <p:spPr>
          <a:xfrm>
            <a:off x="7552944" y="531266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REPEAT  </a:t>
            </a:r>
            <a:pPr indent="0" marL="0">
              <a:lnSpc>
                <a:spcPct val="98000"/>
              </a:lnSpc>
              <a:buNone/>
            </a:pPr>
            <a:r>
              <a:rPr lang="en-US" sz="730" dirty="0">
                <a:solidFill>
                  <a:srgbClr val="16202B"/>
                </a:solidFill>
                <a:latin typeface="Arial" pitchFamily="34" charset="0"/>
                <a:ea typeface="Arial" pitchFamily="34" charset="-122"/>
                <a:cs typeface="Arial" pitchFamily="34" charset="-120"/>
              </a:rPr>
              <a:t>Next projects + society O&amp;M annuity post-handover</a:t>
            </a:r>
            <a:endParaRPr lang="en-US" sz="660" dirty="0"/>
          </a:p>
        </p:txBody>
      </p:sp>
      <p:sp>
        <p:nvSpPr>
          <p:cNvPr id="81" name="Shape 61"/>
          <p:cNvSpPr/>
          <p:nvPr/>
        </p:nvSpPr>
        <p:spPr>
          <a:xfrm>
            <a:off x="9619488" y="1700784"/>
            <a:ext cx="2212848" cy="4160520"/>
          </a:xfrm>
          <a:prstGeom prst="roundRect">
            <a:avLst>
              <a:gd name="adj" fmla="val 3306"/>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82" name="Shape 62"/>
          <p:cNvSpPr/>
          <p:nvPr/>
        </p:nvSpPr>
        <p:spPr>
          <a:xfrm>
            <a:off x="9738360" y="1819656"/>
            <a:ext cx="384048" cy="384048"/>
          </a:xfrm>
          <a:prstGeom prst="roundRect">
            <a:avLst>
              <a:gd name="adj" fmla="val 24000"/>
            </a:avLst>
          </a:prstGeom>
          <a:solidFill>
            <a:srgbClr val="E8F1FC"/>
          </a:solidFill>
          <a:ln/>
        </p:spPr>
      </p:sp>
      <p:pic>
        <p:nvPicPr>
          <p:cNvPr id="83" name="Image 18" descr="preencoded.png">    </p:cNvPr>
          <p:cNvPicPr>
            <a:picLocks noChangeAspect="1"/>
          </p:cNvPicPr>
          <p:nvPr/>
        </p:nvPicPr>
        <p:blipFill>
          <a:blip r:embed="rId19"/>
          <a:stretch>
            <a:fillRect/>
          </a:stretch>
        </p:blipFill>
        <p:spPr>
          <a:xfrm>
            <a:off x="9819010" y="1900306"/>
            <a:ext cx="222748" cy="222748"/>
          </a:xfrm>
          <a:prstGeom prst="rect">
            <a:avLst/>
          </a:prstGeom>
        </p:spPr>
      </p:pic>
      <p:sp>
        <p:nvSpPr>
          <p:cNvPr id="84" name="Text 63"/>
          <p:cNvSpPr txBox="1"/>
          <p:nvPr/>
        </p:nvSpPr>
        <p:spPr>
          <a:xfrm>
            <a:off x="10204704" y="1792224"/>
            <a:ext cx="1115568" cy="457200"/>
          </a:xfrm>
          <a:prstGeom prst="rect">
            <a:avLst/>
          </a:prstGeom>
          <a:noFill/>
          <a:ln/>
        </p:spPr>
        <p:txBody>
          <a:bodyPr wrap="square" lIns="0" tIns="0" rIns="0" bIns="0" rtlCol="0" anchor="ctr"/>
          <a:lstStyle/>
          <a:p>
            <a:pPr indent="0" marL="0">
              <a:lnSpc>
                <a:spcPct val="95000"/>
              </a:lnSpc>
              <a:buNone/>
            </a:pPr>
            <a:r>
              <a:rPr lang="en-US" sz="950" b="1" dirty="0">
                <a:solidFill>
                  <a:srgbClr val="16202B"/>
                </a:solidFill>
                <a:latin typeface="Arial" pitchFamily="34" charset="0"/>
                <a:ea typeface="Arial" pitchFamily="34" charset="-122"/>
                <a:cs typeface="Arial" pitchFamily="34" charset="-120"/>
              </a:rPr>
              <a:t>Private hospital</a:t>
            </a:r>
            <a:endParaRPr lang="en-US" sz="950" dirty="0"/>
          </a:p>
          <a:p>
            <a:pPr indent="0" marL="0">
              <a:lnSpc>
                <a:spcPct val="95000"/>
              </a:lnSpc>
              <a:buNone/>
            </a:pPr>
            <a:r>
              <a:rPr lang="en-US" sz="950" b="1" dirty="0">
                <a:solidFill>
                  <a:srgbClr val="16202B"/>
                </a:solidFill>
                <a:latin typeface="Arial" pitchFamily="34" charset="0"/>
                <a:ea typeface="Arial" pitchFamily="34" charset="-122"/>
                <a:cs typeface="Arial" pitchFamily="34" charset="-120"/>
              </a:rPr>
              <a:t>&amp; clinic</a:t>
            </a:r>
            <a:endParaRPr lang="en-US" sz="950" dirty="0"/>
          </a:p>
        </p:txBody>
      </p:sp>
      <p:sp>
        <p:nvSpPr>
          <p:cNvPr id="85" name="Shape 64"/>
          <p:cNvSpPr/>
          <p:nvPr/>
        </p:nvSpPr>
        <p:spPr>
          <a:xfrm>
            <a:off x="11283696" y="1828800"/>
            <a:ext cx="438912" cy="237744"/>
          </a:xfrm>
          <a:prstGeom prst="roundRect">
            <a:avLst>
              <a:gd name="adj" fmla="val 50000"/>
            </a:avLst>
          </a:prstGeom>
          <a:solidFill>
            <a:srgbClr val="1568DC"/>
          </a:solidFill>
          <a:ln/>
        </p:spPr>
      </p:sp>
      <p:sp>
        <p:nvSpPr>
          <p:cNvPr id="86" name="Text 65"/>
          <p:cNvSpPr txBox="1"/>
          <p:nvPr/>
        </p:nvSpPr>
        <p:spPr>
          <a:xfrm>
            <a:off x="11283696" y="1828800"/>
            <a:ext cx="438912"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Arial" pitchFamily="34" charset="0"/>
                <a:ea typeface="Arial" pitchFamily="34" charset="-122"/>
                <a:cs typeface="Arial" pitchFamily="34" charset="-120"/>
              </a:rPr>
              <a:t>3.75</a:t>
            </a:r>
            <a:endParaRPr lang="en-US" sz="850" dirty="0"/>
          </a:p>
        </p:txBody>
      </p:sp>
      <p:sp>
        <p:nvSpPr>
          <p:cNvPr id="87" name="Shape 66"/>
          <p:cNvSpPr/>
          <p:nvPr/>
        </p:nvSpPr>
        <p:spPr>
          <a:xfrm>
            <a:off x="9738360" y="2304288"/>
            <a:ext cx="1975104" cy="0"/>
          </a:xfrm>
          <a:prstGeom prst="line">
            <a:avLst/>
          </a:prstGeom>
          <a:noFill/>
          <a:ln w="9525">
            <a:solidFill>
              <a:srgbClr val="DCE5EE"/>
            </a:solidFill>
            <a:prstDash val="solid"/>
          </a:ln>
        </p:spPr>
      </p:sp>
      <p:pic>
        <p:nvPicPr>
          <p:cNvPr id="88" name="Image 19" descr="preencoded.png">    </p:cNvPr>
          <p:cNvPicPr>
            <a:picLocks noChangeAspect="1"/>
          </p:cNvPicPr>
          <p:nvPr/>
        </p:nvPicPr>
        <p:blipFill>
          <a:blip r:embed="rId20"/>
          <a:stretch>
            <a:fillRect/>
          </a:stretch>
        </p:blipFill>
        <p:spPr>
          <a:xfrm>
            <a:off x="9738360" y="2404872"/>
            <a:ext cx="137160" cy="137160"/>
          </a:xfrm>
          <a:prstGeom prst="rect">
            <a:avLst/>
          </a:prstGeom>
        </p:spPr>
      </p:pic>
      <p:sp>
        <p:nvSpPr>
          <p:cNvPr id="89" name="Text 67"/>
          <p:cNvSpPr txBox="1"/>
          <p:nvPr/>
        </p:nvSpPr>
        <p:spPr>
          <a:xfrm>
            <a:off x="9930384" y="237744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TRIGGER  </a:t>
            </a:r>
            <a:pPr indent="0" marL="0">
              <a:lnSpc>
                <a:spcPct val="98000"/>
              </a:lnSpc>
              <a:buNone/>
            </a:pPr>
            <a:r>
              <a:rPr lang="en-US" sz="730" dirty="0">
                <a:solidFill>
                  <a:srgbClr val="16202B"/>
                </a:solidFill>
                <a:latin typeface="Arial" pitchFamily="34" charset="0"/>
                <a:ea typeface="Arial" pitchFamily="34" charset="-122"/>
                <a:cs typeface="Arial" pitchFamily="34" charset="-120"/>
              </a:rPr>
              <a:t>BMW Rules &gt;10-bed ETP mandate, NABH, consent</a:t>
            </a:r>
            <a:endParaRPr lang="en-US" sz="660" dirty="0"/>
          </a:p>
        </p:txBody>
      </p:sp>
      <p:pic>
        <p:nvPicPr>
          <p:cNvPr id="90" name="Image 20" descr="preencoded.png">    </p:cNvPr>
          <p:cNvPicPr>
            <a:picLocks noChangeAspect="1"/>
          </p:cNvPicPr>
          <p:nvPr/>
        </p:nvPicPr>
        <p:blipFill>
          <a:blip r:embed="rId21"/>
          <a:stretch>
            <a:fillRect/>
          </a:stretch>
        </p:blipFill>
        <p:spPr>
          <a:xfrm>
            <a:off x="9738360" y="2894076"/>
            <a:ext cx="137160" cy="137160"/>
          </a:xfrm>
          <a:prstGeom prst="rect">
            <a:avLst/>
          </a:prstGeom>
        </p:spPr>
      </p:pic>
      <p:sp>
        <p:nvSpPr>
          <p:cNvPr id="91" name="Text 68"/>
          <p:cNvSpPr txBox="1"/>
          <p:nvPr/>
        </p:nvSpPr>
        <p:spPr>
          <a:xfrm>
            <a:off x="9930384" y="286664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DECIDES  </a:t>
            </a:r>
            <a:pPr indent="0" marL="0">
              <a:lnSpc>
                <a:spcPct val="98000"/>
              </a:lnSpc>
              <a:buNone/>
            </a:pPr>
            <a:r>
              <a:rPr lang="en-US" sz="730" dirty="0">
                <a:solidFill>
                  <a:srgbClr val="16202B"/>
                </a:solidFill>
                <a:latin typeface="Arial" pitchFamily="34" charset="0"/>
                <a:ea typeface="Arial" pitchFamily="34" charset="-122"/>
                <a:cs typeface="Arial" pitchFamily="34" charset="-120"/>
              </a:rPr>
              <a:t>Owner-doctor / trustee; administrator influences</a:t>
            </a:r>
            <a:endParaRPr lang="en-US" sz="660" dirty="0"/>
          </a:p>
        </p:txBody>
      </p:sp>
      <p:pic>
        <p:nvPicPr>
          <p:cNvPr id="92" name="Image 21" descr="preencoded.png">    </p:cNvPr>
          <p:cNvPicPr>
            <a:picLocks noChangeAspect="1"/>
          </p:cNvPicPr>
          <p:nvPr/>
        </p:nvPicPr>
        <p:blipFill>
          <a:blip r:embed="rId22"/>
          <a:stretch>
            <a:fillRect/>
          </a:stretch>
        </p:blipFill>
        <p:spPr>
          <a:xfrm>
            <a:off x="9738360" y="3383280"/>
            <a:ext cx="137160" cy="137160"/>
          </a:xfrm>
          <a:prstGeom prst="rect">
            <a:avLst/>
          </a:prstGeom>
        </p:spPr>
      </p:pic>
      <p:sp>
        <p:nvSpPr>
          <p:cNvPr id="93" name="Text 69"/>
          <p:cNvSpPr txBox="1"/>
          <p:nvPr/>
        </p:nvSpPr>
        <p:spPr>
          <a:xfrm>
            <a:off x="9930384" y="3355848"/>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PRICE  </a:t>
            </a:r>
            <a:pPr indent="0" marL="0">
              <a:lnSpc>
                <a:spcPct val="98000"/>
              </a:lnSpc>
              <a:buNone/>
            </a:pPr>
            <a:r>
              <a:rPr lang="en-US" sz="730" dirty="0">
                <a:solidFill>
                  <a:srgbClr val="16202B"/>
                </a:solidFill>
                <a:latin typeface="Arial" pitchFamily="34" charset="0"/>
                <a:ea typeface="Arial" pitchFamily="34" charset="-122"/>
                <a:cs typeface="Arial" pitchFamily="34" charset="-120"/>
              </a:rPr>
              <a:t>₹12-35 L compact skid + AMC ₹0.8-2 L/yr</a:t>
            </a:r>
            <a:endParaRPr lang="en-US" sz="660" dirty="0"/>
          </a:p>
        </p:txBody>
      </p:sp>
      <p:pic>
        <p:nvPicPr>
          <p:cNvPr id="94" name="Image 22" descr="preencoded.png">    </p:cNvPr>
          <p:cNvPicPr>
            <a:picLocks noChangeAspect="1"/>
          </p:cNvPicPr>
          <p:nvPr/>
        </p:nvPicPr>
        <p:blipFill>
          <a:blip r:embed="rId23"/>
          <a:stretch>
            <a:fillRect/>
          </a:stretch>
        </p:blipFill>
        <p:spPr>
          <a:xfrm>
            <a:off x="9738360" y="3872484"/>
            <a:ext cx="137160" cy="137160"/>
          </a:xfrm>
          <a:prstGeom prst="rect">
            <a:avLst/>
          </a:prstGeom>
        </p:spPr>
      </p:pic>
      <p:sp>
        <p:nvSpPr>
          <p:cNvPr id="95" name="Text 70"/>
          <p:cNvSpPr txBox="1"/>
          <p:nvPr/>
        </p:nvSpPr>
        <p:spPr>
          <a:xfrm>
            <a:off x="9930384" y="3845052"/>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CYCLE  </a:t>
            </a:r>
            <a:pPr indent="0" marL="0">
              <a:lnSpc>
                <a:spcPct val="98000"/>
              </a:lnSpc>
              <a:buNone/>
            </a:pPr>
            <a:r>
              <a:rPr lang="en-US" sz="730" dirty="0">
                <a:solidFill>
                  <a:srgbClr val="16202B"/>
                </a:solidFill>
                <a:latin typeface="Arial" pitchFamily="34" charset="0"/>
                <a:ea typeface="Arial" pitchFamily="34" charset="-122"/>
                <a:cs typeface="Arial" pitchFamily="34" charset="-120"/>
              </a:rPr>
              <a:t>3-6 months</a:t>
            </a:r>
            <a:endParaRPr lang="en-US" sz="660" dirty="0"/>
          </a:p>
        </p:txBody>
      </p:sp>
      <p:pic>
        <p:nvPicPr>
          <p:cNvPr id="96" name="Image 23" descr="preencoded.png">    </p:cNvPr>
          <p:cNvPicPr>
            <a:picLocks noChangeAspect="1"/>
          </p:cNvPicPr>
          <p:nvPr/>
        </p:nvPicPr>
        <p:blipFill>
          <a:blip r:embed="rId24"/>
          <a:stretch>
            <a:fillRect/>
          </a:stretch>
        </p:blipFill>
        <p:spPr>
          <a:xfrm>
            <a:off x="9738360" y="4361688"/>
            <a:ext cx="137160" cy="137160"/>
          </a:xfrm>
          <a:prstGeom prst="rect">
            <a:avLst/>
          </a:prstGeom>
        </p:spPr>
      </p:pic>
      <p:sp>
        <p:nvSpPr>
          <p:cNvPr id="97" name="Text 71"/>
          <p:cNvSpPr txBox="1"/>
          <p:nvPr/>
        </p:nvSpPr>
        <p:spPr>
          <a:xfrm>
            <a:off x="9930384" y="4334256"/>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PROOF  </a:t>
            </a:r>
            <a:pPr indent="0" marL="0">
              <a:lnSpc>
                <a:spcPct val="98000"/>
              </a:lnSpc>
              <a:buNone/>
            </a:pPr>
            <a:r>
              <a:rPr lang="en-US" sz="730" dirty="0">
                <a:solidFill>
                  <a:srgbClr val="16202B"/>
                </a:solidFill>
                <a:latin typeface="Arial" pitchFamily="34" charset="0"/>
                <a:ea typeface="Arial" pitchFamily="34" charset="-122"/>
                <a:cs typeface="Arial" pitchFamily="34" charset="-120"/>
              </a:rPr>
              <a:t>Compliance document pack, live-site install method</a:t>
            </a:r>
            <a:endParaRPr lang="en-US" sz="660" dirty="0"/>
          </a:p>
        </p:txBody>
      </p:sp>
      <p:pic>
        <p:nvPicPr>
          <p:cNvPr id="98" name="Image 24" descr="preencoded.png">    </p:cNvPr>
          <p:cNvPicPr>
            <a:picLocks noChangeAspect="1"/>
          </p:cNvPicPr>
          <p:nvPr/>
        </p:nvPicPr>
        <p:blipFill>
          <a:blip r:embed="rId25"/>
          <a:stretch>
            <a:fillRect/>
          </a:stretch>
        </p:blipFill>
        <p:spPr>
          <a:xfrm>
            <a:off x="9738360" y="4850892"/>
            <a:ext cx="137160" cy="137160"/>
          </a:xfrm>
          <a:prstGeom prst="rect">
            <a:avLst/>
          </a:prstGeom>
        </p:spPr>
      </p:pic>
      <p:sp>
        <p:nvSpPr>
          <p:cNvPr id="99" name="Text 72"/>
          <p:cNvSpPr txBox="1"/>
          <p:nvPr/>
        </p:nvSpPr>
        <p:spPr>
          <a:xfrm>
            <a:off x="9930384" y="4823460"/>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ENTRY  </a:t>
            </a:r>
            <a:pPr indent="0" marL="0">
              <a:lnSpc>
                <a:spcPct val="98000"/>
              </a:lnSpc>
              <a:buNone/>
            </a:pPr>
            <a:r>
              <a:rPr lang="en-US" sz="730" dirty="0">
                <a:solidFill>
                  <a:srgbClr val="16202B"/>
                </a:solidFill>
                <a:latin typeface="Arial" pitchFamily="34" charset="0"/>
                <a:ea typeface="Arial" pitchFamily="34" charset="-122"/>
                <a:cs typeface="Arial" pitchFamily="34" charset="-120"/>
              </a:rPr>
              <a:t>Liquid-waste audit + PCB liaison support</a:t>
            </a:r>
            <a:endParaRPr lang="en-US" sz="660" dirty="0"/>
          </a:p>
        </p:txBody>
      </p:sp>
      <p:pic>
        <p:nvPicPr>
          <p:cNvPr id="100" name="Image 25" descr="preencoded.png">    </p:cNvPr>
          <p:cNvPicPr>
            <a:picLocks noChangeAspect="1"/>
          </p:cNvPicPr>
          <p:nvPr/>
        </p:nvPicPr>
        <p:blipFill>
          <a:blip r:embed="rId26"/>
          <a:stretch>
            <a:fillRect/>
          </a:stretch>
        </p:blipFill>
        <p:spPr>
          <a:xfrm>
            <a:off x="9738360" y="5340096"/>
            <a:ext cx="137160" cy="137160"/>
          </a:xfrm>
          <a:prstGeom prst="rect">
            <a:avLst/>
          </a:prstGeom>
        </p:spPr>
      </p:pic>
      <p:sp>
        <p:nvSpPr>
          <p:cNvPr id="101" name="Text 73"/>
          <p:cNvSpPr txBox="1"/>
          <p:nvPr/>
        </p:nvSpPr>
        <p:spPr>
          <a:xfrm>
            <a:off x="9930384" y="5312664"/>
            <a:ext cx="1801368" cy="457200"/>
          </a:xfrm>
          <a:prstGeom prst="rect">
            <a:avLst/>
          </a:prstGeom>
          <a:noFill/>
          <a:ln/>
        </p:spPr>
        <p:txBody>
          <a:bodyPr wrap="square" lIns="0" tIns="0" rIns="0" bIns="0" rtlCol="0" anchor="ctr"/>
          <a:lstStyle/>
          <a:p>
            <a:pPr indent="0" marL="0">
              <a:lnSpc>
                <a:spcPct val="98000"/>
              </a:lnSpc>
              <a:buNone/>
            </a:pPr>
            <a:r>
              <a:rPr lang="en-US" sz="660" b="1" dirty="0">
                <a:solidFill>
                  <a:srgbClr val="1568DC"/>
                </a:solidFill>
                <a:latin typeface="Arial" pitchFamily="34" charset="0"/>
                <a:ea typeface="Arial" pitchFamily="34" charset="-122"/>
                <a:cs typeface="Arial" pitchFamily="34" charset="-120"/>
              </a:rPr>
              <a:t>REPEAT  </a:t>
            </a:r>
            <a:pPr indent="0" marL="0">
              <a:lnSpc>
                <a:spcPct val="98000"/>
              </a:lnSpc>
              <a:buNone/>
            </a:pPr>
            <a:r>
              <a:rPr lang="en-US" sz="730" dirty="0">
                <a:solidFill>
                  <a:srgbClr val="16202B"/>
                </a:solidFill>
                <a:latin typeface="Arial" pitchFamily="34" charset="0"/>
                <a:ea typeface="Arial" pitchFamily="34" charset="-122"/>
                <a:cs typeface="Arial" pitchFamily="34" charset="-120"/>
              </a:rPr>
              <a:t>Sister facilities, disinfection upgrades, long AMC</a:t>
            </a:r>
            <a:endParaRPr lang="en-US" sz="660" dirty="0"/>
          </a:p>
        </p:txBody>
      </p:sp>
      <p:sp>
        <p:nvSpPr>
          <p:cNvPr id="102" name="Shape 74"/>
          <p:cNvSpPr/>
          <p:nvPr/>
        </p:nvSpPr>
        <p:spPr>
          <a:xfrm>
            <a:off x="457200" y="6016752"/>
            <a:ext cx="11274552" cy="384048"/>
          </a:xfrm>
          <a:prstGeom prst="roundRect">
            <a:avLst>
              <a:gd name="adj" fmla="val 21429"/>
            </a:avLst>
          </a:prstGeom>
          <a:solidFill>
            <a:srgbClr val="1568DC"/>
          </a:solidFill>
          <a:ln/>
          <a:effectLst>
            <a:outerShdw sx="100000" sy="100000" kx="0" ky="0" algn="bl" rotWithShape="0" blurRad="50800" dist="12700" dir="5400000">
              <a:srgbClr val="B6C1CD">
                <a:alpha val="30000"/>
              </a:srgbClr>
            </a:outerShdw>
          </a:effectLst>
        </p:spPr>
      </p:sp>
      <p:pic>
        <p:nvPicPr>
          <p:cNvPr id="103" name="Image 26" descr="preencoded.png">    </p:cNvPr>
          <p:cNvPicPr>
            <a:picLocks noChangeAspect="1"/>
          </p:cNvPicPr>
          <p:nvPr/>
        </p:nvPicPr>
        <p:blipFill>
          <a:blip r:embed="rId27"/>
          <a:stretch>
            <a:fillRect/>
          </a:stretch>
        </p:blipFill>
        <p:spPr>
          <a:xfrm>
            <a:off x="621792" y="6089904"/>
            <a:ext cx="237744" cy="237744"/>
          </a:xfrm>
          <a:prstGeom prst="rect">
            <a:avLst/>
          </a:prstGeom>
        </p:spPr>
      </p:pic>
      <p:sp>
        <p:nvSpPr>
          <p:cNvPr id="104" name="Text 75"/>
          <p:cNvSpPr txBox="1"/>
          <p:nvPr/>
        </p:nvSpPr>
        <p:spPr>
          <a:xfrm>
            <a:off x="969264" y="6016752"/>
            <a:ext cx="10588752" cy="384048"/>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DECISION   </a:t>
            </a:r>
            <a:pPr indent="0" marL="0">
              <a:lnSpc>
                <a:spcPct val="100000"/>
              </a:lnSpc>
              <a:buNone/>
            </a:pPr>
            <a:r>
              <a:rPr lang="en-US" sz="1150" b="1" dirty="0">
                <a:solidFill>
                  <a:srgbClr val="FFFFFF"/>
                </a:solidFill>
                <a:latin typeface="Arial" pitchFamily="34" charset="0"/>
                <a:ea typeface="Arial" pitchFamily="34" charset="-122"/>
                <a:cs typeface="Arial" pitchFamily="34" charset="-120"/>
              </a:rPr>
              <a:t>80% of new-business effort on these three. Homeowners stay dealer-led run-rate; industrial ETPs opportunistic only.</a:t>
            </a:r>
            <a:endParaRPr lang="en-US" sz="1000" dirty="0"/>
          </a:p>
        </p:txBody>
      </p:sp>
      <p:sp>
        <p:nvSpPr>
          <p:cNvPr id="105" name="Text 76"/>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Sources: GSPCB consent framework (susbio.in guide); BMW Rules 2016; EIA 2006 item 8(a); KSPCB rules (Deccan Herald 2024); EPBL refs (epbiocomposites.com; EquityBulls Dec 2023). Scores: team analysis.</a:t>
            </a:r>
            <a:endParaRPr lang="en-US" sz="680" dirty="0"/>
          </a:p>
        </p:txBody>
      </p:sp>
      <p:sp>
        <p:nvSpPr>
          <p:cNvPr id="106" name="Text 77"/>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2A · MARKET OPPORTUNITY &amp; COMPETITIVE POSITIONING</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A ₹270 cr/yr market; </a:t>
            </a:r>
            <a:pPr indent="0" marL="0">
              <a:buNone/>
            </a:pPr>
            <a:r>
              <a:rPr lang="en-US" sz="2500" b="1" dirty="0">
                <a:solidFill>
                  <a:srgbClr val="1568DC"/>
                </a:solidFill>
                <a:latin typeface="Arial" pitchFamily="34" charset="0"/>
                <a:ea typeface="Arial" pitchFamily="34" charset="-122"/>
                <a:cs typeface="Arial" pitchFamily="34" charset="-120"/>
              </a:rPr>
              <a:t>₹21 cr capture by FY29</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316736"/>
            <a:ext cx="274320" cy="274320"/>
          </a:xfrm>
          <a:prstGeom prst="roundRect">
            <a:avLst>
              <a:gd name="adj" fmla="val 24000"/>
            </a:avLst>
          </a:prstGeom>
          <a:solidFill>
            <a:srgbClr val="E8F1FC"/>
          </a:solidFill>
          <a:ln/>
        </p:spPr>
      </p:sp>
      <p:pic>
        <p:nvPicPr>
          <p:cNvPr id="10" name="Image 0" descr="preencoded.png">    </p:cNvPr>
          <p:cNvPicPr>
            <a:picLocks noChangeAspect="1"/>
          </p:cNvPicPr>
          <p:nvPr/>
        </p:nvPicPr>
        <p:blipFill>
          <a:blip r:embed="rId1"/>
          <a:stretch>
            <a:fillRect/>
          </a:stretch>
        </p:blipFill>
        <p:spPr>
          <a:xfrm>
            <a:off x="514807" y="1374343"/>
            <a:ext cx="159106" cy="159106"/>
          </a:xfrm>
          <a:prstGeom prst="rect">
            <a:avLst/>
          </a:prstGeom>
        </p:spPr>
      </p:pic>
      <p:sp>
        <p:nvSpPr>
          <p:cNvPr id="11" name="Text 8"/>
          <p:cNvSpPr txBox="1"/>
          <p:nvPr/>
        </p:nvSpPr>
        <p:spPr>
          <a:xfrm>
            <a:off x="841248" y="1293876"/>
            <a:ext cx="329184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Bottom-up sizing</a:t>
            </a:r>
            <a:endParaRPr lang="en-US" sz="1250" dirty="0"/>
          </a:p>
        </p:txBody>
      </p:sp>
      <p:sp>
        <p:nvSpPr>
          <p:cNvPr id="12" name="Shape 9"/>
          <p:cNvSpPr/>
          <p:nvPr/>
        </p:nvSpPr>
        <p:spPr>
          <a:xfrm>
            <a:off x="950976" y="1645920"/>
            <a:ext cx="2029968" cy="2029968"/>
          </a:xfrm>
          <a:prstGeom prst="ellipse">
            <a:avLst/>
          </a:prstGeom>
          <a:solidFill>
            <a:srgbClr val="E8F1FC"/>
          </a:solidFill>
          <a:ln w="12700">
            <a:solidFill>
              <a:srgbClr val="9FC2EE"/>
            </a:solidFill>
            <a:prstDash val="solid"/>
          </a:ln>
        </p:spPr>
      </p:sp>
      <p:sp>
        <p:nvSpPr>
          <p:cNvPr id="13" name="Shape 10"/>
          <p:cNvSpPr/>
          <p:nvPr/>
        </p:nvSpPr>
        <p:spPr>
          <a:xfrm>
            <a:off x="1225296" y="2194560"/>
            <a:ext cx="1481328" cy="1481328"/>
          </a:xfrm>
          <a:prstGeom prst="ellipse">
            <a:avLst/>
          </a:prstGeom>
          <a:solidFill>
            <a:srgbClr val="BBD7F5"/>
          </a:solidFill>
          <a:ln w="12700">
            <a:solidFill>
              <a:srgbClr val="7FB0E8"/>
            </a:solidFill>
            <a:prstDash val="solid"/>
          </a:ln>
        </p:spPr>
      </p:sp>
      <p:sp>
        <p:nvSpPr>
          <p:cNvPr id="14" name="Shape 11"/>
          <p:cNvSpPr/>
          <p:nvPr/>
        </p:nvSpPr>
        <p:spPr>
          <a:xfrm>
            <a:off x="1508760" y="2761488"/>
            <a:ext cx="914400" cy="914400"/>
          </a:xfrm>
          <a:prstGeom prst="ellipse">
            <a:avLst/>
          </a:prstGeom>
          <a:solidFill>
            <a:srgbClr val="1568DC"/>
          </a:solidFill>
          <a:ln w="12700">
            <a:solidFill>
              <a:srgbClr val="0C3E86"/>
            </a:solidFill>
            <a:prstDash val="solid"/>
          </a:ln>
        </p:spPr>
      </p:sp>
      <p:sp>
        <p:nvSpPr>
          <p:cNvPr id="15" name="Text 12"/>
          <p:cNvSpPr txBox="1"/>
          <p:nvPr/>
        </p:nvSpPr>
        <p:spPr>
          <a:xfrm>
            <a:off x="960120" y="1764792"/>
            <a:ext cx="2011680" cy="201168"/>
          </a:xfrm>
          <a:prstGeom prst="rect">
            <a:avLst/>
          </a:prstGeom>
          <a:noFill/>
          <a:ln/>
        </p:spPr>
        <p:txBody>
          <a:bodyPr wrap="square" lIns="0" tIns="0" rIns="0" bIns="0" rtlCol="0" anchor="ctr"/>
          <a:lstStyle/>
          <a:p>
            <a:pPr algn="ctr" indent="0" marL="0">
              <a:buNone/>
            </a:pPr>
            <a:r>
              <a:rPr lang="en-US" sz="950" b="1" dirty="0">
                <a:solidFill>
                  <a:srgbClr val="0C3E86"/>
                </a:solidFill>
                <a:latin typeface="Arial" pitchFamily="34" charset="0"/>
                <a:ea typeface="Arial" pitchFamily="34" charset="-122"/>
                <a:cs typeface="Arial" pitchFamily="34" charset="-120"/>
              </a:rPr>
              <a:t>TAM  </a:t>
            </a:r>
            <a:pPr algn="ctr" indent="0" marL="0">
              <a:buNone/>
            </a:pPr>
            <a:r>
              <a:rPr lang="en-US" sz="950" b="1" dirty="0">
                <a:solidFill>
                  <a:srgbClr val="16202B"/>
                </a:solidFill>
                <a:latin typeface="Arial" pitchFamily="34" charset="0"/>
                <a:ea typeface="Arial" pitchFamily="34" charset="-122"/>
                <a:cs typeface="Arial" pitchFamily="34" charset="-120"/>
              </a:rPr>
              <a:t>₹270 cr/yr</a:t>
            </a:r>
            <a:endParaRPr lang="en-US" sz="950" dirty="0"/>
          </a:p>
        </p:txBody>
      </p:sp>
      <p:sp>
        <p:nvSpPr>
          <p:cNvPr id="16" name="Text 13"/>
          <p:cNvSpPr txBox="1"/>
          <p:nvPr/>
        </p:nvSpPr>
        <p:spPr>
          <a:xfrm>
            <a:off x="1051560" y="2295144"/>
            <a:ext cx="1828800" cy="182880"/>
          </a:xfrm>
          <a:prstGeom prst="rect">
            <a:avLst/>
          </a:prstGeom>
          <a:noFill/>
          <a:ln/>
        </p:spPr>
        <p:txBody>
          <a:bodyPr wrap="square" lIns="0" tIns="0" rIns="0" bIns="0" rtlCol="0" anchor="ctr"/>
          <a:lstStyle/>
          <a:p>
            <a:pPr algn="ctr" indent="0" marL="0">
              <a:buNone/>
            </a:pPr>
            <a:r>
              <a:rPr lang="en-US" sz="900" b="1" dirty="0">
                <a:solidFill>
                  <a:srgbClr val="0C3E86"/>
                </a:solidFill>
                <a:latin typeface="Arial" pitchFamily="34" charset="0"/>
                <a:ea typeface="Arial" pitchFamily="34" charset="-122"/>
                <a:cs typeface="Arial" pitchFamily="34" charset="-120"/>
              </a:rPr>
              <a:t>SAM  </a:t>
            </a:r>
            <a:pPr algn="ctr" indent="0" marL="0">
              <a:buNone/>
            </a:pPr>
            <a:r>
              <a:rPr lang="en-US" sz="900" b="1" dirty="0">
                <a:solidFill>
                  <a:srgbClr val="16202B"/>
                </a:solidFill>
                <a:latin typeface="Arial" pitchFamily="34" charset="0"/>
                <a:ea typeface="Arial" pitchFamily="34" charset="-122"/>
                <a:cs typeface="Arial" pitchFamily="34" charset="-120"/>
              </a:rPr>
              <a:t>₹165 cr/yr</a:t>
            </a:r>
            <a:endParaRPr lang="en-US" sz="900" dirty="0"/>
          </a:p>
        </p:txBody>
      </p:sp>
      <p:sp>
        <p:nvSpPr>
          <p:cNvPr id="17" name="Text 14"/>
          <p:cNvSpPr txBox="1"/>
          <p:nvPr/>
        </p:nvSpPr>
        <p:spPr>
          <a:xfrm>
            <a:off x="1508760" y="2889504"/>
            <a:ext cx="914400" cy="512064"/>
          </a:xfrm>
          <a:prstGeom prst="rect">
            <a:avLst/>
          </a:prstGeom>
          <a:noFill/>
          <a:ln/>
        </p:spPr>
        <p:txBody>
          <a:bodyPr wrap="square" lIns="0" tIns="0" rIns="0" bIns="0" rtlCol="0" anchor="ctr"/>
          <a:lstStyle/>
          <a:p>
            <a:pPr algn="ctr" indent="0" marL="0">
              <a:lnSpc>
                <a:spcPct val="95000"/>
              </a:lnSpc>
              <a:buNone/>
            </a:pPr>
            <a:r>
              <a:rPr lang="en-US" sz="850" b="1" dirty="0">
                <a:solidFill>
                  <a:srgbClr val="FFFFFF"/>
                </a:solidFill>
                <a:latin typeface="Arial" pitchFamily="34" charset="0"/>
                <a:ea typeface="Arial" pitchFamily="34" charset="-122"/>
                <a:cs typeface="Arial" pitchFamily="34" charset="-120"/>
              </a:rPr>
              <a:t>SOM
</a:t>
            </a:r>
            <a:pPr algn="ctr" indent="0" marL="0">
              <a:lnSpc>
                <a:spcPct val="95000"/>
              </a:lnSpc>
              <a:buNone/>
            </a:pPr>
            <a:r>
              <a:rPr lang="en-US" sz="1100" b="1" dirty="0">
                <a:solidFill>
                  <a:srgbClr val="FFFFFF"/>
                </a:solidFill>
                <a:latin typeface="Arial" pitchFamily="34" charset="0"/>
                <a:ea typeface="Arial" pitchFamily="34" charset="-122"/>
                <a:cs typeface="Arial" pitchFamily="34" charset="-120"/>
              </a:rPr>
              <a:t>₹21 cr</a:t>
            </a:r>
            <a:endParaRPr lang="en-US" sz="850" dirty="0"/>
          </a:p>
        </p:txBody>
      </p:sp>
      <p:sp>
        <p:nvSpPr>
          <p:cNvPr id="18" name="Text 15"/>
          <p:cNvSpPr txBox="1"/>
          <p:nvPr/>
        </p:nvSpPr>
        <p:spPr>
          <a:xfrm>
            <a:off x="457200" y="3767328"/>
            <a:ext cx="3474720" cy="384048"/>
          </a:xfrm>
          <a:prstGeom prst="rect">
            <a:avLst/>
          </a:prstGeom>
          <a:noFill/>
          <a:ln/>
        </p:spPr>
        <p:txBody>
          <a:bodyPr wrap="square" lIns="0" tIns="0" rIns="0" bIns="0" rtlCol="0" anchor="ctr"/>
          <a:lstStyle/>
          <a:p>
            <a:pPr indent="0" marL="0">
              <a:lnSpc>
                <a:spcPct val="105000"/>
              </a:lnSpc>
              <a:buNone/>
            </a:pPr>
            <a:r>
              <a:rPr lang="en-US" sz="680" dirty="0">
                <a:solidFill>
                  <a:srgbClr val="9FC2EE"/>
                </a:solidFill>
                <a:latin typeface="Arial" pitchFamily="34" charset="0"/>
                <a:ea typeface="Arial" pitchFamily="34" charset="-122"/>
                <a:cs typeface="Arial" pitchFamily="34" charset="-120"/>
              </a:rPr>
              <a:t>● </a:t>
            </a:r>
            <a:pPr indent="0" marL="0">
              <a:lnSpc>
                <a:spcPct val="105000"/>
              </a:lnSpc>
              <a:buNone/>
            </a:pPr>
            <a:r>
              <a:rPr lang="en-US" sz="680" b="1" dirty="0">
                <a:solidFill>
                  <a:srgbClr val="0C3E86"/>
                </a:solidFill>
                <a:latin typeface="Arial" pitchFamily="34" charset="0"/>
                <a:ea typeface="Arial" pitchFamily="34" charset="-122"/>
                <a:cs typeface="Arial" pitchFamily="34" charset="-120"/>
              </a:rPr>
              <a:t>TAM </a:t>
            </a:r>
            <a:pPr indent="0" marL="0">
              <a:lnSpc>
                <a:spcPct val="105000"/>
              </a:lnSpc>
              <a:buNone/>
            </a:pPr>
            <a:r>
              <a:rPr lang="en-US" sz="680" dirty="0">
                <a:solidFill>
                  <a:srgbClr val="55616D"/>
                </a:solidFill>
                <a:latin typeface="Arial" pitchFamily="34" charset="0"/>
                <a:ea typeface="Arial" pitchFamily="34" charset="-122"/>
                <a:cs typeface="Arial" pitchFamily="34" charset="-120"/>
              </a:rPr>
              <a:t>all private-pay Tier-2/3 demand, GA+MH+KA (₹239 cr STP/ETP + ₹32 cr bio)   </a:t>
            </a:r>
            <a:pPr indent="0" marL="0">
              <a:lnSpc>
                <a:spcPct val="105000"/>
              </a:lnSpc>
              <a:buNone/>
            </a:pPr>
            <a:r>
              <a:rPr lang="en-US" sz="680" dirty="0">
                <a:solidFill>
                  <a:srgbClr val="7FB0E8"/>
                </a:solidFill>
                <a:latin typeface="Arial" pitchFamily="34" charset="0"/>
                <a:ea typeface="Arial" pitchFamily="34" charset="-122"/>
                <a:cs typeface="Arial" pitchFamily="34" charset="-120"/>
              </a:rPr>
              <a:t>● </a:t>
            </a:r>
            <a:pPr indent="0" marL="0">
              <a:lnSpc>
                <a:spcPct val="105000"/>
              </a:lnSpc>
              <a:buNone/>
            </a:pPr>
            <a:r>
              <a:rPr lang="en-US" sz="680" b="1" dirty="0">
                <a:solidFill>
                  <a:srgbClr val="0C3E86"/>
                </a:solidFill>
                <a:latin typeface="Arial" pitchFamily="34" charset="0"/>
                <a:ea typeface="Arial" pitchFamily="34" charset="-122"/>
                <a:cs typeface="Arial" pitchFamily="34" charset="-120"/>
              </a:rPr>
              <a:t>SAM </a:t>
            </a:r>
            <a:pPr indent="0" marL="0">
              <a:lnSpc>
                <a:spcPct val="105000"/>
              </a:lnSpc>
              <a:buNone/>
            </a:pPr>
            <a:r>
              <a:rPr lang="en-US" sz="680" dirty="0">
                <a:solidFill>
                  <a:srgbClr val="55616D"/>
                </a:solidFill>
                <a:latin typeface="Arial" pitchFamily="34" charset="0"/>
                <a:ea typeface="Arial" pitchFamily="34" charset="-122"/>
                <a:cs typeface="Arial" pitchFamily="34" charset="-120"/>
              </a:rPr>
              <a:t>corridor + capability, ₹5 L-2.5 cr projects   </a:t>
            </a:r>
            <a:pPr indent="0" marL="0">
              <a:lnSpc>
                <a:spcPct val="105000"/>
              </a:lnSpc>
              <a:buNone/>
            </a:pPr>
            <a:r>
              <a:rPr lang="en-US" sz="680" dirty="0">
                <a:solidFill>
                  <a:srgbClr val="1568DC"/>
                </a:solidFill>
                <a:latin typeface="Arial" pitchFamily="34" charset="0"/>
                <a:ea typeface="Arial" pitchFamily="34" charset="-122"/>
                <a:cs typeface="Arial" pitchFamily="34" charset="-120"/>
              </a:rPr>
              <a:t>● </a:t>
            </a:r>
            <a:pPr indent="0" marL="0">
              <a:lnSpc>
                <a:spcPct val="105000"/>
              </a:lnSpc>
              <a:buNone/>
            </a:pPr>
            <a:r>
              <a:rPr lang="en-US" sz="680" b="1" dirty="0">
                <a:solidFill>
                  <a:srgbClr val="0C3E86"/>
                </a:solidFill>
                <a:latin typeface="Arial" pitchFamily="34" charset="0"/>
                <a:ea typeface="Arial" pitchFamily="34" charset="-122"/>
                <a:cs typeface="Arial" pitchFamily="34" charset="-120"/>
              </a:rPr>
              <a:t>SOM </a:t>
            </a:r>
            <a:pPr indent="0" marL="0">
              <a:lnSpc>
                <a:spcPct val="105000"/>
              </a:lnSpc>
              <a:buNone/>
            </a:pPr>
            <a:r>
              <a:rPr lang="en-US" sz="680" dirty="0">
                <a:solidFill>
                  <a:srgbClr val="55616D"/>
                </a:solidFill>
                <a:latin typeface="Arial" pitchFamily="34" charset="0"/>
                <a:ea typeface="Arial" pitchFamily="34" charset="-122"/>
                <a:cs typeface="Arial" pitchFamily="34" charset="-120"/>
              </a:rPr>
              <a:t>3-yr cumulative NEW revenue (₹15-28 cr) = 7.2% of SAM by FY29</a:t>
            </a:r>
            <a:endParaRPr lang="en-US" sz="680" dirty="0"/>
          </a:p>
        </p:txBody>
      </p:sp>
      <p:sp>
        <p:nvSpPr>
          <p:cNvPr id="19" name="Shape 16"/>
          <p:cNvSpPr/>
          <p:nvPr/>
        </p:nvSpPr>
        <p:spPr>
          <a:xfrm>
            <a:off x="475488" y="4206240"/>
            <a:ext cx="1060704" cy="292608"/>
          </a:xfrm>
          <a:prstGeom prst="roundRect">
            <a:avLst>
              <a:gd name="adj" fmla="val 50000"/>
            </a:avLst>
          </a:prstGeom>
          <a:solidFill>
            <a:srgbClr val="F5F9FE"/>
          </a:solidFill>
          <a:ln w="9525">
            <a:solidFill>
              <a:srgbClr val="DCE5EE"/>
            </a:solidFill>
            <a:prstDash val="solid"/>
          </a:ln>
        </p:spPr>
      </p:sp>
      <p:pic>
        <p:nvPicPr>
          <p:cNvPr id="20" name="Image 1" descr="preencoded.png">    </p:cNvPr>
          <p:cNvPicPr>
            <a:picLocks noChangeAspect="1"/>
          </p:cNvPicPr>
          <p:nvPr/>
        </p:nvPicPr>
        <p:blipFill>
          <a:blip r:embed="rId2"/>
          <a:stretch>
            <a:fillRect/>
          </a:stretch>
        </p:blipFill>
        <p:spPr>
          <a:xfrm>
            <a:off x="557784" y="4270248"/>
            <a:ext cx="164592" cy="164592"/>
          </a:xfrm>
          <a:prstGeom prst="rect">
            <a:avLst/>
          </a:prstGeom>
        </p:spPr>
      </p:pic>
      <p:sp>
        <p:nvSpPr>
          <p:cNvPr id="21" name="Text 17"/>
          <p:cNvSpPr txBox="1"/>
          <p:nvPr/>
        </p:nvSpPr>
        <p:spPr>
          <a:xfrm>
            <a:off x="749808" y="4206240"/>
            <a:ext cx="777240" cy="292608"/>
          </a:xfrm>
          <a:prstGeom prst="rect">
            <a:avLst/>
          </a:prstGeom>
          <a:noFill/>
          <a:ln/>
        </p:spPr>
        <p:txBody>
          <a:bodyPr wrap="square" lIns="0" tIns="0" rIns="0" bIns="0" rtlCol="0" anchor="ctr"/>
          <a:lstStyle/>
          <a:p>
            <a:pPr indent="0" marL="0">
              <a:buNone/>
            </a:pPr>
            <a:r>
              <a:rPr lang="en-US" sz="850" b="1" dirty="0">
                <a:solidFill>
                  <a:srgbClr val="16202B"/>
                </a:solidFill>
                <a:latin typeface="Arial" pitchFamily="34" charset="0"/>
                <a:ea typeface="Arial" pitchFamily="34" charset="-122"/>
                <a:cs typeface="Arial" pitchFamily="34" charset="-120"/>
              </a:rPr>
              <a:t>MH </a:t>
            </a:r>
            <a:pPr indent="0" marL="0">
              <a:buNone/>
            </a:pPr>
            <a:r>
              <a:rPr lang="en-US" sz="850" b="1" dirty="0">
                <a:solidFill>
                  <a:srgbClr val="1568DC"/>
                </a:solidFill>
                <a:latin typeface="Arial" pitchFamily="34" charset="0"/>
                <a:ea typeface="Arial" pitchFamily="34" charset="-122"/>
                <a:cs typeface="Arial" pitchFamily="34" charset="-120"/>
              </a:rPr>
              <a:t>59%</a:t>
            </a:r>
            <a:endParaRPr lang="en-US" sz="850" dirty="0"/>
          </a:p>
        </p:txBody>
      </p:sp>
      <p:sp>
        <p:nvSpPr>
          <p:cNvPr id="22" name="Shape 18"/>
          <p:cNvSpPr/>
          <p:nvPr/>
        </p:nvSpPr>
        <p:spPr>
          <a:xfrm>
            <a:off x="1645920" y="4206240"/>
            <a:ext cx="1060704" cy="292608"/>
          </a:xfrm>
          <a:prstGeom prst="roundRect">
            <a:avLst>
              <a:gd name="adj" fmla="val 50000"/>
            </a:avLst>
          </a:prstGeom>
          <a:solidFill>
            <a:srgbClr val="F5F9FE"/>
          </a:solidFill>
          <a:ln w="9525">
            <a:solidFill>
              <a:srgbClr val="DCE5EE"/>
            </a:solidFill>
            <a:prstDash val="solid"/>
          </a:ln>
        </p:spPr>
      </p:sp>
      <p:pic>
        <p:nvPicPr>
          <p:cNvPr id="23" name="Image 2" descr="preencoded.png">    </p:cNvPr>
          <p:cNvPicPr>
            <a:picLocks noChangeAspect="1"/>
          </p:cNvPicPr>
          <p:nvPr/>
        </p:nvPicPr>
        <p:blipFill>
          <a:blip r:embed="rId3"/>
          <a:stretch>
            <a:fillRect/>
          </a:stretch>
        </p:blipFill>
        <p:spPr>
          <a:xfrm>
            <a:off x="1728216" y="4270248"/>
            <a:ext cx="164592" cy="164592"/>
          </a:xfrm>
          <a:prstGeom prst="rect">
            <a:avLst/>
          </a:prstGeom>
        </p:spPr>
      </p:pic>
      <p:sp>
        <p:nvSpPr>
          <p:cNvPr id="24" name="Text 19"/>
          <p:cNvSpPr txBox="1"/>
          <p:nvPr/>
        </p:nvSpPr>
        <p:spPr>
          <a:xfrm>
            <a:off x="1920240" y="4206240"/>
            <a:ext cx="777240" cy="292608"/>
          </a:xfrm>
          <a:prstGeom prst="rect">
            <a:avLst/>
          </a:prstGeom>
          <a:noFill/>
          <a:ln/>
        </p:spPr>
        <p:txBody>
          <a:bodyPr wrap="square" lIns="0" tIns="0" rIns="0" bIns="0" rtlCol="0" anchor="ctr"/>
          <a:lstStyle/>
          <a:p>
            <a:pPr indent="0" marL="0">
              <a:buNone/>
            </a:pPr>
            <a:r>
              <a:rPr lang="en-US" sz="850" b="1" dirty="0">
                <a:solidFill>
                  <a:srgbClr val="16202B"/>
                </a:solidFill>
                <a:latin typeface="Arial" pitchFamily="34" charset="0"/>
                <a:ea typeface="Arial" pitchFamily="34" charset="-122"/>
                <a:cs typeface="Arial" pitchFamily="34" charset="-120"/>
              </a:rPr>
              <a:t>KA </a:t>
            </a:r>
            <a:pPr indent="0" marL="0">
              <a:buNone/>
            </a:pPr>
            <a:r>
              <a:rPr lang="en-US" sz="850" b="1" dirty="0">
                <a:solidFill>
                  <a:srgbClr val="1568DC"/>
                </a:solidFill>
                <a:latin typeface="Arial" pitchFamily="34" charset="0"/>
                <a:ea typeface="Arial" pitchFamily="34" charset="-122"/>
                <a:cs typeface="Arial" pitchFamily="34" charset="-120"/>
              </a:rPr>
              <a:t>28%</a:t>
            </a:r>
            <a:endParaRPr lang="en-US" sz="850" dirty="0"/>
          </a:p>
        </p:txBody>
      </p:sp>
      <p:sp>
        <p:nvSpPr>
          <p:cNvPr id="25" name="Shape 20"/>
          <p:cNvSpPr/>
          <p:nvPr/>
        </p:nvSpPr>
        <p:spPr>
          <a:xfrm>
            <a:off x="2816352" y="4206240"/>
            <a:ext cx="1060704" cy="292608"/>
          </a:xfrm>
          <a:prstGeom prst="roundRect">
            <a:avLst>
              <a:gd name="adj" fmla="val 50000"/>
            </a:avLst>
          </a:prstGeom>
          <a:solidFill>
            <a:srgbClr val="F5F9FE"/>
          </a:solidFill>
          <a:ln w="9525">
            <a:solidFill>
              <a:srgbClr val="DCE5EE"/>
            </a:solidFill>
            <a:prstDash val="solid"/>
          </a:ln>
        </p:spPr>
      </p:sp>
      <p:pic>
        <p:nvPicPr>
          <p:cNvPr id="26" name="Image 3" descr="preencoded.png">    </p:cNvPr>
          <p:cNvPicPr>
            <a:picLocks noChangeAspect="1"/>
          </p:cNvPicPr>
          <p:nvPr/>
        </p:nvPicPr>
        <p:blipFill>
          <a:blip r:embed="rId4"/>
          <a:stretch>
            <a:fillRect/>
          </a:stretch>
        </p:blipFill>
        <p:spPr>
          <a:xfrm>
            <a:off x="2898648" y="4270248"/>
            <a:ext cx="164592" cy="164592"/>
          </a:xfrm>
          <a:prstGeom prst="rect">
            <a:avLst/>
          </a:prstGeom>
        </p:spPr>
      </p:pic>
      <p:sp>
        <p:nvSpPr>
          <p:cNvPr id="27" name="Text 21"/>
          <p:cNvSpPr txBox="1"/>
          <p:nvPr/>
        </p:nvSpPr>
        <p:spPr>
          <a:xfrm>
            <a:off x="3090672" y="4206240"/>
            <a:ext cx="777240" cy="292608"/>
          </a:xfrm>
          <a:prstGeom prst="rect">
            <a:avLst/>
          </a:prstGeom>
          <a:noFill/>
          <a:ln/>
        </p:spPr>
        <p:txBody>
          <a:bodyPr wrap="square" lIns="0" tIns="0" rIns="0" bIns="0" rtlCol="0" anchor="ctr"/>
          <a:lstStyle/>
          <a:p>
            <a:pPr indent="0" marL="0">
              <a:buNone/>
            </a:pPr>
            <a:r>
              <a:rPr lang="en-US" sz="850" b="1" dirty="0">
                <a:solidFill>
                  <a:srgbClr val="16202B"/>
                </a:solidFill>
                <a:latin typeface="Arial" pitchFamily="34" charset="0"/>
                <a:ea typeface="Arial" pitchFamily="34" charset="-122"/>
                <a:cs typeface="Arial" pitchFamily="34" charset="-120"/>
              </a:rPr>
              <a:t>Goa </a:t>
            </a:r>
            <a:pPr indent="0" marL="0">
              <a:buNone/>
            </a:pPr>
            <a:r>
              <a:rPr lang="en-US" sz="850" b="1" dirty="0">
                <a:solidFill>
                  <a:srgbClr val="1568DC"/>
                </a:solidFill>
                <a:latin typeface="Arial" pitchFamily="34" charset="0"/>
                <a:ea typeface="Arial" pitchFamily="34" charset="-122"/>
                <a:cs typeface="Arial" pitchFamily="34" charset="-120"/>
              </a:rPr>
              <a:t>13%</a:t>
            </a:r>
            <a:endParaRPr lang="en-US" sz="850" dirty="0"/>
          </a:p>
        </p:txBody>
      </p:sp>
      <p:sp>
        <p:nvSpPr>
          <p:cNvPr id="28" name="Shape 22"/>
          <p:cNvSpPr/>
          <p:nvPr/>
        </p:nvSpPr>
        <p:spPr>
          <a:xfrm>
            <a:off x="4041648" y="1316736"/>
            <a:ext cx="274320" cy="274320"/>
          </a:xfrm>
          <a:prstGeom prst="roundRect">
            <a:avLst>
              <a:gd name="adj" fmla="val 24000"/>
            </a:avLst>
          </a:prstGeom>
          <a:solidFill>
            <a:srgbClr val="E8F1FC"/>
          </a:solidFill>
          <a:ln/>
        </p:spPr>
      </p:sp>
      <p:pic>
        <p:nvPicPr>
          <p:cNvPr id="29" name="Image 4" descr="preencoded.png">    </p:cNvPr>
          <p:cNvPicPr>
            <a:picLocks noChangeAspect="1"/>
          </p:cNvPicPr>
          <p:nvPr/>
        </p:nvPicPr>
        <p:blipFill>
          <a:blip r:embed="rId5"/>
          <a:stretch>
            <a:fillRect/>
          </a:stretch>
        </p:blipFill>
        <p:spPr>
          <a:xfrm>
            <a:off x="4099255" y="1374343"/>
            <a:ext cx="159106" cy="159106"/>
          </a:xfrm>
          <a:prstGeom prst="rect">
            <a:avLst/>
          </a:prstGeom>
        </p:spPr>
      </p:pic>
      <p:sp>
        <p:nvSpPr>
          <p:cNvPr id="30" name="Text 23"/>
          <p:cNvSpPr txBox="1"/>
          <p:nvPr/>
        </p:nvSpPr>
        <p:spPr>
          <a:xfrm>
            <a:off x="4425696" y="1293876"/>
            <a:ext cx="393192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Serviceable demand by segment, ₹cr/yr</a:t>
            </a:r>
            <a:endParaRPr lang="en-US" sz="1250" dirty="0"/>
          </a:p>
        </p:txBody>
      </p:sp>
      <p:graphicFrame>
        <p:nvGraphicFramePr>
          <p:cNvPr id="31" name="Chart 0" descr=""/>
          <p:cNvGraphicFramePr/>
          <p:nvPr/>
        </p:nvGraphicFramePr>
        <p:xfrm>
          <a:off x="4041648" y="1627632"/>
          <a:ext cx="3794760" cy="2331720"/>
        </p:xfrm>
        <a:graphic xmlns:a="http://schemas.openxmlformats.org/drawingml/2006/main">
          <a:graphicData uri="http://schemas.openxmlformats.org/drawingml/2006/chart">
            <c:chart xmlns:c="http://schemas.openxmlformats.org/drawingml/2006/chart" r:id="rId6"/>
          </a:graphicData>
        </a:graphic>
      </p:graphicFrame>
      <p:sp>
        <p:nvSpPr>
          <p:cNvPr id="32" name="Shape 24"/>
          <p:cNvSpPr/>
          <p:nvPr/>
        </p:nvSpPr>
        <p:spPr>
          <a:xfrm>
            <a:off x="4041648" y="4059936"/>
            <a:ext cx="3794760" cy="566928"/>
          </a:xfrm>
          <a:prstGeom prst="roundRect">
            <a:avLst>
              <a:gd name="adj" fmla="val 12903"/>
            </a:avLst>
          </a:prstGeom>
          <a:solidFill>
            <a:srgbClr val="F5F9FE"/>
          </a:solidFill>
          <a:ln w="12700">
            <a:solidFill>
              <a:srgbClr val="DCE5EE"/>
            </a:solidFill>
            <a:prstDash val="solid"/>
          </a:ln>
        </p:spPr>
      </p:sp>
      <p:sp>
        <p:nvSpPr>
          <p:cNvPr id="33" name="Text 25"/>
          <p:cNvSpPr txBox="1"/>
          <p:nvPr/>
        </p:nvSpPr>
        <p:spPr>
          <a:xfrm>
            <a:off x="4133088" y="4114800"/>
            <a:ext cx="3611880" cy="475488"/>
          </a:xfrm>
          <a:prstGeom prst="rect">
            <a:avLst/>
          </a:prstGeom>
          <a:noFill/>
          <a:ln/>
        </p:spPr>
        <p:txBody>
          <a:bodyPr wrap="square" lIns="0" tIns="0" rIns="0" bIns="0" rtlCol="0" anchor="ctr"/>
          <a:lstStyle/>
          <a:p>
            <a:pPr indent="0" marL="0">
              <a:lnSpc>
                <a:spcPct val="102000"/>
              </a:lnSpc>
              <a:buNone/>
            </a:pPr>
            <a:r>
              <a:rPr lang="en-US" sz="760" dirty="0">
                <a:solidFill>
                  <a:srgbClr val="16202B"/>
                </a:solidFill>
                <a:latin typeface="Arial" pitchFamily="34" charset="0"/>
                <a:ea typeface="Arial" pitchFamily="34" charset="-122"/>
                <a:cs typeface="Arial" pitchFamily="34" charset="-120"/>
              </a:rPr>
              <a:t>Developers dominate value but pay slowly → </a:t>
            </a:r>
            <a:pPr indent="0" marL="0">
              <a:lnSpc>
                <a:spcPct val="102000"/>
              </a:lnSpc>
              <a:buNone/>
            </a:pPr>
            <a:r>
              <a:rPr lang="en-US" sz="760" b="1" dirty="0">
                <a:solidFill>
                  <a:srgbClr val="0C3E86"/>
                </a:solidFill>
                <a:latin typeface="Arial" pitchFamily="34" charset="0"/>
                <a:ea typeface="Arial" pitchFamily="34" charset="-122"/>
                <a:cs typeface="Arial" pitchFamily="34" charset="-120"/>
              </a:rPr>
              <a:t>SOM tilts to hotels &amp; hospitals; developer exposure ≤25% of order book. </a:t>
            </a:r>
            <a:pPr indent="0" marL="0">
              <a:lnSpc>
                <a:spcPct val="102000"/>
              </a:lnSpc>
              <a:buNone/>
            </a:pPr>
            <a:r>
              <a:rPr lang="en-US" sz="760" dirty="0">
                <a:solidFill>
                  <a:srgbClr val="55616D"/>
                </a:solidFill>
                <a:latin typeface="Arial" pitchFamily="34" charset="0"/>
                <a:ea typeface="Arial" pitchFamily="34" charset="-122"/>
                <a:cs typeface="Arial" pitchFamily="34" charset="-120"/>
              </a:rPr>
              <a:t>Formula: units × %lacking × fit × conversion × ticket (p.9).</a:t>
            </a:r>
            <a:endParaRPr lang="en-US" sz="760" dirty="0"/>
          </a:p>
        </p:txBody>
      </p:sp>
      <p:sp>
        <p:nvSpPr>
          <p:cNvPr id="34" name="Shape 26"/>
          <p:cNvSpPr/>
          <p:nvPr/>
        </p:nvSpPr>
        <p:spPr>
          <a:xfrm>
            <a:off x="8074152" y="1316736"/>
            <a:ext cx="274320" cy="274320"/>
          </a:xfrm>
          <a:prstGeom prst="roundRect">
            <a:avLst>
              <a:gd name="adj" fmla="val 24000"/>
            </a:avLst>
          </a:prstGeom>
          <a:solidFill>
            <a:srgbClr val="E8F1FC"/>
          </a:solidFill>
          <a:ln/>
        </p:spPr>
      </p:sp>
      <p:pic>
        <p:nvPicPr>
          <p:cNvPr id="35" name="Image 5" descr="preencoded.png">    </p:cNvPr>
          <p:cNvPicPr>
            <a:picLocks noChangeAspect="1"/>
          </p:cNvPicPr>
          <p:nvPr/>
        </p:nvPicPr>
        <p:blipFill>
          <a:blip r:embed="rId7"/>
          <a:stretch>
            <a:fillRect/>
          </a:stretch>
        </p:blipFill>
        <p:spPr>
          <a:xfrm>
            <a:off x="8131759" y="1374343"/>
            <a:ext cx="159106" cy="159106"/>
          </a:xfrm>
          <a:prstGeom prst="rect">
            <a:avLst/>
          </a:prstGeom>
        </p:spPr>
      </p:pic>
      <p:sp>
        <p:nvSpPr>
          <p:cNvPr id="36" name="Text 27"/>
          <p:cNvSpPr txBox="1"/>
          <p:nvPr/>
        </p:nvSpPr>
        <p:spPr>
          <a:xfrm>
            <a:off x="8458200" y="1293876"/>
            <a:ext cx="36576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Scenarios &amp; feasibility checks</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074152" y="1627632"/>
          <a:ext cx="3657600" cy="914400"/>
        </p:xfrm>
        <a:graphic>
          <a:graphicData uri="http://schemas.openxmlformats.org/drawingml/2006/table">
            <a:tbl>
              <a:tblPr/>
              <a:tblGrid>
                <a:gridCol w="1737360"/>
                <a:gridCol w="640080"/>
                <a:gridCol w="640080"/>
                <a:gridCol w="640080"/>
              </a:tblGrid>
              <a:tr h="0">
                <a:tc>
                  <a:txBody>
                    <a:bodyPr/>
                    <a:lstStyle/>
                    <a:p>
                      <a:pPr algn="l" indent="0" marL="0">
                        <a:buNone/>
                      </a:pPr>
                      <a:r>
                        <a:rPr lang="en-US" sz="760" b="1" dirty="0">
                          <a:solidFill>
                            <a:srgbClr val="FFFFFF"/>
                          </a:solidFill>
                          <a:latin typeface="Arial" pitchFamily="34" charset="0"/>
                          <a:ea typeface="Arial" pitchFamily="34" charset="-122"/>
                          <a:cs typeface="Arial" pitchFamily="34" charset="-120"/>
                        </a:rPr>
                        <a:t>FY29, ₹cr</a:t>
                      </a:r>
                      <a:endParaRPr lang="en-US" sz="7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60" b="1" dirty="0">
                          <a:solidFill>
                            <a:srgbClr val="FFFFFF"/>
                          </a:solidFill>
                          <a:latin typeface="Arial" pitchFamily="34" charset="0"/>
                          <a:ea typeface="Arial" pitchFamily="34" charset="-122"/>
                          <a:cs typeface="Arial" pitchFamily="34" charset="-120"/>
                        </a:rPr>
                        <a:t>Cons.</a:t>
                      </a:r>
                      <a:endParaRPr lang="en-US" sz="7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60" b="1" dirty="0">
                          <a:solidFill>
                            <a:srgbClr val="FFFFFF"/>
                          </a:solidFill>
                          <a:latin typeface="Arial" pitchFamily="34" charset="0"/>
                          <a:ea typeface="Arial" pitchFamily="34" charset="-122"/>
                          <a:cs typeface="Arial" pitchFamily="34" charset="-120"/>
                        </a:rPr>
                        <a:t>Base</a:t>
                      </a:r>
                      <a:endParaRPr lang="en-US" sz="7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60" b="1" dirty="0">
                          <a:solidFill>
                            <a:srgbClr val="FFFFFF"/>
                          </a:solidFill>
                          <a:latin typeface="Arial" pitchFamily="34" charset="0"/>
                          <a:ea typeface="Arial" pitchFamily="34" charset="-122"/>
                          <a:cs typeface="Arial" pitchFamily="34" charset="-120"/>
                        </a:rPr>
                        <a:t>Upside</a:t>
                      </a:r>
                      <a:endParaRPr lang="en-US" sz="7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760" dirty="0">
                          <a:solidFill>
                            <a:srgbClr val="16202B"/>
                          </a:solidFill>
                          <a:latin typeface="Arial" pitchFamily="34" charset="0"/>
                          <a:ea typeface="Arial" pitchFamily="34" charset="-122"/>
                          <a:cs typeface="Arial" pitchFamily="34" charset="-120"/>
                        </a:rPr>
                        <a:t>Total revenue</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22.1</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b="1" dirty="0">
                          <a:solidFill>
                            <a:srgbClr val="16202B"/>
                          </a:solidFill>
                          <a:latin typeface="Arial" pitchFamily="34" charset="0"/>
                          <a:ea typeface="Arial" pitchFamily="34" charset="-122"/>
                          <a:cs typeface="Arial" pitchFamily="34" charset="-120"/>
                        </a:rPr>
                        <a:t>25.4</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29.3</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60" dirty="0">
                          <a:solidFill>
                            <a:srgbClr val="16202B"/>
                          </a:solidFill>
                          <a:latin typeface="Arial" pitchFamily="34" charset="0"/>
                          <a:ea typeface="Arial" pitchFamily="34" charset="-122"/>
                          <a:cs typeface="Arial" pitchFamily="34" charset="-120"/>
                        </a:rPr>
                        <a:t>Cum. new revenue FY27-29</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15.0</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b="1" dirty="0">
                          <a:solidFill>
                            <a:srgbClr val="16202B"/>
                          </a:solidFill>
                          <a:latin typeface="Arial" pitchFamily="34" charset="0"/>
                          <a:ea typeface="Arial" pitchFamily="34" charset="-122"/>
                          <a:cs typeface="Arial" pitchFamily="34" charset="-120"/>
                        </a:rPr>
                        <a:t>20.7</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27.6</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60" dirty="0">
                          <a:solidFill>
                            <a:srgbClr val="16202B"/>
                          </a:solidFill>
                          <a:latin typeface="Arial" pitchFamily="34" charset="0"/>
                          <a:ea typeface="Arial" pitchFamily="34" charset="-122"/>
                          <a:cs typeface="Arial" pitchFamily="34" charset="-120"/>
                        </a:rPr>
                        <a:t>Cum. total revenue FY27-29</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53.7</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760" b="1" dirty="0">
                          <a:solidFill>
                            <a:srgbClr val="16202B"/>
                          </a:solidFill>
                          <a:latin typeface="Arial" pitchFamily="34" charset="0"/>
                          <a:ea typeface="Arial" pitchFamily="34" charset="-122"/>
                          <a:cs typeface="Arial" pitchFamily="34" charset="-120"/>
                        </a:rPr>
                        <a:t>59.4</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760" dirty="0">
                          <a:solidFill>
                            <a:srgbClr val="16202B"/>
                          </a:solidFill>
                          <a:latin typeface="Arial" pitchFamily="34" charset="0"/>
                          <a:ea typeface="Arial" pitchFamily="34" charset="-122"/>
                          <a:cs typeface="Arial" pitchFamily="34" charset="-120"/>
                        </a:rPr>
                        <a:t>66.3</a:t>
                      </a:r>
                      <a:endParaRPr lang="en-US" sz="76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38" name="Shape 28"/>
          <p:cNvSpPr/>
          <p:nvPr/>
        </p:nvSpPr>
        <p:spPr>
          <a:xfrm>
            <a:off x="8074152" y="2724912"/>
            <a:ext cx="3657600" cy="932688"/>
          </a:xfrm>
          <a:prstGeom prst="roundRect">
            <a:avLst>
              <a:gd name="adj" fmla="val 7843"/>
            </a:avLst>
          </a:prstGeom>
          <a:solidFill>
            <a:srgbClr val="F5F9FE"/>
          </a:solidFill>
          <a:ln w="12700">
            <a:solidFill>
              <a:srgbClr val="DCE5EE"/>
            </a:solidFill>
            <a:prstDash val="solid"/>
          </a:ln>
        </p:spPr>
      </p:sp>
      <p:pic>
        <p:nvPicPr>
          <p:cNvPr id="39" name="Image 6" descr="preencoded.png">    </p:cNvPr>
          <p:cNvPicPr>
            <a:picLocks noChangeAspect="1"/>
          </p:cNvPicPr>
          <p:nvPr/>
        </p:nvPicPr>
        <p:blipFill>
          <a:blip r:embed="rId8"/>
          <a:stretch>
            <a:fillRect/>
          </a:stretch>
        </p:blipFill>
        <p:spPr>
          <a:xfrm>
            <a:off x="8165592" y="2798064"/>
            <a:ext cx="182880" cy="182880"/>
          </a:xfrm>
          <a:prstGeom prst="rect">
            <a:avLst/>
          </a:prstGeom>
        </p:spPr>
      </p:pic>
      <p:sp>
        <p:nvSpPr>
          <p:cNvPr id="40" name="Text 29"/>
          <p:cNvSpPr txBox="1"/>
          <p:nvPr/>
        </p:nvSpPr>
        <p:spPr>
          <a:xfrm>
            <a:off x="8403336" y="2779776"/>
            <a:ext cx="3200400" cy="822960"/>
          </a:xfrm>
          <a:prstGeom prst="rect">
            <a:avLst/>
          </a:prstGeom>
          <a:noFill/>
          <a:ln/>
        </p:spPr>
        <p:txBody>
          <a:bodyPr wrap="square" lIns="0" tIns="0" rIns="0" bIns="0" rtlCol="0" anchor="ctr"/>
          <a:lstStyle/>
          <a:p>
            <a:pPr indent="0" marL="0">
              <a:lnSpc>
                <a:spcPct val="104000"/>
              </a:lnSpc>
              <a:buNone/>
            </a:pPr>
            <a:r>
              <a:rPr lang="en-US" sz="700" b="1" dirty="0">
                <a:solidFill>
                  <a:srgbClr val="1568DC"/>
                </a:solidFill>
                <a:latin typeface="Arial" pitchFamily="34" charset="0"/>
                <a:ea typeface="Arial" pitchFamily="34" charset="-122"/>
                <a:cs typeface="Arial" pitchFamily="34" charset="-120"/>
              </a:rPr>
              <a:t>SWING FACTORS  </a:t>
            </a:r>
            <a:pPr indent="0" marL="0">
              <a:lnSpc>
                <a:spcPct val="104000"/>
              </a:lnSpc>
              <a:buNone/>
            </a:pPr>
            <a:r>
              <a:rPr lang="en-US" sz="740" dirty="0">
                <a:solidFill>
                  <a:srgbClr val="16202B"/>
                </a:solidFill>
                <a:latin typeface="Arial" pitchFamily="34" charset="0"/>
                <a:ea typeface="Arial" pitchFamily="34" charset="-122"/>
                <a:cs typeface="Arial" pitchFamily="34" charset="-120"/>
              </a:rPr>
              <a:t>hotel conversion 6→10%/yr (±₹9 cr TAM); developer STP-trigger share 15→25% (±₹35 cr); proposal win-rate 15→25%.</a:t>
            </a:r>
            <a:endParaRPr lang="en-US" sz="700" dirty="0"/>
          </a:p>
        </p:txBody>
      </p:sp>
      <p:pic>
        <p:nvPicPr>
          <p:cNvPr id="41" name="Image 7" descr="preencoded.png">    </p:cNvPr>
          <p:cNvPicPr>
            <a:picLocks noChangeAspect="1"/>
          </p:cNvPicPr>
          <p:nvPr/>
        </p:nvPicPr>
        <p:blipFill>
          <a:blip r:embed="rId9"/>
          <a:stretch>
            <a:fillRect/>
          </a:stretch>
        </p:blipFill>
        <p:spPr>
          <a:xfrm>
            <a:off x="8092440" y="3721608"/>
            <a:ext cx="155448" cy="155448"/>
          </a:xfrm>
          <a:prstGeom prst="rect">
            <a:avLst/>
          </a:prstGeom>
        </p:spPr>
      </p:pic>
      <p:sp>
        <p:nvSpPr>
          <p:cNvPr id="42" name="Text 30"/>
          <p:cNvSpPr txBox="1"/>
          <p:nvPr/>
        </p:nvSpPr>
        <p:spPr>
          <a:xfrm>
            <a:off x="8321040" y="3694176"/>
            <a:ext cx="3383280" cy="274320"/>
          </a:xfrm>
          <a:prstGeom prst="rect">
            <a:avLst/>
          </a:prstGeom>
          <a:noFill/>
          <a:ln/>
        </p:spPr>
        <p:txBody>
          <a:bodyPr wrap="square" lIns="0" tIns="0" rIns="0" bIns="0" rtlCol="0" anchor="ctr"/>
          <a:lstStyle/>
          <a:p>
            <a:pPr indent="0" marL="0">
              <a:lnSpc>
                <a:spcPct val="98000"/>
              </a:lnSpc>
              <a:buNone/>
            </a:pPr>
            <a:r>
              <a:rPr lang="en-US" sz="760" dirty="0">
                <a:solidFill>
                  <a:srgbClr val="16202B"/>
                </a:solidFill>
                <a:latin typeface="Arial" pitchFamily="34" charset="0"/>
                <a:ea typeface="Arial" pitchFamily="34" charset="-122"/>
                <a:cs typeface="Arial" pitchFamily="34" charset="-120"/>
              </a:rPr>
              <a:t>FY29 needs 34 installs/yr = 5 crews (3 own + 2 partner) — feasible</a:t>
            </a:r>
            <a:endParaRPr lang="en-US" sz="760" dirty="0"/>
          </a:p>
        </p:txBody>
      </p:sp>
      <p:pic>
        <p:nvPicPr>
          <p:cNvPr id="43" name="Image 8" descr="preencoded.png">    </p:cNvPr>
          <p:cNvPicPr>
            <a:picLocks noChangeAspect="1"/>
          </p:cNvPicPr>
          <p:nvPr/>
        </p:nvPicPr>
        <p:blipFill>
          <a:blip r:embed="rId10"/>
          <a:stretch>
            <a:fillRect/>
          </a:stretch>
        </p:blipFill>
        <p:spPr>
          <a:xfrm>
            <a:off x="8092440" y="4005072"/>
            <a:ext cx="155448" cy="155448"/>
          </a:xfrm>
          <a:prstGeom prst="rect">
            <a:avLst/>
          </a:prstGeom>
        </p:spPr>
      </p:pic>
      <p:sp>
        <p:nvSpPr>
          <p:cNvPr id="44" name="Text 31"/>
          <p:cNvSpPr txBox="1"/>
          <p:nvPr/>
        </p:nvSpPr>
        <p:spPr>
          <a:xfrm>
            <a:off x="8321040" y="3977640"/>
            <a:ext cx="3383280" cy="274320"/>
          </a:xfrm>
          <a:prstGeom prst="rect">
            <a:avLst/>
          </a:prstGeom>
          <a:noFill/>
          <a:ln/>
        </p:spPr>
        <p:txBody>
          <a:bodyPr wrap="square" lIns="0" tIns="0" rIns="0" bIns="0" rtlCol="0" anchor="ctr"/>
          <a:lstStyle/>
          <a:p>
            <a:pPr indent="0" marL="0">
              <a:lnSpc>
                <a:spcPct val="98000"/>
              </a:lnSpc>
              <a:buNone/>
            </a:pPr>
            <a:r>
              <a:rPr lang="en-US" sz="760" dirty="0">
                <a:solidFill>
                  <a:srgbClr val="16202B"/>
                </a:solidFill>
                <a:latin typeface="Arial" pitchFamily="34" charset="0"/>
                <a:ea typeface="Arial" pitchFamily="34" charset="-122"/>
                <a:cs typeface="Arial" pitchFamily="34" charset="-120"/>
              </a:rPr>
              <a:t>Receivables @75 DSO = ₹5.2 cr vs net worth &gt;₹12 cr + IPO WC</a:t>
            </a:r>
            <a:endParaRPr lang="en-US" sz="760" dirty="0"/>
          </a:p>
        </p:txBody>
      </p:sp>
      <p:pic>
        <p:nvPicPr>
          <p:cNvPr id="45" name="Image 9" descr="preencoded.png">    </p:cNvPr>
          <p:cNvPicPr>
            <a:picLocks noChangeAspect="1"/>
          </p:cNvPicPr>
          <p:nvPr/>
        </p:nvPicPr>
        <p:blipFill>
          <a:blip r:embed="rId11"/>
          <a:stretch>
            <a:fillRect/>
          </a:stretch>
        </p:blipFill>
        <p:spPr>
          <a:xfrm>
            <a:off x="8092440" y="4288536"/>
            <a:ext cx="155448" cy="155448"/>
          </a:xfrm>
          <a:prstGeom prst="rect">
            <a:avLst/>
          </a:prstGeom>
        </p:spPr>
      </p:pic>
      <p:sp>
        <p:nvSpPr>
          <p:cNvPr id="46" name="Text 32"/>
          <p:cNvSpPr txBox="1"/>
          <p:nvPr/>
        </p:nvSpPr>
        <p:spPr>
          <a:xfrm>
            <a:off x="8321040" y="4261104"/>
            <a:ext cx="3383280" cy="274320"/>
          </a:xfrm>
          <a:prstGeom prst="rect">
            <a:avLst/>
          </a:prstGeom>
          <a:noFill/>
          <a:ln/>
        </p:spPr>
        <p:txBody>
          <a:bodyPr wrap="square" lIns="0" tIns="0" rIns="0" bIns="0" rtlCol="0" anchor="ctr"/>
          <a:lstStyle/>
          <a:p>
            <a:pPr indent="0" marL="0">
              <a:lnSpc>
                <a:spcPct val="98000"/>
              </a:lnSpc>
              <a:buNone/>
            </a:pPr>
            <a:r>
              <a:rPr lang="en-US" sz="760" dirty="0">
                <a:solidFill>
                  <a:srgbClr val="16202B"/>
                </a:solidFill>
                <a:latin typeface="Arial" pitchFamily="34" charset="0"/>
                <a:ea typeface="Arial" pitchFamily="34" charset="-122"/>
                <a:cs typeface="Arial" pitchFamily="34" charset="-120"/>
              </a:rPr>
              <a:t>₹6.2 cr 3-yr investment funded from internal accruals</a:t>
            </a:r>
            <a:endParaRPr lang="en-US" sz="760" dirty="0"/>
          </a:p>
        </p:txBody>
      </p:sp>
      <p:sp>
        <p:nvSpPr>
          <p:cNvPr id="47" name="Shape 33"/>
          <p:cNvSpPr/>
          <p:nvPr/>
        </p:nvSpPr>
        <p:spPr>
          <a:xfrm>
            <a:off x="457200" y="4663440"/>
            <a:ext cx="11274552" cy="329184"/>
          </a:xfrm>
          <a:prstGeom prst="roundRect">
            <a:avLst>
              <a:gd name="adj" fmla="val 25000"/>
            </a:avLst>
          </a:prstGeom>
          <a:solidFill>
            <a:srgbClr val="1568DC"/>
          </a:solidFill>
          <a:ln/>
          <a:effectLst>
            <a:outerShdw sx="100000" sy="100000" kx="0" ky="0" algn="bl" rotWithShape="0" blurRad="50800" dist="12700" dir="5400000">
              <a:srgbClr val="B6C1CD">
                <a:alpha val="30000"/>
              </a:srgbClr>
            </a:outerShdw>
          </a:effectLst>
        </p:spPr>
      </p:sp>
      <p:pic>
        <p:nvPicPr>
          <p:cNvPr id="48" name="Image 10" descr="preencoded.png">    </p:cNvPr>
          <p:cNvPicPr>
            <a:picLocks noChangeAspect="1"/>
          </p:cNvPicPr>
          <p:nvPr/>
        </p:nvPicPr>
        <p:blipFill>
          <a:blip r:embed="rId12"/>
          <a:stretch>
            <a:fillRect/>
          </a:stretch>
        </p:blipFill>
        <p:spPr>
          <a:xfrm>
            <a:off x="621792" y="4709160"/>
            <a:ext cx="237744" cy="237744"/>
          </a:xfrm>
          <a:prstGeom prst="rect">
            <a:avLst/>
          </a:prstGeom>
        </p:spPr>
      </p:pic>
      <p:sp>
        <p:nvSpPr>
          <p:cNvPr id="49" name="Text 34"/>
          <p:cNvSpPr txBox="1"/>
          <p:nvPr/>
        </p:nvSpPr>
        <p:spPr>
          <a:xfrm>
            <a:off x="969264" y="4663440"/>
            <a:ext cx="10588752" cy="329184"/>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POSITIONING   </a:t>
            </a:r>
            <a:pPr indent="0" marL="0">
              <a:lnSpc>
                <a:spcPct val="100000"/>
              </a:lnSpc>
              <a:buNone/>
            </a:pPr>
            <a:r>
              <a:rPr lang="en-US" sz="1050" b="1" dirty="0">
                <a:solidFill>
                  <a:srgbClr val="FFFFFF"/>
                </a:solidFill>
                <a:latin typeface="Arial" pitchFamily="34" charset="0"/>
                <a:ea typeface="Arial" pitchFamily="34" charset="-122"/>
                <a:cs typeface="Arial" pitchFamily="34" charset="-120"/>
              </a:rPr>
              <a:t>The west-coast compliance partner: certified tech + in-state FRP + 24-48h service — sell lifecycle cost, not lowest capex.</a:t>
            </a:r>
            <a:endParaRPr lang="en-US" sz="10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57200" y="5084064"/>
          <a:ext cx="11274552" cy="914400"/>
        </p:xfrm>
        <a:graphic>
          <a:graphicData uri="http://schemas.openxmlformats.org/drawingml/2006/table">
            <a:tbl>
              <a:tblPr/>
              <a:tblGrid>
                <a:gridCol w="1188720"/>
                <a:gridCol w="1481328"/>
                <a:gridCol w="1463040"/>
                <a:gridCol w="1417320"/>
                <a:gridCol w="1417320"/>
                <a:gridCol w="1444752"/>
                <a:gridCol w="1463040"/>
                <a:gridCol w="1399032"/>
              </a:tblGrid>
              <a:tr h="0">
                <a:tc>
                  <a:txBody>
                    <a:bodyPr/>
                    <a:lstStyle/>
                    <a:p>
                      <a:pPr algn="l" indent="0" marL="0">
                        <a:buNone/>
                      </a:pPr>
                      <a:r>
                        <a:rPr lang="en-US" sz="660" b="1" dirty="0">
                          <a:solidFill>
                            <a:srgbClr val="FFFFFF"/>
                          </a:solidFill>
                          <a:latin typeface="Arial" pitchFamily="34" charset="0"/>
                          <a:ea typeface="Arial" pitchFamily="34" charset="-122"/>
                          <a:cs typeface="Arial" pitchFamily="34" charset="-120"/>
                        </a:rPr>
                        <a:t>COMPETITOR MATRIX</a:t>
                      </a:r>
                      <a:endParaRPr lang="en-US" sz="66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6202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EPBL</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Daiki Axis</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D95F2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Ion Exchange</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7C4DBE"/>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Thermax</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A16A1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SUSBIO</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2E9E5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Banka BioLoo</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8809B"/>
                    </a:solidFill>
                  </a:tcPr>
                </a:tc>
                <a:tc>
                  <a:txBody>
                    <a:bodyPr/>
                    <a:lstStyle/>
                    <a:p>
                      <a:pPr algn="ctr" indent="0" marL="0">
                        <a:buNone/>
                      </a:pPr>
                      <a:r>
                        <a:rPr lang="en-US" sz="720" b="1" dirty="0">
                          <a:solidFill>
                            <a:srgbClr val="FFFFFF"/>
                          </a:solidFill>
                          <a:latin typeface="Arial" pitchFamily="34" charset="0"/>
                          <a:ea typeface="Arial" pitchFamily="34" charset="-122"/>
                          <a:cs typeface="Arial" pitchFamily="34" charset="-120"/>
                        </a:rPr>
                        <a:t>NCR online</a:t>
                      </a:r>
                      <a:endParaRPr lang="en-US" sz="7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6B7A89"/>
                    </a:solidFill>
                  </a:tcPr>
                </a:tc>
              </a:tr>
              <a:tr h="0">
                <a:tc>
                  <a:txBody>
                    <a:bodyPr/>
                    <a:lstStyle/>
                    <a:p>
                      <a:pPr algn="l" indent="0" marL="0">
                        <a:buNone/>
                      </a:pPr>
                      <a:r>
                        <a:rPr lang="en-US" sz="650" b="1" dirty="0">
                          <a:solidFill>
                            <a:srgbClr val="0C3E86"/>
                          </a:solidFill>
                          <a:latin typeface="Arial" pitchFamily="34" charset="0"/>
                          <a:ea typeface="Arial" pitchFamily="34" charset="-122"/>
                          <a:cs typeface="Arial" pitchFamily="34" charset="-120"/>
                        </a:rPr>
                        <a:t>Technology</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0C3E86"/>
                          </a:solidFill>
                          <a:latin typeface="Arial" pitchFamily="34" charset="0"/>
                          <a:ea typeface="Arial" pitchFamily="34" charset="-122"/>
                          <a:cs typeface="Arial" pitchFamily="34" charset="-120"/>
                        </a:rPr>
                        <a:t>DRDO bio-digester + MBBR/SBR/MBR + ozone FRP</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E8F1FC"/>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Johkasou FRP capsule, 1-50 KLD</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INDION packaged, SBR, MBR</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FabX MBBR, BioCask, custom ETP</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ECOTREAT anaerobic + MBBR FRP</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DRDO-inoculum bio-toilets, STP, FSM</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MBBR / MBR / SBR fabrication</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50" b="1" dirty="0">
                          <a:solidFill>
                            <a:srgbClr val="0C3E86"/>
                          </a:solidFill>
                          <a:latin typeface="Arial" pitchFamily="34" charset="0"/>
                          <a:ea typeface="Arial" pitchFamily="34" charset="-122"/>
                          <a:cs typeface="Arial" pitchFamily="34" charset="-120"/>
                        </a:rPr>
                        <a:t>Sweet spot</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0C3E86"/>
                          </a:solidFill>
                          <a:latin typeface="Arial" pitchFamily="34" charset="0"/>
                          <a:ea typeface="Arial" pitchFamily="34" charset="-122"/>
                          <a:cs typeface="Arial" pitchFamily="34" charset="-120"/>
                        </a:rPr>
                        <a:t>5-100 KLD private compliance buyers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E8F1FC"/>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Villas, hotels, institutions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SME → municipal, all scales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Industrial; &gt;1 MLD EPC</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Hotels; ₹35k/KLD, 3-5 day install</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Railways, institutions (₹56.5 cr)</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Commercial &amp; industrial</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r>
              <a:tr h="0">
                <a:tc>
                  <a:txBody>
                    <a:bodyPr/>
                    <a:lstStyle/>
                    <a:p>
                      <a:pPr algn="l" indent="0" marL="0">
                        <a:buNone/>
                      </a:pPr>
                      <a:r>
                        <a:rPr lang="en-US" sz="650" b="1" dirty="0">
                          <a:solidFill>
                            <a:srgbClr val="0C3E86"/>
                          </a:solidFill>
                          <a:latin typeface="Arial" pitchFamily="34" charset="0"/>
                          <a:ea typeface="Arial" pitchFamily="34" charset="-122"/>
                          <a:cs typeface="Arial" pitchFamily="34" charset="-120"/>
                        </a:rPr>
                        <a:t>Presence &amp; local O&amp;M</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0C3E86"/>
                          </a:solidFill>
                          <a:latin typeface="Arial" pitchFamily="34" charset="0"/>
                          <a:ea typeface="Arial" pitchFamily="34" charset="-122"/>
                          <a:cs typeface="Arial" pitchFamily="34" charset="-120"/>
                        </a:rPr>
                        <a:t>Goa OEM, 200+ installs, 24-48h corridor crews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E8F1FC"/>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Dealers; ₹200 cr Tumakuru plant; dealer O&amp;M</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Partner network; small jobs routed out</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Pan-India; distributor-sold small KLD</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MH &amp; west; service base growing</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Hyderabad; rail O&amp;M annuity focus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SEO claims; remote response only</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50" b="1" dirty="0">
                          <a:solidFill>
                            <a:srgbClr val="0C3E86"/>
                          </a:solidFill>
                          <a:latin typeface="Arial" pitchFamily="34" charset="0"/>
                          <a:ea typeface="Arial" pitchFamily="34" charset="-122"/>
                          <a:cs typeface="Arial" pitchFamily="34" charset="-120"/>
                        </a:rPr>
                        <a:t>Whitespace for EPBL</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0C3E86"/>
                          </a:solidFill>
                          <a:latin typeface="Arial" pitchFamily="34" charset="0"/>
                          <a:ea typeface="Arial" pitchFamily="34" charset="-122"/>
                          <a:cs typeface="Arial" pitchFamily="34" charset="-120"/>
                        </a:rPr>
                        <a:t>— defend with certification + service</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E8F1FC"/>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Premium import; thin turnkey civil</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Small jobs get no direct engineering</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10-50 KLD not a focus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Sharpest rival: beat on GA/KA service</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Weak hospitality presence</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650" dirty="0">
                          <a:solidFill>
                            <a:srgbClr val="16202B"/>
                          </a:solidFill>
                          <a:latin typeface="Arial" pitchFamily="34" charset="0"/>
                          <a:ea typeface="Arial" pitchFamily="34" charset="-122"/>
                          <a:cs typeface="Arial" pitchFamily="34" charset="-120"/>
                        </a:rPr>
                        <a:t>Local 24-48h service wins</a:t>
                      </a:r>
                      <a:endParaRPr lang="en-US" sz="65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r>
            </a:tbl>
          </a:graphicData>
        </a:graphic>
      </p:graphicFrame>
      <p:sp>
        <p:nvSpPr>
          <p:cNvPr id="51" name="Text 35"/>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CPCB 2021; Goa Tourism 2024; HVS-ANAROCK 2024; MahaRERA 2025; 99acres RERA; BMW Rules 2016; daikiaxis.in; ionexchangeglobal.com; thermaxglobal.com; susbio.in; screener.in (BANKA); netsolwater.com. Adjacent models: CDD DEWATS &amp; Boson WaaS (learn, not fight). URLs p.8.</a:t>
            </a:r>
            <a:endParaRPr lang="en-US" sz="680" dirty="0"/>
          </a:p>
        </p:txBody>
      </p:sp>
      <p:sp>
        <p:nvSpPr>
          <p:cNvPr id="52" name="Text 36"/>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2B · THREE-YEAR GO-TO-MARKET ROADMAP</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36 months, </a:t>
            </a:r>
            <a:pPr indent="0" marL="0">
              <a:buNone/>
            </a:pPr>
            <a:r>
              <a:rPr lang="en-US" sz="2500" b="1" dirty="0">
                <a:solidFill>
                  <a:srgbClr val="1568DC"/>
                </a:solidFill>
                <a:latin typeface="Arial" pitchFamily="34" charset="0"/>
                <a:ea typeface="Arial" pitchFamily="34" charset="-122"/>
                <a:cs typeface="Arial" pitchFamily="34" charset="-120"/>
              </a:rPr>
              <a:t>gated corridor by corridor</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298448"/>
            <a:ext cx="3520440" cy="2761488"/>
          </a:xfrm>
          <a:prstGeom prst="roundRect">
            <a:avLst>
              <a:gd name="adj" fmla="val 2649"/>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10" name="Shape 8"/>
          <p:cNvSpPr/>
          <p:nvPr/>
        </p:nvSpPr>
        <p:spPr>
          <a:xfrm>
            <a:off x="457200" y="1298448"/>
            <a:ext cx="3520440" cy="402336"/>
          </a:xfrm>
          <a:prstGeom prst="roundRect">
            <a:avLst>
              <a:gd name="adj" fmla="val 18182"/>
            </a:avLst>
          </a:prstGeom>
          <a:solidFill>
            <a:srgbClr val="1568DC"/>
          </a:solidFill>
          <a:ln/>
        </p:spPr>
      </p:sp>
      <p:sp>
        <p:nvSpPr>
          <p:cNvPr id="11" name="Shape 9"/>
          <p:cNvSpPr/>
          <p:nvPr/>
        </p:nvSpPr>
        <p:spPr>
          <a:xfrm>
            <a:off x="548640" y="1371600"/>
            <a:ext cx="256032" cy="256032"/>
          </a:xfrm>
          <a:prstGeom prst="ellipse">
            <a:avLst/>
          </a:prstGeom>
          <a:solidFill>
            <a:srgbClr val="FFFFFF"/>
          </a:solidFill>
          <a:ln/>
        </p:spPr>
      </p:sp>
      <p:sp>
        <p:nvSpPr>
          <p:cNvPr id="12" name="Text 10"/>
          <p:cNvSpPr txBox="1"/>
          <p:nvPr/>
        </p:nvSpPr>
        <p:spPr>
          <a:xfrm>
            <a:off x="548640" y="1371600"/>
            <a:ext cx="256032" cy="256032"/>
          </a:xfrm>
          <a:prstGeom prst="rect">
            <a:avLst/>
          </a:prstGeom>
          <a:noFill/>
          <a:ln/>
        </p:spPr>
        <p:txBody>
          <a:bodyPr wrap="square" lIns="0" tIns="0" rIns="0" bIns="0" rtlCol="0" anchor="ctr"/>
          <a:lstStyle/>
          <a:p>
            <a:pPr algn="ctr" indent="0" marL="0">
              <a:buNone/>
            </a:pPr>
            <a:r>
              <a:rPr lang="en-US" sz="1200" b="1" dirty="0">
                <a:solidFill>
                  <a:srgbClr val="1568DC"/>
                </a:solidFill>
                <a:latin typeface="Arial" pitchFamily="34" charset="0"/>
                <a:ea typeface="Arial" pitchFamily="34" charset="-122"/>
                <a:cs typeface="Arial" pitchFamily="34" charset="-120"/>
              </a:rPr>
              <a:t>1</a:t>
            </a:r>
            <a:endParaRPr lang="en-US" sz="1200" dirty="0"/>
          </a:p>
        </p:txBody>
      </p:sp>
      <p:sp>
        <p:nvSpPr>
          <p:cNvPr id="13" name="Text 11"/>
          <p:cNvSpPr txBox="1"/>
          <p:nvPr/>
        </p:nvSpPr>
        <p:spPr>
          <a:xfrm>
            <a:off x="877824" y="1298448"/>
            <a:ext cx="3008376" cy="40233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Fortress Goa + Konkan  </a:t>
            </a:r>
            <a:pPr indent="0" marL="0">
              <a:buNone/>
            </a:pPr>
            <a:r>
              <a:rPr lang="en-US" sz="850" b="1" dirty="0">
                <a:solidFill>
                  <a:srgbClr val="D8E6FA"/>
                </a:solidFill>
                <a:latin typeface="Arial" pitchFamily="34" charset="0"/>
                <a:ea typeface="Arial" pitchFamily="34" charset="-122"/>
                <a:cs typeface="Arial" pitchFamily="34" charset="-120"/>
              </a:rPr>
              <a:t>FY27</a:t>
            </a:r>
            <a:endParaRPr lang="en-US" sz="1100" dirty="0"/>
          </a:p>
        </p:txBody>
      </p:sp>
      <p:pic>
        <p:nvPicPr>
          <p:cNvPr id="14" name="Image 0" descr="preencoded.png">    </p:cNvPr>
          <p:cNvPicPr>
            <a:picLocks noChangeAspect="1"/>
          </p:cNvPicPr>
          <p:nvPr/>
        </p:nvPicPr>
        <p:blipFill>
          <a:blip r:embed="rId1"/>
          <a:stretch>
            <a:fillRect/>
          </a:stretch>
        </p:blipFill>
        <p:spPr>
          <a:xfrm>
            <a:off x="566928" y="1801368"/>
            <a:ext cx="137160" cy="137160"/>
          </a:xfrm>
          <a:prstGeom prst="rect">
            <a:avLst/>
          </a:prstGeom>
        </p:spPr>
      </p:pic>
      <p:sp>
        <p:nvSpPr>
          <p:cNvPr id="15" name="Text 12"/>
          <p:cNvSpPr txBox="1"/>
          <p:nvPr/>
        </p:nvSpPr>
        <p:spPr>
          <a:xfrm>
            <a:off x="768096" y="1773936"/>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WHERE  </a:t>
            </a:r>
            <a:pPr indent="0" marL="0">
              <a:lnSpc>
                <a:spcPct val="97000"/>
              </a:lnSpc>
              <a:buNone/>
            </a:pPr>
            <a:r>
              <a:rPr lang="en-US" sz="730" dirty="0">
                <a:solidFill>
                  <a:srgbClr val="16202B"/>
                </a:solidFill>
                <a:latin typeface="Arial" pitchFamily="34" charset="0"/>
                <a:ea typeface="Arial" pitchFamily="34" charset="-122"/>
                <a:cs typeface="Arial" pitchFamily="34" charset="-120"/>
              </a:rPr>
              <a:t>Goa (all), Sindhudurg-Ratnagiri, Kolhapur, Belagavi (≤250 km of Bicholim)</a:t>
            </a:r>
            <a:endParaRPr lang="en-US" sz="660" dirty="0"/>
          </a:p>
        </p:txBody>
      </p:sp>
      <p:pic>
        <p:nvPicPr>
          <p:cNvPr id="16" name="Image 1" descr="preencoded.png">    </p:cNvPr>
          <p:cNvPicPr>
            <a:picLocks noChangeAspect="1"/>
          </p:cNvPicPr>
          <p:nvPr/>
        </p:nvPicPr>
        <p:blipFill>
          <a:blip r:embed="rId2"/>
          <a:stretch>
            <a:fillRect/>
          </a:stretch>
        </p:blipFill>
        <p:spPr>
          <a:xfrm>
            <a:off x="566928" y="2251253"/>
            <a:ext cx="137160" cy="137160"/>
          </a:xfrm>
          <a:prstGeom prst="rect">
            <a:avLst/>
          </a:prstGeom>
        </p:spPr>
      </p:pic>
      <p:sp>
        <p:nvSpPr>
          <p:cNvPr id="17" name="Text 13"/>
          <p:cNvSpPr txBox="1"/>
          <p:nvPr/>
        </p:nvSpPr>
        <p:spPr>
          <a:xfrm>
            <a:off x="768096" y="2223821"/>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WHO  </a:t>
            </a:r>
            <a:pPr indent="0" marL="0">
              <a:lnSpc>
                <a:spcPct val="97000"/>
              </a:lnSpc>
              <a:buNone/>
            </a:pPr>
            <a:r>
              <a:rPr lang="en-US" sz="730" dirty="0">
                <a:solidFill>
                  <a:srgbClr val="16202B"/>
                </a:solidFill>
                <a:latin typeface="Arial" pitchFamily="34" charset="0"/>
                <a:ea typeface="Arial" pitchFamily="34" charset="-122"/>
                <a:cs typeface="Arial" pitchFamily="34" charset="-120"/>
              </a:rPr>
              <a:t>Hoteliers first; hospitals; selective developers</a:t>
            </a:r>
            <a:endParaRPr lang="en-US" sz="660" dirty="0"/>
          </a:p>
        </p:txBody>
      </p:sp>
      <p:pic>
        <p:nvPicPr>
          <p:cNvPr id="18" name="Image 2" descr="preencoded.png">    </p:cNvPr>
          <p:cNvPicPr>
            <a:picLocks noChangeAspect="1"/>
          </p:cNvPicPr>
          <p:nvPr/>
        </p:nvPicPr>
        <p:blipFill>
          <a:blip r:embed="rId3"/>
          <a:stretch>
            <a:fillRect/>
          </a:stretch>
        </p:blipFill>
        <p:spPr>
          <a:xfrm>
            <a:off x="566928" y="2536546"/>
            <a:ext cx="137160" cy="137160"/>
          </a:xfrm>
          <a:prstGeom prst="rect">
            <a:avLst/>
          </a:prstGeom>
        </p:spPr>
      </p:pic>
      <p:sp>
        <p:nvSpPr>
          <p:cNvPr id="19" name="Text 14"/>
          <p:cNvSpPr txBox="1"/>
          <p:nvPr/>
        </p:nvSpPr>
        <p:spPr>
          <a:xfrm>
            <a:off x="768096" y="2509114"/>
            <a:ext cx="3099816" cy="402336"/>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SELL  </a:t>
            </a:r>
            <a:pPr indent="0" marL="0">
              <a:lnSpc>
                <a:spcPct val="97000"/>
              </a:lnSpc>
              <a:buNone/>
            </a:pPr>
            <a:r>
              <a:rPr lang="en-US" sz="730" dirty="0">
                <a:solidFill>
                  <a:srgbClr val="16202B"/>
                </a:solidFill>
                <a:latin typeface="Arial" pitchFamily="34" charset="0"/>
                <a:ea typeface="Arial" pitchFamily="34" charset="-122"/>
                <a:cs typeface="Arial" pitchFamily="34" charset="-120"/>
              </a:rPr>
              <a:t>10/25/50 KLD FRP packages; ₹25k audit entry; bio-digester retail; STP Rescue</a:t>
            </a:r>
            <a:endParaRPr lang="en-US" sz="660" dirty="0"/>
          </a:p>
        </p:txBody>
      </p:sp>
      <p:pic>
        <p:nvPicPr>
          <p:cNvPr id="20" name="Image 3" descr="preencoded.png">    </p:cNvPr>
          <p:cNvPicPr>
            <a:picLocks noChangeAspect="1"/>
          </p:cNvPicPr>
          <p:nvPr/>
        </p:nvPicPr>
        <p:blipFill>
          <a:blip r:embed="rId4"/>
          <a:stretch>
            <a:fillRect/>
          </a:stretch>
        </p:blipFill>
        <p:spPr>
          <a:xfrm>
            <a:off x="566928" y="2968142"/>
            <a:ext cx="137160" cy="137160"/>
          </a:xfrm>
          <a:prstGeom prst="rect">
            <a:avLst/>
          </a:prstGeom>
        </p:spPr>
      </p:pic>
      <p:sp>
        <p:nvSpPr>
          <p:cNvPr id="21" name="Text 15"/>
          <p:cNvSpPr txBox="1"/>
          <p:nvPr/>
        </p:nvSpPr>
        <p:spPr>
          <a:xfrm>
            <a:off x="768096" y="2940710"/>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ROUTE  </a:t>
            </a:r>
            <a:pPr indent="0" marL="0">
              <a:lnSpc>
                <a:spcPct val="97000"/>
              </a:lnSpc>
              <a:buNone/>
            </a:pPr>
            <a:r>
              <a:rPr lang="en-US" sz="730" dirty="0">
                <a:solidFill>
                  <a:srgbClr val="16202B"/>
                </a:solidFill>
                <a:latin typeface="Arial" pitchFamily="34" charset="0"/>
                <a:ea typeface="Arial" pitchFamily="34" charset="-122"/>
                <a:cs typeface="Arial" pitchFamily="34" charset="-120"/>
              </a:rPr>
              <a:t>Founder-led ABM + 2 AMs; 15 MEP consultants; TTAG, GCCI, CREDAI Kolhapur; 10 dealers</a:t>
            </a:r>
            <a:endParaRPr lang="en-US" sz="660" dirty="0"/>
          </a:p>
        </p:txBody>
      </p:sp>
      <p:pic>
        <p:nvPicPr>
          <p:cNvPr id="22" name="Image 4" descr="preencoded.png">    </p:cNvPr>
          <p:cNvPicPr>
            <a:picLocks noChangeAspect="1"/>
          </p:cNvPicPr>
          <p:nvPr/>
        </p:nvPicPr>
        <p:blipFill>
          <a:blip r:embed="rId5"/>
          <a:stretch>
            <a:fillRect/>
          </a:stretch>
        </p:blipFill>
        <p:spPr>
          <a:xfrm>
            <a:off x="566928" y="3418027"/>
            <a:ext cx="137160" cy="137160"/>
          </a:xfrm>
          <a:prstGeom prst="rect">
            <a:avLst/>
          </a:prstGeom>
        </p:spPr>
      </p:pic>
      <p:sp>
        <p:nvSpPr>
          <p:cNvPr id="23" name="Text 16"/>
          <p:cNvSpPr txBox="1"/>
          <p:nvPr/>
        </p:nvSpPr>
        <p:spPr>
          <a:xfrm>
            <a:off x="768096" y="3390595"/>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INVEST  </a:t>
            </a:r>
            <a:pPr indent="0" marL="0">
              <a:lnSpc>
                <a:spcPct val="97000"/>
              </a:lnSpc>
              <a:buNone/>
            </a:pPr>
            <a:r>
              <a:rPr lang="en-US" sz="730" dirty="0">
                <a:solidFill>
                  <a:srgbClr val="16202B"/>
                </a:solidFill>
                <a:latin typeface="Arial" pitchFamily="34" charset="0"/>
                <a:ea typeface="Arial" pitchFamily="34" charset="-122"/>
                <a:cs typeface="Arial" pitchFamily="34" charset="-120"/>
              </a:rPr>
              <a:t>₹1.4 cr: hires, demo skids, service van, CRM, NABL tie-up</a:t>
            </a:r>
            <a:endParaRPr lang="en-US" sz="660" dirty="0"/>
          </a:p>
        </p:txBody>
      </p:sp>
      <p:pic>
        <p:nvPicPr>
          <p:cNvPr id="24" name="Image 5" descr="preencoded.png">    </p:cNvPr>
          <p:cNvPicPr>
            <a:picLocks noChangeAspect="1"/>
          </p:cNvPicPr>
          <p:nvPr/>
        </p:nvPicPr>
        <p:blipFill>
          <a:blip r:embed="rId6"/>
          <a:stretch>
            <a:fillRect/>
          </a:stretch>
        </p:blipFill>
        <p:spPr>
          <a:xfrm>
            <a:off x="566928" y="3703320"/>
            <a:ext cx="137160" cy="137160"/>
          </a:xfrm>
          <a:prstGeom prst="rect">
            <a:avLst/>
          </a:prstGeom>
        </p:spPr>
      </p:pic>
      <p:sp>
        <p:nvSpPr>
          <p:cNvPr id="25" name="Text 17"/>
          <p:cNvSpPr txBox="1"/>
          <p:nvPr/>
        </p:nvSpPr>
        <p:spPr>
          <a:xfrm>
            <a:off x="768096" y="3675888"/>
            <a:ext cx="3099816" cy="274320"/>
          </a:xfrm>
          <a:prstGeom prst="rect">
            <a:avLst/>
          </a:prstGeom>
          <a:noFill/>
          <a:ln/>
        </p:spPr>
        <p:txBody>
          <a:bodyPr wrap="square" lIns="0" tIns="0" rIns="0" bIns="0" rtlCol="0" anchor="ctr"/>
          <a:lstStyle/>
          <a:p>
            <a:pPr indent="0" marL="0">
              <a:lnSpc>
                <a:spcPct val="97000"/>
              </a:lnSpc>
              <a:buNone/>
            </a:pPr>
            <a:r>
              <a:rPr lang="en-US" sz="660" b="1" dirty="0">
                <a:solidFill>
                  <a:srgbClr val="1568DC"/>
                </a:solidFill>
                <a:latin typeface="Arial" pitchFamily="34" charset="0"/>
                <a:ea typeface="Arial" pitchFamily="34" charset="-122"/>
                <a:cs typeface="Arial" pitchFamily="34" charset="-120"/>
              </a:rPr>
              <a:t>TARGET  </a:t>
            </a:r>
            <a:pPr indent="0" marL="0">
              <a:lnSpc>
                <a:spcPct val="97000"/>
              </a:lnSpc>
              <a:buNone/>
            </a:pPr>
            <a:r>
              <a:rPr lang="en-US" sz="730" dirty="0">
                <a:solidFill>
                  <a:srgbClr val="16202B"/>
                </a:solidFill>
                <a:latin typeface="Arial" pitchFamily="34" charset="0"/>
                <a:ea typeface="Arial" pitchFamily="34" charset="-122"/>
                <a:cs typeface="Arial" pitchFamily="34" charset="-120"/>
              </a:rPr>
              <a:t>₹3.0-3.5 cr new orders · 10 installs · AMC ≥50%</a:t>
            </a:r>
            <a:endParaRPr lang="en-US" sz="660" dirty="0"/>
          </a:p>
        </p:txBody>
      </p:sp>
      <p:sp>
        <p:nvSpPr>
          <p:cNvPr id="26" name="Shape 18"/>
          <p:cNvSpPr/>
          <p:nvPr/>
        </p:nvSpPr>
        <p:spPr>
          <a:xfrm>
            <a:off x="4023360" y="2441448"/>
            <a:ext cx="274320" cy="457200"/>
          </a:xfrm>
          <a:prstGeom prst="chevron">
            <a:avLst/>
          </a:prstGeom>
          <a:solidFill>
            <a:srgbClr val="ED9B12"/>
          </a:solidFill>
          <a:ln/>
        </p:spPr>
      </p:sp>
      <p:sp>
        <p:nvSpPr>
          <p:cNvPr id="27" name="Shape 19"/>
          <p:cNvSpPr/>
          <p:nvPr/>
        </p:nvSpPr>
        <p:spPr>
          <a:xfrm>
            <a:off x="4334256" y="1298448"/>
            <a:ext cx="3520440" cy="2761488"/>
          </a:xfrm>
          <a:prstGeom prst="roundRect">
            <a:avLst>
              <a:gd name="adj" fmla="val 2649"/>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28" name="Shape 20"/>
          <p:cNvSpPr/>
          <p:nvPr/>
        </p:nvSpPr>
        <p:spPr>
          <a:xfrm>
            <a:off x="4334256" y="1298448"/>
            <a:ext cx="3520440" cy="402336"/>
          </a:xfrm>
          <a:prstGeom prst="roundRect">
            <a:avLst>
              <a:gd name="adj" fmla="val 18182"/>
            </a:avLst>
          </a:prstGeom>
          <a:solidFill>
            <a:srgbClr val="0C3E86"/>
          </a:solidFill>
          <a:ln/>
        </p:spPr>
      </p:sp>
      <p:sp>
        <p:nvSpPr>
          <p:cNvPr id="29" name="Shape 21"/>
          <p:cNvSpPr/>
          <p:nvPr/>
        </p:nvSpPr>
        <p:spPr>
          <a:xfrm>
            <a:off x="4425696" y="1371600"/>
            <a:ext cx="256032" cy="256032"/>
          </a:xfrm>
          <a:prstGeom prst="ellipse">
            <a:avLst/>
          </a:prstGeom>
          <a:solidFill>
            <a:srgbClr val="FFFFFF"/>
          </a:solidFill>
          <a:ln/>
        </p:spPr>
      </p:sp>
      <p:sp>
        <p:nvSpPr>
          <p:cNvPr id="30" name="Text 22"/>
          <p:cNvSpPr txBox="1"/>
          <p:nvPr/>
        </p:nvSpPr>
        <p:spPr>
          <a:xfrm>
            <a:off x="4425696" y="1371600"/>
            <a:ext cx="256032" cy="256032"/>
          </a:xfrm>
          <a:prstGeom prst="rect">
            <a:avLst/>
          </a:prstGeom>
          <a:noFill/>
          <a:ln/>
        </p:spPr>
        <p:txBody>
          <a:bodyPr wrap="square" lIns="0" tIns="0" rIns="0" bIns="0" rtlCol="0" anchor="ctr"/>
          <a:lstStyle/>
          <a:p>
            <a:pPr algn="ctr" indent="0" marL="0">
              <a:buNone/>
            </a:pPr>
            <a:r>
              <a:rPr lang="en-US" sz="1200" b="1" dirty="0">
                <a:solidFill>
                  <a:srgbClr val="0C3E86"/>
                </a:solidFill>
                <a:latin typeface="Arial" pitchFamily="34" charset="0"/>
                <a:ea typeface="Arial" pitchFamily="34" charset="-122"/>
                <a:cs typeface="Arial" pitchFamily="34" charset="-120"/>
              </a:rPr>
              <a:t>2</a:t>
            </a:r>
            <a:endParaRPr lang="en-US" sz="1200" dirty="0"/>
          </a:p>
        </p:txBody>
      </p:sp>
      <p:sp>
        <p:nvSpPr>
          <p:cNvPr id="31" name="Text 23"/>
          <p:cNvSpPr txBox="1"/>
          <p:nvPr/>
        </p:nvSpPr>
        <p:spPr>
          <a:xfrm>
            <a:off x="4754880" y="1298448"/>
            <a:ext cx="3008376" cy="40233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Karnataka corridor  </a:t>
            </a:r>
            <a:pPr indent="0" marL="0">
              <a:buNone/>
            </a:pPr>
            <a:r>
              <a:rPr lang="en-US" sz="850" b="1" dirty="0">
                <a:solidFill>
                  <a:srgbClr val="D8E6FA"/>
                </a:solidFill>
                <a:latin typeface="Arial" pitchFamily="34" charset="0"/>
                <a:ea typeface="Arial" pitchFamily="34" charset="-122"/>
                <a:cs typeface="Arial" pitchFamily="34" charset="-120"/>
              </a:rPr>
              <a:t>FY28</a:t>
            </a:r>
            <a:endParaRPr lang="en-US" sz="1100" dirty="0"/>
          </a:p>
        </p:txBody>
      </p:sp>
      <p:pic>
        <p:nvPicPr>
          <p:cNvPr id="32" name="Image 6" descr="preencoded.png">    </p:cNvPr>
          <p:cNvPicPr>
            <a:picLocks noChangeAspect="1"/>
          </p:cNvPicPr>
          <p:nvPr/>
        </p:nvPicPr>
        <p:blipFill>
          <a:blip r:embed="rId7"/>
          <a:stretch>
            <a:fillRect/>
          </a:stretch>
        </p:blipFill>
        <p:spPr>
          <a:xfrm>
            <a:off x="4443984" y="1801368"/>
            <a:ext cx="137160" cy="137160"/>
          </a:xfrm>
          <a:prstGeom prst="rect">
            <a:avLst/>
          </a:prstGeom>
        </p:spPr>
      </p:pic>
      <p:sp>
        <p:nvSpPr>
          <p:cNvPr id="33" name="Text 24"/>
          <p:cNvSpPr txBox="1"/>
          <p:nvPr/>
        </p:nvSpPr>
        <p:spPr>
          <a:xfrm>
            <a:off x="4645152" y="1773936"/>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WHERE  </a:t>
            </a:r>
            <a:pPr indent="0" marL="0">
              <a:lnSpc>
                <a:spcPct val="97000"/>
              </a:lnSpc>
              <a:buNone/>
            </a:pPr>
            <a:r>
              <a:rPr lang="en-US" sz="730" dirty="0">
                <a:solidFill>
                  <a:srgbClr val="16202B"/>
                </a:solidFill>
                <a:latin typeface="Arial" pitchFamily="34" charset="0"/>
                <a:ea typeface="Arial" pitchFamily="34" charset="-122"/>
                <a:cs typeface="Arial" pitchFamily="34" charset="-120"/>
              </a:rPr>
              <a:t>+ Hubballi-Dharwad, Mangaluru, Mysuru, Sangli probe; Belagavi hub + Mangaluru spoke</a:t>
            </a:r>
            <a:endParaRPr lang="en-US" sz="660" dirty="0"/>
          </a:p>
        </p:txBody>
      </p:sp>
      <p:pic>
        <p:nvPicPr>
          <p:cNvPr id="34" name="Image 7" descr="preencoded.png">    </p:cNvPr>
          <p:cNvPicPr>
            <a:picLocks noChangeAspect="1"/>
          </p:cNvPicPr>
          <p:nvPr/>
        </p:nvPicPr>
        <p:blipFill>
          <a:blip r:embed="rId8"/>
          <a:stretch>
            <a:fillRect/>
          </a:stretch>
        </p:blipFill>
        <p:spPr>
          <a:xfrm>
            <a:off x="4443984" y="2251253"/>
            <a:ext cx="137160" cy="137160"/>
          </a:xfrm>
          <a:prstGeom prst="rect">
            <a:avLst/>
          </a:prstGeom>
        </p:spPr>
      </p:pic>
      <p:sp>
        <p:nvSpPr>
          <p:cNvPr id="35" name="Text 25"/>
          <p:cNvSpPr txBox="1"/>
          <p:nvPr/>
        </p:nvSpPr>
        <p:spPr>
          <a:xfrm>
            <a:off x="4645152" y="2223821"/>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WHO  </a:t>
            </a:r>
            <a:pPr indent="0" marL="0">
              <a:lnSpc>
                <a:spcPct val="97000"/>
              </a:lnSpc>
              <a:buNone/>
            </a:pPr>
            <a:r>
              <a:rPr lang="en-US" sz="730" dirty="0">
                <a:solidFill>
                  <a:srgbClr val="16202B"/>
                </a:solidFill>
                <a:latin typeface="Arial" pitchFamily="34" charset="0"/>
                <a:ea typeface="Arial" pitchFamily="34" charset="-122"/>
                <a:cs typeface="Arial" pitchFamily="34" charset="-120"/>
              </a:rPr>
              <a:t>Developers scaled up; hospitals; education &amp; CSR</a:t>
            </a:r>
            <a:endParaRPr lang="en-US" sz="660" dirty="0"/>
          </a:p>
        </p:txBody>
      </p:sp>
      <p:pic>
        <p:nvPicPr>
          <p:cNvPr id="36" name="Image 8" descr="preencoded.png">    </p:cNvPr>
          <p:cNvPicPr>
            <a:picLocks noChangeAspect="1"/>
          </p:cNvPicPr>
          <p:nvPr/>
        </p:nvPicPr>
        <p:blipFill>
          <a:blip r:embed="rId9"/>
          <a:stretch>
            <a:fillRect/>
          </a:stretch>
        </p:blipFill>
        <p:spPr>
          <a:xfrm>
            <a:off x="4443984" y="2536546"/>
            <a:ext cx="137160" cy="137160"/>
          </a:xfrm>
          <a:prstGeom prst="rect">
            <a:avLst/>
          </a:prstGeom>
        </p:spPr>
      </p:pic>
      <p:sp>
        <p:nvSpPr>
          <p:cNvPr id="37" name="Text 26"/>
          <p:cNvSpPr txBox="1"/>
          <p:nvPr/>
        </p:nvSpPr>
        <p:spPr>
          <a:xfrm>
            <a:off x="4645152" y="2509114"/>
            <a:ext cx="3099816" cy="402336"/>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SELL  </a:t>
            </a:r>
            <a:pPr indent="0" marL="0">
              <a:lnSpc>
                <a:spcPct val="97000"/>
              </a:lnSpc>
              <a:buNone/>
            </a:pPr>
            <a:r>
              <a:rPr lang="en-US" sz="730" dirty="0">
                <a:solidFill>
                  <a:srgbClr val="16202B"/>
                </a:solidFill>
                <a:latin typeface="Arial" pitchFamily="34" charset="0"/>
                <a:ea typeface="Arial" pitchFamily="34" charset="-122"/>
                <a:cs typeface="Arial" pitchFamily="34" charset="-120"/>
              </a:rPr>
              <a:t>+100 KLD series, hospital ETP skid, SmartSTP monitoring, 3-yr O&amp;M handover</a:t>
            </a:r>
            <a:endParaRPr lang="en-US" sz="660" dirty="0"/>
          </a:p>
        </p:txBody>
      </p:sp>
      <p:pic>
        <p:nvPicPr>
          <p:cNvPr id="38" name="Image 9" descr="preencoded.png">    </p:cNvPr>
          <p:cNvPicPr>
            <a:picLocks noChangeAspect="1"/>
          </p:cNvPicPr>
          <p:nvPr/>
        </p:nvPicPr>
        <p:blipFill>
          <a:blip r:embed="rId10"/>
          <a:stretch>
            <a:fillRect/>
          </a:stretch>
        </p:blipFill>
        <p:spPr>
          <a:xfrm>
            <a:off x="4443984" y="2968142"/>
            <a:ext cx="137160" cy="137160"/>
          </a:xfrm>
          <a:prstGeom prst="rect">
            <a:avLst/>
          </a:prstGeom>
        </p:spPr>
      </p:pic>
      <p:sp>
        <p:nvSpPr>
          <p:cNvPr id="39" name="Text 27"/>
          <p:cNvSpPr txBox="1"/>
          <p:nvPr/>
        </p:nvSpPr>
        <p:spPr>
          <a:xfrm>
            <a:off x="4645152" y="2940710"/>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ROUTE  </a:t>
            </a:r>
            <a:pPr indent="0" marL="0">
              <a:lnSpc>
                <a:spcPct val="97000"/>
              </a:lnSpc>
              <a:buNone/>
            </a:pPr>
            <a:r>
              <a:rPr lang="en-US" sz="730" dirty="0">
                <a:solidFill>
                  <a:srgbClr val="16202B"/>
                </a:solidFill>
                <a:latin typeface="Arial" pitchFamily="34" charset="0"/>
                <a:ea typeface="Arial" pitchFamily="34" charset="-122"/>
                <a:cs typeface="Arial" pitchFamily="34" charset="-120"/>
              </a:rPr>
              <a:t>25 consultants; 6 EPC franchisees; AHPI/IMA chapters; CSR implementation partners</a:t>
            </a:r>
            <a:endParaRPr lang="en-US" sz="660" dirty="0"/>
          </a:p>
        </p:txBody>
      </p:sp>
      <p:pic>
        <p:nvPicPr>
          <p:cNvPr id="40" name="Image 10" descr="preencoded.png">    </p:cNvPr>
          <p:cNvPicPr>
            <a:picLocks noChangeAspect="1"/>
          </p:cNvPicPr>
          <p:nvPr/>
        </p:nvPicPr>
        <p:blipFill>
          <a:blip r:embed="rId11"/>
          <a:stretch>
            <a:fillRect/>
          </a:stretch>
        </p:blipFill>
        <p:spPr>
          <a:xfrm>
            <a:off x="4443984" y="3418027"/>
            <a:ext cx="137160" cy="137160"/>
          </a:xfrm>
          <a:prstGeom prst="rect">
            <a:avLst/>
          </a:prstGeom>
        </p:spPr>
      </p:pic>
      <p:sp>
        <p:nvSpPr>
          <p:cNvPr id="41" name="Text 28"/>
          <p:cNvSpPr txBox="1"/>
          <p:nvPr/>
        </p:nvSpPr>
        <p:spPr>
          <a:xfrm>
            <a:off x="4645152" y="3390595"/>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INVEST  </a:t>
            </a:r>
            <a:pPr indent="0" marL="0">
              <a:lnSpc>
                <a:spcPct val="97000"/>
              </a:lnSpc>
              <a:buNone/>
            </a:pPr>
            <a:r>
              <a:rPr lang="en-US" sz="730" dirty="0">
                <a:solidFill>
                  <a:srgbClr val="16202B"/>
                </a:solidFill>
                <a:latin typeface="Arial" pitchFamily="34" charset="0"/>
                <a:ea typeface="Arial" pitchFamily="34" charset="-122"/>
                <a:cs typeface="Arial" pitchFamily="34" charset="-120"/>
              </a:rPr>
              <a:t>₹2.2 cr: 2 hubs, 4 hires, inventory, monitoring stock</a:t>
            </a:r>
            <a:endParaRPr lang="en-US" sz="660" dirty="0"/>
          </a:p>
        </p:txBody>
      </p:sp>
      <p:pic>
        <p:nvPicPr>
          <p:cNvPr id="42" name="Image 11" descr="preencoded.png">    </p:cNvPr>
          <p:cNvPicPr>
            <a:picLocks noChangeAspect="1"/>
          </p:cNvPicPr>
          <p:nvPr/>
        </p:nvPicPr>
        <p:blipFill>
          <a:blip r:embed="rId12"/>
          <a:stretch>
            <a:fillRect/>
          </a:stretch>
        </p:blipFill>
        <p:spPr>
          <a:xfrm>
            <a:off x="4443984" y="3703320"/>
            <a:ext cx="137160" cy="137160"/>
          </a:xfrm>
          <a:prstGeom prst="rect">
            <a:avLst/>
          </a:prstGeom>
        </p:spPr>
      </p:pic>
      <p:sp>
        <p:nvSpPr>
          <p:cNvPr id="43" name="Text 29"/>
          <p:cNvSpPr txBox="1"/>
          <p:nvPr/>
        </p:nvSpPr>
        <p:spPr>
          <a:xfrm>
            <a:off x="4645152" y="3675888"/>
            <a:ext cx="3099816" cy="274320"/>
          </a:xfrm>
          <a:prstGeom prst="rect">
            <a:avLst/>
          </a:prstGeom>
          <a:noFill/>
          <a:ln/>
        </p:spPr>
        <p:txBody>
          <a:bodyPr wrap="square" lIns="0" tIns="0" rIns="0" bIns="0" rtlCol="0" anchor="ctr"/>
          <a:lstStyle/>
          <a:p>
            <a:pPr indent="0" marL="0">
              <a:lnSpc>
                <a:spcPct val="97000"/>
              </a:lnSpc>
              <a:buNone/>
            </a:pPr>
            <a:r>
              <a:rPr lang="en-US" sz="660" b="1" dirty="0">
                <a:solidFill>
                  <a:srgbClr val="0C3E86"/>
                </a:solidFill>
                <a:latin typeface="Arial" pitchFamily="34" charset="0"/>
                <a:ea typeface="Arial" pitchFamily="34" charset="-122"/>
                <a:cs typeface="Arial" pitchFamily="34" charset="-120"/>
              </a:rPr>
              <a:t>TARGET  </a:t>
            </a:r>
            <a:pPr indent="0" marL="0">
              <a:lnSpc>
                <a:spcPct val="97000"/>
              </a:lnSpc>
              <a:buNone/>
            </a:pPr>
            <a:r>
              <a:rPr lang="en-US" sz="730" dirty="0">
                <a:solidFill>
                  <a:srgbClr val="16202B"/>
                </a:solidFill>
                <a:latin typeface="Arial" pitchFamily="34" charset="0"/>
                <a:ea typeface="Arial" pitchFamily="34" charset="-122"/>
                <a:cs typeface="Arial" pitchFamily="34" charset="-120"/>
              </a:rPr>
              <a:t>₹6.4 cr new revenue · channel ≥40% · uptime ≥95%</a:t>
            </a:r>
            <a:endParaRPr lang="en-US" sz="660" dirty="0"/>
          </a:p>
        </p:txBody>
      </p:sp>
      <p:sp>
        <p:nvSpPr>
          <p:cNvPr id="44" name="Shape 30"/>
          <p:cNvSpPr/>
          <p:nvPr/>
        </p:nvSpPr>
        <p:spPr>
          <a:xfrm>
            <a:off x="7900416" y="2441448"/>
            <a:ext cx="274320" cy="457200"/>
          </a:xfrm>
          <a:prstGeom prst="chevron">
            <a:avLst/>
          </a:prstGeom>
          <a:solidFill>
            <a:srgbClr val="ED9B12"/>
          </a:solidFill>
          <a:ln/>
        </p:spPr>
      </p:sp>
      <p:sp>
        <p:nvSpPr>
          <p:cNvPr id="45" name="Shape 31"/>
          <p:cNvSpPr/>
          <p:nvPr/>
        </p:nvSpPr>
        <p:spPr>
          <a:xfrm>
            <a:off x="8211312" y="1298448"/>
            <a:ext cx="3520440" cy="2761488"/>
          </a:xfrm>
          <a:prstGeom prst="roundRect">
            <a:avLst>
              <a:gd name="adj" fmla="val 2649"/>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46" name="Shape 32"/>
          <p:cNvSpPr/>
          <p:nvPr/>
        </p:nvSpPr>
        <p:spPr>
          <a:xfrm>
            <a:off x="8211312" y="1298448"/>
            <a:ext cx="3520440" cy="402336"/>
          </a:xfrm>
          <a:prstGeom prst="roundRect">
            <a:avLst>
              <a:gd name="adj" fmla="val 18182"/>
            </a:avLst>
          </a:prstGeom>
          <a:solidFill>
            <a:srgbClr val="129454"/>
          </a:solidFill>
          <a:ln/>
        </p:spPr>
      </p:sp>
      <p:sp>
        <p:nvSpPr>
          <p:cNvPr id="47" name="Shape 33"/>
          <p:cNvSpPr/>
          <p:nvPr/>
        </p:nvSpPr>
        <p:spPr>
          <a:xfrm>
            <a:off x="8302752" y="1371600"/>
            <a:ext cx="256032" cy="256032"/>
          </a:xfrm>
          <a:prstGeom prst="ellipse">
            <a:avLst/>
          </a:prstGeom>
          <a:solidFill>
            <a:srgbClr val="FFFFFF"/>
          </a:solidFill>
          <a:ln/>
        </p:spPr>
      </p:sp>
      <p:sp>
        <p:nvSpPr>
          <p:cNvPr id="48" name="Text 34"/>
          <p:cNvSpPr txBox="1"/>
          <p:nvPr/>
        </p:nvSpPr>
        <p:spPr>
          <a:xfrm>
            <a:off x="8302752" y="1371600"/>
            <a:ext cx="256032" cy="256032"/>
          </a:xfrm>
          <a:prstGeom prst="rect">
            <a:avLst/>
          </a:prstGeom>
          <a:noFill/>
          <a:ln/>
        </p:spPr>
        <p:txBody>
          <a:bodyPr wrap="square" lIns="0" tIns="0" rIns="0" bIns="0" rtlCol="0" anchor="ctr"/>
          <a:lstStyle/>
          <a:p>
            <a:pPr algn="ctr" indent="0" marL="0">
              <a:buNone/>
            </a:pPr>
            <a:r>
              <a:rPr lang="en-US" sz="1200" b="1" dirty="0">
                <a:solidFill>
                  <a:srgbClr val="129454"/>
                </a:solidFill>
                <a:latin typeface="Arial" pitchFamily="34" charset="0"/>
                <a:ea typeface="Arial" pitchFamily="34" charset="-122"/>
                <a:cs typeface="Arial" pitchFamily="34" charset="-120"/>
              </a:rPr>
              <a:t>3</a:t>
            </a:r>
            <a:endParaRPr lang="en-US" sz="1200" dirty="0"/>
          </a:p>
        </p:txBody>
      </p:sp>
      <p:sp>
        <p:nvSpPr>
          <p:cNvPr id="49" name="Text 35"/>
          <p:cNvSpPr txBox="1"/>
          <p:nvPr/>
        </p:nvSpPr>
        <p:spPr>
          <a:xfrm>
            <a:off x="8631936" y="1298448"/>
            <a:ext cx="3008376" cy="402336"/>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Tier-3 via partners  </a:t>
            </a:r>
            <a:pPr indent="0" marL="0">
              <a:buNone/>
            </a:pPr>
            <a:r>
              <a:rPr lang="en-US" sz="850" b="1" dirty="0">
                <a:solidFill>
                  <a:srgbClr val="D8E6FA"/>
                </a:solidFill>
                <a:latin typeface="Arial" pitchFamily="34" charset="0"/>
                <a:ea typeface="Arial" pitchFamily="34" charset="-122"/>
                <a:cs typeface="Arial" pitchFamily="34" charset="-120"/>
              </a:rPr>
              <a:t>FY29</a:t>
            </a:r>
            <a:endParaRPr lang="en-US" sz="1100" dirty="0"/>
          </a:p>
        </p:txBody>
      </p:sp>
      <p:pic>
        <p:nvPicPr>
          <p:cNvPr id="50" name="Image 12" descr="preencoded.png">    </p:cNvPr>
          <p:cNvPicPr>
            <a:picLocks noChangeAspect="1"/>
          </p:cNvPicPr>
          <p:nvPr/>
        </p:nvPicPr>
        <p:blipFill>
          <a:blip r:embed="rId13"/>
          <a:stretch>
            <a:fillRect/>
          </a:stretch>
        </p:blipFill>
        <p:spPr>
          <a:xfrm>
            <a:off x="8321040" y="1801368"/>
            <a:ext cx="137160" cy="137160"/>
          </a:xfrm>
          <a:prstGeom prst="rect">
            <a:avLst/>
          </a:prstGeom>
        </p:spPr>
      </p:pic>
      <p:sp>
        <p:nvSpPr>
          <p:cNvPr id="51" name="Text 36"/>
          <p:cNvSpPr txBox="1"/>
          <p:nvPr/>
        </p:nvSpPr>
        <p:spPr>
          <a:xfrm>
            <a:off x="8522208" y="1773936"/>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WHERE  </a:t>
            </a:r>
            <a:pPr indent="0" marL="0">
              <a:lnSpc>
                <a:spcPct val="97000"/>
              </a:lnSpc>
              <a:buNone/>
            </a:pPr>
            <a:r>
              <a:rPr lang="en-US" sz="730" dirty="0">
                <a:solidFill>
                  <a:srgbClr val="16202B"/>
                </a:solidFill>
                <a:latin typeface="Arial" pitchFamily="34" charset="0"/>
                <a:ea typeface="Arial" pitchFamily="34" charset="-122"/>
                <a:cs typeface="Arial" pitchFamily="34" charset="-120"/>
              </a:rPr>
              <a:t>Davanagere, Shivamogga, Udupi, Hassan, Solapur; Nashik &amp; Sambhajinagar partner-led</a:t>
            </a:r>
            <a:endParaRPr lang="en-US" sz="660" dirty="0"/>
          </a:p>
        </p:txBody>
      </p:sp>
      <p:pic>
        <p:nvPicPr>
          <p:cNvPr id="52" name="Image 13" descr="preencoded.png">    </p:cNvPr>
          <p:cNvPicPr>
            <a:picLocks noChangeAspect="1"/>
          </p:cNvPicPr>
          <p:nvPr/>
        </p:nvPicPr>
        <p:blipFill>
          <a:blip r:embed="rId14"/>
          <a:stretch>
            <a:fillRect/>
          </a:stretch>
        </p:blipFill>
        <p:spPr>
          <a:xfrm>
            <a:off x="8321040" y="2251253"/>
            <a:ext cx="137160" cy="137160"/>
          </a:xfrm>
          <a:prstGeom prst="rect">
            <a:avLst/>
          </a:prstGeom>
        </p:spPr>
      </p:pic>
      <p:sp>
        <p:nvSpPr>
          <p:cNvPr id="53" name="Text 37"/>
          <p:cNvSpPr txBox="1"/>
          <p:nvPr/>
        </p:nvSpPr>
        <p:spPr>
          <a:xfrm>
            <a:off x="8522208" y="2223821"/>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WHO  </a:t>
            </a:r>
            <a:pPr indent="0" marL="0">
              <a:lnSpc>
                <a:spcPct val="97000"/>
              </a:lnSpc>
              <a:buNone/>
            </a:pPr>
            <a:r>
              <a:rPr lang="en-US" sz="730" dirty="0">
                <a:solidFill>
                  <a:srgbClr val="16202B"/>
                </a:solidFill>
                <a:latin typeface="Arial" pitchFamily="34" charset="0"/>
                <a:ea typeface="Arial" pitchFamily="34" charset="-122"/>
                <a:cs typeface="Arial" pitchFamily="34" charset="-120"/>
              </a:rPr>
              <a:t>All three personas + societies retrofit at scale</a:t>
            </a:r>
            <a:endParaRPr lang="en-US" sz="660" dirty="0"/>
          </a:p>
        </p:txBody>
      </p:sp>
      <p:pic>
        <p:nvPicPr>
          <p:cNvPr id="54" name="Image 14" descr="preencoded.png">    </p:cNvPr>
          <p:cNvPicPr>
            <a:picLocks noChangeAspect="1"/>
          </p:cNvPicPr>
          <p:nvPr/>
        </p:nvPicPr>
        <p:blipFill>
          <a:blip r:embed="rId15"/>
          <a:stretch>
            <a:fillRect/>
          </a:stretch>
        </p:blipFill>
        <p:spPr>
          <a:xfrm>
            <a:off x="8321040" y="2536546"/>
            <a:ext cx="137160" cy="137160"/>
          </a:xfrm>
          <a:prstGeom prst="rect">
            <a:avLst/>
          </a:prstGeom>
        </p:spPr>
      </p:pic>
      <p:sp>
        <p:nvSpPr>
          <p:cNvPr id="55" name="Text 38"/>
          <p:cNvSpPr txBox="1"/>
          <p:nvPr/>
        </p:nvSpPr>
        <p:spPr>
          <a:xfrm>
            <a:off x="8522208" y="2509114"/>
            <a:ext cx="3099816" cy="402336"/>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SELL  </a:t>
            </a:r>
            <a:pPr indent="0" marL="0">
              <a:lnSpc>
                <a:spcPct val="97000"/>
              </a:lnSpc>
              <a:buNone/>
            </a:pPr>
            <a:r>
              <a:rPr lang="en-US" sz="730" dirty="0">
                <a:solidFill>
                  <a:srgbClr val="16202B"/>
                </a:solidFill>
                <a:latin typeface="Arial" pitchFamily="34" charset="0"/>
                <a:ea typeface="Arial" pitchFamily="34" charset="-122"/>
                <a:cs typeface="Arial" pitchFamily="34" charset="-120"/>
              </a:rPr>
              <a:t>Full catalogue + AquaLoop reuse + O&amp;M takeovers; WaaS pilot</a:t>
            </a:r>
            <a:endParaRPr lang="en-US" sz="660" dirty="0"/>
          </a:p>
        </p:txBody>
      </p:sp>
      <p:pic>
        <p:nvPicPr>
          <p:cNvPr id="56" name="Image 15" descr="preencoded.png">    </p:cNvPr>
          <p:cNvPicPr>
            <a:picLocks noChangeAspect="1"/>
          </p:cNvPicPr>
          <p:nvPr/>
        </p:nvPicPr>
        <p:blipFill>
          <a:blip r:embed="rId16"/>
          <a:stretch>
            <a:fillRect/>
          </a:stretch>
        </p:blipFill>
        <p:spPr>
          <a:xfrm>
            <a:off x="8321040" y="2968142"/>
            <a:ext cx="137160" cy="137160"/>
          </a:xfrm>
          <a:prstGeom prst="rect">
            <a:avLst/>
          </a:prstGeom>
        </p:spPr>
      </p:pic>
      <p:sp>
        <p:nvSpPr>
          <p:cNvPr id="57" name="Text 39"/>
          <p:cNvSpPr txBox="1"/>
          <p:nvPr/>
        </p:nvSpPr>
        <p:spPr>
          <a:xfrm>
            <a:off x="8522208" y="2940710"/>
            <a:ext cx="3099816" cy="420624"/>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ROUTE  </a:t>
            </a:r>
            <a:pPr indent="0" marL="0">
              <a:lnSpc>
                <a:spcPct val="97000"/>
              </a:lnSpc>
              <a:buNone/>
            </a:pPr>
            <a:r>
              <a:rPr lang="en-US" sz="730" dirty="0">
                <a:solidFill>
                  <a:srgbClr val="16202B"/>
                </a:solidFill>
                <a:latin typeface="Arial" pitchFamily="34" charset="0"/>
                <a:ea typeface="Arial" pitchFamily="34" charset="-122"/>
                <a:cs typeface="Arial" pitchFamily="34" charset="-120"/>
              </a:rPr>
              <a:t>25 certified dealer-installers; association programmes; direct for ₹50 L+ deals</a:t>
            </a:r>
            <a:endParaRPr lang="en-US" sz="660" dirty="0"/>
          </a:p>
        </p:txBody>
      </p:sp>
      <p:pic>
        <p:nvPicPr>
          <p:cNvPr id="58" name="Image 16" descr="preencoded.png">    </p:cNvPr>
          <p:cNvPicPr>
            <a:picLocks noChangeAspect="1"/>
          </p:cNvPicPr>
          <p:nvPr/>
        </p:nvPicPr>
        <p:blipFill>
          <a:blip r:embed="rId17"/>
          <a:stretch>
            <a:fillRect/>
          </a:stretch>
        </p:blipFill>
        <p:spPr>
          <a:xfrm>
            <a:off x="8321040" y="3418027"/>
            <a:ext cx="137160" cy="137160"/>
          </a:xfrm>
          <a:prstGeom prst="rect">
            <a:avLst/>
          </a:prstGeom>
        </p:spPr>
      </p:pic>
      <p:sp>
        <p:nvSpPr>
          <p:cNvPr id="59" name="Text 40"/>
          <p:cNvSpPr txBox="1"/>
          <p:nvPr/>
        </p:nvSpPr>
        <p:spPr>
          <a:xfrm>
            <a:off x="8522208" y="3390595"/>
            <a:ext cx="3099816" cy="256032"/>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INVEST  </a:t>
            </a:r>
            <a:pPr indent="0" marL="0">
              <a:lnSpc>
                <a:spcPct val="97000"/>
              </a:lnSpc>
              <a:buNone/>
            </a:pPr>
            <a:r>
              <a:rPr lang="en-US" sz="730" dirty="0">
                <a:solidFill>
                  <a:srgbClr val="16202B"/>
                </a:solidFill>
                <a:latin typeface="Arial" pitchFamily="34" charset="0"/>
                <a:ea typeface="Arial" pitchFamily="34" charset="-122"/>
                <a:cs typeface="Arial" pitchFamily="34" charset="-120"/>
              </a:rPr>
              <a:t>₹2.6 cr: dealer academy, monitoring fleet, working capital</a:t>
            </a:r>
            <a:endParaRPr lang="en-US" sz="660" dirty="0"/>
          </a:p>
        </p:txBody>
      </p:sp>
      <p:pic>
        <p:nvPicPr>
          <p:cNvPr id="60" name="Image 17" descr="preencoded.png">    </p:cNvPr>
          <p:cNvPicPr>
            <a:picLocks noChangeAspect="1"/>
          </p:cNvPicPr>
          <p:nvPr/>
        </p:nvPicPr>
        <p:blipFill>
          <a:blip r:embed="rId18"/>
          <a:stretch>
            <a:fillRect/>
          </a:stretch>
        </p:blipFill>
        <p:spPr>
          <a:xfrm>
            <a:off x="8321040" y="3703320"/>
            <a:ext cx="137160" cy="137160"/>
          </a:xfrm>
          <a:prstGeom prst="rect">
            <a:avLst/>
          </a:prstGeom>
        </p:spPr>
      </p:pic>
      <p:sp>
        <p:nvSpPr>
          <p:cNvPr id="61" name="Text 41"/>
          <p:cNvSpPr txBox="1"/>
          <p:nvPr/>
        </p:nvSpPr>
        <p:spPr>
          <a:xfrm>
            <a:off x="8522208" y="3675888"/>
            <a:ext cx="3099816" cy="274320"/>
          </a:xfrm>
          <a:prstGeom prst="rect">
            <a:avLst/>
          </a:prstGeom>
          <a:noFill/>
          <a:ln/>
        </p:spPr>
        <p:txBody>
          <a:bodyPr wrap="square" lIns="0" tIns="0" rIns="0" bIns="0" rtlCol="0" anchor="ctr"/>
          <a:lstStyle/>
          <a:p>
            <a:pPr indent="0" marL="0">
              <a:lnSpc>
                <a:spcPct val="97000"/>
              </a:lnSpc>
              <a:buNone/>
            </a:pPr>
            <a:r>
              <a:rPr lang="en-US" sz="660" b="1" dirty="0">
                <a:solidFill>
                  <a:srgbClr val="129454"/>
                </a:solidFill>
                <a:latin typeface="Arial" pitchFamily="34" charset="0"/>
                <a:ea typeface="Arial" pitchFamily="34" charset="-122"/>
                <a:cs typeface="Arial" pitchFamily="34" charset="-120"/>
              </a:rPr>
              <a:t>TARGET  </a:t>
            </a:r>
            <a:pPr indent="0" marL="0">
              <a:lnSpc>
                <a:spcPct val="97000"/>
              </a:lnSpc>
              <a:buNone/>
            </a:pPr>
            <a:r>
              <a:rPr lang="en-US" sz="730" dirty="0">
                <a:solidFill>
                  <a:srgbClr val="16202B"/>
                </a:solidFill>
                <a:latin typeface="Arial" pitchFamily="34" charset="0"/>
                <a:ea typeface="Arial" pitchFamily="34" charset="-122"/>
                <a:cs typeface="Arial" pitchFamily="34" charset="-120"/>
              </a:rPr>
              <a:t>₹11.9 cr new revenue · recurring ~10% · 34 installs/yr</a:t>
            </a:r>
            <a:endParaRPr lang="en-US" sz="660" dirty="0"/>
          </a:p>
        </p:txBody>
      </p:sp>
      <p:sp>
        <p:nvSpPr>
          <p:cNvPr id="62" name="Shape 42"/>
          <p:cNvSpPr/>
          <p:nvPr/>
        </p:nvSpPr>
        <p:spPr>
          <a:xfrm>
            <a:off x="2194560" y="4169664"/>
            <a:ext cx="3703320" cy="384048"/>
          </a:xfrm>
          <a:prstGeom prst="roundRect">
            <a:avLst>
              <a:gd name="adj" fmla="val 21429"/>
            </a:avLst>
          </a:prstGeom>
          <a:solidFill>
            <a:srgbClr val="FCF1DA"/>
          </a:solidFill>
          <a:ln w="12700">
            <a:solidFill>
              <a:srgbClr val="ED9B12"/>
            </a:solidFill>
            <a:prstDash val="solid"/>
          </a:ln>
        </p:spPr>
      </p:sp>
      <p:pic>
        <p:nvPicPr>
          <p:cNvPr id="63" name="Image 18" descr="preencoded.png">    </p:cNvPr>
          <p:cNvPicPr>
            <a:picLocks noChangeAspect="1"/>
          </p:cNvPicPr>
          <p:nvPr/>
        </p:nvPicPr>
        <p:blipFill>
          <a:blip r:embed="rId19"/>
          <a:stretch>
            <a:fillRect/>
          </a:stretch>
        </p:blipFill>
        <p:spPr>
          <a:xfrm>
            <a:off x="2286000" y="4261104"/>
            <a:ext cx="182880" cy="182880"/>
          </a:xfrm>
          <a:prstGeom prst="rect">
            <a:avLst/>
          </a:prstGeom>
        </p:spPr>
      </p:pic>
      <p:sp>
        <p:nvSpPr>
          <p:cNvPr id="64" name="Text 43"/>
          <p:cNvSpPr txBox="1"/>
          <p:nvPr/>
        </p:nvSpPr>
        <p:spPr>
          <a:xfrm>
            <a:off x="2523744" y="4169664"/>
            <a:ext cx="3337560" cy="384048"/>
          </a:xfrm>
          <a:prstGeom prst="rect">
            <a:avLst/>
          </a:prstGeom>
          <a:noFill/>
          <a:ln/>
        </p:spPr>
        <p:txBody>
          <a:bodyPr wrap="square" lIns="0" tIns="0" rIns="0" bIns="0" rtlCol="0" anchor="ctr"/>
          <a:lstStyle/>
          <a:p>
            <a:pPr indent="0" marL="0">
              <a:lnSpc>
                <a:spcPct val="96000"/>
              </a:lnSpc>
              <a:buNone/>
            </a:pPr>
            <a:r>
              <a:rPr lang="en-US" sz="760" b="1" dirty="0">
                <a:solidFill>
                  <a:srgbClr val="9A6A0F"/>
                </a:solidFill>
                <a:latin typeface="Arial" pitchFamily="34" charset="0"/>
                <a:ea typeface="Arial" pitchFamily="34" charset="-122"/>
                <a:cs typeface="Arial" pitchFamily="34" charset="-120"/>
              </a:rPr>
              <a:t>GATE 1 → 2  </a:t>
            </a:r>
            <a:pPr indent="0" marL="0">
              <a:lnSpc>
                <a:spcPct val="96000"/>
              </a:lnSpc>
              <a:buNone/>
            </a:pPr>
            <a:r>
              <a:rPr lang="en-US" sz="710" dirty="0">
                <a:solidFill>
                  <a:srgbClr val="16202B"/>
                </a:solidFill>
                <a:latin typeface="Arial" pitchFamily="34" charset="0"/>
                <a:ea typeface="Arial" pitchFamily="34" charset="-122"/>
                <a:cs typeface="Arial" pitchFamily="34" charset="-120"/>
              </a:rPr>
              <a:t>≥10 lab-verified references · AMC ≥50% · DSO ≤75 · pipeline ≥3× next-year target</a:t>
            </a:r>
            <a:endParaRPr lang="en-US" sz="760" dirty="0"/>
          </a:p>
        </p:txBody>
      </p:sp>
      <p:sp>
        <p:nvSpPr>
          <p:cNvPr id="65" name="Shape 44"/>
          <p:cNvSpPr/>
          <p:nvPr/>
        </p:nvSpPr>
        <p:spPr>
          <a:xfrm>
            <a:off x="6071616" y="4169664"/>
            <a:ext cx="3703320" cy="384048"/>
          </a:xfrm>
          <a:prstGeom prst="roundRect">
            <a:avLst>
              <a:gd name="adj" fmla="val 21429"/>
            </a:avLst>
          </a:prstGeom>
          <a:solidFill>
            <a:srgbClr val="FCF1DA"/>
          </a:solidFill>
          <a:ln w="12700">
            <a:solidFill>
              <a:srgbClr val="ED9B12"/>
            </a:solidFill>
            <a:prstDash val="solid"/>
          </a:ln>
        </p:spPr>
      </p:sp>
      <p:pic>
        <p:nvPicPr>
          <p:cNvPr id="66" name="Image 19" descr="preencoded.png">    </p:cNvPr>
          <p:cNvPicPr>
            <a:picLocks noChangeAspect="1"/>
          </p:cNvPicPr>
          <p:nvPr/>
        </p:nvPicPr>
        <p:blipFill>
          <a:blip r:embed="rId20"/>
          <a:stretch>
            <a:fillRect/>
          </a:stretch>
        </p:blipFill>
        <p:spPr>
          <a:xfrm>
            <a:off x="6163056" y="4261104"/>
            <a:ext cx="182880" cy="182880"/>
          </a:xfrm>
          <a:prstGeom prst="rect">
            <a:avLst/>
          </a:prstGeom>
        </p:spPr>
      </p:pic>
      <p:sp>
        <p:nvSpPr>
          <p:cNvPr id="67" name="Text 45"/>
          <p:cNvSpPr txBox="1"/>
          <p:nvPr/>
        </p:nvSpPr>
        <p:spPr>
          <a:xfrm>
            <a:off x="6400800" y="4169664"/>
            <a:ext cx="3337560" cy="384048"/>
          </a:xfrm>
          <a:prstGeom prst="rect">
            <a:avLst/>
          </a:prstGeom>
          <a:noFill/>
          <a:ln/>
        </p:spPr>
        <p:txBody>
          <a:bodyPr wrap="square" lIns="0" tIns="0" rIns="0" bIns="0" rtlCol="0" anchor="ctr"/>
          <a:lstStyle/>
          <a:p>
            <a:pPr indent="0" marL="0">
              <a:lnSpc>
                <a:spcPct val="96000"/>
              </a:lnSpc>
              <a:buNone/>
            </a:pPr>
            <a:r>
              <a:rPr lang="en-US" sz="760" b="1" dirty="0">
                <a:solidFill>
                  <a:srgbClr val="9A6A0F"/>
                </a:solidFill>
                <a:latin typeface="Arial" pitchFamily="34" charset="0"/>
                <a:ea typeface="Arial" pitchFamily="34" charset="-122"/>
                <a:cs typeface="Arial" pitchFamily="34" charset="-120"/>
              </a:rPr>
              <a:t>GATE 2 → 3  </a:t>
            </a:r>
            <a:pPr indent="0" marL="0">
              <a:lnSpc>
                <a:spcPct val="96000"/>
              </a:lnSpc>
              <a:buNone/>
            </a:pPr>
            <a:r>
              <a:rPr lang="en-US" sz="710" dirty="0">
                <a:solidFill>
                  <a:srgbClr val="16202B"/>
                </a:solidFill>
                <a:latin typeface="Arial" pitchFamily="34" charset="0"/>
                <a:ea typeface="Arial" pitchFamily="34" charset="-122"/>
                <a:cs typeface="Arial" pitchFamily="34" charset="-120"/>
              </a:rPr>
              <a:t>Channel ≥40% of pipeline · install ≤45 days · uptime ≥95% · repeat ≥20% · GM ≥30%</a:t>
            </a:r>
            <a:endParaRPr lang="en-US" sz="760" dirty="0"/>
          </a:p>
        </p:txBody>
      </p:sp>
      <p:sp>
        <p:nvSpPr>
          <p:cNvPr id="68" name="Shape 46"/>
          <p:cNvSpPr/>
          <p:nvPr/>
        </p:nvSpPr>
        <p:spPr>
          <a:xfrm>
            <a:off x="457200" y="4681728"/>
            <a:ext cx="274320" cy="274320"/>
          </a:xfrm>
          <a:prstGeom prst="roundRect">
            <a:avLst>
              <a:gd name="adj" fmla="val 24000"/>
            </a:avLst>
          </a:prstGeom>
          <a:solidFill>
            <a:srgbClr val="E8F1FC"/>
          </a:solidFill>
          <a:ln/>
        </p:spPr>
      </p:sp>
      <p:pic>
        <p:nvPicPr>
          <p:cNvPr id="69" name="Image 20" descr="preencoded.png">    </p:cNvPr>
          <p:cNvPicPr>
            <a:picLocks noChangeAspect="1"/>
          </p:cNvPicPr>
          <p:nvPr/>
        </p:nvPicPr>
        <p:blipFill>
          <a:blip r:embed="rId21"/>
          <a:stretch>
            <a:fillRect/>
          </a:stretch>
        </p:blipFill>
        <p:spPr>
          <a:xfrm>
            <a:off x="514807" y="4739335"/>
            <a:ext cx="159106" cy="159106"/>
          </a:xfrm>
          <a:prstGeom prst="rect">
            <a:avLst/>
          </a:prstGeom>
        </p:spPr>
      </p:pic>
      <p:sp>
        <p:nvSpPr>
          <p:cNvPr id="70" name="Text 47"/>
          <p:cNvSpPr txBox="1"/>
          <p:nvPr/>
        </p:nvSpPr>
        <p:spPr>
          <a:xfrm>
            <a:off x="841248" y="4658868"/>
            <a:ext cx="594360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Acquisition funnel &amp; capacity  (FY27 → FY29)</a:t>
            </a:r>
            <a:endParaRPr lang="en-US" sz="1200" dirty="0"/>
          </a:p>
        </p:txBody>
      </p:sp>
      <p:sp>
        <p:nvSpPr>
          <p:cNvPr id="71" name="Shape 48"/>
          <p:cNvSpPr/>
          <p:nvPr/>
        </p:nvSpPr>
        <p:spPr>
          <a:xfrm>
            <a:off x="457200" y="4974336"/>
            <a:ext cx="1225296" cy="640080"/>
          </a:xfrm>
          <a:prstGeom prst="chevron">
            <a:avLst/>
          </a:prstGeom>
          <a:solidFill>
            <a:srgbClr val="E8F1FC"/>
          </a:solidFill>
          <a:ln w="9525">
            <a:solidFill>
              <a:srgbClr val="9FC2EE"/>
            </a:solidFill>
            <a:prstDash val="solid"/>
          </a:ln>
        </p:spPr>
      </p:sp>
      <p:sp>
        <p:nvSpPr>
          <p:cNvPr id="72" name="Text 49"/>
          <p:cNvSpPr txBox="1"/>
          <p:nvPr/>
        </p:nvSpPr>
        <p:spPr>
          <a:xfrm>
            <a:off x="594360" y="4974336"/>
            <a:ext cx="987552" cy="640080"/>
          </a:xfrm>
          <a:prstGeom prst="rect">
            <a:avLst/>
          </a:prstGeom>
          <a:noFill/>
          <a:ln/>
        </p:spPr>
        <p:txBody>
          <a:bodyPr wrap="square" lIns="0" tIns="0" rIns="0" bIns="0" rtlCol="0" anchor="ctr"/>
          <a:lstStyle/>
          <a:p>
            <a:pPr algn="ctr" indent="0" marL="0">
              <a:lnSpc>
                <a:spcPct val="96000"/>
              </a:lnSpc>
              <a:buNone/>
            </a:pPr>
            <a:r>
              <a:rPr lang="en-US" sz="730" b="1" dirty="0">
                <a:solidFill>
                  <a:srgbClr val="0C3E86"/>
                </a:solidFill>
                <a:latin typeface="Arial" pitchFamily="34" charset="0"/>
                <a:ea typeface="Arial" pitchFamily="34" charset="-122"/>
                <a:cs typeface="Arial" pitchFamily="34" charset="-120"/>
              </a:rPr>
              <a:t>Audits / leads
</a:t>
            </a:r>
            <a:pPr algn="ctr" indent="0" marL="0">
              <a:lnSpc>
                <a:spcPct val="96000"/>
              </a:lnSpc>
              <a:buNone/>
            </a:pPr>
            <a:r>
              <a:rPr lang="en-US" sz="700" dirty="0">
                <a:solidFill>
                  <a:srgbClr val="16202B"/>
                </a:solidFill>
                <a:latin typeface="Arial" pitchFamily="34" charset="0"/>
                <a:ea typeface="Arial" pitchFamily="34" charset="-122"/>
                <a:cs typeface="Arial" pitchFamily="34" charset="-120"/>
              </a:rPr>
              <a:t>320 → 900</a:t>
            </a:r>
            <a:endParaRPr lang="en-US" sz="730" dirty="0"/>
          </a:p>
        </p:txBody>
      </p:sp>
      <p:sp>
        <p:nvSpPr>
          <p:cNvPr id="73" name="Shape 50"/>
          <p:cNvSpPr/>
          <p:nvPr/>
        </p:nvSpPr>
        <p:spPr>
          <a:xfrm>
            <a:off x="1737360" y="4974336"/>
            <a:ext cx="1225296" cy="640080"/>
          </a:xfrm>
          <a:prstGeom prst="chevron">
            <a:avLst/>
          </a:prstGeom>
          <a:solidFill>
            <a:srgbClr val="E8F1FC"/>
          </a:solidFill>
          <a:ln w="9525">
            <a:solidFill>
              <a:srgbClr val="9FC2EE"/>
            </a:solidFill>
            <a:prstDash val="solid"/>
          </a:ln>
        </p:spPr>
      </p:sp>
      <p:sp>
        <p:nvSpPr>
          <p:cNvPr id="74" name="Text 51"/>
          <p:cNvSpPr txBox="1"/>
          <p:nvPr/>
        </p:nvSpPr>
        <p:spPr>
          <a:xfrm>
            <a:off x="1874520" y="4974336"/>
            <a:ext cx="987552" cy="640080"/>
          </a:xfrm>
          <a:prstGeom prst="rect">
            <a:avLst/>
          </a:prstGeom>
          <a:noFill/>
          <a:ln/>
        </p:spPr>
        <p:txBody>
          <a:bodyPr wrap="square" lIns="0" tIns="0" rIns="0" bIns="0" rtlCol="0" anchor="ctr"/>
          <a:lstStyle/>
          <a:p>
            <a:pPr algn="ctr" indent="0" marL="0">
              <a:lnSpc>
                <a:spcPct val="96000"/>
              </a:lnSpc>
              <a:buNone/>
            </a:pPr>
            <a:r>
              <a:rPr lang="en-US" sz="730" b="1" dirty="0">
                <a:solidFill>
                  <a:srgbClr val="0C3E86"/>
                </a:solidFill>
                <a:latin typeface="Arial" pitchFamily="34" charset="0"/>
                <a:ea typeface="Arial" pitchFamily="34" charset="-122"/>
                <a:cs typeface="Arial" pitchFamily="34" charset="-120"/>
              </a:rPr>
              <a:t>Qualified
</a:t>
            </a:r>
            <a:pPr algn="ctr" indent="0" marL="0">
              <a:lnSpc>
                <a:spcPct val="96000"/>
              </a:lnSpc>
              <a:buNone/>
            </a:pPr>
            <a:r>
              <a:rPr lang="en-US" sz="700" dirty="0">
                <a:solidFill>
                  <a:srgbClr val="16202B"/>
                </a:solidFill>
                <a:latin typeface="Arial" pitchFamily="34" charset="0"/>
                <a:ea typeface="Arial" pitchFamily="34" charset="-122"/>
                <a:cs typeface="Arial" pitchFamily="34" charset="-120"/>
              </a:rPr>
              <a:t>130 → 380 (₹32→95 cr)</a:t>
            </a:r>
            <a:endParaRPr lang="en-US" sz="730" dirty="0"/>
          </a:p>
        </p:txBody>
      </p:sp>
      <p:sp>
        <p:nvSpPr>
          <p:cNvPr id="75" name="Shape 52"/>
          <p:cNvSpPr/>
          <p:nvPr/>
        </p:nvSpPr>
        <p:spPr>
          <a:xfrm>
            <a:off x="3017520" y="4974336"/>
            <a:ext cx="1225296" cy="640080"/>
          </a:xfrm>
          <a:prstGeom prst="chevron">
            <a:avLst/>
          </a:prstGeom>
          <a:solidFill>
            <a:srgbClr val="E8F1FC"/>
          </a:solidFill>
          <a:ln w="9525">
            <a:solidFill>
              <a:srgbClr val="9FC2EE"/>
            </a:solidFill>
            <a:prstDash val="solid"/>
          </a:ln>
        </p:spPr>
      </p:sp>
      <p:sp>
        <p:nvSpPr>
          <p:cNvPr id="76" name="Text 53"/>
          <p:cNvSpPr txBox="1"/>
          <p:nvPr/>
        </p:nvSpPr>
        <p:spPr>
          <a:xfrm>
            <a:off x="3154680" y="4974336"/>
            <a:ext cx="987552" cy="640080"/>
          </a:xfrm>
          <a:prstGeom prst="rect">
            <a:avLst/>
          </a:prstGeom>
          <a:noFill/>
          <a:ln/>
        </p:spPr>
        <p:txBody>
          <a:bodyPr wrap="square" lIns="0" tIns="0" rIns="0" bIns="0" rtlCol="0" anchor="ctr"/>
          <a:lstStyle/>
          <a:p>
            <a:pPr algn="ctr" indent="0" marL="0">
              <a:lnSpc>
                <a:spcPct val="96000"/>
              </a:lnSpc>
              <a:buNone/>
            </a:pPr>
            <a:r>
              <a:rPr lang="en-US" sz="730" b="1" dirty="0">
                <a:solidFill>
                  <a:srgbClr val="0C3E86"/>
                </a:solidFill>
                <a:latin typeface="Arial" pitchFamily="34" charset="0"/>
                <a:ea typeface="Arial" pitchFamily="34" charset="-122"/>
                <a:cs typeface="Arial" pitchFamily="34" charset="-120"/>
              </a:rPr>
              <a:t>Proposals
</a:t>
            </a:r>
            <a:pPr algn="ctr" indent="0" marL="0">
              <a:lnSpc>
                <a:spcPct val="96000"/>
              </a:lnSpc>
              <a:buNone/>
            </a:pPr>
            <a:r>
              <a:rPr lang="en-US" sz="700" dirty="0">
                <a:solidFill>
                  <a:srgbClr val="16202B"/>
                </a:solidFill>
                <a:latin typeface="Arial" pitchFamily="34" charset="0"/>
                <a:ea typeface="Arial" pitchFamily="34" charset="-122"/>
                <a:cs typeface="Arial" pitchFamily="34" charset="-120"/>
              </a:rPr>
              <a:t>55 → 160</a:t>
            </a:r>
            <a:endParaRPr lang="en-US" sz="730" dirty="0"/>
          </a:p>
        </p:txBody>
      </p:sp>
      <p:sp>
        <p:nvSpPr>
          <p:cNvPr id="77" name="Shape 54"/>
          <p:cNvSpPr/>
          <p:nvPr/>
        </p:nvSpPr>
        <p:spPr>
          <a:xfrm>
            <a:off x="4297680" y="4974336"/>
            <a:ext cx="1225296" cy="640080"/>
          </a:xfrm>
          <a:prstGeom prst="chevron">
            <a:avLst/>
          </a:prstGeom>
          <a:solidFill>
            <a:srgbClr val="E8F1FC"/>
          </a:solidFill>
          <a:ln w="9525">
            <a:solidFill>
              <a:srgbClr val="9FC2EE"/>
            </a:solidFill>
            <a:prstDash val="solid"/>
          </a:ln>
        </p:spPr>
      </p:sp>
      <p:sp>
        <p:nvSpPr>
          <p:cNvPr id="78" name="Text 55"/>
          <p:cNvSpPr txBox="1"/>
          <p:nvPr/>
        </p:nvSpPr>
        <p:spPr>
          <a:xfrm>
            <a:off x="4434840" y="4974336"/>
            <a:ext cx="987552" cy="640080"/>
          </a:xfrm>
          <a:prstGeom prst="rect">
            <a:avLst/>
          </a:prstGeom>
          <a:noFill/>
          <a:ln/>
        </p:spPr>
        <p:txBody>
          <a:bodyPr wrap="square" lIns="0" tIns="0" rIns="0" bIns="0" rtlCol="0" anchor="ctr"/>
          <a:lstStyle/>
          <a:p>
            <a:pPr algn="ctr" indent="0" marL="0">
              <a:lnSpc>
                <a:spcPct val="96000"/>
              </a:lnSpc>
              <a:buNone/>
            </a:pPr>
            <a:r>
              <a:rPr lang="en-US" sz="730" b="1" dirty="0">
                <a:solidFill>
                  <a:srgbClr val="0C3E86"/>
                </a:solidFill>
                <a:latin typeface="Arial" pitchFamily="34" charset="0"/>
                <a:ea typeface="Arial" pitchFamily="34" charset="-122"/>
                <a:cs typeface="Arial" pitchFamily="34" charset="-120"/>
              </a:rPr>
              <a:t>Wins
</a:t>
            </a:r>
            <a:pPr algn="ctr" indent="0" marL="0">
              <a:lnSpc>
                <a:spcPct val="96000"/>
              </a:lnSpc>
              <a:buNone/>
            </a:pPr>
            <a:r>
              <a:rPr lang="en-US" sz="700" dirty="0">
                <a:solidFill>
                  <a:srgbClr val="16202B"/>
                </a:solidFill>
                <a:latin typeface="Arial" pitchFamily="34" charset="0"/>
                <a:ea typeface="Arial" pitchFamily="34" charset="-122"/>
                <a:cs typeface="Arial" pitchFamily="34" charset="-120"/>
              </a:rPr>
              <a:t>10 → 34</a:t>
            </a:r>
            <a:endParaRPr lang="en-US" sz="730" dirty="0"/>
          </a:p>
        </p:txBody>
      </p:sp>
      <p:sp>
        <p:nvSpPr>
          <p:cNvPr id="79" name="Shape 56"/>
          <p:cNvSpPr/>
          <p:nvPr/>
        </p:nvSpPr>
        <p:spPr>
          <a:xfrm>
            <a:off x="5577840" y="4974336"/>
            <a:ext cx="1481328" cy="640080"/>
          </a:xfrm>
          <a:prstGeom prst="roundRect">
            <a:avLst>
              <a:gd name="adj" fmla="val 12857"/>
            </a:avLst>
          </a:prstGeom>
          <a:solidFill>
            <a:srgbClr val="1568DC"/>
          </a:solidFill>
          <a:ln/>
          <a:effectLst>
            <a:outerShdw sx="100000" sy="100000" kx="0" ky="0" algn="bl" rotWithShape="0" blurRad="50800" dist="12700" dir="5400000">
              <a:srgbClr val="B6C1CD">
                <a:alpha val="30000"/>
              </a:srgbClr>
            </a:outerShdw>
          </a:effectLst>
        </p:spPr>
      </p:sp>
      <p:sp>
        <p:nvSpPr>
          <p:cNvPr id="80" name="Text 57"/>
          <p:cNvSpPr txBox="1"/>
          <p:nvPr/>
        </p:nvSpPr>
        <p:spPr>
          <a:xfrm>
            <a:off x="5632704" y="4974336"/>
            <a:ext cx="1371600" cy="640080"/>
          </a:xfrm>
          <a:prstGeom prst="rect">
            <a:avLst/>
          </a:prstGeom>
          <a:noFill/>
          <a:ln/>
        </p:spPr>
        <p:txBody>
          <a:bodyPr wrap="square" lIns="0" tIns="0" rIns="0" bIns="0" rtlCol="0" anchor="ctr"/>
          <a:lstStyle/>
          <a:p>
            <a:pPr algn="ctr" indent="0" marL="0">
              <a:lnSpc>
                <a:spcPct val="96000"/>
              </a:lnSpc>
              <a:buNone/>
            </a:pPr>
            <a:r>
              <a:rPr lang="en-US" sz="730" b="1" dirty="0">
                <a:solidFill>
                  <a:srgbClr val="FFFFFF"/>
                </a:solidFill>
                <a:latin typeface="Arial" pitchFamily="34" charset="0"/>
                <a:ea typeface="Arial" pitchFamily="34" charset="-122"/>
                <a:cs typeface="Arial" pitchFamily="34" charset="-120"/>
              </a:rPr>
              <a:t>New revenue
</a:t>
            </a:r>
            <a:pPr algn="ctr" indent="0" marL="0">
              <a:lnSpc>
                <a:spcPct val="96000"/>
              </a:lnSpc>
              <a:buNone/>
            </a:pPr>
            <a:r>
              <a:rPr lang="en-US" sz="710" b="1" dirty="0">
                <a:solidFill>
                  <a:srgbClr val="FFD98A"/>
                </a:solidFill>
                <a:latin typeface="Arial" pitchFamily="34" charset="0"/>
                <a:ea typeface="Arial" pitchFamily="34" charset="-122"/>
                <a:cs typeface="Arial" pitchFamily="34" charset="-120"/>
              </a:rPr>
              <a:t>₹2.4 → 11.9 cr</a:t>
            </a:r>
            <a:endParaRPr lang="en-US" sz="730" dirty="0"/>
          </a:p>
        </p:txBody>
      </p:sp>
      <p:sp>
        <p:nvSpPr>
          <p:cNvPr id="81" name="Text 58"/>
          <p:cNvSpPr txBox="1"/>
          <p:nvPr/>
        </p:nvSpPr>
        <p:spPr>
          <a:xfrm>
            <a:off x="457200" y="5687568"/>
            <a:ext cx="6766560" cy="310896"/>
          </a:xfrm>
          <a:prstGeom prst="rect">
            <a:avLst/>
          </a:prstGeom>
          <a:noFill/>
          <a:ln/>
        </p:spPr>
        <p:txBody>
          <a:bodyPr wrap="square" lIns="0" tIns="0" rIns="0" bIns="0" rtlCol="0" anchor="ctr"/>
          <a:lstStyle/>
          <a:p>
            <a:pPr indent="0" marL="0">
              <a:lnSpc>
                <a:spcPct val="100000"/>
              </a:lnSpc>
              <a:buNone/>
            </a:pPr>
            <a:r>
              <a:rPr lang="en-US" sz="690" dirty="0">
                <a:solidFill>
                  <a:srgbClr val="55616D"/>
                </a:solidFill>
                <a:latin typeface="Arial" pitchFamily="34" charset="0"/>
                <a:ea typeface="Arial" pitchFamily="34" charset="-122"/>
                <a:cs typeface="Arial" pitchFamily="34" charset="-120"/>
              </a:rPr>
              <a:t>Cycle: hotels 2-4 mo · hospitals 3-6 mo · developers 6-9 mo   |   Crews: 2 own FY27 → 3 own + 2 partner FY29 (~8 installs/crew/yr)   |   KPIs: pipeline cover, proposal→win %, DSO, install cycle, AMC attach, uptime, repeat share</a:t>
            </a:r>
            <a:endParaRPr lang="en-US" sz="690" dirty="0"/>
          </a:p>
        </p:txBody>
      </p:sp>
      <p:sp>
        <p:nvSpPr>
          <p:cNvPr id="82" name="Shape 59"/>
          <p:cNvSpPr/>
          <p:nvPr/>
        </p:nvSpPr>
        <p:spPr>
          <a:xfrm>
            <a:off x="7589520" y="4681728"/>
            <a:ext cx="274320" cy="274320"/>
          </a:xfrm>
          <a:prstGeom prst="roundRect">
            <a:avLst>
              <a:gd name="adj" fmla="val 24000"/>
            </a:avLst>
          </a:prstGeom>
          <a:solidFill>
            <a:srgbClr val="E8F1FC"/>
          </a:solidFill>
          <a:ln/>
        </p:spPr>
      </p:sp>
      <p:pic>
        <p:nvPicPr>
          <p:cNvPr id="83" name="Image 21" descr="preencoded.png">    </p:cNvPr>
          <p:cNvPicPr>
            <a:picLocks noChangeAspect="1"/>
          </p:cNvPicPr>
          <p:nvPr/>
        </p:nvPicPr>
        <p:blipFill>
          <a:blip r:embed="rId22"/>
          <a:stretch>
            <a:fillRect/>
          </a:stretch>
        </p:blipFill>
        <p:spPr>
          <a:xfrm>
            <a:off x="7647127" y="4739335"/>
            <a:ext cx="159106" cy="159106"/>
          </a:xfrm>
          <a:prstGeom prst="rect">
            <a:avLst/>
          </a:prstGeom>
        </p:spPr>
      </p:pic>
      <p:sp>
        <p:nvSpPr>
          <p:cNvPr id="84" name="Text 60"/>
          <p:cNvSpPr txBox="1"/>
          <p:nvPr/>
        </p:nvSpPr>
        <p:spPr>
          <a:xfrm>
            <a:off x="7973568" y="4658868"/>
            <a:ext cx="411480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Revenue build, ₹cr (base)</a:t>
            </a:r>
            <a:endParaRPr lang="en-US" sz="1200" dirty="0"/>
          </a:p>
        </p:txBody>
      </p:sp>
      <p:graphicFrame>
        <p:nvGraphicFramePr>
          <p:cNvPr id="85" name="Chart 0" descr=""/>
          <p:cNvGraphicFramePr/>
          <p:nvPr/>
        </p:nvGraphicFramePr>
        <p:xfrm>
          <a:off x="7589520" y="4937760"/>
          <a:ext cx="4114800" cy="1042416"/>
        </p:xfrm>
        <a:graphic xmlns:a="http://schemas.openxmlformats.org/drawingml/2006/main">
          <a:graphicData uri="http://schemas.openxmlformats.org/drawingml/2006/chart">
            <c:chart xmlns:c="http://schemas.openxmlformats.org/drawingml/2006/chart" r:id="rId23"/>
          </a:graphicData>
        </a:graphic>
      </p:graphicFrame>
      <p:sp>
        <p:nvSpPr>
          <p:cNvPr id="86" name="Shape 61"/>
          <p:cNvSpPr/>
          <p:nvPr/>
        </p:nvSpPr>
        <p:spPr>
          <a:xfrm>
            <a:off x="457200" y="6089904"/>
            <a:ext cx="11274552" cy="365760"/>
          </a:xfrm>
          <a:prstGeom prst="roundRect">
            <a:avLst>
              <a:gd name="adj" fmla="val 22500"/>
            </a:avLst>
          </a:prstGeom>
          <a:solidFill>
            <a:srgbClr val="1568DC"/>
          </a:solidFill>
          <a:ln/>
          <a:effectLst>
            <a:outerShdw sx="100000" sy="100000" kx="0" ky="0" algn="bl" rotWithShape="0" blurRad="50800" dist="12700" dir="5400000">
              <a:srgbClr val="B6C1CD">
                <a:alpha val="30000"/>
              </a:srgbClr>
            </a:outerShdw>
          </a:effectLst>
        </p:spPr>
      </p:sp>
      <p:pic>
        <p:nvPicPr>
          <p:cNvPr id="87" name="Image 22" descr="preencoded.png">    </p:cNvPr>
          <p:cNvPicPr>
            <a:picLocks noChangeAspect="1"/>
          </p:cNvPicPr>
          <p:nvPr/>
        </p:nvPicPr>
        <p:blipFill>
          <a:blip r:embed="rId24"/>
          <a:stretch>
            <a:fillRect/>
          </a:stretch>
        </p:blipFill>
        <p:spPr>
          <a:xfrm>
            <a:off x="621792" y="6153912"/>
            <a:ext cx="237744" cy="237744"/>
          </a:xfrm>
          <a:prstGeom prst="rect">
            <a:avLst/>
          </a:prstGeom>
        </p:spPr>
      </p:pic>
      <p:sp>
        <p:nvSpPr>
          <p:cNvPr id="88" name="Text 62"/>
          <p:cNvSpPr txBox="1"/>
          <p:nvPr/>
        </p:nvSpPr>
        <p:spPr>
          <a:xfrm>
            <a:off x="969264" y="6089904"/>
            <a:ext cx="10588752" cy="365760"/>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RULE   </a:t>
            </a:r>
            <a:pPr indent="0" marL="0">
              <a:lnSpc>
                <a:spcPct val="100000"/>
              </a:lnSpc>
              <a:buNone/>
            </a:pPr>
            <a:r>
              <a:rPr lang="en-US" sz="1150" b="1" dirty="0">
                <a:solidFill>
                  <a:srgbClr val="FFFFFF"/>
                </a:solidFill>
                <a:latin typeface="Arial" pitchFamily="34" charset="0"/>
                <a:ea typeface="Arial" pitchFamily="34" charset="-122"/>
                <a:cs typeface="Arial" pitchFamily="34" charset="-120"/>
              </a:rPr>
              <a:t>A new cluster opens only when the previous one passes its gate — service quality and cash discipline scale before geography.</a:t>
            </a:r>
            <a:endParaRPr lang="en-US" sz="1000" dirty="0"/>
          </a:p>
        </p:txBody>
      </p:sp>
      <p:sp>
        <p:nvSpPr>
          <p:cNvPr id="89" name="Text 63"/>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Targets from the p.4 model; distances from Bicholim, Goa. Investment funded by internal accruals + IPO working capital (problem statement).</a:t>
            </a:r>
            <a:endParaRPr lang="en-US" sz="680" dirty="0"/>
          </a:p>
        </p:txBody>
      </p:sp>
      <p:sp>
        <p:nvSpPr>
          <p:cNvPr id="90" name="Text 64"/>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3 · RISK ASSESSMENT &amp; MITIGATION</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Cash and credibility </a:t>
            </a:r>
            <a:pPr indent="0" marL="0">
              <a:buNone/>
            </a:pPr>
            <a:r>
              <a:rPr lang="en-US" sz="2500" b="1" dirty="0">
                <a:solidFill>
                  <a:srgbClr val="1568DC"/>
                </a:solidFill>
                <a:latin typeface="Arial" pitchFamily="34" charset="0"/>
                <a:ea typeface="Arial" pitchFamily="34" charset="-122"/>
                <a:cs typeface="Arial" pitchFamily="34" charset="-120"/>
              </a:rPr>
              <a:t>are the binding constraints</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316736"/>
            <a:ext cx="274320" cy="274320"/>
          </a:xfrm>
          <a:prstGeom prst="roundRect">
            <a:avLst>
              <a:gd name="adj" fmla="val 24000"/>
            </a:avLst>
          </a:prstGeom>
          <a:solidFill>
            <a:srgbClr val="E8F1FC"/>
          </a:solidFill>
          <a:ln/>
        </p:spPr>
      </p:sp>
      <p:pic>
        <p:nvPicPr>
          <p:cNvPr id="10" name="Image 0" descr="preencoded.png">    </p:cNvPr>
          <p:cNvPicPr>
            <a:picLocks noChangeAspect="1"/>
          </p:cNvPicPr>
          <p:nvPr/>
        </p:nvPicPr>
        <p:blipFill>
          <a:blip r:embed="rId1"/>
          <a:stretch>
            <a:fillRect/>
          </a:stretch>
        </p:blipFill>
        <p:spPr>
          <a:xfrm>
            <a:off x="514807" y="1374343"/>
            <a:ext cx="159106" cy="159106"/>
          </a:xfrm>
          <a:prstGeom prst="rect">
            <a:avLst/>
          </a:prstGeom>
        </p:spPr>
      </p:pic>
      <p:sp>
        <p:nvSpPr>
          <p:cNvPr id="11" name="Text 8"/>
          <p:cNvSpPr txBox="1"/>
          <p:nvPr/>
        </p:nvSpPr>
        <p:spPr>
          <a:xfrm>
            <a:off x="841248" y="1293876"/>
            <a:ext cx="393192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Likelihood × impact heatmap</a:t>
            </a:r>
            <a:endParaRPr lang="en-US" sz="1250" dirty="0"/>
          </a:p>
        </p:txBody>
      </p:sp>
      <p:sp>
        <p:nvSpPr>
          <p:cNvPr id="12" name="Shape 9"/>
          <p:cNvSpPr/>
          <p:nvPr/>
        </p:nvSpPr>
        <p:spPr>
          <a:xfrm>
            <a:off x="786384" y="4114800"/>
            <a:ext cx="676656" cy="603504"/>
          </a:xfrm>
          <a:prstGeom prst="rect">
            <a:avLst/>
          </a:prstGeom>
          <a:solidFill>
            <a:srgbClr val="E4F5EB"/>
          </a:solidFill>
          <a:ln w="19050">
            <a:solidFill>
              <a:srgbClr val="FFFFFF"/>
            </a:solidFill>
            <a:prstDash val="solid"/>
          </a:ln>
        </p:spPr>
      </p:sp>
      <p:sp>
        <p:nvSpPr>
          <p:cNvPr id="13" name="Shape 10"/>
          <p:cNvSpPr/>
          <p:nvPr/>
        </p:nvSpPr>
        <p:spPr>
          <a:xfrm>
            <a:off x="786384" y="3511296"/>
            <a:ext cx="676656" cy="603504"/>
          </a:xfrm>
          <a:prstGeom prst="rect">
            <a:avLst/>
          </a:prstGeom>
          <a:solidFill>
            <a:srgbClr val="E4F5EB"/>
          </a:solidFill>
          <a:ln w="19050">
            <a:solidFill>
              <a:srgbClr val="FFFFFF"/>
            </a:solidFill>
            <a:prstDash val="solid"/>
          </a:ln>
        </p:spPr>
      </p:sp>
      <p:sp>
        <p:nvSpPr>
          <p:cNvPr id="14" name="Shape 11"/>
          <p:cNvSpPr/>
          <p:nvPr/>
        </p:nvSpPr>
        <p:spPr>
          <a:xfrm>
            <a:off x="786384" y="2907792"/>
            <a:ext cx="676656" cy="603504"/>
          </a:xfrm>
          <a:prstGeom prst="rect">
            <a:avLst/>
          </a:prstGeom>
          <a:solidFill>
            <a:srgbClr val="E4F5EB"/>
          </a:solidFill>
          <a:ln w="19050">
            <a:solidFill>
              <a:srgbClr val="FFFFFF"/>
            </a:solidFill>
            <a:prstDash val="solid"/>
          </a:ln>
        </p:spPr>
      </p:sp>
      <p:sp>
        <p:nvSpPr>
          <p:cNvPr id="15" name="Shape 12"/>
          <p:cNvSpPr/>
          <p:nvPr/>
        </p:nvSpPr>
        <p:spPr>
          <a:xfrm>
            <a:off x="786384" y="2304288"/>
            <a:ext cx="676656" cy="603504"/>
          </a:xfrm>
          <a:prstGeom prst="rect">
            <a:avLst/>
          </a:prstGeom>
          <a:solidFill>
            <a:srgbClr val="E4F5EB"/>
          </a:solidFill>
          <a:ln w="19050">
            <a:solidFill>
              <a:srgbClr val="FFFFFF"/>
            </a:solidFill>
            <a:prstDash val="solid"/>
          </a:ln>
        </p:spPr>
      </p:sp>
      <p:sp>
        <p:nvSpPr>
          <p:cNvPr id="16" name="Shape 13"/>
          <p:cNvSpPr/>
          <p:nvPr/>
        </p:nvSpPr>
        <p:spPr>
          <a:xfrm>
            <a:off x="786384" y="1700784"/>
            <a:ext cx="676656" cy="603504"/>
          </a:xfrm>
          <a:prstGeom prst="rect">
            <a:avLst/>
          </a:prstGeom>
          <a:solidFill>
            <a:srgbClr val="FCF1DA"/>
          </a:solidFill>
          <a:ln w="19050">
            <a:solidFill>
              <a:srgbClr val="FFFFFF"/>
            </a:solidFill>
            <a:prstDash val="solid"/>
          </a:ln>
        </p:spPr>
      </p:sp>
      <p:sp>
        <p:nvSpPr>
          <p:cNvPr id="17" name="Shape 14"/>
          <p:cNvSpPr/>
          <p:nvPr/>
        </p:nvSpPr>
        <p:spPr>
          <a:xfrm>
            <a:off x="1463040" y="4114800"/>
            <a:ext cx="676656" cy="603504"/>
          </a:xfrm>
          <a:prstGeom prst="rect">
            <a:avLst/>
          </a:prstGeom>
          <a:solidFill>
            <a:srgbClr val="E4F5EB"/>
          </a:solidFill>
          <a:ln w="19050">
            <a:solidFill>
              <a:srgbClr val="FFFFFF"/>
            </a:solidFill>
            <a:prstDash val="solid"/>
          </a:ln>
        </p:spPr>
      </p:sp>
      <p:sp>
        <p:nvSpPr>
          <p:cNvPr id="18" name="Shape 15"/>
          <p:cNvSpPr/>
          <p:nvPr/>
        </p:nvSpPr>
        <p:spPr>
          <a:xfrm>
            <a:off x="1463040" y="3511296"/>
            <a:ext cx="676656" cy="603504"/>
          </a:xfrm>
          <a:prstGeom prst="rect">
            <a:avLst/>
          </a:prstGeom>
          <a:solidFill>
            <a:srgbClr val="E4F5EB"/>
          </a:solidFill>
          <a:ln w="19050">
            <a:solidFill>
              <a:srgbClr val="FFFFFF"/>
            </a:solidFill>
            <a:prstDash val="solid"/>
          </a:ln>
        </p:spPr>
      </p:sp>
      <p:sp>
        <p:nvSpPr>
          <p:cNvPr id="19" name="Shape 16"/>
          <p:cNvSpPr/>
          <p:nvPr/>
        </p:nvSpPr>
        <p:spPr>
          <a:xfrm>
            <a:off x="1463040" y="2907792"/>
            <a:ext cx="676656" cy="603504"/>
          </a:xfrm>
          <a:prstGeom prst="rect">
            <a:avLst/>
          </a:prstGeom>
          <a:solidFill>
            <a:srgbClr val="E4F5EB"/>
          </a:solidFill>
          <a:ln w="19050">
            <a:solidFill>
              <a:srgbClr val="FFFFFF"/>
            </a:solidFill>
            <a:prstDash val="solid"/>
          </a:ln>
        </p:spPr>
      </p:sp>
      <p:sp>
        <p:nvSpPr>
          <p:cNvPr id="20" name="Shape 17"/>
          <p:cNvSpPr/>
          <p:nvPr/>
        </p:nvSpPr>
        <p:spPr>
          <a:xfrm>
            <a:off x="1463040" y="2304288"/>
            <a:ext cx="676656" cy="603504"/>
          </a:xfrm>
          <a:prstGeom prst="rect">
            <a:avLst/>
          </a:prstGeom>
          <a:solidFill>
            <a:srgbClr val="FCF1DA"/>
          </a:solidFill>
          <a:ln w="19050">
            <a:solidFill>
              <a:srgbClr val="FFFFFF"/>
            </a:solidFill>
            <a:prstDash val="solid"/>
          </a:ln>
        </p:spPr>
      </p:sp>
      <p:sp>
        <p:nvSpPr>
          <p:cNvPr id="21" name="Shape 18"/>
          <p:cNvSpPr/>
          <p:nvPr/>
        </p:nvSpPr>
        <p:spPr>
          <a:xfrm>
            <a:off x="1463040" y="1700784"/>
            <a:ext cx="676656" cy="603504"/>
          </a:xfrm>
          <a:prstGeom prst="rect">
            <a:avLst/>
          </a:prstGeom>
          <a:solidFill>
            <a:srgbClr val="FCF1DA"/>
          </a:solidFill>
          <a:ln w="19050">
            <a:solidFill>
              <a:srgbClr val="FFFFFF"/>
            </a:solidFill>
            <a:prstDash val="solid"/>
          </a:ln>
        </p:spPr>
      </p:sp>
      <p:sp>
        <p:nvSpPr>
          <p:cNvPr id="22" name="Shape 19"/>
          <p:cNvSpPr/>
          <p:nvPr/>
        </p:nvSpPr>
        <p:spPr>
          <a:xfrm>
            <a:off x="2139696" y="4114800"/>
            <a:ext cx="676656" cy="603504"/>
          </a:xfrm>
          <a:prstGeom prst="rect">
            <a:avLst/>
          </a:prstGeom>
          <a:solidFill>
            <a:srgbClr val="E4F5EB"/>
          </a:solidFill>
          <a:ln w="19050">
            <a:solidFill>
              <a:srgbClr val="FFFFFF"/>
            </a:solidFill>
            <a:prstDash val="solid"/>
          </a:ln>
        </p:spPr>
      </p:sp>
      <p:sp>
        <p:nvSpPr>
          <p:cNvPr id="23" name="Shape 20"/>
          <p:cNvSpPr/>
          <p:nvPr/>
        </p:nvSpPr>
        <p:spPr>
          <a:xfrm>
            <a:off x="2139696" y="3511296"/>
            <a:ext cx="676656" cy="603504"/>
          </a:xfrm>
          <a:prstGeom prst="rect">
            <a:avLst/>
          </a:prstGeom>
          <a:solidFill>
            <a:srgbClr val="E4F5EB"/>
          </a:solidFill>
          <a:ln w="19050">
            <a:solidFill>
              <a:srgbClr val="FFFFFF"/>
            </a:solidFill>
            <a:prstDash val="solid"/>
          </a:ln>
        </p:spPr>
      </p:sp>
      <p:sp>
        <p:nvSpPr>
          <p:cNvPr id="24" name="Shape 21"/>
          <p:cNvSpPr/>
          <p:nvPr/>
        </p:nvSpPr>
        <p:spPr>
          <a:xfrm>
            <a:off x="2139696" y="2907792"/>
            <a:ext cx="676656" cy="603504"/>
          </a:xfrm>
          <a:prstGeom prst="rect">
            <a:avLst/>
          </a:prstGeom>
          <a:solidFill>
            <a:srgbClr val="FCF1DA"/>
          </a:solidFill>
          <a:ln w="19050">
            <a:solidFill>
              <a:srgbClr val="FFFFFF"/>
            </a:solidFill>
            <a:prstDash val="solid"/>
          </a:ln>
        </p:spPr>
      </p:sp>
      <p:sp>
        <p:nvSpPr>
          <p:cNvPr id="25" name="Shape 22"/>
          <p:cNvSpPr/>
          <p:nvPr/>
        </p:nvSpPr>
        <p:spPr>
          <a:xfrm>
            <a:off x="2139696" y="2304288"/>
            <a:ext cx="676656" cy="603504"/>
          </a:xfrm>
          <a:prstGeom prst="rect">
            <a:avLst/>
          </a:prstGeom>
          <a:solidFill>
            <a:srgbClr val="FCF1DA"/>
          </a:solidFill>
          <a:ln w="19050">
            <a:solidFill>
              <a:srgbClr val="FFFFFF"/>
            </a:solidFill>
            <a:prstDash val="solid"/>
          </a:ln>
        </p:spPr>
      </p:sp>
      <p:sp>
        <p:nvSpPr>
          <p:cNvPr id="26" name="Shape 23"/>
          <p:cNvSpPr/>
          <p:nvPr/>
        </p:nvSpPr>
        <p:spPr>
          <a:xfrm>
            <a:off x="2139696" y="1700784"/>
            <a:ext cx="676656" cy="603504"/>
          </a:xfrm>
          <a:prstGeom prst="rect">
            <a:avLst/>
          </a:prstGeom>
          <a:solidFill>
            <a:srgbClr val="FBE8E3"/>
          </a:solidFill>
          <a:ln w="19050">
            <a:solidFill>
              <a:srgbClr val="FFFFFF"/>
            </a:solidFill>
            <a:prstDash val="solid"/>
          </a:ln>
        </p:spPr>
      </p:sp>
      <p:sp>
        <p:nvSpPr>
          <p:cNvPr id="27" name="Shape 24"/>
          <p:cNvSpPr/>
          <p:nvPr/>
        </p:nvSpPr>
        <p:spPr>
          <a:xfrm>
            <a:off x="2816352" y="4114800"/>
            <a:ext cx="676656" cy="603504"/>
          </a:xfrm>
          <a:prstGeom prst="rect">
            <a:avLst/>
          </a:prstGeom>
          <a:solidFill>
            <a:srgbClr val="E4F5EB"/>
          </a:solidFill>
          <a:ln w="19050">
            <a:solidFill>
              <a:srgbClr val="FFFFFF"/>
            </a:solidFill>
            <a:prstDash val="solid"/>
          </a:ln>
        </p:spPr>
      </p:sp>
      <p:sp>
        <p:nvSpPr>
          <p:cNvPr id="28" name="Shape 25"/>
          <p:cNvSpPr/>
          <p:nvPr/>
        </p:nvSpPr>
        <p:spPr>
          <a:xfrm>
            <a:off x="2816352" y="3511296"/>
            <a:ext cx="676656" cy="603504"/>
          </a:xfrm>
          <a:prstGeom prst="rect">
            <a:avLst/>
          </a:prstGeom>
          <a:solidFill>
            <a:srgbClr val="FCF1DA"/>
          </a:solidFill>
          <a:ln w="19050">
            <a:solidFill>
              <a:srgbClr val="FFFFFF"/>
            </a:solidFill>
            <a:prstDash val="solid"/>
          </a:ln>
        </p:spPr>
      </p:sp>
      <p:sp>
        <p:nvSpPr>
          <p:cNvPr id="29" name="Shape 26"/>
          <p:cNvSpPr/>
          <p:nvPr/>
        </p:nvSpPr>
        <p:spPr>
          <a:xfrm>
            <a:off x="2816352" y="2907792"/>
            <a:ext cx="676656" cy="603504"/>
          </a:xfrm>
          <a:prstGeom prst="rect">
            <a:avLst/>
          </a:prstGeom>
          <a:solidFill>
            <a:srgbClr val="FCF1DA"/>
          </a:solidFill>
          <a:ln w="19050">
            <a:solidFill>
              <a:srgbClr val="FFFFFF"/>
            </a:solidFill>
            <a:prstDash val="solid"/>
          </a:ln>
        </p:spPr>
      </p:sp>
      <p:sp>
        <p:nvSpPr>
          <p:cNvPr id="30" name="Shape 27"/>
          <p:cNvSpPr/>
          <p:nvPr/>
        </p:nvSpPr>
        <p:spPr>
          <a:xfrm>
            <a:off x="2816352" y="2304288"/>
            <a:ext cx="676656" cy="603504"/>
          </a:xfrm>
          <a:prstGeom prst="rect">
            <a:avLst/>
          </a:prstGeom>
          <a:solidFill>
            <a:srgbClr val="FBE8E3"/>
          </a:solidFill>
          <a:ln w="19050">
            <a:solidFill>
              <a:srgbClr val="FFFFFF"/>
            </a:solidFill>
            <a:prstDash val="solid"/>
          </a:ln>
        </p:spPr>
      </p:sp>
      <p:sp>
        <p:nvSpPr>
          <p:cNvPr id="31" name="Shape 28"/>
          <p:cNvSpPr/>
          <p:nvPr/>
        </p:nvSpPr>
        <p:spPr>
          <a:xfrm>
            <a:off x="2816352" y="1700784"/>
            <a:ext cx="676656" cy="603504"/>
          </a:xfrm>
          <a:prstGeom prst="rect">
            <a:avLst/>
          </a:prstGeom>
          <a:solidFill>
            <a:srgbClr val="FBE8E3"/>
          </a:solidFill>
          <a:ln w="19050">
            <a:solidFill>
              <a:srgbClr val="FFFFFF"/>
            </a:solidFill>
            <a:prstDash val="solid"/>
          </a:ln>
        </p:spPr>
      </p:sp>
      <p:sp>
        <p:nvSpPr>
          <p:cNvPr id="32" name="Shape 29"/>
          <p:cNvSpPr/>
          <p:nvPr/>
        </p:nvSpPr>
        <p:spPr>
          <a:xfrm>
            <a:off x="3493008" y="4114800"/>
            <a:ext cx="676656" cy="603504"/>
          </a:xfrm>
          <a:prstGeom prst="rect">
            <a:avLst/>
          </a:prstGeom>
          <a:solidFill>
            <a:srgbClr val="FCF1DA"/>
          </a:solidFill>
          <a:ln w="19050">
            <a:solidFill>
              <a:srgbClr val="FFFFFF"/>
            </a:solidFill>
            <a:prstDash val="solid"/>
          </a:ln>
        </p:spPr>
      </p:sp>
      <p:sp>
        <p:nvSpPr>
          <p:cNvPr id="33" name="Shape 30"/>
          <p:cNvSpPr/>
          <p:nvPr/>
        </p:nvSpPr>
        <p:spPr>
          <a:xfrm>
            <a:off x="3493008" y="3511296"/>
            <a:ext cx="676656" cy="603504"/>
          </a:xfrm>
          <a:prstGeom prst="rect">
            <a:avLst/>
          </a:prstGeom>
          <a:solidFill>
            <a:srgbClr val="FCF1DA"/>
          </a:solidFill>
          <a:ln w="19050">
            <a:solidFill>
              <a:srgbClr val="FFFFFF"/>
            </a:solidFill>
            <a:prstDash val="solid"/>
          </a:ln>
        </p:spPr>
      </p:sp>
      <p:sp>
        <p:nvSpPr>
          <p:cNvPr id="34" name="Shape 31"/>
          <p:cNvSpPr/>
          <p:nvPr/>
        </p:nvSpPr>
        <p:spPr>
          <a:xfrm>
            <a:off x="3493008" y="2907792"/>
            <a:ext cx="676656" cy="603504"/>
          </a:xfrm>
          <a:prstGeom prst="rect">
            <a:avLst/>
          </a:prstGeom>
          <a:solidFill>
            <a:srgbClr val="FBE8E3"/>
          </a:solidFill>
          <a:ln w="19050">
            <a:solidFill>
              <a:srgbClr val="FFFFFF"/>
            </a:solidFill>
            <a:prstDash val="solid"/>
          </a:ln>
        </p:spPr>
      </p:sp>
      <p:sp>
        <p:nvSpPr>
          <p:cNvPr id="35" name="Shape 32"/>
          <p:cNvSpPr/>
          <p:nvPr/>
        </p:nvSpPr>
        <p:spPr>
          <a:xfrm>
            <a:off x="3493008" y="2304288"/>
            <a:ext cx="676656" cy="603504"/>
          </a:xfrm>
          <a:prstGeom prst="rect">
            <a:avLst/>
          </a:prstGeom>
          <a:solidFill>
            <a:srgbClr val="FBE8E3"/>
          </a:solidFill>
          <a:ln w="19050">
            <a:solidFill>
              <a:srgbClr val="FFFFFF"/>
            </a:solidFill>
            <a:prstDash val="solid"/>
          </a:ln>
        </p:spPr>
      </p:sp>
      <p:sp>
        <p:nvSpPr>
          <p:cNvPr id="36" name="Shape 33"/>
          <p:cNvSpPr/>
          <p:nvPr/>
        </p:nvSpPr>
        <p:spPr>
          <a:xfrm>
            <a:off x="3493008" y="1700784"/>
            <a:ext cx="676656" cy="603504"/>
          </a:xfrm>
          <a:prstGeom prst="rect">
            <a:avLst/>
          </a:prstGeom>
          <a:solidFill>
            <a:srgbClr val="FBE8E3"/>
          </a:solidFill>
          <a:ln w="19050">
            <a:solidFill>
              <a:srgbClr val="FFFFFF"/>
            </a:solidFill>
            <a:prstDash val="solid"/>
          </a:ln>
        </p:spPr>
      </p:sp>
      <p:sp>
        <p:nvSpPr>
          <p:cNvPr id="37" name="Text 34"/>
          <p:cNvSpPr txBox="1"/>
          <p:nvPr/>
        </p:nvSpPr>
        <p:spPr>
          <a:xfrm>
            <a:off x="786384"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1</a:t>
            </a:r>
            <a:endParaRPr lang="en-US" sz="680" dirty="0"/>
          </a:p>
        </p:txBody>
      </p:sp>
      <p:sp>
        <p:nvSpPr>
          <p:cNvPr id="38" name="Text 35"/>
          <p:cNvSpPr txBox="1"/>
          <p:nvPr/>
        </p:nvSpPr>
        <p:spPr>
          <a:xfrm>
            <a:off x="621792" y="4343400"/>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1</a:t>
            </a:r>
            <a:endParaRPr lang="en-US" sz="680" dirty="0"/>
          </a:p>
        </p:txBody>
      </p:sp>
      <p:sp>
        <p:nvSpPr>
          <p:cNvPr id="39" name="Text 36"/>
          <p:cNvSpPr txBox="1"/>
          <p:nvPr/>
        </p:nvSpPr>
        <p:spPr>
          <a:xfrm>
            <a:off x="1463040"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2</a:t>
            </a:r>
            <a:endParaRPr lang="en-US" sz="680" dirty="0"/>
          </a:p>
        </p:txBody>
      </p:sp>
      <p:sp>
        <p:nvSpPr>
          <p:cNvPr id="40" name="Text 37"/>
          <p:cNvSpPr txBox="1"/>
          <p:nvPr/>
        </p:nvSpPr>
        <p:spPr>
          <a:xfrm>
            <a:off x="621792" y="3739896"/>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2</a:t>
            </a:r>
            <a:endParaRPr lang="en-US" sz="680" dirty="0"/>
          </a:p>
        </p:txBody>
      </p:sp>
      <p:sp>
        <p:nvSpPr>
          <p:cNvPr id="41" name="Text 38"/>
          <p:cNvSpPr txBox="1"/>
          <p:nvPr/>
        </p:nvSpPr>
        <p:spPr>
          <a:xfrm>
            <a:off x="2139696"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3</a:t>
            </a:r>
            <a:endParaRPr lang="en-US" sz="680" dirty="0"/>
          </a:p>
        </p:txBody>
      </p:sp>
      <p:sp>
        <p:nvSpPr>
          <p:cNvPr id="42" name="Text 39"/>
          <p:cNvSpPr txBox="1"/>
          <p:nvPr/>
        </p:nvSpPr>
        <p:spPr>
          <a:xfrm>
            <a:off x="621792" y="3136392"/>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3</a:t>
            </a:r>
            <a:endParaRPr lang="en-US" sz="680" dirty="0"/>
          </a:p>
        </p:txBody>
      </p:sp>
      <p:sp>
        <p:nvSpPr>
          <p:cNvPr id="43" name="Text 40"/>
          <p:cNvSpPr txBox="1"/>
          <p:nvPr/>
        </p:nvSpPr>
        <p:spPr>
          <a:xfrm>
            <a:off x="2816352"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4</a:t>
            </a:r>
            <a:endParaRPr lang="en-US" sz="680" dirty="0"/>
          </a:p>
        </p:txBody>
      </p:sp>
      <p:sp>
        <p:nvSpPr>
          <p:cNvPr id="44" name="Text 41"/>
          <p:cNvSpPr txBox="1"/>
          <p:nvPr/>
        </p:nvSpPr>
        <p:spPr>
          <a:xfrm>
            <a:off x="621792" y="2532888"/>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4</a:t>
            </a:r>
            <a:endParaRPr lang="en-US" sz="680" dirty="0"/>
          </a:p>
        </p:txBody>
      </p:sp>
      <p:sp>
        <p:nvSpPr>
          <p:cNvPr id="45" name="Text 42"/>
          <p:cNvSpPr txBox="1"/>
          <p:nvPr/>
        </p:nvSpPr>
        <p:spPr>
          <a:xfrm>
            <a:off x="3493008" y="4736592"/>
            <a:ext cx="67665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5</a:t>
            </a:r>
            <a:endParaRPr lang="en-US" sz="680" dirty="0"/>
          </a:p>
        </p:txBody>
      </p:sp>
      <p:sp>
        <p:nvSpPr>
          <p:cNvPr id="46" name="Text 43"/>
          <p:cNvSpPr txBox="1"/>
          <p:nvPr/>
        </p:nvSpPr>
        <p:spPr>
          <a:xfrm>
            <a:off x="621792" y="1929384"/>
            <a:ext cx="128016" cy="146304"/>
          </a:xfrm>
          <a:prstGeom prst="rect">
            <a:avLst/>
          </a:prstGeom>
          <a:noFill/>
          <a:ln/>
        </p:spPr>
        <p:txBody>
          <a:bodyPr wrap="square" lIns="0" tIns="0" rIns="0" bIns="0" rtlCol="0" anchor="ctr"/>
          <a:lstStyle/>
          <a:p>
            <a:pPr algn="ctr" indent="0" marL="0">
              <a:buNone/>
            </a:pPr>
            <a:r>
              <a:rPr lang="en-US" sz="680" dirty="0">
                <a:solidFill>
                  <a:srgbClr val="8C99A6"/>
                </a:solidFill>
                <a:latin typeface="Arial" pitchFamily="34" charset="0"/>
                <a:ea typeface="Arial" pitchFamily="34" charset="-122"/>
                <a:cs typeface="Arial" pitchFamily="34" charset="-120"/>
              </a:rPr>
              <a:t>5</a:t>
            </a:r>
            <a:endParaRPr lang="en-US" sz="680" dirty="0"/>
          </a:p>
        </p:txBody>
      </p:sp>
      <p:sp>
        <p:nvSpPr>
          <p:cNvPr id="47" name="Shape 44"/>
          <p:cNvSpPr/>
          <p:nvPr/>
        </p:nvSpPr>
        <p:spPr>
          <a:xfrm>
            <a:off x="3012948" y="1860804"/>
            <a:ext cx="283464" cy="283464"/>
          </a:xfrm>
          <a:prstGeom prst="ellipse">
            <a:avLst/>
          </a:prstGeom>
          <a:solidFill>
            <a:srgbClr val="D64226"/>
          </a:solidFill>
          <a:ln w="12700">
            <a:solidFill>
              <a:srgbClr val="FFFFFF"/>
            </a:solidFill>
            <a:prstDash val="solid"/>
          </a:ln>
        </p:spPr>
      </p:sp>
      <p:sp>
        <p:nvSpPr>
          <p:cNvPr id="48" name="Text 45"/>
          <p:cNvSpPr txBox="1"/>
          <p:nvPr/>
        </p:nvSpPr>
        <p:spPr>
          <a:xfrm>
            <a:off x="2967228" y="1879092"/>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R1</a:t>
            </a:r>
            <a:endParaRPr lang="en-US" sz="730" dirty="0"/>
          </a:p>
        </p:txBody>
      </p:sp>
      <p:sp>
        <p:nvSpPr>
          <p:cNvPr id="49" name="Shape 46"/>
          <p:cNvSpPr/>
          <p:nvPr/>
        </p:nvSpPr>
        <p:spPr>
          <a:xfrm>
            <a:off x="3012948" y="3067812"/>
            <a:ext cx="283464" cy="283464"/>
          </a:xfrm>
          <a:prstGeom prst="ellipse">
            <a:avLst/>
          </a:prstGeom>
          <a:solidFill>
            <a:srgbClr val="0C3E86"/>
          </a:solidFill>
          <a:ln w="12700">
            <a:solidFill>
              <a:srgbClr val="FFFFFF"/>
            </a:solidFill>
            <a:prstDash val="solid"/>
          </a:ln>
        </p:spPr>
      </p:sp>
      <p:sp>
        <p:nvSpPr>
          <p:cNvPr id="50" name="Text 47"/>
          <p:cNvSpPr txBox="1"/>
          <p:nvPr/>
        </p:nvSpPr>
        <p:spPr>
          <a:xfrm>
            <a:off x="2967228" y="3086100"/>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R2</a:t>
            </a:r>
            <a:endParaRPr lang="en-US" sz="730" dirty="0"/>
          </a:p>
        </p:txBody>
      </p:sp>
      <p:sp>
        <p:nvSpPr>
          <p:cNvPr id="51" name="Shape 48"/>
          <p:cNvSpPr/>
          <p:nvPr/>
        </p:nvSpPr>
        <p:spPr>
          <a:xfrm>
            <a:off x="2162556" y="2464308"/>
            <a:ext cx="283464" cy="283464"/>
          </a:xfrm>
          <a:prstGeom prst="ellipse">
            <a:avLst/>
          </a:prstGeom>
          <a:solidFill>
            <a:srgbClr val="0C3E86"/>
          </a:solidFill>
          <a:ln w="12700">
            <a:solidFill>
              <a:srgbClr val="FFFFFF"/>
            </a:solidFill>
            <a:prstDash val="solid"/>
          </a:ln>
        </p:spPr>
      </p:sp>
      <p:sp>
        <p:nvSpPr>
          <p:cNvPr id="52" name="Text 49"/>
          <p:cNvSpPr txBox="1"/>
          <p:nvPr/>
        </p:nvSpPr>
        <p:spPr>
          <a:xfrm>
            <a:off x="2116836" y="2482596"/>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R3</a:t>
            </a:r>
            <a:endParaRPr lang="en-US" sz="730" dirty="0"/>
          </a:p>
        </p:txBody>
      </p:sp>
      <p:sp>
        <p:nvSpPr>
          <p:cNvPr id="53" name="Shape 50"/>
          <p:cNvSpPr/>
          <p:nvPr/>
        </p:nvSpPr>
        <p:spPr>
          <a:xfrm>
            <a:off x="2336292" y="3067812"/>
            <a:ext cx="283464" cy="283464"/>
          </a:xfrm>
          <a:prstGeom prst="ellipse">
            <a:avLst/>
          </a:prstGeom>
          <a:solidFill>
            <a:srgbClr val="0C3E86"/>
          </a:solidFill>
          <a:ln w="12700">
            <a:solidFill>
              <a:srgbClr val="FFFFFF"/>
            </a:solidFill>
            <a:prstDash val="solid"/>
          </a:ln>
        </p:spPr>
      </p:sp>
      <p:sp>
        <p:nvSpPr>
          <p:cNvPr id="54" name="Text 51"/>
          <p:cNvSpPr txBox="1"/>
          <p:nvPr/>
        </p:nvSpPr>
        <p:spPr>
          <a:xfrm>
            <a:off x="2290572" y="3086100"/>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R4</a:t>
            </a:r>
            <a:endParaRPr lang="en-US" sz="730" dirty="0"/>
          </a:p>
        </p:txBody>
      </p:sp>
      <p:sp>
        <p:nvSpPr>
          <p:cNvPr id="55" name="Shape 52"/>
          <p:cNvSpPr/>
          <p:nvPr/>
        </p:nvSpPr>
        <p:spPr>
          <a:xfrm>
            <a:off x="2510028" y="2464308"/>
            <a:ext cx="283464" cy="283464"/>
          </a:xfrm>
          <a:prstGeom prst="ellipse">
            <a:avLst/>
          </a:prstGeom>
          <a:solidFill>
            <a:srgbClr val="0C3E86"/>
          </a:solidFill>
          <a:ln w="12700">
            <a:solidFill>
              <a:srgbClr val="FFFFFF"/>
            </a:solidFill>
            <a:prstDash val="solid"/>
          </a:ln>
        </p:spPr>
      </p:sp>
      <p:sp>
        <p:nvSpPr>
          <p:cNvPr id="56" name="Text 53"/>
          <p:cNvSpPr txBox="1"/>
          <p:nvPr/>
        </p:nvSpPr>
        <p:spPr>
          <a:xfrm>
            <a:off x="2464308" y="2482596"/>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R5</a:t>
            </a:r>
            <a:endParaRPr lang="en-US" sz="730" dirty="0"/>
          </a:p>
        </p:txBody>
      </p:sp>
      <p:sp>
        <p:nvSpPr>
          <p:cNvPr id="57" name="Shape 54"/>
          <p:cNvSpPr/>
          <p:nvPr/>
        </p:nvSpPr>
        <p:spPr>
          <a:xfrm>
            <a:off x="1659636" y="2464308"/>
            <a:ext cx="283464" cy="283464"/>
          </a:xfrm>
          <a:prstGeom prst="ellipse">
            <a:avLst/>
          </a:prstGeom>
          <a:solidFill>
            <a:srgbClr val="0C3E86"/>
          </a:solidFill>
          <a:ln w="12700">
            <a:solidFill>
              <a:srgbClr val="FFFFFF"/>
            </a:solidFill>
            <a:prstDash val="solid"/>
          </a:ln>
        </p:spPr>
      </p:sp>
      <p:sp>
        <p:nvSpPr>
          <p:cNvPr id="58" name="Text 55"/>
          <p:cNvSpPr txBox="1"/>
          <p:nvPr/>
        </p:nvSpPr>
        <p:spPr>
          <a:xfrm>
            <a:off x="1613916" y="2482596"/>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R6</a:t>
            </a:r>
            <a:endParaRPr lang="en-US" sz="730" dirty="0"/>
          </a:p>
        </p:txBody>
      </p:sp>
      <p:sp>
        <p:nvSpPr>
          <p:cNvPr id="59" name="Shape 56"/>
          <p:cNvSpPr/>
          <p:nvPr/>
        </p:nvSpPr>
        <p:spPr>
          <a:xfrm>
            <a:off x="2336292" y="3671316"/>
            <a:ext cx="283464" cy="283464"/>
          </a:xfrm>
          <a:prstGeom prst="ellipse">
            <a:avLst/>
          </a:prstGeom>
          <a:solidFill>
            <a:srgbClr val="0C3E86"/>
          </a:solidFill>
          <a:ln w="12700">
            <a:solidFill>
              <a:srgbClr val="FFFFFF"/>
            </a:solidFill>
            <a:prstDash val="solid"/>
          </a:ln>
        </p:spPr>
      </p:sp>
      <p:sp>
        <p:nvSpPr>
          <p:cNvPr id="60" name="Text 57"/>
          <p:cNvSpPr txBox="1"/>
          <p:nvPr/>
        </p:nvSpPr>
        <p:spPr>
          <a:xfrm>
            <a:off x="2290572" y="3689604"/>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R7</a:t>
            </a:r>
            <a:endParaRPr lang="en-US" sz="730" dirty="0"/>
          </a:p>
        </p:txBody>
      </p:sp>
      <p:sp>
        <p:nvSpPr>
          <p:cNvPr id="61" name="Shape 58"/>
          <p:cNvSpPr/>
          <p:nvPr/>
        </p:nvSpPr>
        <p:spPr>
          <a:xfrm>
            <a:off x="1659636" y="1860804"/>
            <a:ext cx="283464" cy="283464"/>
          </a:xfrm>
          <a:prstGeom prst="ellipse">
            <a:avLst/>
          </a:prstGeom>
          <a:solidFill>
            <a:srgbClr val="0C3E86"/>
          </a:solidFill>
          <a:ln w="12700">
            <a:solidFill>
              <a:srgbClr val="FFFFFF"/>
            </a:solidFill>
            <a:prstDash val="solid"/>
          </a:ln>
        </p:spPr>
      </p:sp>
      <p:sp>
        <p:nvSpPr>
          <p:cNvPr id="62" name="Text 59"/>
          <p:cNvSpPr txBox="1"/>
          <p:nvPr/>
        </p:nvSpPr>
        <p:spPr>
          <a:xfrm>
            <a:off x="1613916" y="1879092"/>
            <a:ext cx="374904" cy="228600"/>
          </a:xfrm>
          <a:prstGeom prst="rect">
            <a:avLst/>
          </a:prstGeom>
          <a:noFill/>
          <a:ln/>
        </p:spPr>
        <p:txBody>
          <a:bodyPr wrap="square" lIns="0" tIns="0" rIns="0" bIns="0" rtlCol="0" anchor="ctr"/>
          <a:lstStyle/>
          <a:p>
            <a:pPr algn="ctr" indent="0" marL="0">
              <a:buNone/>
            </a:pPr>
            <a:r>
              <a:rPr lang="en-US" sz="730" b="1" dirty="0">
                <a:solidFill>
                  <a:srgbClr val="FFFFFF"/>
                </a:solidFill>
                <a:latin typeface="Arial" pitchFamily="34" charset="0"/>
                <a:ea typeface="Arial" pitchFamily="34" charset="-122"/>
                <a:cs typeface="Arial" pitchFamily="34" charset="-120"/>
              </a:rPr>
              <a:t>R8</a:t>
            </a:r>
            <a:endParaRPr lang="en-US" sz="730" dirty="0"/>
          </a:p>
        </p:txBody>
      </p:sp>
      <p:sp>
        <p:nvSpPr>
          <p:cNvPr id="63" name="Text 60"/>
          <p:cNvSpPr txBox="1"/>
          <p:nvPr/>
        </p:nvSpPr>
        <p:spPr>
          <a:xfrm>
            <a:off x="786384" y="4901184"/>
            <a:ext cx="3383280" cy="164592"/>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Likelihood →</a:t>
            </a:r>
            <a:endParaRPr lang="en-US" sz="720" dirty="0"/>
          </a:p>
        </p:txBody>
      </p:sp>
      <p:sp>
        <p:nvSpPr>
          <p:cNvPr id="64" name="Text 61"/>
          <p:cNvSpPr txBox="1"/>
          <p:nvPr/>
        </p:nvSpPr>
        <p:spPr>
          <a:xfrm rot="16200000">
            <a:off x="-630936" y="3127248"/>
            <a:ext cx="2194560" cy="164592"/>
          </a:xfrm>
          <a:prstGeom prst="rect">
            <a:avLst/>
          </a:prstGeom>
          <a:noFill/>
          <a:ln/>
        </p:spPr>
        <p:txBody>
          <a:bodyPr wrap="square" lIns="0" tIns="0" rIns="0" bIns="0" rtlCol="0" anchor="ctr"/>
          <a:lstStyle/>
          <a:p>
            <a:pPr algn="ctr" indent="0" marL="0">
              <a:buNone/>
            </a:pPr>
            <a:r>
              <a:rPr lang="en-US" sz="720" dirty="0">
                <a:solidFill>
                  <a:srgbClr val="55616D"/>
                </a:solidFill>
                <a:latin typeface="Arial" pitchFamily="34" charset="0"/>
                <a:ea typeface="Arial" pitchFamily="34" charset="-122"/>
                <a:cs typeface="Arial" pitchFamily="34" charset="-120"/>
              </a:rPr>
              <a:t>Impact →</a:t>
            </a:r>
            <a:endParaRPr lang="en-US" sz="720" dirty="0"/>
          </a:p>
        </p:txBody>
      </p:sp>
      <p:sp>
        <p:nvSpPr>
          <p:cNvPr id="65" name="Text 62"/>
          <p:cNvSpPr txBox="1"/>
          <p:nvPr/>
        </p:nvSpPr>
        <p:spPr>
          <a:xfrm>
            <a:off x="457200" y="5138928"/>
            <a:ext cx="3794760" cy="1005840"/>
          </a:xfrm>
          <a:prstGeom prst="rect">
            <a:avLst/>
          </a:prstGeom>
          <a:noFill/>
          <a:ln/>
        </p:spPr>
        <p:txBody>
          <a:bodyPr wrap="square" lIns="0" tIns="0" rIns="0" bIns="0" rtlCol="0" anchor="ctr"/>
          <a:lstStyle/>
          <a:p>
            <a:pPr indent="0" marL="0">
              <a:lnSpc>
                <a:spcPct val="112000"/>
              </a:lnSpc>
              <a:buNone/>
            </a:pPr>
            <a:r>
              <a:rPr lang="en-US" sz="740" b="1" dirty="0">
                <a:solidFill>
                  <a:srgbClr val="16202B"/>
                </a:solidFill>
                <a:latin typeface="Arial" pitchFamily="34" charset="0"/>
                <a:ea typeface="Arial" pitchFamily="34" charset="-122"/>
                <a:cs typeface="Arial" pitchFamily="34" charset="-120"/>
              </a:rPr>
              <a:t>R1 </a:t>
            </a:r>
            <a:pPr indent="0" marL="0">
              <a:lnSpc>
                <a:spcPct val="112000"/>
              </a:lnSpc>
              <a:buNone/>
            </a:pPr>
            <a:r>
              <a:rPr lang="en-US" sz="740" dirty="0">
                <a:solidFill>
                  <a:srgbClr val="16202B"/>
                </a:solidFill>
                <a:latin typeface="Arial" pitchFamily="34" charset="0"/>
                <a:ea typeface="Arial" pitchFamily="34" charset="-122"/>
                <a:cs typeface="Arial" pitchFamily="34" charset="-120"/>
              </a:rPr>
              <a:t>Developer receivables (Fin)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R2 </a:t>
            </a:r>
            <a:pPr indent="0" marL="0">
              <a:lnSpc>
                <a:spcPct val="112000"/>
              </a:lnSpc>
              <a:buNone/>
            </a:pPr>
            <a:r>
              <a:rPr lang="en-US" sz="740" dirty="0">
                <a:solidFill>
                  <a:srgbClr val="16202B"/>
                </a:solidFill>
                <a:latin typeface="Arial" pitchFamily="34" charset="0"/>
                <a:ea typeface="Arial" pitchFamily="34" charset="-122"/>
                <a:cs typeface="Arial" pitchFamily="34" charset="-120"/>
              </a:rPr>
              <a:t>Price war (Comp)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R3 </a:t>
            </a:r>
            <a:pPr indent="0" marL="0">
              <a:lnSpc>
                <a:spcPct val="112000"/>
              </a:lnSpc>
              <a:buNone/>
            </a:pPr>
            <a:r>
              <a:rPr lang="en-US" sz="740" dirty="0">
                <a:solidFill>
                  <a:srgbClr val="16202B"/>
                </a:solidFill>
                <a:latin typeface="Arial" pitchFamily="34" charset="0"/>
                <a:ea typeface="Arial" pitchFamily="34" charset="-122"/>
                <a:cs typeface="Arial" pitchFamily="34" charset="-120"/>
              </a:rPr>
              <a:t>Commissioning &amp; inoculum (Ops)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R4 </a:t>
            </a:r>
            <a:pPr indent="0" marL="0">
              <a:lnSpc>
                <a:spcPct val="112000"/>
              </a:lnSpc>
              <a:buNone/>
            </a:pPr>
            <a:r>
              <a:rPr lang="en-US" sz="740" dirty="0">
                <a:solidFill>
                  <a:srgbClr val="16202B"/>
                </a:solidFill>
                <a:latin typeface="Arial" pitchFamily="34" charset="0"/>
                <a:ea typeface="Arial" pitchFamily="34" charset="-122"/>
                <a:cs typeface="Arial" pitchFamily="34" charset="-120"/>
              </a:rPr>
              <a:t>Partner conflict (Distr.)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R5 </a:t>
            </a:r>
            <a:pPr indent="0" marL="0">
              <a:lnSpc>
                <a:spcPct val="112000"/>
              </a:lnSpc>
              <a:buNone/>
            </a:pPr>
            <a:r>
              <a:rPr lang="en-US" sz="740" dirty="0">
                <a:solidFill>
                  <a:srgbClr val="16202B"/>
                </a:solidFill>
                <a:latin typeface="Arial" pitchFamily="34" charset="0"/>
                <a:ea typeface="Arial" pitchFamily="34" charset="-122"/>
                <a:cs typeface="Arial" pitchFamily="34" charset="-120"/>
              </a:rPr>
              <a:t>Service outrun (Ops)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R6 </a:t>
            </a:r>
            <a:pPr indent="0" marL="0">
              <a:lnSpc>
                <a:spcPct val="112000"/>
              </a:lnSpc>
              <a:buNone/>
            </a:pPr>
            <a:r>
              <a:rPr lang="en-US" sz="740" dirty="0">
                <a:solidFill>
                  <a:srgbClr val="16202B"/>
                </a:solidFill>
                <a:latin typeface="Arial" pitchFamily="34" charset="0"/>
                <a:ea typeface="Arial" pitchFamily="34" charset="-122"/>
                <a:cs typeface="Arial" pitchFamily="34" charset="-120"/>
              </a:rPr>
              <a:t>Norm tightening (Reg.)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R7 </a:t>
            </a:r>
            <a:pPr indent="0" marL="0">
              <a:lnSpc>
                <a:spcPct val="112000"/>
              </a:lnSpc>
              <a:buNone/>
            </a:pPr>
            <a:r>
              <a:rPr lang="en-US" sz="740" dirty="0">
                <a:solidFill>
                  <a:srgbClr val="16202B"/>
                </a:solidFill>
                <a:latin typeface="Arial" pitchFamily="34" charset="0"/>
                <a:ea typeface="Arial" pitchFamily="34" charset="-122"/>
                <a:cs typeface="Arial" pitchFamily="34" charset="-120"/>
              </a:rPr>
              <a:t>Cycle stalls cash (Fin) · </a:t>
            </a:r>
            <a:pPr indent="0" marL="0">
              <a:lnSpc>
                <a:spcPct val="112000"/>
              </a:lnSpc>
              <a:buNone/>
            </a:pPr>
            <a:r>
              <a:rPr lang="en-US" sz="740" b="1" dirty="0">
                <a:solidFill>
                  <a:srgbClr val="16202B"/>
                </a:solidFill>
                <a:latin typeface="Arial" pitchFamily="34" charset="0"/>
                <a:ea typeface="Arial" pitchFamily="34" charset="-122"/>
                <a:cs typeface="Arial" pitchFamily="34" charset="-120"/>
              </a:rPr>
              <a:t>R8 </a:t>
            </a:r>
            <a:pPr indent="0" marL="0">
              <a:lnSpc>
                <a:spcPct val="112000"/>
              </a:lnSpc>
              <a:buNone/>
            </a:pPr>
            <a:r>
              <a:rPr lang="en-US" sz="740" dirty="0">
                <a:solidFill>
                  <a:srgbClr val="16202B"/>
                </a:solidFill>
                <a:latin typeface="Arial" pitchFamily="34" charset="0"/>
                <a:ea typeface="Arial" pitchFamily="34" charset="-122"/>
                <a:cs typeface="Arial" pitchFamily="34" charset="-120"/>
              </a:rPr>
              <a:t>Marquee failure (Reput.). </a:t>
            </a:r>
            <a:pPr indent="0" marL="0">
              <a:lnSpc>
                <a:spcPct val="112000"/>
              </a:lnSpc>
              <a:buNone/>
            </a:pPr>
            <a:r>
              <a:rPr lang="en-US" sz="740" dirty="0">
                <a:solidFill>
                  <a:srgbClr val="55616D"/>
                </a:solidFill>
                <a:latin typeface="Arial" pitchFamily="34" charset="0"/>
                <a:ea typeface="Arial" pitchFamily="34" charset="-122"/>
                <a:cs typeface="Arial" pitchFamily="34" charset="-120"/>
              </a:rPr>
              <a:t>Red = red-zone (L+I ≥ 8)</a:t>
            </a:r>
            <a:endParaRPr lang="en-US" sz="740" dirty="0"/>
          </a:p>
        </p:txBody>
      </p:sp>
      <p:sp>
        <p:nvSpPr>
          <p:cNvPr id="66" name="Shape 63"/>
          <p:cNvSpPr/>
          <p:nvPr/>
        </p:nvSpPr>
        <p:spPr>
          <a:xfrm>
            <a:off x="4617720" y="1316736"/>
            <a:ext cx="274320" cy="274320"/>
          </a:xfrm>
          <a:prstGeom prst="roundRect">
            <a:avLst>
              <a:gd name="adj" fmla="val 24000"/>
            </a:avLst>
          </a:prstGeom>
          <a:solidFill>
            <a:srgbClr val="E8F1FC"/>
          </a:solidFill>
          <a:ln/>
        </p:spPr>
      </p:sp>
      <p:pic>
        <p:nvPicPr>
          <p:cNvPr id="67" name="Image 1" descr="preencoded.png">    </p:cNvPr>
          <p:cNvPicPr>
            <a:picLocks noChangeAspect="1"/>
          </p:cNvPicPr>
          <p:nvPr/>
        </p:nvPicPr>
        <p:blipFill>
          <a:blip r:embed="rId2"/>
          <a:stretch>
            <a:fillRect/>
          </a:stretch>
        </p:blipFill>
        <p:spPr>
          <a:xfrm>
            <a:off x="4675327" y="1374343"/>
            <a:ext cx="159106" cy="159106"/>
          </a:xfrm>
          <a:prstGeom prst="rect">
            <a:avLst/>
          </a:prstGeom>
        </p:spPr>
      </p:pic>
      <p:sp>
        <p:nvSpPr>
          <p:cNvPr id="68" name="Text 64"/>
          <p:cNvSpPr txBox="1"/>
          <p:nvPr/>
        </p:nvSpPr>
        <p:spPr>
          <a:xfrm>
            <a:off x="5001768" y="1293876"/>
            <a:ext cx="68580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Mitigation playbook: six material risks</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617720" y="1645920"/>
          <a:ext cx="7114032" cy="914400"/>
        </p:xfrm>
        <a:graphic>
          <a:graphicData uri="http://schemas.openxmlformats.org/drawingml/2006/table">
            <a:tbl>
              <a:tblPr/>
              <a:tblGrid>
                <a:gridCol w="1261872"/>
                <a:gridCol w="1554480"/>
                <a:gridCol w="1005840"/>
                <a:gridCol w="1783080"/>
                <a:gridCol w="960120"/>
                <a:gridCol w="548640"/>
              </a:tblGrid>
              <a:tr h="0">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Risk (cat.)</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Root cause &amp; impact</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Early warning</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Preventive control</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Contingency</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l" indent="0" marL="0">
                        <a:buNone/>
                      </a:pPr>
                      <a:r>
                        <a:rPr lang="en-US" sz="750" b="1" dirty="0">
                          <a:solidFill>
                            <a:srgbClr val="FFFFFF"/>
                          </a:solidFill>
                          <a:latin typeface="Arial" pitchFamily="34" charset="0"/>
                          <a:ea typeface="Arial" pitchFamily="34" charset="-122"/>
                          <a:cs typeface="Arial" pitchFamily="34" charset="-120"/>
                        </a:rPr>
                        <a:t>Owner</a:t>
                      </a:r>
                      <a:endParaRPr lang="en-US" sz="75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720" b="1" dirty="0">
                          <a:solidFill>
                            <a:srgbClr val="D64226"/>
                          </a:solidFill>
                          <a:latin typeface="Arial" pitchFamily="34" charset="0"/>
                          <a:ea typeface="Arial" pitchFamily="34" charset="-122"/>
                          <a:cs typeface="Arial" pitchFamily="34" charset="-120"/>
                        </a:rPr>
                        <a:t>R1 Developer receivables (Financial)</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Milestone slippage, RERA escrow; ₹2-3 cr locked, growth stalls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DSO &gt;75; billing-collection gap &gt;2 mo</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30-40-25-5 milestones + advance; credit checks + PDCs; 25% exposure cap</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Stop-work clause; invoice discounting</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CFO</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16202B"/>
                          </a:solidFill>
                          <a:latin typeface="Arial" pitchFamily="34" charset="0"/>
                          <a:ea typeface="Arial" pitchFamily="34" charset="-122"/>
                          <a:cs typeface="Arial" pitchFamily="34" charset="-120"/>
                        </a:rPr>
                        <a:t>R2 Price-led rivalry (Competitive)</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SUSBIO ₹35k/KLD; Daiki KA plant; NCR bidders erode margin</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Win rate &lt;25%; discount &gt;8%</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Lifecycle-cost selling; compliance + AMC bundle; 28% GM walk-away floor</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Value-engineered Lite SKU</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Sales head</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16202B"/>
                          </a:solidFill>
                          <a:latin typeface="Arial" pitchFamily="34" charset="0"/>
                          <a:ea typeface="Arial" pitchFamily="34" charset="-122"/>
                          <a:cs typeface="Arial" pitchFamily="34" charset="-120"/>
                        </a:rPr>
                        <a:t>R3 Commissioning &amp; inoculum variation (Operational)</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Site variability; biology stabilises 4-8 weeks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&gt;2 sites off-norm at day-30</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Factory acceptance test; inoculum batch QC; 30/60/90-day NABL tests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Rapid-response; ozone-assist retrofit</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Tech head</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16202B"/>
                          </a:solidFill>
                          <a:latin typeface="Arial" pitchFamily="34" charset="0"/>
                          <a:ea typeface="Arial" pitchFamily="34" charset="-122"/>
                          <a:cs typeface="Arial" pitchFamily="34" charset="-120"/>
                        </a:rPr>
                        <a:t>R4 Partner conflict (Distribution)</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Territory overlap, poaching; channel stalls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Partner pipeline &lt;30% plan; duplicate leads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≤2 partners/territory; registered-lead lock; installer academy; tiers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Territory reassignment; direct cover</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Channel mgr</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D64226"/>
                          </a:solidFill>
                          <a:latin typeface="Arial" pitchFamily="34" charset="0"/>
                          <a:ea typeface="Arial" pitchFamily="34" charset="-122"/>
                          <a:cs typeface="Arial" pitchFamily="34" charset="-120"/>
                        </a:rPr>
                        <a:t>R5 Expansion outruns service (Operational)</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Install base grows faster than technicians; SLA breach</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Response &gt;48h; uptime &lt;95%</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KPI gates; hub per ~150 km; 1 technician : 25 AMC sites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Freeze clusters; contract service partners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COO</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20" b="1" dirty="0">
                          <a:solidFill>
                            <a:srgbClr val="16202B"/>
                          </a:solidFill>
                          <a:latin typeface="Arial" pitchFamily="34" charset="0"/>
                          <a:ea typeface="Arial" pitchFamily="34" charset="-122"/>
                          <a:cs typeface="Arial" pitchFamily="34" charset="-120"/>
                        </a:rPr>
                        <a:t>R6 Norms tighten (Regulatory — added)</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NGT / CPCB revisions strand designs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Draft notifications; consent queries</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Design margin to stricter norms; IISc tertiary pipeline</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Paid retrofit-upgrade programme</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720" dirty="0">
                          <a:solidFill>
                            <a:srgbClr val="16202B"/>
                          </a:solidFill>
                          <a:latin typeface="Arial" pitchFamily="34" charset="0"/>
                          <a:ea typeface="Arial" pitchFamily="34" charset="-122"/>
                          <a:cs typeface="Arial" pitchFamily="34" charset="-120"/>
                        </a:rPr>
                        <a:t>MD + Tech</a:t>
                      </a:r>
                      <a:endParaRPr lang="en-US" sz="72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70" name="Shape 65"/>
          <p:cNvSpPr/>
          <p:nvPr/>
        </p:nvSpPr>
        <p:spPr>
          <a:xfrm>
            <a:off x="4617720" y="4617720"/>
            <a:ext cx="7114032" cy="1170432"/>
          </a:xfrm>
          <a:prstGeom prst="roundRect">
            <a:avLst>
              <a:gd name="adj" fmla="val 6250"/>
            </a:avLst>
          </a:prstGeom>
          <a:solidFill>
            <a:srgbClr val="F5F9FE"/>
          </a:solidFill>
          <a:ln w="12700">
            <a:solidFill>
              <a:srgbClr val="DCE5EE"/>
            </a:solidFill>
            <a:prstDash val="solid"/>
          </a:ln>
        </p:spPr>
      </p:sp>
      <p:sp>
        <p:nvSpPr>
          <p:cNvPr id="71" name="Shape 66"/>
          <p:cNvSpPr/>
          <p:nvPr/>
        </p:nvSpPr>
        <p:spPr>
          <a:xfrm>
            <a:off x="4754880" y="4727448"/>
            <a:ext cx="274320" cy="274320"/>
          </a:xfrm>
          <a:prstGeom prst="roundRect">
            <a:avLst>
              <a:gd name="adj" fmla="val 24000"/>
            </a:avLst>
          </a:prstGeom>
          <a:solidFill>
            <a:srgbClr val="E8F1FC"/>
          </a:solidFill>
          <a:ln/>
        </p:spPr>
      </p:sp>
      <p:pic>
        <p:nvPicPr>
          <p:cNvPr id="72" name="Image 2" descr="preencoded.png">    </p:cNvPr>
          <p:cNvPicPr>
            <a:picLocks noChangeAspect="1"/>
          </p:cNvPicPr>
          <p:nvPr/>
        </p:nvPicPr>
        <p:blipFill>
          <a:blip r:embed="rId3"/>
          <a:stretch>
            <a:fillRect/>
          </a:stretch>
        </p:blipFill>
        <p:spPr>
          <a:xfrm>
            <a:off x="4812487" y="4785055"/>
            <a:ext cx="159106" cy="159106"/>
          </a:xfrm>
          <a:prstGeom prst="rect">
            <a:avLst/>
          </a:prstGeom>
        </p:spPr>
      </p:pic>
      <p:sp>
        <p:nvSpPr>
          <p:cNvPr id="73" name="Text 67"/>
          <p:cNvSpPr txBox="1"/>
          <p:nvPr/>
        </p:nvSpPr>
        <p:spPr>
          <a:xfrm>
            <a:off x="5138928" y="4704588"/>
            <a:ext cx="6400800" cy="329184"/>
          </a:xfrm>
          <a:prstGeom prst="rect">
            <a:avLst/>
          </a:prstGeom>
          <a:noFill/>
          <a:ln/>
        </p:spPr>
        <p:txBody>
          <a:bodyPr wrap="square" lIns="0" tIns="0" rIns="0" bIns="0" rtlCol="0" anchor="ctr"/>
          <a:lstStyle/>
          <a:p>
            <a:pPr indent="0" marL="0">
              <a:buNone/>
            </a:pPr>
            <a:r>
              <a:rPr lang="en-US" sz="1150" b="1" dirty="0">
                <a:solidFill>
                  <a:srgbClr val="0C3E86"/>
                </a:solidFill>
                <a:latin typeface="Arial" pitchFamily="34" charset="0"/>
                <a:ea typeface="Arial" pitchFamily="34" charset="-122"/>
                <a:cs typeface="Arial" pitchFamily="34" charset="-120"/>
              </a:rPr>
              <a:t>Watch metrics for the two monitored risks</a:t>
            </a:r>
            <a:endParaRPr lang="en-US" sz="1150" dirty="0"/>
          </a:p>
        </p:txBody>
      </p:sp>
      <p:sp>
        <p:nvSpPr>
          <p:cNvPr id="74" name="Text 68"/>
          <p:cNvSpPr txBox="1"/>
          <p:nvPr/>
        </p:nvSpPr>
        <p:spPr>
          <a:xfrm>
            <a:off x="4754880" y="5047488"/>
            <a:ext cx="6812280" cy="685800"/>
          </a:xfrm>
          <a:prstGeom prst="rect">
            <a:avLst/>
          </a:prstGeom>
          <a:noFill/>
          <a:ln/>
        </p:spPr>
        <p:txBody>
          <a:bodyPr wrap="square" lIns="0" tIns="0" rIns="0" bIns="0" rtlCol="0" anchor="ctr"/>
          <a:lstStyle/>
          <a:p>
            <a:pPr indent="0" marL="0">
              <a:lnSpc>
                <a:spcPct val="106000"/>
              </a:lnSpc>
              <a:buNone/>
            </a:pPr>
            <a:r>
              <a:rPr lang="en-US" sz="800" b="1" dirty="0">
                <a:solidFill>
                  <a:srgbClr val="0C3E86"/>
                </a:solidFill>
                <a:latin typeface="Arial" pitchFamily="34" charset="0"/>
                <a:ea typeface="Arial" pitchFamily="34" charset="-122"/>
                <a:cs typeface="Arial" pitchFamily="34" charset="-120"/>
              </a:rPr>
              <a:t>R7 Long cycles stall cash (Fin):  </a:t>
            </a:r>
            <a:pPr indent="0" marL="0">
              <a:lnSpc>
                <a:spcPct val="106000"/>
              </a:lnSpc>
              <a:buNone/>
            </a:pPr>
            <a:r>
              <a:rPr lang="en-US" sz="800" dirty="0">
                <a:solidFill>
                  <a:srgbClr val="16202B"/>
                </a:solidFill>
                <a:latin typeface="Arial" pitchFamily="34" charset="0"/>
                <a:ea typeface="Arial" pitchFamily="34" charset="-122"/>
                <a:cs typeface="Arial" pitchFamily="34" charset="-120"/>
              </a:rPr>
              <a:t>weekly pipeline-cover ratio ≥3× next-quarter target; audit-led entry offers shorten hotel cycles to 2-4 months; order-book coverage reviewed monthly.
</a:t>
            </a:r>
            <a:pPr indent="0" marL="0">
              <a:lnSpc>
                <a:spcPct val="106000"/>
              </a:lnSpc>
              <a:buNone/>
            </a:pPr>
            <a:r>
              <a:rPr lang="en-US" sz="800" b="1" dirty="0">
                <a:solidFill>
                  <a:srgbClr val="D64226"/>
                </a:solidFill>
                <a:latin typeface="Arial" pitchFamily="34" charset="0"/>
                <a:ea typeface="Arial" pitchFamily="34" charset="-122"/>
                <a:cs typeface="Arial" pitchFamily="34" charset="-120"/>
              </a:rPr>
              <a:t>R8 Marquee-site failure (Reputation):  </a:t>
            </a:r>
            <a:pPr indent="0" marL="0">
              <a:lnSpc>
                <a:spcPct val="106000"/>
              </a:lnSpc>
              <a:buNone/>
            </a:pPr>
            <a:r>
              <a:rPr lang="en-US" sz="800" dirty="0">
                <a:solidFill>
                  <a:srgbClr val="16202B"/>
                </a:solidFill>
                <a:latin typeface="Arial" pitchFamily="34" charset="0"/>
                <a:ea typeface="Arial" pitchFamily="34" charset="-122"/>
                <a:cs typeface="Arial" pitchFamily="34" charset="-120"/>
              </a:rPr>
              <a:t>IoT uptime alerts on every AMC site, 48-hour response SLA, preventive-maintenance calendar, annual third-party NABL effluent audit at reference sites.</a:t>
            </a:r>
            <a:endParaRPr lang="en-US" sz="800" dirty="0"/>
          </a:p>
        </p:txBody>
      </p:sp>
      <p:sp>
        <p:nvSpPr>
          <p:cNvPr id="75" name="Shape 69"/>
          <p:cNvSpPr/>
          <p:nvPr/>
        </p:nvSpPr>
        <p:spPr>
          <a:xfrm>
            <a:off x="457200" y="6016752"/>
            <a:ext cx="11274552" cy="384048"/>
          </a:xfrm>
          <a:prstGeom prst="roundRect">
            <a:avLst>
              <a:gd name="adj" fmla="val 21429"/>
            </a:avLst>
          </a:prstGeom>
          <a:solidFill>
            <a:srgbClr val="1568DC"/>
          </a:solidFill>
          <a:ln/>
          <a:effectLst>
            <a:outerShdw sx="100000" sy="100000" kx="0" ky="0" algn="bl" rotWithShape="0" blurRad="50800" dist="12700" dir="5400000">
              <a:srgbClr val="B6C1CD">
                <a:alpha val="30000"/>
              </a:srgbClr>
            </a:outerShdw>
          </a:effectLst>
        </p:spPr>
      </p:sp>
      <p:pic>
        <p:nvPicPr>
          <p:cNvPr id="76" name="Image 3" descr="preencoded.png">    </p:cNvPr>
          <p:cNvPicPr>
            <a:picLocks noChangeAspect="1"/>
          </p:cNvPicPr>
          <p:nvPr/>
        </p:nvPicPr>
        <p:blipFill>
          <a:blip r:embed="rId4"/>
          <a:stretch>
            <a:fillRect/>
          </a:stretch>
        </p:blipFill>
        <p:spPr>
          <a:xfrm>
            <a:off x="621792" y="6089904"/>
            <a:ext cx="237744" cy="237744"/>
          </a:xfrm>
          <a:prstGeom prst="rect">
            <a:avLst/>
          </a:prstGeom>
        </p:spPr>
      </p:pic>
      <p:sp>
        <p:nvSpPr>
          <p:cNvPr id="77" name="Text 70"/>
          <p:cNvSpPr txBox="1"/>
          <p:nvPr/>
        </p:nvSpPr>
        <p:spPr>
          <a:xfrm>
            <a:off x="969264" y="6016752"/>
            <a:ext cx="10588752" cy="384048"/>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CONTROL   </a:t>
            </a:r>
            <a:pPr indent="0" marL="0">
              <a:lnSpc>
                <a:spcPct val="100000"/>
              </a:lnSpc>
              <a:buNone/>
            </a:pPr>
            <a:r>
              <a:rPr lang="en-US" sz="1150" b="1" dirty="0">
                <a:solidFill>
                  <a:srgbClr val="FFFFFF"/>
                </a:solidFill>
                <a:latin typeface="Arial" pitchFamily="34" charset="0"/>
                <a:ea typeface="Arial" pitchFamily="34" charset="-122"/>
                <a:cs typeface="Arial" pitchFamily="34" charset="-120"/>
              </a:rPr>
              <a:t>Milestone billing, exposure caps and gated expansion keep the plan self-funding; R7 and R8 stay on watch metrics.</a:t>
            </a:r>
            <a:endParaRPr lang="en-US" sz="1000" dirty="0"/>
          </a:p>
        </p:txBody>
      </p:sp>
      <p:sp>
        <p:nvSpPr>
          <p:cNvPr id="78" name="Text 71"/>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Likelihood/impact: team scoring from competitor research, CPCB 2021 utilisation gap and SME receivable norms. Impact scale: 3 = ₹0.5-1 cr; 5 = &gt;₹2 cr or franchise damage.</a:t>
            </a:r>
            <a:endParaRPr lang="en-US" sz="680" dirty="0"/>
          </a:p>
        </p:txBody>
      </p:sp>
      <p:sp>
        <p:nvSpPr>
          <p:cNvPr id="79" name="Text 72"/>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384048" cy="384048"/>
          </a:xfrm>
          <a:prstGeom prst="ellipse">
            <a:avLst/>
          </a:prstGeom>
          <a:solidFill>
            <a:srgbClr val="1568DC"/>
          </a:solidFill>
          <a:ln/>
        </p:spPr>
      </p:sp>
      <p:sp>
        <p:nvSpPr>
          <p:cNvPr id="3" name="Text 1"/>
          <p:cNvSpPr txBox="1"/>
          <p:nvPr/>
        </p:nvSpPr>
        <p:spPr>
          <a:xfrm>
            <a:off x="457200" y="3154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4" name="Text 2"/>
          <p:cNvSpPr txBox="1"/>
          <p:nvPr/>
        </p:nvSpPr>
        <p:spPr>
          <a:xfrm>
            <a:off x="969264"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DELIVERABLE 4 · PORTFOLIO EXPANSION: ADJACENT PRODUCTS &amp; TECHNOLOGIES</a:t>
            </a:r>
            <a:endParaRPr lang="en-US" sz="950" dirty="0"/>
          </a:p>
        </p:txBody>
      </p:sp>
      <p:sp>
        <p:nvSpPr>
          <p:cNvPr id="5" name="Text 3"/>
          <p:cNvSpPr txBox="1"/>
          <p:nvPr/>
        </p:nvSpPr>
        <p:spPr>
          <a:xfrm>
            <a:off x="969264"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Rescue, monitor, recycle: </a:t>
            </a:r>
            <a:pPr indent="0" marL="0">
              <a:buNone/>
            </a:pPr>
            <a:r>
              <a:rPr lang="en-US" sz="2500" b="1" dirty="0">
                <a:solidFill>
                  <a:srgbClr val="1568DC"/>
                </a:solidFill>
                <a:latin typeface="Arial" pitchFamily="34" charset="0"/>
                <a:ea typeface="Arial" pitchFamily="34" charset="-122"/>
                <a:cs typeface="Arial" pitchFamily="34" charset="-120"/>
              </a:rPr>
              <a:t>sequence the adjacencies</a:t>
            </a:r>
            <a:endParaRPr lang="en-US" sz="2500" dirty="0"/>
          </a:p>
        </p:txBody>
      </p:sp>
      <p:sp>
        <p:nvSpPr>
          <p:cNvPr id="6" name="Shape 4"/>
          <p:cNvSpPr/>
          <p:nvPr/>
        </p:nvSpPr>
        <p:spPr>
          <a:xfrm>
            <a:off x="969264" y="969264"/>
            <a:ext cx="777240" cy="50292"/>
          </a:xfrm>
          <a:prstGeom prst="roundRect">
            <a:avLst>
              <a:gd name="adj" fmla="val 36364"/>
            </a:avLst>
          </a:prstGeom>
          <a:solidFill>
            <a:srgbClr val="1568DC"/>
          </a:solidFill>
          <a:ln/>
        </p:spPr>
      </p:sp>
      <p:sp>
        <p:nvSpPr>
          <p:cNvPr id="7" name="Text 5"/>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8" name="Text 6"/>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9" name="Shape 7"/>
          <p:cNvSpPr/>
          <p:nvPr/>
        </p:nvSpPr>
        <p:spPr>
          <a:xfrm>
            <a:off x="457200" y="1316736"/>
            <a:ext cx="274320" cy="274320"/>
          </a:xfrm>
          <a:prstGeom prst="roundRect">
            <a:avLst>
              <a:gd name="adj" fmla="val 24000"/>
            </a:avLst>
          </a:prstGeom>
          <a:solidFill>
            <a:srgbClr val="E8F1FC"/>
          </a:solidFill>
          <a:ln/>
        </p:spPr>
      </p:sp>
      <p:pic>
        <p:nvPicPr>
          <p:cNvPr id="10" name="Image 0" descr="preencoded.png">    </p:cNvPr>
          <p:cNvPicPr>
            <a:picLocks noChangeAspect="1"/>
          </p:cNvPicPr>
          <p:nvPr/>
        </p:nvPicPr>
        <p:blipFill>
          <a:blip r:embed="rId1"/>
          <a:stretch>
            <a:fillRect/>
          </a:stretch>
        </p:blipFill>
        <p:spPr>
          <a:xfrm>
            <a:off x="514807" y="1374343"/>
            <a:ext cx="159106" cy="159106"/>
          </a:xfrm>
          <a:prstGeom prst="rect">
            <a:avLst/>
          </a:prstGeom>
        </p:spPr>
      </p:pic>
      <p:sp>
        <p:nvSpPr>
          <p:cNvPr id="11" name="Text 8"/>
          <p:cNvSpPr txBox="1"/>
          <p:nvPr/>
        </p:nvSpPr>
        <p:spPr>
          <a:xfrm>
            <a:off x="841248" y="1293876"/>
            <a:ext cx="4572000" cy="329184"/>
          </a:xfrm>
          <a:prstGeom prst="rect">
            <a:avLst/>
          </a:prstGeom>
          <a:noFill/>
          <a:ln/>
        </p:spPr>
        <p:txBody>
          <a:bodyPr wrap="square" lIns="0" tIns="0" rIns="0" bIns="0" rtlCol="0" anchor="ctr"/>
          <a:lstStyle/>
          <a:p>
            <a:pPr indent="0" marL="0">
              <a:buNone/>
            </a:pPr>
            <a:r>
              <a:rPr lang="en-US" sz="1250" b="1" dirty="0">
                <a:solidFill>
                  <a:srgbClr val="0C3E86"/>
                </a:solidFill>
                <a:latin typeface="Arial" pitchFamily="34" charset="0"/>
                <a:ea typeface="Arial" pitchFamily="34" charset="-122"/>
                <a:cs typeface="Arial" pitchFamily="34" charset="-120"/>
              </a:rPr>
              <a:t>Weighted adjacency scores (7 criteria, 100 pts)</a:t>
            </a:r>
            <a:endParaRPr lang="en-US" sz="1250" dirty="0"/>
          </a:p>
        </p:txBody>
      </p:sp>
      <p:graphicFrame>
        <p:nvGraphicFramePr>
          <p:cNvPr id="12" name="Chart 0" descr=""/>
          <p:cNvGraphicFramePr/>
          <p:nvPr/>
        </p:nvGraphicFramePr>
        <p:xfrm>
          <a:off x="457200" y="1627632"/>
          <a:ext cx="4480560" cy="3246120"/>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a:off x="457200" y="5010912"/>
            <a:ext cx="4480560" cy="548640"/>
          </a:xfrm>
          <a:prstGeom prst="roundRect">
            <a:avLst>
              <a:gd name="adj" fmla="val 13333"/>
            </a:avLst>
          </a:prstGeom>
          <a:solidFill>
            <a:srgbClr val="F5F9FE"/>
          </a:solidFill>
          <a:ln w="12700">
            <a:solidFill>
              <a:srgbClr val="DCE5EE"/>
            </a:solidFill>
            <a:prstDash val="solid"/>
          </a:ln>
        </p:spPr>
      </p:sp>
      <p:sp>
        <p:nvSpPr>
          <p:cNvPr id="14" name="Text 10"/>
          <p:cNvSpPr txBox="1"/>
          <p:nvPr/>
        </p:nvSpPr>
        <p:spPr>
          <a:xfrm>
            <a:off x="548640" y="5047488"/>
            <a:ext cx="4297680" cy="475488"/>
          </a:xfrm>
          <a:prstGeom prst="rect">
            <a:avLst/>
          </a:prstGeom>
          <a:noFill/>
          <a:ln/>
        </p:spPr>
        <p:txBody>
          <a:bodyPr wrap="square" lIns="0" tIns="0" rIns="0" bIns="0" rtlCol="0" anchor="ctr"/>
          <a:lstStyle/>
          <a:p>
            <a:pPr indent="0" marL="0">
              <a:lnSpc>
                <a:spcPct val="104000"/>
              </a:lnSpc>
              <a:buNone/>
            </a:pPr>
            <a:r>
              <a:rPr lang="en-US" sz="680" b="1" dirty="0">
                <a:solidFill>
                  <a:srgbClr val="1568DC"/>
                </a:solidFill>
                <a:latin typeface="Arial" pitchFamily="34" charset="0"/>
                <a:ea typeface="Arial" pitchFamily="34" charset="-122"/>
                <a:cs typeface="Arial" pitchFamily="34" charset="-120"/>
              </a:rPr>
              <a:t>CRITERIA (WEIGHTS)  </a:t>
            </a:r>
            <a:pPr indent="0" marL="0">
              <a:lnSpc>
                <a:spcPct val="104000"/>
              </a:lnSpc>
              <a:buNone/>
            </a:pPr>
            <a:r>
              <a:rPr lang="en-US" sz="690" dirty="0">
                <a:solidFill>
                  <a:srgbClr val="55616D"/>
                </a:solidFill>
                <a:latin typeface="Arial" pitchFamily="34" charset="0"/>
                <a:ea typeface="Arial" pitchFamily="34" charset="-122"/>
                <a:cs typeface="Arial" pitchFamily="34" charset="-120"/>
              </a:rPr>
              <a:t>demand 20 · synergy &amp; feasibility 20 · capital 15 (inverse) · margin 15 · complexity 10 (inverse) · time-to-market 10 · recurring 10 — scores 1-5, matrix p.9</a:t>
            </a:r>
            <a:endParaRPr lang="en-US" sz="680" dirty="0"/>
          </a:p>
        </p:txBody>
      </p:sp>
      <p:sp>
        <p:nvSpPr>
          <p:cNvPr id="15" name="Shape 11"/>
          <p:cNvSpPr/>
          <p:nvPr/>
        </p:nvSpPr>
        <p:spPr>
          <a:xfrm>
            <a:off x="5230368" y="1316736"/>
            <a:ext cx="6501384" cy="1170432"/>
          </a:xfrm>
          <a:prstGeom prst="roundRect">
            <a:avLst>
              <a:gd name="adj" fmla="val 6250"/>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16" name="Shape 12"/>
          <p:cNvSpPr/>
          <p:nvPr/>
        </p:nvSpPr>
        <p:spPr>
          <a:xfrm>
            <a:off x="5349240" y="1426464"/>
            <a:ext cx="347472" cy="347472"/>
          </a:xfrm>
          <a:prstGeom prst="roundRect">
            <a:avLst>
              <a:gd name="adj" fmla="val 24000"/>
            </a:avLst>
          </a:prstGeom>
          <a:solidFill>
            <a:srgbClr val="E8F1FC"/>
          </a:solidFill>
          <a:ln/>
        </p:spPr>
      </p:sp>
      <p:pic>
        <p:nvPicPr>
          <p:cNvPr id="17" name="Image 1" descr="preencoded.png">    </p:cNvPr>
          <p:cNvPicPr>
            <a:picLocks noChangeAspect="1"/>
          </p:cNvPicPr>
          <p:nvPr/>
        </p:nvPicPr>
        <p:blipFill>
          <a:blip r:embed="rId3"/>
          <a:stretch>
            <a:fillRect/>
          </a:stretch>
        </p:blipFill>
        <p:spPr>
          <a:xfrm>
            <a:off x="5422209" y="1499433"/>
            <a:ext cx="201534" cy="201534"/>
          </a:xfrm>
          <a:prstGeom prst="rect">
            <a:avLst/>
          </a:prstGeom>
        </p:spPr>
      </p:pic>
      <p:sp>
        <p:nvSpPr>
          <p:cNvPr id="18" name="Text 13"/>
          <p:cNvSpPr txBox="1"/>
          <p:nvPr/>
        </p:nvSpPr>
        <p:spPr>
          <a:xfrm>
            <a:off x="5797296" y="1408176"/>
            <a:ext cx="4023360" cy="219456"/>
          </a:xfrm>
          <a:prstGeom prst="rect">
            <a:avLst/>
          </a:prstGeom>
          <a:noFill/>
          <a:ln/>
        </p:spPr>
        <p:txBody>
          <a:bodyPr wrap="square" lIns="0" tIns="0" rIns="0" bIns="0" rtlCol="0" anchor="ctr"/>
          <a:lstStyle/>
          <a:p>
            <a:pPr indent="0" marL="0">
              <a:buNone/>
            </a:pPr>
            <a:r>
              <a:rPr lang="en-US" sz="1050" b="1" dirty="0">
                <a:solidFill>
                  <a:srgbClr val="0C3E86"/>
                </a:solidFill>
                <a:latin typeface="Arial" pitchFamily="34" charset="0"/>
                <a:ea typeface="Arial" pitchFamily="34" charset="-122"/>
                <a:cs typeface="Arial" pitchFamily="34" charset="-120"/>
              </a:rPr>
              <a:t>STP Rescue: retrofit + O&amp;M takeover</a:t>
            </a:r>
            <a:endParaRPr lang="en-US" sz="1050" dirty="0"/>
          </a:p>
        </p:txBody>
      </p:sp>
      <p:sp>
        <p:nvSpPr>
          <p:cNvPr id="19" name="Shape 14"/>
          <p:cNvSpPr/>
          <p:nvPr/>
        </p:nvSpPr>
        <p:spPr>
          <a:xfrm>
            <a:off x="9518904" y="1417320"/>
            <a:ext cx="2103120" cy="219456"/>
          </a:xfrm>
          <a:prstGeom prst="roundRect">
            <a:avLst>
              <a:gd name="adj" fmla="val 50000"/>
            </a:avLst>
          </a:prstGeom>
          <a:solidFill>
            <a:srgbClr val="FCF1DA"/>
          </a:solidFill>
          <a:ln/>
        </p:spPr>
      </p:sp>
      <p:sp>
        <p:nvSpPr>
          <p:cNvPr id="20" name="Text 15"/>
          <p:cNvSpPr txBox="1"/>
          <p:nvPr/>
        </p:nvSpPr>
        <p:spPr>
          <a:xfrm>
            <a:off x="9518904" y="1417320"/>
            <a:ext cx="2103120" cy="219456"/>
          </a:xfrm>
          <a:prstGeom prst="rect">
            <a:avLst/>
          </a:prstGeom>
          <a:noFill/>
          <a:ln/>
        </p:spPr>
        <p:txBody>
          <a:bodyPr wrap="square" lIns="0" tIns="0" rIns="0" bIns="0" rtlCol="0" anchor="ctr"/>
          <a:lstStyle/>
          <a:p>
            <a:pPr algn="ctr" indent="0" marL="0">
              <a:buNone/>
            </a:pPr>
            <a:r>
              <a:rPr lang="en-US" sz="680" b="1" dirty="0">
                <a:solidFill>
                  <a:srgbClr val="9A6A0F"/>
                </a:solidFill>
                <a:latin typeface="Arial" pitchFamily="34" charset="0"/>
                <a:ea typeface="Arial" pitchFamily="34" charset="-122"/>
                <a:cs typeface="Arial" pitchFamily="34" charset="-120"/>
              </a:rPr>
              <a:t>NOW (M0-3) · BUILD IN-HOUSE</a:t>
            </a:r>
            <a:endParaRPr lang="en-US" sz="680" dirty="0"/>
          </a:p>
        </p:txBody>
      </p:sp>
      <p:pic>
        <p:nvPicPr>
          <p:cNvPr id="21" name="Image 2" descr="preencoded.png">    </p:cNvPr>
          <p:cNvPicPr>
            <a:picLocks noChangeAspect="1"/>
          </p:cNvPicPr>
          <p:nvPr/>
        </p:nvPicPr>
        <p:blipFill>
          <a:blip r:embed="rId4"/>
          <a:stretch>
            <a:fillRect/>
          </a:stretch>
        </p:blipFill>
        <p:spPr>
          <a:xfrm>
            <a:off x="5358384" y="1728216"/>
            <a:ext cx="128016" cy="128016"/>
          </a:xfrm>
          <a:prstGeom prst="rect">
            <a:avLst/>
          </a:prstGeom>
        </p:spPr>
      </p:pic>
      <p:sp>
        <p:nvSpPr>
          <p:cNvPr id="22" name="Text 16"/>
          <p:cNvSpPr txBox="1"/>
          <p:nvPr/>
        </p:nvSpPr>
        <p:spPr>
          <a:xfrm>
            <a:off x="5541264" y="1700784"/>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WHY  </a:t>
            </a:r>
            <a:pPr indent="0" marL="0">
              <a:lnSpc>
                <a:spcPct val="95000"/>
              </a:lnSpc>
              <a:buNone/>
            </a:pPr>
            <a:r>
              <a:rPr lang="en-US" sz="700" dirty="0">
                <a:solidFill>
                  <a:srgbClr val="16202B"/>
                </a:solidFill>
                <a:latin typeface="Arial" pitchFamily="34" charset="0"/>
                <a:ea typeface="Arial" pitchFamily="34" charset="-122"/>
                <a:cs typeface="Arial" pitchFamily="34" charset="-120"/>
              </a:rPr>
              <a:t>CPCB 2021: a third of installed capacity idle/off-norm — certain demand, zero capex</a:t>
            </a:r>
            <a:endParaRPr lang="en-US" sz="640" dirty="0"/>
          </a:p>
        </p:txBody>
      </p:sp>
      <p:pic>
        <p:nvPicPr>
          <p:cNvPr id="23" name="Image 3" descr="preencoded.png">    </p:cNvPr>
          <p:cNvPicPr>
            <a:picLocks noChangeAspect="1"/>
          </p:cNvPicPr>
          <p:nvPr/>
        </p:nvPicPr>
        <p:blipFill>
          <a:blip r:embed="rId5"/>
          <a:stretch>
            <a:fillRect/>
          </a:stretch>
        </p:blipFill>
        <p:spPr>
          <a:xfrm>
            <a:off x="8535924" y="1728216"/>
            <a:ext cx="128016" cy="128016"/>
          </a:xfrm>
          <a:prstGeom prst="rect">
            <a:avLst/>
          </a:prstGeom>
        </p:spPr>
      </p:pic>
      <p:sp>
        <p:nvSpPr>
          <p:cNvPr id="24" name="Text 17"/>
          <p:cNvSpPr txBox="1"/>
          <p:nvPr/>
        </p:nvSpPr>
        <p:spPr>
          <a:xfrm>
            <a:off x="8718804" y="1700784"/>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PRICE  </a:t>
            </a:r>
            <a:pPr indent="0" marL="0">
              <a:lnSpc>
                <a:spcPct val="95000"/>
              </a:lnSpc>
              <a:buNone/>
            </a:pPr>
            <a:r>
              <a:rPr lang="en-US" sz="700" dirty="0">
                <a:solidFill>
                  <a:srgbClr val="16202B"/>
                </a:solidFill>
                <a:latin typeface="Arial" pitchFamily="34" charset="0"/>
                <a:ea typeface="Arial" pitchFamily="34" charset="-122"/>
                <a:cs typeface="Arial" pitchFamily="34" charset="-120"/>
              </a:rPr>
              <a:t>₹3-15 L retrofit + ₹0.5-3 L/yr O&amp;M (~35% GM)</a:t>
            </a:r>
            <a:endParaRPr lang="en-US" sz="640" dirty="0"/>
          </a:p>
        </p:txBody>
      </p:sp>
      <p:pic>
        <p:nvPicPr>
          <p:cNvPr id="25" name="Image 4" descr="preencoded.png">    </p:cNvPr>
          <p:cNvPicPr>
            <a:picLocks noChangeAspect="1"/>
          </p:cNvPicPr>
          <p:nvPr/>
        </p:nvPicPr>
        <p:blipFill>
          <a:blip r:embed="rId6"/>
          <a:stretch>
            <a:fillRect/>
          </a:stretch>
        </p:blipFill>
        <p:spPr>
          <a:xfrm>
            <a:off x="5358384" y="2112264"/>
            <a:ext cx="128016" cy="128016"/>
          </a:xfrm>
          <a:prstGeom prst="rect">
            <a:avLst/>
          </a:prstGeom>
        </p:spPr>
      </p:pic>
      <p:sp>
        <p:nvSpPr>
          <p:cNvPr id="26" name="Text 18"/>
          <p:cNvSpPr txBox="1"/>
          <p:nvPr/>
        </p:nvSpPr>
        <p:spPr>
          <a:xfrm>
            <a:off x="5541264" y="2084832"/>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PILOT  </a:t>
            </a:r>
            <a:pPr indent="0" marL="0">
              <a:lnSpc>
                <a:spcPct val="95000"/>
              </a:lnSpc>
              <a:buNone/>
            </a:pPr>
            <a:r>
              <a:rPr lang="en-US" sz="700" dirty="0">
                <a:solidFill>
                  <a:srgbClr val="16202B"/>
                </a:solidFill>
                <a:latin typeface="Arial" pitchFamily="34" charset="0"/>
                <a:ea typeface="Arial" pitchFamily="34" charset="-122"/>
                <a:cs typeface="Arial" pitchFamily="34" charset="-120"/>
              </a:rPr>
              <a:t>10 audits at Goa hotels</a:t>
            </a:r>
            <a:endParaRPr lang="en-US" sz="640" dirty="0"/>
          </a:p>
        </p:txBody>
      </p:sp>
      <p:pic>
        <p:nvPicPr>
          <p:cNvPr id="27" name="Image 5" descr="preencoded.png">    </p:cNvPr>
          <p:cNvPicPr>
            <a:picLocks noChangeAspect="1"/>
          </p:cNvPicPr>
          <p:nvPr/>
        </p:nvPicPr>
        <p:blipFill>
          <a:blip r:embed="rId7"/>
          <a:stretch>
            <a:fillRect/>
          </a:stretch>
        </p:blipFill>
        <p:spPr>
          <a:xfrm>
            <a:off x="8535924" y="2112264"/>
            <a:ext cx="128016" cy="128016"/>
          </a:xfrm>
          <a:prstGeom prst="rect">
            <a:avLst/>
          </a:prstGeom>
        </p:spPr>
      </p:pic>
      <p:sp>
        <p:nvSpPr>
          <p:cNvPr id="28" name="Text 19"/>
          <p:cNvSpPr txBox="1"/>
          <p:nvPr/>
        </p:nvSpPr>
        <p:spPr>
          <a:xfrm>
            <a:off x="8718804" y="2084832"/>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METRIC  </a:t>
            </a:r>
            <a:pPr indent="0" marL="0">
              <a:lnSpc>
                <a:spcPct val="95000"/>
              </a:lnSpc>
              <a:buNone/>
            </a:pPr>
            <a:r>
              <a:rPr lang="en-US" sz="700" dirty="0">
                <a:solidFill>
                  <a:srgbClr val="16202B"/>
                </a:solidFill>
                <a:latin typeface="Arial" pitchFamily="34" charset="0"/>
                <a:ea typeface="Arial" pitchFamily="34" charset="-122"/>
                <a:cs typeface="Arial" pitchFamily="34" charset="-120"/>
              </a:rPr>
              <a:t>25 retrofits + 40 O&amp;M contracts by FY29; seeds AMC fleet</a:t>
            </a:r>
            <a:endParaRPr lang="en-US" sz="640" dirty="0"/>
          </a:p>
        </p:txBody>
      </p:sp>
      <p:sp>
        <p:nvSpPr>
          <p:cNvPr id="29" name="Shape 20"/>
          <p:cNvSpPr/>
          <p:nvPr/>
        </p:nvSpPr>
        <p:spPr>
          <a:xfrm>
            <a:off x="5230368" y="2606040"/>
            <a:ext cx="6501384" cy="1170432"/>
          </a:xfrm>
          <a:prstGeom prst="roundRect">
            <a:avLst>
              <a:gd name="adj" fmla="val 6250"/>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30" name="Shape 21"/>
          <p:cNvSpPr/>
          <p:nvPr/>
        </p:nvSpPr>
        <p:spPr>
          <a:xfrm>
            <a:off x="5349240" y="2715768"/>
            <a:ext cx="347472" cy="347472"/>
          </a:xfrm>
          <a:prstGeom prst="roundRect">
            <a:avLst>
              <a:gd name="adj" fmla="val 24000"/>
            </a:avLst>
          </a:prstGeom>
          <a:solidFill>
            <a:srgbClr val="E8F1FC"/>
          </a:solidFill>
          <a:ln/>
        </p:spPr>
      </p:sp>
      <p:pic>
        <p:nvPicPr>
          <p:cNvPr id="31" name="Image 6" descr="preencoded.png">    </p:cNvPr>
          <p:cNvPicPr>
            <a:picLocks noChangeAspect="1"/>
          </p:cNvPicPr>
          <p:nvPr/>
        </p:nvPicPr>
        <p:blipFill>
          <a:blip r:embed="rId8"/>
          <a:stretch>
            <a:fillRect/>
          </a:stretch>
        </p:blipFill>
        <p:spPr>
          <a:xfrm>
            <a:off x="5422209" y="2788737"/>
            <a:ext cx="201534" cy="201534"/>
          </a:xfrm>
          <a:prstGeom prst="rect">
            <a:avLst/>
          </a:prstGeom>
        </p:spPr>
      </p:pic>
      <p:sp>
        <p:nvSpPr>
          <p:cNvPr id="32" name="Text 22"/>
          <p:cNvSpPr txBox="1"/>
          <p:nvPr/>
        </p:nvSpPr>
        <p:spPr>
          <a:xfrm>
            <a:off x="5797296" y="2697480"/>
            <a:ext cx="4023360" cy="219456"/>
          </a:xfrm>
          <a:prstGeom prst="rect">
            <a:avLst/>
          </a:prstGeom>
          <a:noFill/>
          <a:ln/>
        </p:spPr>
        <p:txBody>
          <a:bodyPr wrap="square" lIns="0" tIns="0" rIns="0" bIns="0" rtlCol="0" anchor="ctr"/>
          <a:lstStyle/>
          <a:p>
            <a:pPr indent="0" marL="0">
              <a:buNone/>
            </a:pPr>
            <a:r>
              <a:rPr lang="en-US" sz="1050" b="1" dirty="0">
                <a:solidFill>
                  <a:srgbClr val="0C3E86"/>
                </a:solidFill>
                <a:latin typeface="Arial" pitchFamily="34" charset="0"/>
                <a:ea typeface="Arial" pitchFamily="34" charset="-122"/>
                <a:cs typeface="Arial" pitchFamily="34" charset="-120"/>
              </a:rPr>
              <a:t>SmartSTP: IoT monitoring &amp; compliance</a:t>
            </a:r>
            <a:endParaRPr lang="en-US" sz="1050" dirty="0"/>
          </a:p>
        </p:txBody>
      </p:sp>
      <p:sp>
        <p:nvSpPr>
          <p:cNvPr id="33" name="Shape 23"/>
          <p:cNvSpPr/>
          <p:nvPr/>
        </p:nvSpPr>
        <p:spPr>
          <a:xfrm>
            <a:off x="9518904" y="2706624"/>
            <a:ext cx="2103120" cy="219456"/>
          </a:xfrm>
          <a:prstGeom prst="roundRect">
            <a:avLst>
              <a:gd name="adj" fmla="val 50000"/>
            </a:avLst>
          </a:prstGeom>
          <a:solidFill>
            <a:srgbClr val="FCF1DA"/>
          </a:solidFill>
          <a:ln/>
        </p:spPr>
      </p:sp>
      <p:sp>
        <p:nvSpPr>
          <p:cNvPr id="34" name="Text 24"/>
          <p:cNvSpPr txBox="1"/>
          <p:nvPr/>
        </p:nvSpPr>
        <p:spPr>
          <a:xfrm>
            <a:off x="9518904" y="2706624"/>
            <a:ext cx="2103120" cy="219456"/>
          </a:xfrm>
          <a:prstGeom prst="rect">
            <a:avLst/>
          </a:prstGeom>
          <a:noFill/>
          <a:ln/>
        </p:spPr>
        <p:txBody>
          <a:bodyPr wrap="square" lIns="0" tIns="0" rIns="0" bIns="0" rtlCol="0" anchor="ctr"/>
          <a:lstStyle/>
          <a:p>
            <a:pPr algn="ctr" indent="0" marL="0">
              <a:buNone/>
            </a:pPr>
            <a:r>
              <a:rPr lang="en-US" sz="680" b="1" dirty="0">
                <a:solidFill>
                  <a:srgbClr val="9A6A0F"/>
                </a:solidFill>
                <a:latin typeface="Arial" pitchFamily="34" charset="0"/>
                <a:ea typeface="Arial" pitchFamily="34" charset="-122"/>
                <a:cs typeface="Arial" pitchFamily="34" charset="-120"/>
              </a:rPr>
              <a:t>M6 · WHITE-LABEL + OWN DASHBOARD</a:t>
            </a:r>
            <a:endParaRPr lang="en-US" sz="680" dirty="0"/>
          </a:p>
        </p:txBody>
      </p:sp>
      <p:pic>
        <p:nvPicPr>
          <p:cNvPr id="35" name="Image 7" descr="preencoded.png">    </p:cNvPr>
          <p:cNvPicPr>
            <a:picLocks noChangeAspect="1"/>
          </p:cNvPicPr>
          <p:nvPr/>
        </p:nvPicPr>
        <p:blipFill>
          <a:blip r:embed="rId9"/>
          <a:stretch>
            <a:fillRect/>
          </a:stretch>
        </p:blipFill>
        <p:spPr>
          <a:xfrm>
            <a:off x="5358384" y="3017520"/>
            <a:ext cx="128016" cy="128016"/>
          </a:xfrm>
          <a:prstGeom prst="rect">
            <a:avLst/>
          </a:prstGeom>
        </p:spPr>
      </p:pic>
      <p:sp>
        <p:nvSpPr>
          <p:cNvPr id="36" name="Text 25"/>
          <p:cNvSpPr txBox="1"/>
          <p:nvPr/>
        </p:nvSpPr>
        <p:spPr>
          <a:xfrm>
            <a:off x="5541264" y="2990088"/>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WHY  </a:t>
            </a:r>
            <a:pPr indent="0" marL="0">
              <a:lnSpc>
                <a:spcPct val="95000"/>
              </a:lnSpc>
              <a:buNone/>
            </a:pPr>
            <a:r>
              <a:rPr lang="en-US" sz="700" dirty="0">
                <a:solidFill>
                  <a:srgbClr val="16202B"/>
                </a:solidFill>
                <a:latin typeface="Arial" pitchFamily="34" charset="0"/>
                <a:ea typeface="Arial" pitchFamily="34" charset="-122"/>
                <a:cs typeface="Arial" pitchFamily="34" charset="-120"/>
              </a:rPr>
              <a:t>Consent renewals demand data; differentiates every EPBL AMC</a:t>
            </a:r>
            <a:endParaRPr lang="en-US" sz="640" dirty="0"/>
          </a:p>
        </p:txBody>
      </p:sp>
      <p:pic>
        <p:nvPicPr>
          <p:cNvPr id="37" name="Image 8" descr="preencoded.png">    </p:cNvPr>
          <p:cNvPicPr>
            <a:picLocks noChangeAspect="1"/>
          </p:cNvPicPr>
          <p:nvPr/>
        </p:nvPicPr>
        <p:blipFill>
          <a:blip r:embed="rId10"/>
          <a:stretch>
            <a:fillRect/>
          </a:stretch>
        </p:blipFill>
        <p:spPr>
          <a:xfrm>
            <a:off x="8535924" y="3017520"/>
            <a:ext cx="128016" cy="128016"/>
          </a:xfrm>
          <a:prstGeom prst="rect">
            <a:avLst/>
          </a:prstGeom>
        </p:spPr>
      </p:pic>
      <p:sp>
        <p:nvSpPr>
          <p:cNvPr id="38" name="Text 26"/>
          <p:cNvSpPr txBox="1"/>
          <p:nvPr/>
        </p:nvSpPr>
        <p:spPr>
          <a:xfrm>
            <a:off x="8718804" y="2990088"/>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PRICE  </a:t>
            </a:r>
            <a:pPr indent="0" marL="0">
              <a:lnSpc>
                <a:spcPct val="95000"/>
              </a:lnSpc>
              <a:buNone/>
            </a:pPr>
            <a:r>
              <a:rPr lang="en-US" sz="700" dirty="0">
                <a:solidFill>
                  <a:srgbClr val="16202B"/>
                </a:solidFill>
                <a:latin typeface="Arial" pitchFamily="34" charset="0"/>
                <a:ea typeface="Arial" pitchFamily="34" charset="-122"/>
                <a:cs typeface="Arial" pitchFamily="34" charset="-120"/>
              </a:rPr>
              <a:t>₹10-15k install + ₹3-5k/month per site; ₹50-70 L invest</a:t>
            </a:r>
            <a:endParaRPr lang="en-US" sz="640" dirty="0"/>
          </a:p>
        </p:txBody>
      </p:sp>
      <p:pic>
        <p:nvPicPr>
          <p:cNvPr id="39" name="Image 9" descr="preencoded.png">    </p:cNvPr>
          <p:cNvPicPr>
            <a:picLocks noChangeAspect="1"/>
          </p:cNvPicPr>
          <p:nvPr/>
        </p:nvPicPr>
        <p:blipFill>
          <a:blip r:embed="rId11"/>
          <a:stretch>
            <a:fillRect/>
          </a:stretch>
        </p:blipFill>
        <p:spPr>
          <a:xfrm>
            <a:off x="5358384" y="3401568"/>
            <a:ext cx="128016" cy="128016"/>
          </a:xfrm>
          <a:prstGeom prst="rect">
            <a:avLst/>
          </a:prstGeom>
        </p:spPr>
      </p:pic>
      <p:sp>
        <p:nvSpPr>
          <p:cNvPr id="40" name="Text 27"/>
          <p:cNvSpPr txBox="1"/>
          <p:nvPr/>
        </p:nvSpPr>
        <p:spPr>
          <a:xfrm>
            <a:off x="5541264" y="3374136"/>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PILOT  </a:t>
            </a:r>
            <a:pPr indent="0" marL="0">
              <a:lnSpc>
                <a:spcPct val="95000"/>
              </a:lnSpc>
              <a:buNone/>
            </a:pPr>
            <a:r>
              <a:rPr lang="en-US" sz="700" dirty="0">
                <a:solidFill>
                  <a:srgbClr val="16202B"/>
                </a:solidFill>
                <a:latin typeface="Arial" pitchFamily="34" charset="0"/>
                <a:ea typeface="Arial" pitchFamily="34" charset="-122"/>
                <a:cs typeface="Arial" pitchFamily="34" charset="-120"/>
              </a:rPr>
              <a:t>20 AMC sites in Goa</a:t>
            </a:r>
            <a:endParaRPr lang="en-US" sz="640" dirty="0"/>
          </a:p>
        </p:txBody>
      </p:sp>
      <p:pic>
        <p:nvPicPr>
          <p:cNvPr id="41" name="Image 10" descr="preencoded.png">    </p:cNvPr>
          <p:cNvPicPr>
            <a:picLocks noChangeAspect="1"/>
          </p:cNvPicPr>
          <p:nvPr/>
        </p:nvPicPr>
        <p:blipFill>
          <a:blip r:embed="rId12"/>
          <a:stretch>
            <a:fillRect/>
          </a:stretch>
        </p:blipFill>
        <p:spPr>
          <a:xfrm>
            <a:off x="8535924" y="3401568"/>
            <a:ext cx="128016" cy="128016"/>
          </a:xfrm>
          <a:prstGeom prst="rect">
            <a:avLst/>
          </a:prstGeom>
        </p:spPr>
      </p:pic>
      <p:sp>
        <p:nvSpPr>
          <p:cNvPr id="42" name="Text 28"/>
          <p:cNvSpPr txBox="1"/>
          <p:nvPr/>
        </p:nvSpPr>
        <p:spPr>
          <a:xfrm>
            <a:off x="8718804" y="3374136"/>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METRIC  </a:t>
            </a:r>
            <a:pPr indent="0" marL="0">
              <a:lnSpc>
                <a:spcPct val="95000"/>
              </a:lnSpc>
              <a:buNone/>
            </a:pPr>
            <a:r>
              <a:rPr lang="en-US" sz="700" dirty="0">
                <a:solidFill>
                  <a:srgbClr val="16202B"/>
                </a:solidFill>
                <a:latin typeface="Arial" pitchFamily="34" charset="0"/>
                <a:ea typeface="Arial" pitchFamily="34" charset="-122"/>
                <a:cs typeface="Arial" pitchFamily="34" charset="-120"/>
              </a:rPr>
              <a:t>150 connected sites by FY29, churn &lt;10%</a:t>
            </a:r>
            <a:endParaRPr lang="en-US" sz="640" dirty="0"/>
          </a:p>
        </p:txBody>
      </p:sp>
      <p:sp>
        <p:nvSpPr>
          <p:cNvPr id="43" name="Shape 29"/>
          <p:cNvSpPr/>
          <p:nvPr/>
        </p:nvSpPr>
        <p:spPr>
          <a:xfrm>
            <a:off x="5230368" y="3895344"/>
            <a:ext cx="6501384" cy="1170432"/>
          </a:xfrm>
          <a:prstGeom prst="roundRect">
            <a:avLst>
              <a:gd name="adj" fmla="val 6250"/>
            </a:avLst>
          </a:prstGeom>
          <a:solidFill>
            <a:srgbClr val="FFFFFF"/>
          </a:solidFill>
          <a:ln w="12700">
            <a:solidFill>
              <a:srgbClr val="DCE5EE"/>
            </a:solidFill>
            <a:prstDash val="solid"/>
          </a:ln>
          <a:effectLst>
            <a:outerShdw sx="100000" sy="100000" kx="0" ky="0" algn="bl" rotWithShape="0" blurRad="88900" dist="25400" dir="5400000">
              <a:srgbClr val="A8B4C2">
                <a:alpha val="38000"/>
              </a:srgbClr>
            </a:outerShdw>
          </a:effectLst>
        </p:spPr>
      </p:sp>
      <p:sp>
        <p:nvSpPr>
          <p:cNvPr id="44" name="Shape 30"/>
          <p:cNvSpPr/>
          <p:nvPr/>
        </p:nvSpPr>
        <p:spPr>
          <a:xfrm>
            <a:off x="5349240" y="4005072"/>
            <a:ext cx="347472" cy="347472"/>
          </a:xfrm>
          <a:prstGeom prst="roundRect">
            <a:avLst>
              <a:gd name="adj" fmla="val 24000"/>
            </a:avLst>
          </a:prstGeom>
          <a:solidFill>
            <a:srgbClr val="E8F1FC"/>
          </a:solidFill>
          <a:ln/>
        </p:spPr>
      </p:sp>
      <p:pic>
        <p:nvPicPr>
          <p:cNvPr id="45" name="Image 11" descr="preencoded.png">    </p:cNvPr>
          <p:cNvPicPr>
            <a:picLocks noChangeAspect="1"/>
          </p:cNvPicPr>
          <p:nvPr/>
        </p:nvPicPr>
        <p:blipFill>
          <a:blip r:embed="rId13"/>
          <a:stretch>
            <a:fillRect/>
          </a:stretch>
        </p:blipFill>
        <p:spPr>
          <a:xfrm>
            <a:off x="5422209" y="4078041"/>
            <a:ext cx="201534" cy="201534"/>
          </a:xfrm>
          <a:prstGeom prst="rect">
            <a:avLst/>
          </a:prstGeom>
        </p:spPr>
      </p:pic>
      <p:sp>
        <p:nvSpPr>
          <p:cNvPr id="46" name="Text 31"/>
          <p:cNvSpPr txBox="1"/>
          <p:nvPr/>
        </p:nvSpPr>
        <p:spPr>
          <a:xfrm>
            <a:off x="5797296" y="3986784"/>
            <a:ext cx="4023360" cy="219456"/>
          </a:xfrm>
          <a:prstGeom prst="rect">
            <a:avLst/>
          </a:prstGeom>
          <a:noFill/>
          <a:ln/>
        </p:spPr>
        <p:txBody>
          <a:bodyPr wrap="square" lIns="0" tIns="0" rIns="0" bIns="0" rtlCol="0" anchor="ctr"/>
          <a:lstStyle/>
          <a:p>
            <a:pPr indent="0" marL="0">
              <a:buNone/>
            </a:pPr>
            <a:r>
              <a:rPr lang="en-US" sz="1050" b="1" dirty="0">
                <a:solidFill>
                  <a:srgbClr val="0C3E86"/>
                </a:solidFill>
                <a:latin typeface="Arial" pitchFamily="34" charset="0"/>
                <a:ea typeface="Arial" pitchFamily="34" charset="-122"/>
                <a:cs typeface="Arial" pitchFamily="34" charset="-120"/>
              </a:rPr>
              <a:t>AquaLoop: treated-water reuse module</a:t>
            </a:r>
            <a:endParaRPr lang="en-US" sz="1050" dirty="0"/>
          </a:p>
        </p:txBody>
      </p:sp>
      <p:sp>
        <p:nvSpPr>
          <p:cNvPr id="47" name="Shape 32"/>
          <p:cNvSpPr/>
          <p:nvPr/>
        </p:nvSpPr>
        <p:spPr>
          <a:xfrm>
            <a:off x="9518904" y="3995928"/>
            <a:ext cx="2103120" cy="219456"/>
          </a:xfrm>
          <a:prstGeom prst="roundRect">
            <a:avLst>
              <a:gd name="adj" fmla="val 50000"/>
            </a:avLst>
          </a:prstGeom>
          <a:solidFill>
            <a:srgbClr val="FCF1DA"/>
          </a:solidFill>
          <a:ln/>
        </p:spPr>
      </p:sp>
      <p:sp>
        <p:nvSpPr>
          <p:cNvPr id="48" name="Text 33"/>
          <p:cNvSpPr txBox="1"/>
          <p:nvPr/>
        </p:nvSpPr>
        <p:spPr>
          <a:xfrm>
            <a:off x="9518904" y="3995928"/>
            <a:ext cx="2103120" cy="219456"/>
          </a:xfrm>
          <a:prstGeom prst="rect">
            <a:avLst/>
          </a:prstGeom>
          <a:noFill/>
          <a:ln/>
        </p:spPr>
        <p:txBody>
          <a:bodyPr wrap="square" lIns="0" tIns="0" rIns="0" bIns="0" rtlCol="0" anchor="ctr"/>
          <a:lstStyle/>
          <a:p>
            <a:pPr algn="ctr" indent="0" marL="0">
              <a:buNone/>
            </a:pPr>
            <a:r>
              <a:rPr lang="en-US" sz="680" b="1" dirty="0">
                <a:solidFill>
                  <a:srgbClr val="9A6A0F"/>
                </a:solidFill>
                <a:latin typeface="Arial" pitchFamily="34" charset="0"/>
                <a:ea typeface="Arial" pitchFamily="34" charset="-122"/>
                <a:cs typeface="Arial" pitchFamily="34" charset="-120"/>
              </a:rPr>
              <a:t>M9-12 · DEVELOP WITH IISc</a:t>
            </a:r>
            <a:endParaRPr lang="en-US" sz="680" dirty="0"/>
          </a:p>
        </p:txBody>
      </p:sp>
      <p:pic>
        <p:nvPicPr>
          <p:cNvPr id="49" name="Image 12" descr="preencoded.png">    </p:cNvPr>
          <p:cNvPicPr>
            <a:picLocks noChangeAspect="1"/>
          </p:cNvPicPr>
          <p:nvPr/>
        </p:nvPicPr>
        <p:blipFill>
          <a:blip r:embed="rId14"/>
          <a:stretch>
            <a:fillRect/>
          </a:stretch>
        </p:blipFill>
        <p:spPr>
          <a:xfrm>
            <a:off x="5358384" y="4306824"/>
            <a:ext cx="128016" cy="128016"/>
          </a:xfrm>
          <a:prstGeom prst="rect">
            <a:avLst/>
          </a:prstGeom>
        </p:spPr>
      </p:pic>
      <p:sp>
        <p:nvSpPr>
          <p:cNvPr id="50" name="Text 34"/>
          <p:cNvSpPr txBox="1"/>
          <p:nvPr/>
        </p:nvSpPr>
        <p:spPr>
          <a:xfrm>
            <a:off x="5541264" y="4279392"/>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WHY  </a:t>
            </a:r>
            <a:pPr indent="0" marL="0">
              <a:lnSpc>
                <a:spcPct val="95000"/>
              </a:lnSpc>
              <a:buNone/>
            </a:pPr>
            <a:r>
              <a:rPr lang="en-US" sz="700" dirty="0">
                <a:solidFill>
                  <a:srgbClr val="16202B"/>
                </a:solidFill>
                <a:latin typeface="Arial" pitchFamily="34" charset="0"/>
                <a:ea typeface="Arial" pitchFamily="34" charset="-122"/>
                <a:cs typeface="Arial" pitchFamily="34" charset="-120"/>
              </a:rPr>
              <a:t>Hotels pay tanker rates for water CGWA tells them to recycle; builds on oxy-STP + IISc MoU</a:t>
            </a:r>
            <a:endParaRPr lang="en-US" sz="640" dirty="0"/>
          </a:p>
        </p:txBody>
      </p:sp>
      <p:pic>
        <p:nvPicPr>
          <p:cNvPr id="51" name="Image 13" descr="preencoded.png">    </p:cNvPr>
          <p:cNvPicPr>
            <a:picLocks noChangeAspect="1"/>
          </p:cNvPicPr>
          <p:nvPr/>
        </p:nvPicPr>
        <p:blipFill>
          <a:blip r:embed="rId15"/>
          <a:stretch>
            <a:fillRect/>
          </a:stretch>
        </p:blipFill>
        <p:spPr>
          <a:xfrm>
            <a:off x="8535924" y="4306824"/>
            <a:ext cx="128016" cy="128016"/>
          </a:xfrm>
          <a:prstGeom prst="rect">
            <a:avLst/>
          </a:prstGeom>
        </p:spPr>
      </p:pic>
      <p:sp>
        <p:nvSpPr>
          <p:cNvPr id="52" name="Text 35"/>
          <p:cNvSpPr txBox="1"/>
          <p:nvPr/>
        </p:nvSpPr>
        <p:spPr>
          <a:xfrm>
            <a:off x="8718804" y="4279392"/>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PRICE  </a:t>
            </a:r>
            <a:pPr indent="0" marL="0">
              <a:lnSpc>
                <a:spcPct val="95000"/>
              </a:lnSpc>
              <a:buNone/>
            </a:pPr>
            <a:r>
              <a:rPr lang="en-US" sz="700" dirty="0">
                <a:solidFill>
                  <a:srgbClr val="16202B"/>
                </a:solidFill>
                <a:latin typeface="Arial" pitchFamily="34" charset="0"/>
                <a:ea typeface="Arial" pitchFamily="34" charset="-122"/>
                <a:cs typeface="Arial" pitchFamily="34" charset="-120"/>
              </a:rPr>
              <a:t>₹6-18 L add-on skid (UF + carbon + UV/O3); ₹1-1.5 cr dev</a:t>
            </a:r>
            <a:endParaRPr lang="en-US" sz="640" dirty="0"/>
          </a:p>
        </p:txBody>
      </p:sp>
      <p:pic>
        <p:nvPicPr>
          <p:cNvPr id="53" name="Image 14" descr="preencoded.png">    </p:cNvPr>
          <p:cNvPicPr>
            <a:picLocks noChangeAspect="1"/>
          </p:cNvPicPr>
          <p:nvPr/>
        </p:nvPicPr>
        <p:blipFill>
          <a:blip r:embed="rId16"/>
          <a:stretch>
            <a:fillRect/>
          </a:stretch>
        </p:blipFill>
        <p:spPr>
          <a:xfrm>
            <a:off x="5358384" y="4690872"/>
            <a:ext cx="128016" cy="128016"/>
          </a:xfrm>
          <a:prstGeom prst="rect">
            <a:avLst/>
          </a:prstGeom>
        </p:spPr>
      </p:pic>
      <p:sp>
        <p:nvSpPr>
          <p:cNvPr id="54" name="Text 36"/>
          <p:cNvSpPr txBox="1"/>
          <p:nvPr/>
        </p:nvSpPr>
        <p:spPr>
          <a:xfrm>
            <a:off x="5541264" y="4663440"/>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PILOT  </a:t>
            </a:r>
            <a:pPr indent="0" marL="0">
              <a:lnSpc>
                <a:spcPct val="95000"/>
              </a:lnSpc>
              <a:buNone/>
            </a:pPr>
            <a:r>
              <a:rPr lang="en-US" sz="700" dirty="0">
                <a:solidFill>
                  <a:srgbClr val="16202B"/>
                </a:solidFill>
                <a:latin typeface="Arial" pitchFamily="34" charset="0"/>
                <a:ea typeface="Arial" pitchFamily="34" charset="-122"/>
                <a:cs typeface="Arial" pitchFamily="34" charset="-120"/>
              </a:rPr>
              <a:t>2 Goa resorts + 1 Kolhapur society</a:t>
            </a:r>
            <a:endParaRPr lang="en-US" sz="640" dirty="0"/>
          </a:p>
        </p:txBody>
      </p:sp>
      <p:pic>
        <p:nvPicPr>
          <p:cNvPr id="55" name="Image 15" descr="preencoded.png">    </p:cNvPr>
          <p:cNvPicPr>
            <a:picLocks noChangeAspect="1"/>
          </p:cNvPicPr>
          <p:nvPr/>
        </p:nvPicPr>
        <p:blipFill>
          <a:blip r:embed="rId17"/>
          <a:stretch>
            <a:fillRect/>
          </a:stretch>
        </p:blipFill>
        <p:spPr>
          <a:xfrm>
            <a:off x="8535924" y="4690872"/>
            <a:ext cx="128016" cy="128016"/>
          </a:xfrm>
          <a:prstGeom prst="rect">
            <a:avLst/>
          </a:prstGeom>
        </p:spPr>
      </p:pic>
      <p:sp>
        <p:nvSpPr>
          <p:cNvPr id="56" name="Text 37"/>
          <p:cNvSpPr txBox="1"/>
          <p:nvPr/>
        </p:nvSpPr>
        <p:spPr>
          <a:xfrm>
            <a:off x="8718804" y="4663440"/>
            <a:ext cx="2866644" cy="384048"/>
          </a:xfrm>
          <a:prstGeom prst="rect">
            <a:avLst/>
          </a:prstGeom>
          <a:noFill/>
          <a:ln/>
        </p:spPr>
        <p:txBody>
          <a:bodyPr wrap="square" lIns="0" tIns="0" rIns="0" bIns="0" rtlCol="0" anchor="ctr"/>
          <a:lstStyle/>
          <a:p>
            <a:pPr indent="0" marL="0">
              <a:lnSpc>
                <a:spcPct val="95000"/>
              </a:lnSpc>
              <a:buNone/>
            </a:pPr>
            <a:r>
              <a:rPr lang="en-US" sz="640" b="1" dirty="0">
                <a:solidFill>
                  <a:srgbClr val="1568DC"/>
                </a:solidFill>
                <a:latin typeface="Arial" pitchFamily="34" charset="0"/>
                <a:ea typeface="Arial" pitchFamily="34" charset="-122"/>
                <a:cs typeface="Arial" pitchFamily="34" charset="-120"/>
              </a:rPr>
              <a:t>METRIC  </a:t>
            </a:r>
            <a:pPr indent="0" marL="0">
              <a:lnSpc>
                <a:spcPct val="95000"/>
              </a:lnSpc>
              <a:buNone/>
            </a:pPr>
            <a:r>
              <a:rPr lang="en-US" sz="700" dirty="0">
                <a:solidFill>
                  <a:srgbClr val="16202B"/>
                </a:solidFill>
                <a:latin typeface="Arial" pitchFamily="34" charset="0"/>
                <a:ea typeface="Arial" pitchFamily="34" charset="-122"/>
                <a:cs typeface="Arial" pitchFamily="34" charset="-120"/>
              </a:rPr>
              <a:t>Attached to 25% of new STP orders by FY29</a:t>
            </a:r>
            <a:endParaRPr lang="en-US" sz="640" dirty="0"/>
          </a:p>
        </p:txBody>
      </p:sp>
      <p:sp>
        <p:nvSpPr>
          <p:cNvPr id="57" name="Shape 38"/>
          <p:cNvSpPr/>
          <p:nvPr/>
        </p:nvSpPr>
        <p:spPr>
          <a:xfrm>
            <a:off x="5230368" y="5202936"/>
            <a:ext cx="274320" cy="274320"/>
          </a:xfrm>
          <a:prstGeom prst="roundRect">
            <a:avLst>
              <a:gd name="adj" fmla="val 24000"/>
            </a:avLst>
          </a:prstGeom>
          <a:solidFill>
            <a:srgbClr val="E8F1FC"/>
          </a:solidFill>
          <a:ln/>
        </p:spPr>
      </p:sp>
      <p:pic>
        <p:nvPicPr>
          <p:cNvPr id="58" name="Image 16" descr="preencoded.png">    </p:cNvPr>
          <p:cNvPicPr>
            <a:picLocks noChangeAspect="1"/>
          </p:cNvPicPr>
          <p:nvPr/>
        </p:nvPicPr>
        <p:blipFill>
          <a:blip r:embed="rId18"/>
          <a:stretch>
            <a:fillRect/>
          </a:stretch>
        </p:blipFill>
        <p:spPr>
          <a:xfrm>
            <a:off x="5287975" y="5260543"/>
            <a:ext cx="159106" cy="159106"/>
          </a:xfrm>
          <a:prstGeom prst="rect">
            <a:avLst/>
          </a:prstGeom>
        </p:spPr>
      </p:pic>
      <p:sp>
        <p:nvSpPr>
          <p:cNvPr id="59" name="Text 39"/>
          <p:cNvSpPr txBox="1"/>
          <p:nvPr/>
        </p:nvSpPr>
        <p:spPr>
          <a:xfrm>
            <a:off x="5614416" y="5180076"/>
            <a:ext cx="2743200" cy="329184"/>
          </a:xfrm>
          <a:prstGeom prst="rect">
            <a:avLst/>
          </a:prstGeom>
          <a:noFill/>
          <a:ln/>
        </p:spPr>
        <p:txBody>
          <a:bodyPr wrap="square" lIns="0" tIns="0" rIns="0" bIns="0" rtlCol="0" anchor="ctr"/>
          <a:lstStyle/>
          <a:p>
            <a:pPr indent="0" marL="0">
              <a:buNone/>
            </a:pPr>
            <a:r>
              <a:rPr lang="en-US" sz="1150" b="1" dirty="0">
                <a:solidFill>
                  <a:srgbClr val="0C3E86"/>
                </a:solidFill>
                <a:latin typeface="Arial" pitchFamily="34" charset="0"/>
                <a:ea typeface="Arial" pitchFamily="34" charset="-122"/>
                <a:cs typeface="Arial" pitchFamily="34" charset="-120"/>
              </a:rPr>
              <a:t>Sequencing</a:t>
            </a:r>
            <a:endParaRPr lang="en-US" sz="1150" dirty="0"/>
          </a:p>
        </p:txBody>
      </p:sp>
      <p:sp>
        <p:nvSpPr>
          <p:cNvPr id="60" name="Shape 40"/>
          <p:cNvSpPr/>
          <p:nvPr/>
        </p:nvSpPr>
        <p:spPr>
          <a:xfrm>
            <a:off x="5230368" y="5513832"/>
            <a:ext cx="1481328" cy="384048"/>
          </a:xfrm>
          <a:prstGeom prst="roundRect">
            <a:avLst>
              <a:gd name="adj" fmla="val 21429"/>
            </a:avLst>
          </a:prstGeom>
          <a:solidFill>
            <a:srgbClr val="E8F1FC"/>
          </a:solidFill>
          <a:ln w="9525">
            <a:solidFill>
              <a:srgbClr val="9FC2EE"/>
            </a:solidFill>
            <a:prstDash val="solid"/>
          </a:ln>
        </p:spPr>
      </p:sp>
      <p:pic>
        <p:nvPicPr>
          <p:cNvPr id="61" name="Image 17" descr="preencoded.png">    </p:cNvPr>
          <p:cNvPicPr>
            <a:picLocks noChangeAspect="1"/>
          </p:cNvPicPr>
          <p:nvPr/>
        </p:nvPicPr>
        <p:blipFill>
          <a:blip r:embed="rId19"/>
          <a:stretch>
            <a:fillRect/>
          </a:stretch>
        </p:blipFill>
        <p:spPr>
          <a:xfrm>
            <a:off x="5312664" y="5618988"/>
            <a:ext cx="164592" cy="164592"/>
          </a:xfrm>
          <a:prstGeom prst="rect">
            <a:avLst/>
          </a:prstGeom>
        </p:spPr>
      </p:pic>
      <p:sp>
        <p:nvSpPr>
          <p:cNvPr id="62" name="Text 41"/>
          <p:cNvSpPr txBox="1"/>
          <p:nvPr/>
        </p:nvSpPr>
        <p:spPr>
          <a:xfrm>
            <a:off x="5522976" y="5513832"/>
            <a:ext cx="1170432" cy="384048"/>
          </a:xfrm>
          <a:prstGeom prst="rect">
            <a:avLst/>
          </a:prstGeom>
          <a:noFill/>
          <a:ln/>
        </p:spPr>
        <p:txBody>
          <a:bodyPr wrap="square" lIns="0" tIns="0" rIns="0" bIns="0" rtlCol="0" anchor="ctr"/>
          <a:lstStyle/>
          <a:p>
            <a:pPr indent="0" marL="0">
              <a:buNone/>
            </a:pPr>
            <a:r>
              <a:rPr lang="en-US" sz="720" b="1" dirty="0">
                <a:solidFill>
                  <a:srgbClr val="1568DC"/>
                </a:solidFill>
                <a:latin typeface="Arial" pitchFamily="34" charset="0"/>
                <a:ea typeface="Arial" pitchFamily="34" charset="-122"/>
                <a:cs typeface="Arial" pitchFamily="34" charset="-120"/>
              </a:rPr>
              <a:t>M0-3  </a:t>
            </a:r>
            <a:pPr indent="0" marL="0">
              <a:buNone/>
            </a:pPr>
            <a:r>
              <a:rPr lang="en-US" sz="780" b="1" dirty="0">
                <a:solidFill>
                  <a:srgbClr val="16202B"/>
                </a:solidFill>
                <a:latin typeface="Arial" pitchFamily="34" charset="0"/>
                <a:ea typeface="Arial" pitchFamily="34" charset="-122"/>
                <a:cs typeface="Arial" pitchFamily="34" charset="-120"/>
              </a:rPr>
              <a:t>STP Rescue</a:t>
            </a:r>
            <a:endParaRPr lang="en-US" sz="720" dirty="0"/>
          </a:p>
        </p:txBody>
      </p:sp>
      <p:sp>
        <p:nvSpPr>
          <p:cNvPr id="63" name="Text 42"/>
          <p:cNvSpPr txBox="1"/>
          <p:nvPr/>
        </p:nvSpPr>
        <p:spPr>
          <a:xfrm>
            <a:off x="6693408" y="5513832"/>
            <a:ext cx="237744" cy="384048"/>
          </a:xfrm>
          <a:prstGeom prst="rect">
            <a:avLst/>
          </a:prstGeom>
          <a:noFill/>
          <a:ln/>
        </p:spPr>
        <p:txBody>
          <a:bodyPr wrap="square" lIns="0" tIns="0" rIns="0" bIns="0" rtlCol="0" anchor="ctr"/>
          <a:lstStyle/>
          <a:p>
            <a:pPr algn="ctr" indent="0" marL="0">
              <a:buNone/>
            </a:pPr>
            <a:r>
              <a:rPr lang="en-US" sz="1200" b="1" dirty="0">
                <a:solidFill>
                  <a:srgbClr val="ED9B12"/>
                </a:solidFill>
                <a:latin typeface="Arial" pitchFamily="34" charset="0"/>
                <a:ea typeface="Arial" pitchFamily="34" charset="-122"/>
                <a:cs typeface="Arial" pitchFamily="34" charset="-120"/>
              </a:rPr>
              <a:t>→</a:t>
            </a:r>
            <a:endParaRPr lang="en-US" sz="1200" dirty="0"/>
          </a:p>
        </p:txBody>
      </p:sp>
      <p:sp>
        <p:nvSpPr>
          <p:cNvPr id="64" name="Shape 43"/>
          <p:cNvSpPr/>
          <p:nvPr/>
        </p:nvSpPr>
        <p:spPr>
          <a:xfrm>
            <a:off x="6894576" y="5513832"/>
            <a:ext cx="1481328" cy="384048"/>
          </a:xfrm>
          <a:prstGeom prst="roundRect">
            <a:avLst>
              <a:gd name="adj" fmla="val 21429"/>
            </a:avLst>
          </a:prstGeom>
          <a:solidFill>
            <a:srgbClr val="E8F1FC"/>
          </a:solidFill>
          <a:ln w="9525">
            <a:solidFill>
              <a:srgbClr val="9FC2EE"/>
            </a:solidFill>
            <a:prstDash val="solid"/>
          </a:ln>
        </p:spPr>
      </p:sp>
      <p:pic>
        <p:nvPicPr>
          <p:cNvPr id="65" name="Image 18" descr="preencoded.png">    </p:cNvPr>
          <p:cNvPicPr>
            <a:picLocks noChangeAspect="1"/>
          </p:cNvPicPr>
          <p:nvPr/>
        </p:nvPicPr>
        <p:blipFill>
          <a:blip r:embed="rId20"/>
          <a:stretch>
            <a:fillRect/>
          </a:stretch>
        </p:blipFill>
        <p:spPr>
          <a:xfrm>
            <a:off x="6976872" y="5618988"/>
            <a:ext cx="164592" cy="164592"/>
          </a:xfrm>
          <a:prstGeom prst="rect">
            <a:avLst/>
          </a:prstGeom>
        </p:spPr>
      </p:pic>
      <p:sp>
        <p:nvSpPr>
          <p:cNvPr id="66" name="Text 44"/>
          <p:cNvSpPr txBox="1"/>
          <p:nvPr/>
        </p:nvSpPr>
        <p:spPr>
          <a:xfrm>
            <a:off x="7187184" y="5513832"/>
            <a:ext cx="1170432" cy="384048"/>
          </a:xfrm>
          <a:prstGeom prst="rect">
            <a:avLst/>
          </a:prstGeom>
          <a:noFill/>
          <a:ln/>
        </p:spPr>
        <p:txBody>
          <a:bodyPr wrap="square" lIns="0" tIns="0" rIns="0" bIns="0" rtlCol="0" anchor="ctr"/>
          <a:lstStyle/>
          <a:p>
            <a:pPr indent="0" marL="0">
              <a:buNone/>
            </a:pPr>
            <a:r>
              <a:rPr lang="en-US" sz="720" b="1" dirty="0">
                <a:solidFill>
                  <a:srgbClr val="1568DC"/>
                </a:solidFill>
                <a:latin typeface="Arial" pitchFamily="34" charset="0"/>
                <a:ea typeface="Arial" pitchFamily="34" charset="-122"/>
                <a:cs typeface="Arial" pitchFamily="34" charset="-120"/>
              </a:rPr>
              <a:t>M6  </a:t>
            </a:r>
            <a:pPr indent="0" marL="0">
              <a:buNone/>
            </a:pPr>
            <a:r>
              <a:rPr lang="en-US" sz="780" b="1" dirty="0">
                <a:solidFill>
                  <a:srgbClr val="16202B"/>
                </a:solidFill>
                <a:latin typeface="Arial" pitchFamily="34" charset="0"/>
                <a:ea typeface="Arial" pitchFamily="34" charset="-122"/>
                <a:cs typeface="Arial" pitchFamily="34" charset="-120"/>
              </a:rPr>
              <a:t>SmartSTP</a:t>
            </a:r>
            <a:endParaRPr lang="en-US" sz="720" dirty="0"/>
          </a:p>
        </p:txBody>
      </p:sp>
      <p:sp>
        <p:nvSpPr>
          <p:cNvPr id="67" name="Text 45"/>
          <p:cNvSpPr txBox="1"/>
          <p:nvPr/>
        </p:nvSpPr>
        <p:spPr>
          <a:xfrm>
            <a:off x="8357616" y="5513832"/>
            <a:ext cx="237744" cy="384048"/>
          </a:xfrm>
          <a:prstGeom prst="rect">
            <a:avLst/>
          </a:prstGeom>
          <a:noFill/>
          <a:ln/>
        </p:spPr>
        <p:txBody>
          <a:bodyPr wrap="square" lIns="0" tIns="0" rIns="0" bIns="0" rtlCol="0" anchor="ctr"/>
          <a:lstStyle/>
          <a:p>
            <a:pPr algn="ctr" indent="0" marL="0">
              <a:buNone/>
            </a:pPr>
            <a:r>
              <a:rPr lang="en-US" sz="1200" b="1" dirty="0">
                <a:solidFill>
                  <a:srgbClr val="ED9B12"/>
                </a:solidFill>
                <a:latin typeface="Arial" pitchFamily="34" charset="0"/>
                <a:ea typeface="Arial" pitchFamily="34" charset="-122"/>
                <a:cs typeface="Arial" pitchFamily="34" charset="-120"/>
              </a:rPr>
              <a:t>→</a:t>
            </a:r>
            <a:endParaRPr lang="en-US" sz="1200" dirty="0"/>
          </a:p>
        </p:txBody>
      </p:sp>
      <p:sp>
        <p:nvSpPr>
          <p:cNvPr id="68" name="Shape 46"/>
          <p:cNvSpPr/>
          <p:nvPr/>
        </p:nvSpPr>
        <p:spPr>
          <a:xfrm>
            <a:off x="8558784" y="5513832"/>
            <a:ext cx="1481328" cy="384048"/>
          </a:xfrm>
          <a:prstGeom prst="roundRect">
            <a:avLst>
              <a:gd name="adj" fmla="val 21429"/>
            </a:avLst>
          </a:prstGeom>
          <a:solidFill>
            <a:srgbClr val="E8F1FC"/>
          </a:solidFill>
          <a:ln w="9525">
            <a:solidFill>
              <a:srgbClr val="9FC2EE"/>
            </a:solidFill>
            <a:prstDash val="solid"/>
          </a:ln>
        </p:spPr>
      </p:sp>
      <p:pic>
        <p:nvPicPr>
          <p:cNvPr id="69" name="Image 19" descr="preencoded.png">    </p:cNvPr>
          <p:cNvPicPr>
            <a:picLocks noChangeAspect="1"/>
          </p:cNvPicPr>
          <p:nvPr/>
        </p:nvPicPr>
        <p:blipFill>
          <a:blip r:embed="rId21"/>
          <a:stretch>
            <a:fillRect/>
          </a:stretch>
        </p:blipFill>
        <p:spPr>
          <a:xfrm>
            <a:off x="8641080" y="5618988"/>
            <a:ext cx="164592" cy="164592"/>
          </a:xfrm>
          <a:prstGeom prst="rect">
            <a:avLst/>
          </a:prstGeom>
        </p:spPr>
      </p:pic>
      <p:sp>
        <p:nvSpPr>
          <p:cNvPr id="70" name="Text 47"/>
          <p:cNvSpPr txBox="1"/>
          <p:nvPr/>
        </p:nvSpPr>
        <p:spPr>
          <a:xfrm>
            <a:off x="8851392" y="5513832"/>
            <a:ext cx="1170432" cy="384048"/>
          </a:xfrm>
          <a:prstGeom prst="rect">
            <a:avLst/>
          </a:prstGeom>
          <a:noFill/>
          <a:ln/>
        </p:spPr>
        <p:txBody>
          <a:bodyPr wrap="square" lIns="0" tIns="0" rIns="0" bIns="0" rtlCol="0" anchor="ctr"/>
          <a:lstStyle/>
          <a:p>
            <a:pPr indent="0" marL="0">
              <a:buNone/>
            </a:pPr>
            <a:r>
              <a:rPr lang="en-US" sz="720" b="1" dirty="0">
                <a:solidFill>
                  <a:srgbClr val="1568DC"/>
                </a:solidFill>
                <a:latin typeface="Arial" pitchFamily="34" charset="0"/>
                <a:ea typeface="Arial" pitchFamily="34" charset="-122"/>
                <a:cs typeface="Arial" pitchFamily="34" charset="-120"/>
              </a:rPr>
              <a:t>M9-12  </a:t>
            </a:r>
            <a:pPr indent="0" marL="0">
              <a:buNone/>
            </a:pPr>
            <a:r>
              <a:rPr lang="en-US" sz="780" b="1" dirty="0">
                <a:solidFill>
                  <a:srgbClr val="16202B"/>
                </a:solidFill>
                <a:latin typeface="Arial" pitchFamily="34" charset="0"/>
                <a:ea typeface="Arial" pitchFamily="34" charset="-122"/>
                <a:cs typeface="Arial" pitchFamily="34" charset="-120"/>
              </a:rPr>
              <a:t>AquaLoop</a:t>
            </a:r>
            <a:endParaRPr lang="en-US" sz="720" dirty="0"/>
          </a:p>
        </p:txBody>
      </p:sp>
      <p:sp>
        <p:nvSpPr>
          <p:cNvPr id="71" name="Text 48"/>
          <p:cNvSpPr txBox="1"/>
          <p:nvPr/>
        </p:nvSpPr>
        <p:spPr>
          <a:xfrm>
            <a:off x="10021824" y="5513832"/>
            <a:ext cx="237744" cy="384048"/>
          </a:xfrm>
          <a:prstGeom prst="rect">
            <a:avLst/>
          </a:prstGeom>
          <a:noFill/>
          <a:ln/>
        </p:spPr>
        <p:txBody>
          <a:bodyPr wrap="square" lIns="0" tIns="0" rIns="0" bIns="0" rtlCol="0" anchor="ctr"/>
          <a:lstStyle/>
          <a:p>
            <a:pPr algn="ctr" indent="0" marL="0">
              <a:buNone/>
            </a:pPr>
            <a:r>
              <a:rPr lang="en-US" sz="1200" b="1" dirty="0">
                <a:solidFill>
                  <a:srgbClr val="ED9B12"/>
                </a:solidFill>
                <a:latin typeface="Arial" pitchFamily="34" charset="0"/>
                <a:ea typeface="Arial" pitchFamily="34" charset="-122"/>
                <a:cs typeface="Arial" pitchFamily="34" charset="-120"/>
              </a:rPr>
              <a:t>→</a:t>
            </a:r>
            <a:endParaRPr lang="en-US" sz="1200" dirty="0"/>
          </a:p>
        </p:txBody>
      </p:sp>
      <p:sp>
        <p:nvSpPr>
          <p:cNvPr id="72" name="Shape 49"/>
          <p:cNvSpPr/>
          <p:nvPr/>
        </p:nvSpPr>
        <p:spPr>
          <a:xfrm>
            <a:off x="10222992" y="5513832"/>
            <a:ext cx="1481328" cy="384048"/>
          </a:xfrm>
          <a:prstGeom prst="roundRect">
            <a:avLst>
              <a:gd name="adj" fmla="val 21429"/>
            </a:avLst>
          </a:prstGeom>
          <a:solidFill>
            <a:srgbClr val="F5F9FE"/>
          </a:solidFill>
          <a:ln w="9525">
            <a:solidFill>
              <a:srgbClr val="9FC2EE"/>
            </a:solidFill>
            <a:prstDash val="solid"/>
          </a:ln>
        </p:spPr>
      </p:sp>
      <p:pic>
        <p:nvPicPr>
          <p:cNvPr id="73" name="Image 20" descr="preencoded.png">    </p:cNvPr>
          <p:cNvPicPr>
            <a:picLocks noChangeAspect="1"/>
          </p:cNvPicPr>
          <p:nvPr/>
        </p:nvPicPr>
        <p:blipFill>
          <a:blip r:embed="rId22"/>
          <a:stretch>
            <a:fillRect/>
          </a:stretch>
        </p:blipFill>
        <p:spPr>
          <a:xfrm>
            <a:off x="10305288" y="5618988"/>
            <a:ext cx="164592" cy="164592"/>
          </a:xfrm>
          <a:prstGeom prst="rect">
            <a:avLst/>
          </a:prstGeom>
        </p:spPr>
      </p:pic>
      <p:sp>
        <p:nvSpPr>
          <p:cNvPr id="74" name="Text 50"/>
          <p:cNvSpPr txBox="1"/>
          <p:nvPr/>
        </p:nvSpPr>
        <p:spPr>
          <a:xfrm>
            <a:off x="10515600" y="5513832"/>
            <a:ext cx="1170432" cy="384048"/>
          </a:xfrm>
          <a:prstGeom prst="rect">
            <a:avLst/>
          </a:prstGeom>
          <a:noFill/>
          <a:ln/>
        </p:spPr>
        <p:txBody>
          <a:bodyPr wrap="square" lIns="0" tIns="0" rIns="0" bIns="0" rtlCol="0" anchor="ctr"/>
          <a:lstStyle/>
          <a:p>
            <a:pPr indent="0" marL="0">
              <a:buNone/>
            </a:pPr>
            <a:r>
              <a:rPr lang="en-US" sz="720" b="1" dirty="0">
                <a:solidFill>
                  <a:srgbClr val="1568DC"/>
                </a:solidFill>
                <a:latin typeface="Arial" pitchFamily="34" charset="0"/>
                <a:ea typeface="Arial" pitchFamily="34" charset="-122"/>
                <a:cs typeface="Arial" pitchFamily="34" charset="-120"/>
              </a:rPr>
              <a:t>FY29  </a:t>
            </a:r>
            <a:pPr indent="0" marL="0">
              <a:buNone/>
            </a:pPr>
            <a:r>
              <a:rPr lang="en-US" sz="780" b="1" dirty="0">
                <a:solidFill>
                  <a:srgbClr val="16202B"/>
                </a:solidFill>
                <a:latin typeface="Arial" pitchFamily="34" charset="0"/>
                <a:ea typeface="Arial" pitchFamily="34" charset="-122"/>
                <a:cs typeface="Arial" pitchFamily="34" charset="-120"/>
              </a:rPr>
              <a:t>WaaS pilot</a:t>
            </a:r>
            <a:endParaRPr lang="en-US" sz="720" dirty="0"/>
          </a:p>
        </p:txBody>
      </p:sp>
      <p:sp>
        <p:nvSpPr>
          <p:cNvPr id="75" name="Text 51"/>
          <p:cNvSpPr txBox="1"/>
          <p:nvPr/>
        </p:nvSpPr>
        <p:spPr>
          <a:xfrm>
            <a:off x="5230368" y="5971032"/>
            <a:ext cx="6501384" cy="329184"/>
          </a:xfrm>
          <a:prstGeom prst="rect">
            <a:avLst/>
          </a:prstGeom>
          <a:noFill/>
          <a:ln/>
        </p:spPr>
        <p:txBody>
          <a:bodyPr wrap="square" lIns="0" tIns="0" rIns="0" bIns="0" rtlCol="0" anchor="ctr"/>
          <a:lstStyle/>
          <a:p>
            <a:pPr indent="0" marL="0">
              <a:lnSpc>
                <a:spcPct val="100000"/>
              </a:lnSpc>
              <a:buNone/>
            </a:pPr>
            <a:r>
              <a:rPr lang="en-US" sz="700" dirty="0">
                <a:solidFill>
                  <a:srgbClr val="55616D"/>
                </a:solidFill>
                <a:latin typeface="Arial" pitchFamily="34" charset="0"/>
                <a:ea typeface="Arial" pitchFamily="34" charset="-122"/>
                <a:cs typeface="Arial" pitchFamily="34" charset="-120"/>
              </a:rPr>
              <a:t>Deferred: full WaaS/BOOT (partner-financed pilot only), MBR premium line, FSTP, biogas — capex, municipal dependence or sub-scale economics. Combined: ~₹2.4 cr/yr recurring by FY29 at 35-40% GM.</a:t>
            </a:r>
            <a:endParaRPr lang="en-US" sz="700" dirty="0"/>
          </a:p>
        </p:txBody>
      </p:sp>
      <p:sp>
        <p:nvSpPr>
          <p:cNvPr id="76" name="Shape 52"/>
          <p:cNvSpPr/>
          <p:nvPr/>
        </p:nvSpPr>
        <p:spPr>
          <a:xfrm>
            <a:off x="457200" y="6016752"/>
            <a:ext cx="11274552" cy="384048"/>
          </a:xfrm>
          <a:prstGeom prst="roundRect">
            <a:avLst>
              <a:gd name="adj" fmla="val 21429"/>
            </a:avLst>
          </a:prstGeom>
          <a:solidFill>
            <a:srgbClr val="1568DC"/>
          </a:solidFill>
          <a:ln/>
          <a:effectLst>
            <a:outerShdw sx="100000" sy="100000" kx="0" ky="0" algn="bl" rotWithShape="0" blurRad="50800" dist="12700" dir="5400000">
              <a:srgbClr val="B6C1CD">
                <a:alpha val="30000"/>
              </a:srgbClr>
            </a:outerShdw>
          </a:effectLst>
        </p:spPr>
      </p:sp>
      <p:pic>
        <p:nvPicPr>
          <p:cNvPr id="77" name="Image 21" descr="preencoded.png">    </p:cNvPr>
          <p:cNvPicPr>
            <a:picLocks noChangeAspect="1"/>
          </p:cNvPicPr>
          <p:nvPr/>
        </p:nvPicPr>
        <p:blipFill>
          <a:blip r:embed="rId23"/>
          <a:stretch>
            <a:fillRect/>
          </a:stretch>
        </p:blipFill>
        <p:spPr>
          <a:xfrm>
            <a:off x="621792" y="6089904"/>
            <a:ext cx="237744" cy="237744"/>
          </a:xfrm>
          <a:prstGeom prst="rect">
            <a:avLst/>
          </a:prstGeom>
        </p:spPr>
      </p:pic>
      <p:sp>
        <p:nvSpPr>
          <p:cNvPr id="78" name="Text 53"/>
          <p:cNvSpPr txBox="1"/>
          <p:nvPr/>
        </p:nvSpPr>
        <p:spPr>
          <a:xfrm>
            <a:off x="969264" y="6016752"/>
            <a:ext cx="10588752" cy="384048"/>
          </a:xfrm>
          <a:prstGeom prst="rect">
            <a:avLst/>
          </a:prstGeom>
          <a:noFill/>
          <a:ln/>
        </p:spPr>
        <p:txBody>
          <a:bodyPr wrap="square" lIns="0" tIns="0" rIns="0" bIns="0" rtlCol="0" anchor="ctr"/>
          <a:lstStyle/>
          <a:p>
            <a:pPr indent="0" marL="0">
              <a:lnSpc>
                <a:spcPct val="100000"/>
              </a:lnSpc>
              <a:buNone/>
            </a:pPr>
            <a:r>
              <a:rPr lang="en-US" sz="1000" b="1" spc="150" kern="0" dirty="0">
                <a:solidFill>
                  <a:srgbClr val="FFD98A"/>
                </a:solidFill>
                <a:latin typeface="Arial" pitchFamily="34" charset="0"/>
                <a:ea typeface="Arial" pitchFamily="34" charset="-122"/>
                <a:cs typeface="Arial" pitchFamily="34" charset="-120"/>
              </a:rPr>
              <a:t>THESIS   </a:t>
            </a:r>
            <a:pPr indent="0" marL="0">
              <a:lnSpc>
                <a:spcPct val="100000"/>
              </a:lnSpc>
              <a:buNone/>
            </a:pPr>
            <a:r>
              <a:rPr lang="en-US" sz="1100" b="1" dirty="0">
                <a:solidFill>
                  <a:srgbClr val="FFFFFF"/>
                </a:solidFill>
                <a:latin typeface="Arial" pitchFamily="34" charset="0"/>
                <a:ea typeface="Arial" pitchFamily="34" charset="-122"/>
                <a:cs typeface="Arial" pitchFamily="34" charset="-120"/>
              </a:rPr>
              <a:t>Each adjacency deepens the installed base and lifts recurring revenue to ~10% of sales by FY29 — no new manufacturing needed.</a:t>
            </a:r>
            <a:endParaRPr lang="en-US" sz="1000" dirty="0"/>
          </a:p>
        </p:txBody>
      </p:sp>
      <p:sp>
        <p:nvSpPr>
          <p:cNvPr id="79" name="Text 54"/>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CPCB 2021 (26,869 operational vs 31,841 MLD installed; 20,235 utilised); CGWA 2020 reuse mandate; IISc MoU (ANI, Feb 2026); Boson Whitewater WaaS benchmark (Zerodha Rainmatter).</a:t>
            </a:r>
            <a:endParaRPr lang="en-US" sz="680" dirty="0"/>
          </a:p>
        </p:txBody>
      </p:sp>
      <p:sp>
        <p:nvSpPr>
          <p:cNvPr id="80" name="Text 55"/>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SUPPORTING MATERIAL</a:t>
            </a:r>
            <a:endParaRPr lang="en-US" sz="950" dirty="0"/>
          </a:p>
        </p:txBody>
      </p:sp>
      <p:sp>
        <p:nvSpPr>
          <p:cNvPr id="3" name="Text 1"/>
          <p:cNvSpPr txBox="1"/>
          <p:nvPr/>
        </p:nvSpPr>
        <p:spPr>
          <a:xfrm>
            <a:off x="457200"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References </a:t>
            </a:r>
            <a:pPr indent="0" marL="0">
              <a:buNone/>
            </a:pPr>
            <a:r>
              <a:rPr lang="en-US" sz="2500" b="1" dirty="0">
                <a:solidFill>
                  <a:srgbClr val="1568DC"/>
                </a:solidFill>
                <a:latin typeface="Arial" pitchFamily="34" charset="0"/>
                <a:ea typeface="Arial" pitchFamily="34" charset="-122"/>
                <a:cs typeface="Arial" pitchFamily="34" charset="-120"/>
              </a:rPr>
              <a:t>&amp; methodology</a:t>
            </a:r>
            <a:endParaRPr lang="en-US" sz="2500" dirty="0"/>
          </a:p>
        </p:txBody>
      </p:sp>
      <p:sp>
        <p:nvSpPr>
          <p:cNvPr id="4" name="Shape 2"/>
          <p:cNvSpPr/>
          <p:nvPr/>
        </p:nvSpPr>
        <p:spPr>
          <a:xfrm>
            <a:off x="457200" y="969264"/>
            <a:ext cx="777240" cy="50292"/>
          </a:xfrm>
          <a:prstGeom prst="roundRect">
            <a:avLst>
              <a:gd name="adj" fmla="val 36364"/>
            </a:avLst>
          </a:prstGeom>
          <a:solidFill>
            <a:srgbClr val="1568DC"/>
          </a:solidFill>
          <a:ln/>
        </p:spPr>
      </p:sp>
      <p:sp>
        <p:nvSpPr>
          <p:cNvPr id="5" name="Text 3"/>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6" name="Text 4"/>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7" name="Text 5"/>
          <p:cNvSpPr txBox="1"/>
          <p:nvPr/>
        </p:nvSpPr>
        <p:spPr>
          <a:xfrm>
            <a:off x="457200" y="1280160"/>
            <a:ext cx="5394960" cy="5074920"/>
          </a:xfrm>
          <a:prstGeom prst="rect">
            <a:avLst/>
          </a:prstGeom>
          <a:noFill/>
          <a:ln/>
        </p:spPr>
        <p:txBody>
          <a:bodyPr wrap="square" lIns="0" tIns="0" rIns="0" bIns="0" rtlCol="0" anchor="t"/>
          <a:lstStyle/>
          <a:p>
            <a:pPr indent="0" marL="0">
              <a:lnSpc>
                <a:spcPct val="112000"/>
              </a:lnSpc>
              <a:buNone/>
            </a:pPr>
            <a:r>
              <a:rPr lang="en-US" sz="860" b="1" dirty="0">
                <a:solidFill>
                  <a:srgbClr val="1568DC"/>
                </a:solidFill>
                <a:latin typeface="Arial" pitchFamily="34" charset="0"/>
                <a:ea typeface="Arial" pitchFamily="34" charset="-122"/>
                <a:cs typeface="Arial" pitchFamily="34" charset="-120"/>
              </a:rPr>
              <a:t>CASE
</a:t>
            </a:r>
            <a:pPr indent="0" marL="0">
              <a:lnSpc>
                <a:spcPct val="112000"/>
              </a:lnSpc>
              <a:buNone/>
            </a:pPr>
            <a:r>
              <a:rPr lang="en-US" sz="710" dirty="0">
                <a:solidFill>
                  <a:srgbClr val="16202B"/>
                </a:solidFill>
                <a:latin typeface="Arial" pitchFamily="34" charset="0"/>
                <a:ea typeface="Arial" pitchFamily="34" charset="-122"/>
                <a:cs typeface="Arial" pitchFamily="34" charset="-120"/>
              </a:rPr>
              <a:t>BGCC Case Consilium 2026 Round 2, EP Biocomposites Ltd problem statement, BITS Pilani Goa (all slides). Company FY26 financials, price ranges, IISc MoU and Unkal Nullah reference cited from this document.
</a:t>
            </a:r>
            <a:pPr indent="0" marL="0">
              <a:lnSpc>
                <a:spcPct val="112000"/>
              </a:lnSpc>
              <a:buNone/>
            </a:pPr>
            <a:r>
              <a:rPr lang="en-US" sz="860" b="1" dirty="0">
                <a:solidFill>
                  <a:srgbClr val="1568DC"/>
                </a:solidFill>
                <a:latin typeface="Arial" pitchFamily="34" charset="0"/>
                <a:ea typeface="Arial" pitchFamily="34" charset="-122"/>
                <a:cs typeface="Arial" pitchFamily="34" charset="-120"/>
              </a:rPr>
              <a:t>EPBL &amp; GROUP
</a:t>
            </a:r>
            <a:pPr indent="0" marL="0">
              <a:lnSpc>
                <a:spcPct val="112000"/>
              </a:lnSpc>
              <a:buNone/>
            </a:pPr>
            <a:r>
              <a:rPr lang="en-US" sz="710" dirty="0">
                <a:solidFill>
                  <a:srgbClr val="16202B"/>
                </a:solidFill>
                <a:latin typeface="Arial" pitchFamily="34" charset="0"/>
                <a:ea typeface="Arial" pitchFamily="34" charset="-122"/>
                <a:cs typeface="Arial" pitchFamily="34" charset="-120"/>
              </a:rPr>
              <a:t>EPBL product pages: epbiocomposites.com/bio-digester-toilet-manufacturer-in-goa/; /sewage-and-effluent-treatment-plant-manufacturer-in-goa/ (acc. Sep 2026), slides 3-5
</a:t>
            </a:r>
            <a:pPr indent="0" marL="0">
              <a:lnSpc>
                <a:spcPct val="112000"/>
              </a:lnSpc>
              <a:buNone/>
            </a:pPr>
            <a:r>
              <a:rPr lang="en-US" sz="710" dirty="0">
                <a:solidFill>
                  <a:srgbClr val="16202B"/>
                </a:solidFill>
                <a:latin typeface="Arial" pitchFamily="34" charset="0"/>
                <a:ea typeface="Arial" pitchFamily="34" charset="-122"/>
                <a:cs typeface="Arial" pitchFamily="34" charset="-120"/>
              </a:rPr>
              <a:t>EPBL IPO &amp; pre-IPO financials: chittorgarh.com/ipo/ep-biocomposites-ipo/1286/ (2022), slides 2,5
</a:t>
            </a:r>
            <a:pPr indent="0" marL="0">
              <a:lnSpc>
                <a:spcPct val="112000"/>
              </a:lnSpc>
              <a:buNone/>
            </a:pPr>
            <a:r>
              <a:rPr lang="en-US" sz="710" dirty="0">
                <a:solidFill>
                  <a:srgbClr val="16202B"/>
                </a:solidFill>
                <a:latin typeface="Arial" pitchFamily="34" charset="0"/>
                <a:ea typeface="Arial" pitchFamily="34" charset="-122"/>
                <a:cs typeface="Arial" pitchFamily="34" charset="-120"/>
              </a:rPr>
              <a:t>ONGC 100-KLD MBR STP order ₹72.27 L: equitybulls.com/category.php?id=340437 (Dec 2023),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IISc Bengaluru MoU: aninews.in/news/business/ep-biocomposites-strengthens-technology-capabilities... (Feb 2026), slides 2,7
</a:t>
            </a:r>
            <a:pPr indent="0" marL="0">
              <a:lnSpc>
                <a:spcPct val="112000"/>
              </a:lnSpc>
              <a:buNone/>
            </a:pPr>
            <a:r>
              <a:rPr lang="en-US" sz="710" dirty="0">
                <a:solidFill>
                  <a:srgbClr val="16202B"/>
                </a:solidFill>
                <a:latin typeface="Arial" pitchFamily="34" charset="0"/>
                <a:ea typeface="Arial" pitchFamily="34" charset="-122"/>
                <a:cs typeface="Arial" pitchFamily="34" charset="-120"/>
              </a:rPr>
              <a:t>EPBL incorporation, Bicholim: zaubacorp.com/EP-BIOCOMPOSITES-LIMITED-U28900GA2020PLC014240, slide 5
</a:t>
            </a:r>
            <a:pPr indent="0" marL="0">
              <a:lnSpc>
                <a:spcPct val="112000"/>
              </a:lnSpc>
              <a:buNone/>
            </a:pPr>
            <a:r>
              <a:rPr lang="en-US" sz="860" b="1" dirty="0">
                <a:solidFill>
                  <a:srgbClr val="1568DC"/>
                </a:solidFill>
                <a:latin typeface="Arial" pitchFamily="34" charset="0"/>
                <a:ea typeface="Arial" pitchFamily="34" charset="-122"/>
                <a:cs typeface="Arial" pitchFamily="34" charset="-120"/>
              </a:rPr>
              <a:t>GOVERNMENT &amp; REGULATORY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CPCB, National Inventory of STPs, Mar 2021: cpcb.gov.in (report id 1228); Goa gap via navhindtimes.in (Oct 2021), slides 2,4,6,7
</a:t>
            </a:r>
            <a:pPr indent="0" marL="0">
              <a:lnSpc>
                <a:spcPct val="112000"/>
              </a:lnSpc>
              <a:buNone/>
            </a:pPr>
            <a:r>
              <a:rPr lang="en-US" sz="710" dirty="0">
                <a:solidFill>
                  <a:srgbClr val="16202B"/>
                </a:solidFill>
                <a:latin typeface="Arial" pitchFamily="34" charset="0"/>
                <a:ea typeface="Arial" pitchFamily="34" charset="-122"/>
                <a:cs typeface="Arial" pitchFamily="34" charset="-120"/>
              </a:rPr>
              <a:t>Bio-medical Waste Mgmt Rules 2016 (amend. 2018), &gt;10-bed ETP mandate: cpcb.gov.in / MoEFCC gazette,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Karnataka apartment STP rules &amp; 2024 revision: deccanherald.com/india/karnataka/karnataka-government-relaxes-rules-stp-not-must-for-apartments-with-less-than-120-units-2933606,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EIA Notification 2006 item 8(a) ≥20,000 sqm: lexology.com/library/detail.aspx?g=8b0e2b16 (2025),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NGT OA 593/2017 order 28.08.2019: greentribunal.gov.in,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CGWA guidelines 24 Sep 2020 (recycled-water mandate): cgwa-noc.gov.in via thesustainabilitycloud.com/blog/cgwa-guidelines/, slides 4,7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CSR ₹34,908.75 cr FY24; health &amp; sanitation ~₹8,739 cr: csr.gov.in via indiacsr.in (2024); proteantech.in,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Census 2011: 38.2% urban households on septic tanks: censusindia.gov.in (HL-08), slide 4
</a:t>
            </a:r>
            <a:endParaRPr lang="en-US" sz="860" dirty="0"/>
          </a:p>
        </p:txBody>
      </p:sp>
      <p:sp>
        <p:nvSpPr>
          <p:cNvPr id="8" name="Text 6"/>
          <p:cNvSpPr txBox="1"/>
          <p:nvPr/>
        </p:nvSpPr>
        <p:spPr>
          <a:xfrm>
            <a:off x="6035040" y="1280160"/>
            <a:ext cx="4069080" cy="5074920"/>
          </a:xfrm>
          <a:prstGeom prst="rect">
            <a:avLst/>
          </a:prstGeom>
          <a:noFill/>
          <a:ln/>
        </p:spPr>
        <p:txBody>
          <a:bodyPr wrap="square" lIns="0" tIns="0" rIns="0" bIns="0" rtlCol="0" anchor="t"/>
          <a:lstStyle/>
          <a:p>
            <a:pPr indent="0" marL="0">
              <a:lnSpc>
                <a:spcPct val="112000"/>
              </a:lnSpc>
              <a:buNone/>
            </a:pPr>
            <a:r>
              <a:rPr lang="en-US" sz="860" b="1" dirty="0">
                <a:solidFill>
                  <a:srgbClr val="1568DC"/>
                </a:solidFill>
                <a:latin typeface="Arial" pitchFamily="34" charset="0"/>
                <a:ea typeface="Arial" pitchFamily="34" charset="-122"/>
                <a:cs typeface="Arial" pitchFamily="34" charset="-120"/>
              </a:rPr>
              <a:t>MARKET &amp; DEMAND
</a:t>
            </a:r>
            <a:pPr indent="0" marL="0">
              <a:lnSpc>
                <a:spcPct val="112000"/>
              </a:lnSpc>
              <a:buNone/>
            </a:pPr>
            <a:r>
              <a:rPr lang="en-US" sz="710" dirty="0">
                <a:solidFill>
                  <a:srgbClr val="16202B"/>
                </a:solidFill>
                <a:latin typeface="Arial" pitchFamily="34" charset="0"/>
                <a:ea typeface="Arial" pitchFamily="34" charset="-122"/>
                <a:cs typeface="Arial" pitchFamily="34" charset="-120"/>
              </a:rPr>
              <a:t>Goa tourist arrivals 2024 (10.41 mn): goa-tourism.com/news/goa-records-robust-21-percent-growth-in-tourism..., slides 3,4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Goa registered accommodation ~9,000 units (2024): Goa DoT via traveltrendstoday.in, slides 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HVS ANAROCK India Hospitality Overview 2024 (Tier-2 28% + Tier-3/4 46% of new room signings): hvs.com/article/10158, slides 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MahaRERA 50,162 registered projects: constructionworld.in (2025), slides 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K-RERA ~5,672 &amp; Goa RERA ~1,250 (portal counts, secondary): 99acres.com/rera-registered-projects-in-karnataka-ffid; ...-in-goa-ffid, slides 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India wastewater treatment market USD 10.4 bn 2025: imarcgroup.com; plants market USD 1.33 bn 2024: techsciresearch.com (4514), slide 4
</a:t>
            </a:r>
            <a:pPr indent="0" marL="0">
              <a:lnSpc>
                <a:spcPct val="112000"/>
              </a:lnSpc>
              <a:buNone/>
            </a:pPr>
            <a:r>
              <a:rPr lang="en-US" sz="860" b="1" dirty="0">
                <a:solidFill>
                  <a:srgbClr val="1568DC"/>
                </a:solidFill>
                <a:latin typeface="Arial" pitchFamily="34" charset="0"/>
                <a:ea typeface="Arial" pitchFamily="34" charset="-122"/>
                <a:cs typeface="Arial" pitchFamily="34" charset="-120"/>
              </a:rPr>
              <a:t>COMPETITORS &amp; PRICING
</a:t>
            </a:r>
            <a:pPr indent="0" marL="0">
              <a:lnSpc>
                <a:spcPct val="112000"/>
              </a:lnSpc>
              <a:buNone/>
            </a:pPr>
            <a:r>
              <a:rPr lang="en-US" sz="710" dirty="0">
                <a:solidFill>
                  <a:srgbClr val="16202B"/>
                </a:solidFill>
                <a:latin typeface="Arial" pitchFamily="34" charset="0"/>
                <a:ea typeface="Arial" pitchFamily="34" charset="-122"/>
                <a:cs typeface="Arial" pitchFamily="34" charset="-120"/>
              </a:rPr>
              <a:t>Daiki Axis India (Johkasou; ₹200 cr Tumakuru plant): daikiaxis.in; biltraxmedia.com/daiki-axis-to-invest-200-inr-crore..., slides 4,6
</a:t>
            </a:r>
            <a:pPr indent="0" marL="0">
              <a:lnSpc>
                <a:spcPct val="112000"/>
              </a:lnSpc>
              <a:buNone/>
            </a:pPr>
            <a:r>
              <a:rPr lang="en-US" sz="710" dirty="0">
                <a:solidFill>
                  <a:srgbClr val="16202B"/>
                </a:solidFill>
                <a:latin typeface="Arial" pitchFamily="34" charset="0"/>
                <a:ea typeface="Arial" pitchFamily="34" charset="-122"/>
                <a:cs typeface="Arial" pitchFamily="34" charset="-120"/>
              </a:rPr>
              <a:t>Ion Exchange INDION: ionexchangeglobal.com; Thermax FabX/BioCask: thermaxglobal.com,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Banka BioLoo financials: screener.in/company/BANKA/consolidated/,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SUSBIO ECOTREAT from ₹35k/KLD: susbio.in; susbio.in/stp-plant-cost-per-kld-in-india-2026/, slides 4,6
</a:t>
            </a:r>
            <a:pPr indent="0" marL="0">
              <a:lnSpc>
                <a:spcPct val="112000"/>
              </a:lnSpc>
              <a:buNone/>
            </a:pPr>
            <a:r>
              <a:rPr lang="en-US" sz="710" dirty="0">
                <a:solidFill>
                  <a:srgbClr val="16202B"/>
                </a:solidFill>
                <a:latin typeface="Arial" pitchFamily="34" charset="0"/>
                <a:ea typeface="Arial" pitchFamily="34" charset="-122"/>
                <a:cs typeface="Arial" pitchFamily="34" charset="-120"/>
              </a:rPr>
              <a:t>Netsol Water / Kelvin (NCR): netsolwater.com/service-locations.php; kelvinindia.in,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CDD Society DEWATS: cddindia.org; Boson Whitewater WaaS: zerodha.com/z-connect/rainmatter/introducing-boson-whitewater, slides 4,7
</a:t>
            </a:r>
            <a:pPr indent="0" marL="0">
              <a:lnSpc>
                <a:spcPct val="112000"/>
              </a:lnSpc>
              <a:buNone/>
            </a:pPr>
            <a:r>
              <a:rPr lang="en-US" sz="710" dirty="0">
                <a:solidFill>
                  <a:srgbClr val="16202B"/>
                </a:solidFill>
                <a:latin typeface="Arial" pitchFamily="34" charset="0"/>
                <a:ea typeface="Arial" pitchFamily="34" charset="-122"/>
                <a:cs typeface="Arial" pitchFamily="34" charset="-120"/>
              </a:rPr>
              <a:t>Packaged-STP &amp; AMC price benchmarks: studiomatrx.org/guides/stp-cost-per-kld-india; teamonebiotech.com (O&amp;M 2026), slides 3,4,9
</a:t>
            </a:r>
            <a:pPr indent="0" marL="0">
              <a:lnSpc>
                <a:spcPct val="112000"/>
              </a:lnSpc>
              <a:buNone/>
            </a:pPr>
            <a:r>
              <a:rPr lang="en-US" sz="710" dirty="0">
                <a:solidFill>
                  <a:srgbClr val="16202B"/>
                </a:solidFill>
                <a:latin typeface="Arial" pitchFamily="34" charset="0"/>
                <a:ea typeface="Arial" pitchFamily="34" charset="-122"/>
                <a:cs typeface="Arial" pitchFamily="34" charset="-120"/>
              </a:rPr>
              <a:t>DRDO bio-digester ToT licensees (49 firms, 2012): indiatvnews.com/news/india/drdo-licensing-eco-toilets-private-companies-16612.html, slide 4
</a:t>
            </a:r>
            <a:pPr indent="0" marL="0">
              <a:lnSpc>
                <a:spcPct val="112000"/>
              </a:lnSpc>
              <a:buNone/>
            </a:pPr>
            <a:r>
              <a:rPr lang="en-US" sz="710" dirty="0">
                <a:solidFill>
                  <a:srgbClr val="16202B"/>
                </a:solidFill>
                <a:latin typeface="Arial" pitchFamily="34" charset="0"/>
                <a:ea typeface="Arial" pitchFamily="34" charset="-122"/>
                <a:cs typeface="Arial" pitchFamily="34" charset="-120"/>
              </a:rPr>
              <a:t>All URLs accessed 10 Sep 2026. Secondary sources marked; problem-statement-only figures cite the problem statement.
</a:t>
            </a:r>
            <a:endParaRPr lang="en-US" sz="860" dirty="0"/>
          </a:p>
        </p:txBody>
      </p:sp>
      <p:sp>
        <p:nvSpPr>
          <p:cNvPr id="9" name="Shape 7"/>
          <p:cNvSpPr/>
          <p:nvPr/>
        </p:nvSpPr>
        <p:spPr>
          <a:xfrm>
            <a:off x="10287000" y="1280160"/>
            <a:ext cx="1444752" cy="5074920"/>
          </a:xfrm>
          <a:prstGeom prst="roundRect">
            <a:avLst>
              <a:gd name="adj" fmla="val 5063"/>
            </a:avLst>
          </a:prstGeom>
          <a:solidFill>
            <a:srgbClr val="F5F9FE"/>
          </a:solidFill>
          <a:ln w="12700">
            <a:solidFill>
              <a:srgbClr val="DCE5EE"/>
            </a:solidFill>
            <a:prstDash val="solid"/>
          </a:ln>
        </p:spPr>
      </p:sp>
      <p:pic>
        <p:nvPicPr>
          <p:cNvPr id="10" name="Image 0" descr="preencoded.png">    </p:cNvPr>
          <p:cNvPicPr>
            <a:picLocks noChangeAspect="1"/>
          </p:cNvPicPr>
          <p:nvPr/>
        </p:nvPicPr>
        <p:blipFill>
          <a:blip r:embed="rId1"/>
          <a:stretch>
            <a:fillRect/>
          </a:stretch>
        </p:blipFill>
        <p:spPr>
          <a:xfrm>
            <a:off x="10405872" y="1408176"/>
            <a:ext cx="237744" cy="237744"/>
          </a:xfrm>
          <a:prstGeom prst="rect">
            <a:avLst/>
          </a:prstGeom>
        </p:spPr>
      </p:pic>
      <p:sp>
        <p:nvSpPr>
          <p:cNvPr id="11" name="Text 8"/>
          <p:cNvSpPr txBox="1"/>
          <p:nvPr/>
        </p:nvSpPr>
        <p:spPr>
          <a:xfrm>
            <a:off x="10387584" y="1700784"/>
            <a:ext cx="1261872" cy="4572000"/>
          </a:xfrm>
          <a:prstGeom prst="rect">
            <a:avLst/>
          </a:prstGeom>
          <a:noFill/>
          <a:ln/>
        </p:spPr>
        <p:txBody>
          <a:bodyPr wrap="square" lIns="0" tIns="0" rIns="0" bIns="0" rtlCol="0" anchor="t"/>
          <a:lstStyle/>
          <a:p>
            <a:pPr indent="0" marL="0">
              <a:lnSpc>
                <a:spcPct val="105000"/>
              </a:lnSpc>
              <a:buNone/>
            </a:pPr>
            <a:r>
              <a:rPr lang="en-US" sz="850" b="1" dirty="0">
                <a:solidFill>
                  <a:srgbClr val="1568DC"/>
                </a:solidFill>
                <a:latin typeface="Arial" pitchFamily="34" charset="0"/>
                <a:ea typeface="Arial" pitchFamily="34" charset="-122"/>
                <a:cs typeface="Arial" pitchFamily="34" charset="-120"/>
              </a:rPr>
              <a:t>METHODOLOGY
</a:t>
            </a:r>
            <a:pPr indent="0" marL="0">
              <a:lnSpc>
                <a:spcPct val="105000"/>
              </a:lnSpc>
              <a:buNone/>
            </a:pPr>
            <a:r>
              <a:rPr lang="en-US" sz="700" dirty="0">
                <a:solidFill>
                  <a:srgbClr val="16202B"/>
                </a:solidFill>
                <a:latin typeface="Arial" pitchFamily="34" charset="0"/>
                <a:ea typeface="Arial" pitchFamily="34" charset="-122"/>
                <a:cs typeface="Arial" pitchFamily="34" charset="-120"/>
              </a:rPr>
              <a:t>
Sizing: bottom-up per segment per state — units × %lacking × fit × conversion × ticket. No top-down report allocation.
</a:t>
            </a:r>
            <a:pPr indent="0" marL="0">
              <a:lnSpc>
                <a:spcPct val="105000"/>
              </a:lnSpc>
              <a:buNone/>
            </a:pPr>
            <a:r>
              <a:rPr lang="en-US" sz="700" dirty="0">
                <a:solidFill>
                  <a:srgbClr val="16202B"/>
                </a:solidFill>
                <a:latin typeface="Arial" pitchFamily="34" charset="0"/>
                <a:ea typeface="Arial" pitchFamily="34" charset="-122"/>
                <a:cs typeface="Arial" pitchFamily="34" charset="-120"/>
              </a:rPr>
              <a:t>
Scenarios: conversion, trigger-share, win-rate flexed; conservative = lowest defensible; upside = capacity-bound.
</a:t>
            </a:r>
            <a:pPr indent="0" marL="0">
              <a:lnSpc>
                <a:spcPct val="105000"/>
              </a:lnSpc>
              <a:buNone/>
            </a:pPr>
            <a:r>
              <a:rPr lang="en-US" sz="700" dirty="0">
                <a:solidFill>
                  <a:srgbClr val="16202B"/>
                </a:solidFill>
                <a:latin typeface="Arial" pitchFamily="34" charset="0"/>
                <a:ea typeface="Arial" pitchFamily="34" charset="-122"/>
                <a:cs typeface="Arial" pitchFamily="34" charset="-120"/>
              </a:rPr>
              <a:t>
Scoring: segmentation 10 factors / portfolio 7 criteria; weights on slides 3 &amp; 7; evidence-based 1-5.
</a:t>
            </a:r>
            <a:pPr indent="0" marL="0">
              <a:lnSpc>
                <a:spcPct val="105000"/>
              </a:lnSpc>
              <a:buNone/>
            </a:pPr>
            <a:endParaRPr lang="en-US" sz="850" dirty="0"/>
          </a:p>
          <a:p>
            <a:pPr indent="0" marL="0">
              <a:lnSpc>
                <a:spcPct val="105000"/>
              </a:lnSpc>
              <a:buNone/>
            </a:pPr>
            <a:r>
              <a:rPr lang="en-US" sz="700" dirty="0">
                <a:solidFill>
                  <a:srgbClr val="16202B"/>
                </a:solidFill>
                <a:latin typeface="Arial" pitchFamily="34" charset="0"/>
                <a:ea typeface="Arial" pitchFamily="34" charset="-122"/>
                <a:cs typeface="Arial" pitchFamily="34" charset="-120"/>
              </a:rPr>
              <a:t>Rounding: ₹cr to 1 decimal; estimates labelled; no false precision.</a:t>
            </a:r>
            <a:endParaRPr lang="en-US" sz="850" dirty="0"/>
          </a:p>
        </p:txBody>
      </p:sp>
      <p:sp>
        <p:nvSpPr>
          <p:cNvPr id="12" name="Text 9"/>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7772400" cy="219456"/>
          </a:xfrm>
          <a:prstGeom prst="rect">
            <a:avLst/>
          </a:prstGeom>
          <a:noFill/>
          <a:ln/>
        </p:spPr>
        <p:txBody>
          <a:bodyPr wrap="square" lIns="0" tIns="0" rIns="0" bIns="0" rtlCol="0" anchor="ctr"/>
          <a:lstStyle/>
          <a:p>
            <a:pPr indent="0" marL="0">
              <a:buNone/>
            </a:pPr>
            <a:r>
              <a:rPr lang="en-US" sz="950" b="1" spc="200" kern="0" dirty="0">
                <a:solidFill>
                  <a:srgbClr val="55616D"/>
                </a:solidFill>
                <a:latin typeface="Arial" pitchFamily="34" charset="0"/>
                <a:ea typeface="Arial" pitchFamily="34" charset="-122"/>
                <a:cs typeface="Arial" pitchFamily="34" charset="-120"/>
              </a:rPr>
              <a:t>SUPPORTING MATERIAL</a:t>
            </a:r>
            <a:endParaRPr lang="en-US" sz="950" dirty="0"/>
          </a:p>
        </p:txBody>
      </p:sp>
      <p:sp>
        <p:nvSpPr>
          <p:cNvPr id="3" name="Text 1"/>
          <p:cNvSpPr txBox="1"/>
          <p:nvPr/>
        </p:nvSpPr>
        <p:spPr>
          <a:xfrm>
            <a:off x="457200" y="457200"/>
            <a:ext cx="10058400" cy="457200"/>
          </a:xfrm>
          <a:prstGeom prst="rect">
            <a:avLst/>
          </a:prstGeom>
          <a:noFill/>
          <a:ln/>
        </p:spPr>
        <p:txBody>
          <a:bodyPr wrap="square" lIns="0" tIns="0" rIns="0" bIns="0" rtlCol="0" anchor="ctr"/>
          <a:lstStyle/>
          <a:p>
            <a:pPr indent="0" marL="0">
              <a:buNone/>
            </a:pPr>
            <a:r>
              <a:rPr lang="en-US" sz="2500" b="1" dirty="0">
                <a:solidFill>
                  <a:srgbClr val="16202B"/>
                </a:solidFill>
                <a:latin typeface="Arial" pitchFamily="34" charset="0"/>
                <a:ea typeface="Arial" pitchFamily="34" charset="-122"/>
                <a:cs typeface="Arial" pitchFamily="34" charset="-120"/>
              </a:rPr>
              <a:t>Glossary, assumptions </a:t>
            </a:r>
            <a:pPr indent="0" marL="0">
              <a:buNone/>
            </a:pPr>
            <a:r>
              <a:rPr lang="en-US" sz="2500" b="1" dirty="0">
                <a:solidFill>
                  <a:srgbClr val="1568DC"/>
                </a:solidFill>
                <a:latin typeface="Arial" pitchFamily="34" charset="0"/>
                <a:ea typeface="Arial" pitchFamily="34" charset="-122"/>
                <a:cs typeface="Arial" pitchFamily="34" charset="-120"/>
              </a:rPr>
              <a:t>&amp; calculation backup</a:t>
            </a:r>
            <a:endParaRPr lang="en-US" sz="2500" dirty="0"/>
          </a:p>
        </p:txBody>
      </p:sp>
      <p:sp>
        <p:nvSpPr>
          <p:cNvPr id="4" name="Shape 2"/>
          <p:cNvSpPr/>
          <p:nvPr/>
        </p:nvSpPr>
        <p:spPr>
          <a:xfrm>
            <a:off x="457200" y="969264"/>
            <a:ext cx="777240" cy="50292"/>
          </a:xfrm>
          <a:prstGeom prst="roundRect">
            <a:avLst>
              <a:gd name="adj" fmla="val 36364"/>
            </a:avLst>
          </a:prstGeom>
          <a:solidFill>
            <a:srgbClr val="1568DC"/>
          </a:solidFill>
          <a:ln/>
        </p:spPr>
      </p:sp>
      <p:sp>
        <p:nvSpPr>
          <p:cNvPr id="5" name="Text 3"/>
          <p:cNvSpPr txBox="1"/>
          <p:nvPr/>
        </p:nvSpPr>
        <p:spPr>
          <a:xfrm>
            <a:off x="8778240" y="310896"/>
            <a:ext cx="2953512" cy="274320"/>
          </a:xfrm>
          <a:prstGeom prst="rect">
            <a:avLst/>
          </a:prstGeom>
          <a:noFill/>
          <a:ln/>
        </p:spPr>
        <p:txBody>
          <a:bodyPr wrap="square" lIns="0" tIns="0" rIns="0" bIns="0" rtlCol="0" anchor="ctr"/>
          <a:lstStyle/>
          <a:p>
            <a:pPr algn="r" indent="0" marL="0">
              <a:buNone/>
            </a:pPr>
            <a:r>
              <a:rPr lang="en-US" sz="1200" b="1" dirty="0">
                <a:solidFill>
                  <a:srgbClr val="1568DC"/>
                </a:solidFill>
                <a:latin typeface="Arial" pitchFamily="34" charset="0"/>
                <a:ea typeface="Arial" pitchFamily="34" charset="-122"/>
                <a:cs typeface="Arial" pitchFamily="34" charset="-120"/>
              </a:rPr>
              <a:t>EPBL</a:t>
            </a:r>
            <a:pPr algn="r" indent="0" marL="0">
              <a:buNone/>
            </a:pPr>
            <a:r>
              <a:rPr lang="en-US" sz="850" b="1" spc="150" kern="0" dirty="0">
                <a:solidFill>
                  <a:srgbClr val="8C99A6"/>
                </a:solidFill>
                <a:latin typeface="Arial" pitchFamily="34" charset="0"/>
                <a:ea typeface="Arial" pitchFamily="34" charset="-122"/>
                <a:cs typeface="Arial" pitchFamily="34" charset="-120"/>
              </a:rPr>
              <a:t>  ×  TEAM WOOKIES</a:t>
            </a:r>
            <a:endParaRPr lang="en-US" sz="1200" dirty="0"/>
          </a:p>
        </p:txBody>
      </p:sp>
      <p:sp>
        <p:nvSpPr>
          <p:cNvPr id="6" name="Text 4"/>
          <p:cNvSpPr txBox="1"/>
          <p:nvPr/>
        </p:nvSpPr>
        <p:spPr>
          <a:xfrm>
            <a:off x="8778240" y="548640"/>
            <a:ext cx="2953512" cy="182880"/>
          </a:xfrm>
          <a:prstGeom prst="rect">
            <a:avLst/>
          </a:prstGeom>
          <a:noFill/>
          <a:ln/>
        </p:spPr>
        <p:txBody>
          <a:bodyPr wrap="square" lIns="0" tIns="0" rIns="0" bIns="0" rtlCol="0" anchor="ctr"/>
          <a:lstStyle/>
          <a:p>
            <a:pPr algn="r" indent="0" marL="0">
              <a:buNone/>
            </a:pPr>
            <a:r>
              <a:rPr lang="en-US" sz="750" spc="200" kern="0" dirty="0">
                <a:solidFill>
                  <a:srgbClr val="8C99A6"/>
                </a:solidFill>
                <a:latin typeface="Arial" pitchFamily="34" charset="0"/>
                <a:ea typeface="Arial" pitchFamily="34" charset="-122"/>
                <a:cs typeface="Arial" pitchFamily="34" charset="-120"/>
              </a:rPr>
              <a:t>CASE CONSILIUM 2026</a:t>
            </a:r>
            <a:endParaRPr lang="en-US" sz="750" dirty="0"/>
          </a:p>
        </p:txBody>
      </p:sp>
      <p:sp>
        <p:nvSpPr>
          <p:cNvPr id="7" name="Shape 5"/>
          <p:cNvSpPr/>
          <p:nvPr/>
        </p:nvSpPr>
        <p:spPr>
          <a:xfrm>
            <a:off x="457200" y="1280160"/>
            <a:ext cx="274320" cy="274320"/>
          </a:xfrm>
          <a:prstGeom prst="roundRect">
            <a:avLst>
              <a:gd name="adj" fmla="val 24000"/>
            </a:avLst>
          </a:prstGeom>
          <a:solidFill>
            <a:srgbClr val="E8F1FC"/>
          </a:solidFill>
          <a:ln/>
        </p:spPr>
      </p:sp>
      <p:pic>
        <p:nvPicPr>
          <p:cNvPr id="8" name="Image 0" descr="preencoded.png">    </p:cNvPr>
          <p:cNvPicPr>
            <a:picLocks noChangeAspect="1"/>
          </p:cNvPicPr>
          <p:nvPr/>
        </p:nvPicPr>
        <p:blipFill>
          <a:blip r:embed="rId1"/>
          <a:stretch>
            <a:fillRect/>
          </a:stretch>
        </p:blipFill>
        <p:spPr>
          <a:xfrm>
            <a:off x="514807" y="1337767"/>
            <a:ext cx="159106" cy="159106"/>
          </a:xfrm>
          <a:prstGeom prst="rect">
            <a:avLst/>
          </a:prstGeom>
        </p:spPr>
      </p:pic>
      <p:sp>
        <p:nvSpPr>
          <p:cNvPr id="9" name="Text 6"/>
          <p:cNvSpPr txBox="1"/>
          <p:nvPr/>
        </p:nvSpPr>
        <p:spPr>
          <a:xfrm>
            <a:off x="841248" y="1257300"/>
            <a:ext cx="274320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Glossary</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72768"/>
          <a:ext cx="3246120" cy="914400"/>
        </p:xfrm>
        <a:graphic>
          <a:graphicData uri="http://schemas.openxmlformats.org/drawingml/2006/table">
            <a:tbl>
              <a:tblPr/>
              <a:tblGrid>
                <a:gridCol w="960120"/>
                <a:gridCol w="2286000"/>
              </a:tblGrid>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STP / ETP</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Sewage / Effluent Treatment Plant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KLD / MLD</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Kilo / Million Litres per Day</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MBBR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Moving Bed Biofilm Reactor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SBR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Sequencing Batch Reactor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MBR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Membrane Bioreactor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DEWATS</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Decentralised Wastewater Treatment Systems (nature-based)</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FRP</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Fibre-Reinforced Plastic</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O&amp;M / AMC</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Operation &amp; Maintenance / Annual Maintenance Contract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TAM/SAM/SOM</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Total / Serviceable Addressable / Obtainable Market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DSO</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Days Sales Outstanding</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ToT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Transfer of Technology (DRDO licence)</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EC / OC</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Environmental Clearance / Occupancy Certificate</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CTE / CTO</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Consent to Establish / Operate (pollution boards)</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BMW Rules</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Bio-medical Waste Management Rules, 2016</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CGWA</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Central Ground Water Authority</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710" b="1" dirty="0">
                          <a:solidFill>
                            <a:srgbClr val="0C3E86"/>
                          </a:solidFill>
                          <a:latin typeface="Arial" pitchFamily="34" charset="0"/>
                          <a:ea typeface="Arial" pitchFamily="34" charset="-122"/>
                          <a:cs typeface="Arial" pitchFamily="34" charset="-120"/>
                        </a:rPr>
                        <a:t>WaaS / BOOT</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5F9FE"/>
                    </a:solidFill>
                  </a:tcPr>
                </a:tc>
                <a:tc>
                  <a:txBody>
                    <a:bodyPr/>
                    <a:lstStyle/>
                    <a:p>
                      <a:pPr algn="l" indent="0" marL="0">
                        <a:buNone/>
                      </a:pPr>
                      <a:r>
                        <a:rPr lang="en-US" sz="710" dirty="0">
                          <a:solidFill>
                            <a:srgbClr val="16202B"/>
                          </a:solidFill>
                          <a:latin typeface="Arial" pitchFamily="34" charset="0"/>
                          <a:ea typeface="Arial" pitchFamily="34" charset="-122"/>
                          <a:cs typeface="Arial" pitchFamily="34" charset="-120"/>
                        </a:rPr>
                        <a:t>Water-as-a-Service / Build-Own-Operate-Transfer</a:t>
                      </a:r>
                      <a:endParaRPr lang="en-US" sz="710" dirty="0">
                        <a:latin typeface="Arial" charset="0"/>
                        <a:ea typeface="Arial" charset="0"/>
                        <a:cs typeface="Arial" charset="0"/>
                      </a:endParaRPr>
                    </a:p>
                  </a:txBody>
                  <a:tcPr marL="45720" marR="45720" marT="32004" marB="32004" anchor="t">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11" name="Shape 7"/>
          <p:cNvSpPr/>
          <p:nvPr/>
        </p:nvSpPr>
        <p:spPr>
          <a:xfrm>
            <a:off x="3977640" y="1280160"/>
            <a:ext cx="274320" cy="274320"/>
          </a:xfrm>
          <a:prstGeom prst="roundRect">
            <a:avLst>
              <a:gd name="adj" fmla="val 24000"/>
            </a:avLst>
          </a:prstGeom>
          <a:solidFill>
            <a:srgbClr val="E8F1FC"/>
          </a:solidFill>
          <a:ln/>
        </p:spPr>
      </p:sp>
      <p:pic>
        <p:nvPicPr>
          <p:cNvPr id="12" name="Image 1" descr="preencoded.png">    </p:cNvPr>
          <p:cNvPicPr>
            <a:picLocks noChangeAspect="1"/>
          </p:cNvPicPr>
          <p:nvPr/>
        </p:nvPicPr>
        <p:blipFill>
          <a:blip r:embed="rId2"/>
          <a:stretch>
            <a:fillRect/>
          </a:stretch>
        </p:blipFill>
        <p:spPr>
          <a:xfrm>
            <a:off x="4035247" y="1337767"/>
            <a:ext cx="159106" cy="159106"/>
          </a:xfrm>
          <a:prstGeom prst="rect">
            <a:avLst/>
          </a:prstGeom>
        </p:spPr>
      </p:pic>
      <p:sp>
        <p:nvSpPr>
          <p:cNvPr id="13" name="Text 8"/>
          <p:cNvSpPr txBox="1"/>
          <p:nvPr/>
        </p:nvSpPr>
        <p:spPr>
          <a:xfrm>
            <a:off x="4361688" y="1257300"/>
            <a:ext cx="768096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TAM build (annual, ₹cr): units × %lacking × fit × conversion × ticket</a:t>
            </a:r>
            <a:endParaRPr lang="en-US" sz="120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3977640" y="1572768"/>
          <a:ext cx="7708392" cy="914400"/>
        </p:xfrm>
        <a:graphic>
          <a:graphicData uri="http://schemas.openxmlformats.org/drawingml/2006/table">
            <a:tbl>
              <a:tblPr/>
              <a:tblGrid>
                <a:gridCol w="1417320"/>
                <a:gridCol w="2560320"/>
                <a:gridCol w="566928"/>
                <a:gridCol w="566928"/>
                <a:gridCol w="658368"/>
                <a:gridCol w="658368"/>
                <a:gridCol w="594360"/>
                <a:gridCol w="685800"/>
              </a:tblGrid>
              <a:tr h="0">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Segment</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Eligible units (basis)</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 lack</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Fit</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Conv./yr</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Ticket ₹L</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Proj./yr</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₹cr/yr</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Hospitality (≥20 keys)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4,000 stock (Goa DoT ~9,000 units; HVS Tier-2/3) + 110 new/yr</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8% + new</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24-28</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166</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42.3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Residential developers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517 STP-trigger launches/yr (RERA run-rates × Tier-2/3 × trigger share)</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n/a</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flow</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48</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310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148.9</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Housing societies (retrofit)</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900 with failing/aged STPs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100%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9.1</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Hospitals &gt;10 beds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5,500 private HCFs (BMW Rules base)</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16</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82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13.2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Education &amp; CSR campuses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3,000 residential campuses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37</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MSME industrial (compact ETP)</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2,600 consented units, simple effluents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7%</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40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13.1</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Commercial &amp; mixed-use</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1,200 properties</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7%</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21</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7.4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Homes (bio-digester)</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220,000 new unsewered Tier-2/3 homes/yr</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n/a</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2.5% adopt</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flow</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0.55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5,500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30.3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Homestays &amp; small hospitality</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3,500 stock</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50%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8%</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84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1.8</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b="1" dirty="0">
                          <a:solidFill>
                            <a:srgbClr val="16202B"/>
                          </a:solidFill>
                          <a:latin typeface="Arial" pitchFamily="34" charset="0"/>
                          <a:ea typeface="Arial" pitchFamily="34" charset="-122"/>
                          <a:cs typeface="Arial" pitchFamily="34" charset="-120"/>
                        </a:rPr>
                        <a:t>TOTAL TAM</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~6,300</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271.2</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r>
            </a:tbl>
          </a:graphicData>
        </a:graphic>
      </p:graphicFrame>
      <p:sp>
        <p:nvSpPr>
          <p:cNvPr id="15" name="Shape 9"/>
          <p:cNvSpPr/>
          <p:nvPr/>
        </p:nvSpPr>
        <p:spPr>
          <a:xfrm>
            <a:off x="3977640" y="4279392"/>
            <a:ext cx="274320" cy="274320"/>
          </a:xfrm>
          <a:prstGeom prst="roundRect">
            <a:avLst>
              <a:gd name="adj" fmla="val 24000"/>
            </a:avLst>
          </a:prstGeom>
          <a:solidFill>
            <a:srgbClr val="E8F1FC"/>
          </a:solidFill>
          <a:ln/>
        </p:spPr>
      </p:sp>
      <p:pic>
        <p:nvPicPr>
          <p:cNvPr id="16" name="Image 2" descr="preencoded.png">    </p:cNvPr>
          <p:cNvPicPr>
            <a:picLocks noChangeAspect="1"/>
          </p:cNvPicPr>
          <p:nvPr/>
        </p:nvPicPr>
        <p:blipFill>
          <a:blip r:embed="rId3"/>
          <a:stretch>
            <a:fillRect/>
          </a:stretch>
        </p:blipFill>
        <p:spPr>
          <a:xfrm>
            <a:off x="4035247" y="4336999"/>
            <a:ext cx="159106" cy="159106"/>
          </a:xfrm>
          <a:prstGeom prst="rect">
            <a:avLst/>
          </a:prstGeom>
        </p:spPr>
      </p:pic>
      <p:sp>
        <p:nvSpPr>
          <p:cNvPr id="17" name="Text 10"/>
          <p:cNvSpPr txBox="1"/>
          <p:nvPr/>
        </p:nvSpPr>
        <p:spPr>
          <a:xfrm>
            <a:off x="4361688" y="4256532"/>
            <a:ext cx="3383280" cy="329184"/>
          </a:xfrm>
          <a:prstGeom prst="rect">
            <a:avLst/>
          </a:prstGeom>
          <a:noFill/>
          <a:ln/>
        </p:spPr>
        <p:txBody>
          <a:bodyPr wrap="square" lIns="0" tIns="0" rIns="0" bIns="0" rtlCol="0" anchor="ctr"/>
          <a:lstStyle/>
          <a:p>
            <a:pPr indent="0" marL="0">
              <a:buNone/>
            </a:pPr>
            <a:r>
              <a:rPr lang="en-US" sz="1200" b="1" dirty="0">
                <a:solidFill>
                  <a:srgbClr val="0C3E86"/>
                </a:solidFill>
                <a:latin typeface="Arial" pitchFamily="34" charset="0"/>
                <a:ea typeface="Arial" pitchFamily="34" charset="-122"/>
                <a:cs typeface="Arial" pitchFamily="34" charset="-120"/>
              </a:rPr>
              <a:t>SOM bridge, base case (₹cr)</a:t>
            </a:r>
            <a:endParaRPr lang="en-US" sz="1200" dirty="0"/>
          </a:p>
        </p:txBody>
      </p:sp>
      <p:graphicFrame>
        <p:nvGraphicFramePr>
          <p:cNvPr id="28" name="Table 2"/>
          <p:cNvGraphicFramePr>
            <a:graphicFrameLocks noGrp="1"/>
          </p:cNvGraphicFramePr>
          <p:nvPr>
            <p:extLst>
              <p:ext uri="{D42A27DB-BD31-4B8C-83A1-F6EECF244321}">
                <p14:modId xmlns:p14="http://schemas.microsoft.com/office/powerpoint/2010/main" val="1579011935"/>
              </p:ext>
            </p:extLst>
          </p:nvPr>
        </p:nvGraphicFramePr>
        <p:xfrm>
          <a:off x="3977640" y="4572000"/>
          <a:ext cx="3291840" cy="914400"/>
        </p:xfrm>
        <a:graphic>
          <a:graphicData uri="http://schemas.openxmlformats.org/drawingml/2006/table">
            <a:tbl>
              <a:tblPr/>
              <a:tblGrid>
                <a:gridCol w="1508760"/>
                <a:gridCol w="594360"/>
                <a:gridCol w="594360"/>
                <a:gridCol w="594360"/>
              </a:tblGrid>
              <a:tr h="0">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₹cr</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FY27</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FY28</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700" b="1" dirty="0">
                          <a:solidFill>
                            <a:srgbClr val="FFFFFF"/>
                          </a:solidFill>
                          <a:latin typeface="Arial" pitchFamily="34" charset="0"/>
                          <a:ea typeface="Arial" pitchFamily="34" charset="-122"/>
                          <a:cs typeface="Arial" pitchFamily="34" charset="-120"/>
                        </a:rPr>
                        <a:t>FY29</a:t>
                      </a:r>
                      <a:endParaRPr lang="en-US" sz="70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Existing base (+5%/yr)</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12.3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12.9</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13.5</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dirty="0">
                          <a:solidFill>
                            <a:srgbClr val="16202B"/>
                          </a:solidFill>
                          <a:latin typeface="Arial" pitchFamily="34" charset="0"/>
                          <a:ea typeface="Arial" pitchFamily="34" charset="-122"/>
                          <a:cs typeface="Arial" pitchFamily="34" charset="-120"/>
                        </a:rPr>
                        <a:t>New private-market</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2.4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6.4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dirty="0">
                          <a:solidFill>
                            <a:srgbClr val="16202B"/>
                          </a:solidFill>
                          <a:latin typeface="Arial" pitchFamily="34" charset="0"/>
                          <a:ea typeface="Arial" pitchFamily="34" charset="-122"/>
                          <a:cs typeface="Arial" pitchFamily="34" charset="-120"/>
                        </a:rPr>
                        <a:t>11.9</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80" b="1" dirty="0">
                          <a:solidFill>
                            <a:srgbClr val="16202B"/>
                          </a:solidFill>
                          <a:latin typeface="Arial" pitchFamily="34" charset="0"/>
                          <a:ea typeface="Arial" pitchFamily="34" charset="-122"/>
                          <a:cs typeface="Arial" pitchFamily="34" charset="-120"/>
                        </a:rPr>
                        <a:t>Total revenue</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14.7</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19.3</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80" b="1" dirty="0">
                          <a:solidFill>
                            <a:srgbClr val="16202B"/>
                          </a:solidFill>
                          <a:latin typeface="Arial" pitchFamily="34" charset="0"/>
                          <a:ea typeface="Arial" pitchFamily="34" charset="-122"/>
                          <a:cs typeface="Arial" pitchFamily="34" charset="-120"/>
                        </a:rPr>
                        <a:t>25.4</a:t>
                      </a:r>
                      <a:endParaRPr lang="en-US" sz="68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19" name="Shape 11"/>
          <p:cNvSpPr/>
          <p:nvPr/>
        </p:nvSpPr>
        <p:spPr>
          <a:xfrm>
            <a:off x="7452360" y="4279392"/>
            <a:ext cx="274320" cy="274320"/>
          </a:xfrm>
          <a:prstGeom prst="roundRect">
            <a:avLst>
              <a:gd name="adj" fmla="val 24000"/>
            </a:avLst>
          </a:prstGeom>
          <a:solidFill>
            <a:srgbClr val="E8F1FC"/>
          </a:solidFill>
          <a:ln/>
        </p:spPr>
      </p:sp>
      <p:pic>
        <p:nvPicPr>
          <p:cNvPr id="20" name="Image 3" descr="preencoded.png">    </p:cNvPr>
          <p:cNvPicPr>
            <a:picLocks noChangeAspect="1"/>
          </p:cNvPicPr>
          <p:nvPr/>
        </p:nvPicPr>
        <p:blipFill>
          <a:blip r:embed="rId4"/>
          <a:stretch>
            <a:fillRect/>
          </a:stretch>
        </p:blipFill>
        <p:spPr>
          <a:xfrm>
            <a:off x="7509967" y="4336999"/>
            <a:ext cx="159106" cy="159106"/>
          </a:xfrm>
          <a:prstGeom prst="rect">
            <a:avLst/>
          </a:prstGeom>
        </p:spPr>
      </p:pic>
      <p:sp>
        <p:nvSpPr>
          <p:cNvPr id="21" name="Text 12"/>
          <p:cNvSpPr txBox="1"/>
          <p:nvPr/>
        </p:nvSpPr>
        <p:spPr>
          <a:xfrm>
            <a:off x="7836408" y="4256532"/>
            <a:ext cx="4206240" cy="329184"/>
          </a:xfrm>
          <a:prstGeom prst="rect">
            <a:avLst/>
          </a:prstGeom>
          <a:noFill/>
          <a:ln/>
        </p:spPr>
        <p:txBody>
          <a:bodyPr wrap="square" lIns="0" tIns="0" rIns="0" bIns="0" rtlCol="0" anchor="ctr"/>
          <a:lstStyle/>
          <a:p>
            <a:pPr indent="0" marL="0">
              <a:buNone/>
            </a:pPr>
            <a:r>
              <a:rPr lang="en-US" sz="1100" b="1" dirty="0">
                <a:solidFill>
                  <a:srgbClr val="0C3E86"/>
                </a:solidFill>
                <a:latin typeface="Arial" pitchFamily="34" charset="0"/>
                <a:ea typeface="Arial" pitchFamily="34" charset="-122"/>
                <a:cs typeface="Arial" pitchFamily="34" charset="-120"/>
              </a:rPr>
              <a:t>Adjacency scoring, top 5 of 10 (Cap &amp; Op inverse: 5 = low)</a:t>
            </a:r>
            <a:endParaRPr lang="en-US" sz="1100" dirty="0"/>
          </a:p>
        </p:txBody>
      </p:sp>
      <p:graphicFrame>
        <p:nvGraphicFramePr>
          <p:cNvPr id="37" name="Table 3"/>
          <p:cNvGraphicFramePr>
            <a:graphicFrameLocks noGrp="1"/>
          </p:cNvGraphicFramePr>
          <p:nvPr>
            <p:extLst>
              <p:ext uri="{D42A27DB-BD31-4B8C-83A1-F6EECF244321}">
                <p14:modId xmlns:p14="http://schemas.microsoft.com/office/powerpoint/2010/main" val="1579011935"/>
              </p:ext>
            </p:extLst>
          </p:nvPr>
        </p:nvGraphicFramePr>
        <p:xfrm>
          <a:off x="7452360" y="4572000"/>
          <a:ext cx="4233672" cy="914400"/>
        </p:xfrm>
        <a:graphic>
          <a:graphicData uri="http://schemas.openxmlformats.org/drawingml/2006/table">
            <a:tbl>
              <a:tblPr/>
              <a:tblGrid>
                <a:gridCol w="1307592"/>
                <a:gridCol w="365760"/>
                <a:gridCol w="365760"/>
                <a:gridCol w="365760"/>
                <a:gridCol w="365760"/>
                <a:gridCol w="365760"/>
                <a:gridCol w="365760"/>
                <a:gridCol w="365760"/>
                <a:gridCol w="548640"/>
              </a:tblGrid>
              <a:tr h="0">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Option</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D20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S20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C15</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M15</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O10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T10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R10</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c>
                  <a:txBody>
                    <a:bodyPr/>
                    <a:lstStyle/>
                    <a:p>
                      <a:pPr algn="ctr" indent="0" marL="0">
                        <a:buNone/>
                      </a:pPr>
                      <a:r>
                        <a:rPr lang="en-US" sz="630" b="1" dirty="0">
                          <a:solidFill>
                            <a:srgbClr val="FFFFFF"/>
                          </a:solidFill>
                          <a:latin typeface="Arial" pitchFamily="34" charset="0"/>
                          <a:ea typeface="Arial" pitchFamily="34" charset="-122"/>
                          <a:cs typeface="Arial" pitchFamily="34" charset="-120"/>
                        </a:rPr>
                        <a:t>Wtd</a:t>
                      </a:r>
                      <a:endParaRPr lang="en-US" sz="63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1568DC"/>
                    </a:solidFill>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STP retrofit + O&amp;M</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b="1" dirty="0">
                          <a:solidFill>
                            <a:srgbClr val="16202B"/>
                          </a:solidFill>
                          <a:latin typeface="Arial" pitchFamily="34" charset="0"/>
                          <a:ea typeface="Arial" pitchFamily="34" charset="-122"/>
                          <a:cs typeface="Arial" pitchFamily="34" charset="-120"/>
                        </a:rPr>
                        <a:t>4.65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IoT monitoring</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b="1" dirty="0">
                          <a:solidFill>
                            <a:srgbClr val="16202B"/>
                          </a:solidFill>
                          <a:latin typeface="Arial" pitchFamily="34" charset="0"/>
                          <a:ea typeface="Arial" pitchFamily="34" charset="-122"/>
                          <a:cs typeface="Arial" pitchFamily="34" charset="-120"/>
                        </a:rPr>
                        <a:t>4.55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Water-reuse module</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b="1" dirty="0">
                          <a:solidFill>
                            <a:srgbClr val="16202B"/>
                          </a:solidFill>
                          <a:latin typeface="Arial" pitchFamily="34" charset="0"/>
                          <a:ea typeface="Arial" pitchFamily="34" charset="-122"/>
                          <a:cs typeface="Arial" pitchFamily="34" charset="-120"/>
                        </a:rPr>
                        <a:t>4.30</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solidFill>
                      <a:srgbClr val="FCF1DA"/>
                    </a:solidFill>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Greywater recycling</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3.55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r h="0">
                <a:tc>
                  <a:txBody>
                    <a:bodyPr/>
                    <a:lstStyle/>
                    <a:p>
                      <a:pPr algn="l" indent="0" marL="0">
                        <a:buNone/>
                      </a:pPr>
                      <a:r>
                        <a:rPr lang="en-US" sz="620" dirty="0">
                          <a:solidFill>
                            <a:srgbClr val="16202B"/>
                          </a:solidFill>
                          <a:latin typeface="Arial" pitchFamily="34" charset="0"/>
                          <a:ea typeface="Arial" pitchFamily="34" charset="-122"/>
                          <a:cs typeface="Arial" pitchFamily="34" charset="-120"/>
                        </a:rPr>
                        <a:t>Advanced disinfection</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4</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c>
                  <a:txBody>
                    <a:bodyPr/>
                    <a:lstStyle/>
                    <a:p>
                      <a:pPr algn="ctr" indent="0" marL="0">
                        <a:buNone/>
                      </a:pPr>
                      <a:r>
                        <a:rPr lang="en-US" sz="620" dirty="0">
                          <a:solidFill>
                            <a:srgbClr val="16202B"/>
                          </a:solidFill>
                          <a:latin typeface="Arial" pitchFamily="34" charset="0"/>
                          <a:ea typeface="Arial" pitchFamily="34" charset="-122"/>
                          <a:cs typeface="Arial" pitchFamily="34" charset="-120"/>
                        </a:rPr>
                        <a:t>3.55</a:t>
                      </a:r>
                      <a:endParaRPr lang="en-US" sz="620" dirty="0">
                        <a:latin typeface="Arial" charset="0"/>
                        <a:ea typeface="Arial" charset="0"/>
                        <a:cs typeface="Arial" charset="0"/>
                      </a:endParaRPr>
                    </a:p>
                  </a:txBody>
                  <a:tcPr marL="45720" marR="45720" marT="32004" marB="32004" anchor="ctr">
                    <a:lnL w="6350" cap="flat" cmpd="sng" algn="ctr">
                      <a:solidFill>
                        <a:srgbClr val="DCE5EE"/>
                      </a:solidFill>
                      <a:prstDash val="solid"/>
                      <a:round/>
                      <a:headEnd type="none" w="med" len="med"/>
                      <a:tailEnd type="none" w="med" len="med"/>
                    </a:lnL>
                    <a:lnR w="6350" cap="flat" cmpd="sng" algn="ctr">
                      <a:solidFill>
                        <a:srgbClr val="DCE5EE"/>
                      </a:solidFill>
                      <a:prstDash val="solid"/>
                      <a:round/>
                      <a:headEnd type="none" w="med" len="med"/>
                      <a:tailEnd type="none" w="med" len="med"/>
                    </a:lnR>
                    <a:lnT w="6350" cap="flat" cmpd="sng" algn="ctr">
                      <a:solidFill>
                        <a:srgbClr val="DCE5EE"/>
                      </a:solidFill>
                      <a:prstDash val="solid"/>
                      <a:round/>
                      <a:headEnd type="none" w="med" len="med"/>
                      <a:tailEnd type="none" w="med" len="med"/>
                    </a:lnT>
                    <a:lnB w="6350" cap="flat" cmpd="sng" algn="ctr">
                      <a:solidFill>
                        <a:srgbClr val="DCE5EE"/>
                      </a:solidFill>
                      <a:prstDash val="solid"/>
                      <a:round/>
                      <a:headEnd type="none" w="med" len="med"/>
                      <a:tailEnd type="none" w="med" len="med"/>
                    </a:lnB>
                  </a:tcPr>
                </a:tc>
              </a:tr>
            </a:tbl>
          </a:graphicData>
        </a:graphic>
      </p:graphicFrame>
      <p:sp>
        <p:nvSpPr>
          <p:cNvPr id="23" name="Shape 13"/>
          <p:cNvSpPr/>
          <p:nvPr/>
        </p:nvSpPr>
        <p:spPr>
          <a:xfrm>
            <a:off x="3977640" y="5852160"/>
            <a:ext cx="7708392" cy="713232"/>
          </a:xfrm>
          <a:prstGeom prst="roundRect">
            <a:avLst>
              <a:gd name="adj" fmla="val 10256"/>
            </a:avLst>
          </a:prstGeom>
          <a:solidFill>
            <a:srgbClr val="F5F9FE"/>
          </a:solidFill>
          <a:ln w="12700">
            <a:solidFill>
              <a:srgbClr val="DCE5EE"/>
            </a:solidFill>
            <a:prstDash val="solid"/>
          </a:ln>
        </p:spPr>
      </p:sp>
      <p:sp>
        <p:nvSpPr>
          <p:cNvPr id="24" name="Text 14"/>
          <p:cNvSpPr txBox="1"/>
          <p:nvPr/>
        </p:nvSpPr>
        <p:spPr>
          <a:xfrm>
            <a:off x="4087368" y="5907024"/>
            <a:ext cx="7498080" cy="603504"/>
          </a:xfrm>
          <a:prstGeom prst="rect">
            <a:avLst/>
          </a:prstGeom>
          <a:noFill/>
          <a:ln/>
        </p:spPr>
        <p:txBody>
          <a:bodyPr wrap="square" lIns="0" tIns="0" rIns="0" bIns="0" rtlCol="0" anchor="t"/>
          <a:lstStyle/>
          <a:p>
            <a:pPr indent="0" marL="0">
              <a:lnSpc>
                <a:spcPct val="106000"/>
              </a:lnSpc>
              <a:buNone/>
            </a:pPr>
            <a:r>
              <a:rPr lang="en-US" sz="740" b="1" dirty="0">
                <a:solidFill>
                  <a:srgbClr val="0C3E86"/>
                </a:solidFill>
                <a:latin typeface="Arial" pitchFamily="34" charset="0"/>
                <a:ea typeface="Arial" pitchFamily="34" charset="-122"/>
                <a:cs typeface="Arial" pitchFamily="34" charset="-120"/>
              </a:rPr>
              <a:t>FY29 new-business mix: </a:t>
            </a:r>
            <a:pPr indent="0" marL="0">
              <a:lnSpc>
                <a:spcPct val="106000"/>
              </a:lnSpc>
              <a:buNone/>
            </a:pPr>
            <a:r>
              <a:rPr lang="en-US" sz="740" dirty="0">
                <a:solidFill>
                  <a:srgbClr val="16202B"/>
                </a:solidFill>
                <a:latin typeface="Arial" pitchFamily="34" charset="0"/>
                <a:ea typeface="Arial" pitchFamily="34" charset="-122"/>
                <a:cs typeface="Arial" pitchFamily="34" charset="-120"/>
              </a:rPr>
              <a:t>26 STP/ETP (avg ₹32 L) ₹8.3 cr + 8 retrofits ₹1.0 cr + ~230 bio-digesters ₹1.8 cr + AMC/monitoring/O&amp;M ₹0.8 cr = ₹11.9 cr.  </a:t>
            </a:r>
            <a:pPr indent="0" marL="0">
              <a:lnSpc>
                <a:spcPct val="106000"/>
              </a:lnSpc>
              <a:buNone/>
            </a:pPr>
            <a:r>
              <a:rPr lang="en-US" sz="740" b="1" dirty="0">
                <a:solidFill>
                  <a:srgbClr val="0C3E86"/>
                </a:solidFill>
                <a:latin typeface="Arial" pitchFamily="34" charset="0"/>
                <a:ea typeface="Arial" pitchFamily="34" charset="-122"/>
                <a:cs typeface="Arial" pitchFamily="34" charset="-120"/>
              </a:rPr>
              <a:t>Working capital: </a:t>
            </a:r>
            <a:pPr indent="0" marL="0">
              <a:lnSpc>
                <a:spcPct val="106000"/>
              </a:lnSpc>
              <a:buNone/>
            </a:pPr>
            <a:r>
              <a:rPr lang="en-US" sz="740" dirty="0">
                <a:solidFill>
                  <a:srgbClr val="16202B"/>
                </a:solidFill>
                <a:latin typeface="Arial" pitchFamily="34" charset="0"/>
                <a:ea typeface="Arial" pitchFamily="34" charset="-122"/>
                <a:cs typeface="Arial" pitchFamily="34" charset="-120"/>
              </a:rPr>
              <a:t>75 DSO → ₹5.2 cr receivables vs net worth &gt;₹12 cr + IPO WC.  </a:t>
            </a:r>
            <a:pPr indent="0" marL="0">
              <a:lnSpc>
                <a:spcPct val="106000"/>
              </a:lnSpc>
              <a:buNone/>
            </a:pPr>
            <a:r>
              <a:rPr lang="en-US" sz="740" b="1" dirty="0">
                <a:solidFill>
                  <a:srgbClr val="0C3E86"/>
                </a:solidFill>
                <a:latin typeface="Arial" pitchFamily="34" charset="0"/>
                <a:ea typeface="Arial" pitchFamily="34" charset="-122"/>
                <a:cs typeface="Arial" pitchFamily="34" charset="-120"/>
              </a:rPr>
              <a:t>Segment scores: </a:t>
            </a:r>
            <a:pPr indent="0" marL="0">
              <a:lnSpc>
                <a:spcPct val="106000"/>
              </a:lnSpc>
              <a:buNone/>
            </a:pPr>
            <a:r>
              <a:rPr lang="en-US" sz="740" dirty="0">
                <a:solidFill>
                  <a:srgbClr val="16202B"/>
                </a:solidFill>
                <a:latin typeface="Arial" pitchFamily="34" charset="0"/>
                <a:ea typeface="Arial" pitchFamily="34" charset="-122"/>
                <a:cs typeface="Arial" pitchFamily="34" charset="-120"/>
              </a:rPr>
              <a:t>hoteliers 4.50 · developers 3.80 · hospitals 3.75 · homeowners 3.45 · societies 3.20 · MSME 3.20 · schools 3.05 · commercial 3.05.</a:t>
            </a:r>
            <a:endParaRPr lang="en-US" sz="740" dirty="0"/>
          </a:p>
        </p:txBody>
      </p:sp>
      <p:sp>
        <p:nvSpPr>
          <p:cNvPr id="25" name="Text 15"/>
          <p:cNvSpPr txBox="1"/>
          <p:nvPr/>
        </p:nvSpPr>
        <p:spPr>
          <a:xfrm>
            <a:off x="457200" y="6519672"/>
            <a:ext cx="9966960" cy="274320"/>
          </a:xfrm>
          <a:prstGeom prst="rect">
            <a:avLst/>
          </a:prstGeom>
          <a:noFill/>
          <a:ln/>
        </p:spPr>
        <p:txBody>
          <a:bodyPr wrap="square" lIns="0" tIns="0" rIns="0" bIns="0" rtlCol="0" anchor="ctr"/>
          <a:lstStyle/>
          <a:p>
            <a:pPr indent="0" marL="0">
              <a:lnSpc>
                <a:spcPct val="100000"/>
              </a:lnSpc>
              <a:buNone/>
            </a:pPr>
            <a:r>
              <a:rPr lang="en-US" sz="680" dirty="0">
                <a:solidFill>
                  <a:srgbClr val="8C99A6"/>
                </a:solidFill>
                <a:latin typeface="Arial" pitchFamily="34" charset="0"/>
                <a:ea typeface="Arial" pitchFamily="34" charset="-122"/>
                <a:cs typeface="Arial" pitchFamily="34" charset="-120"/>
              </a:rPr>
              <a:t>All FY27-29 figures are team estimates; stock counts marked 'est.' are transparent proxies built from the sources on p.8 (RERA portals, Goa DoT, HVS-ANAROCK, BMW Rules registers).</a:t>
            </a:r>
            <a:endParaRPr lang="en-US" sz="680" dirty="0"/>
          </a:p>
        </p:txBody>
      </p:sp>
      <p:sp>
        <p:nvSpPr>
          <p:cNvPr id="26" name="Text 16"/>
          <p:cNvSpPr txBox="1"/>
          <p:nvPr/>
        </p:nvSpPr>
        <p:spPr>
          <a:xfrm>
            <a:off x="11384280" y="6519672"/>
            <a:ext cx="365760" cy="201168"/>
          </a:xfrm>
          <a:prstGeom prst="rect">
            <a:avLst/>
          </a:prstGeom>
          <a:noFill/>
          <a:ln/>
        </p:spPr>
        <p:txBody>
          <a:bodyPr wrap="square" lIns="0" tIns="0" rIns="0" bIns="0" rtlCol="0" anchor="ctr"/>
          <a:lstStyle/>
          <a:p>
            <a:pPr algn="r" indent="0" marL="0">
              <a:buNone/>
            </a:pPr>
            <a:r>
              <a:rPr lang="en-US" sz="900" b="1" dirty="0">
                <a:solidFill>
                  <a:srgbClr val="1568DC"/>
                </a:solidFill>
                <a:latin typeface="Arial" pitchFamily="34" charset="0"/>
                <a:ea typeface="Arial" pitchFamily="34" charset="-122"/>
                <a:cs typeface="Arial" pitchFamily="34" charset="-120"/>
              </a:rPr>
              <a:t>09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Consilium 2026 - EP Biocomposites Limited</dc:title>
  <dc:subject>PptxGenJS Presentation</dc:subject>
  <dc:creator>Team Wookies</dc:creator>
  <cp:lastModifiedBy>Team Wookies</cp:lastModifiedBy>
  <cp:revision>1</cp:revision>
  <dcterms:created xsi:type="dcterms:W3CDTF">2026-09-10T05:17:11Z</dcterms:created>
  <dcterms:modified xsi:type="dcterms:W3CDTF">2026-09-10T05:17:11Z</dcterms:modified>
</cp:coreProperties>
</file>