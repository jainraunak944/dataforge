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2A5B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A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F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790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3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0% churn</c:v>
                  </c:pt>
                  <c:pt idx="1">
                    <c:v>30% churn</c:v>
                  </c:pt>
                  <c:pt idx="2">
                    <c:v>37.5% churn</c:v>
                  </c:pt>
                  <c:pt idx="3">
                    <c:v>45% churn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18.2</c:v>
                </c:pt>
                <c:pt idx="1">
                  <c:v>26</c:v>
                </c:pt>
                <c:pt idx="2">
                  <c:v>29.1</c:v>
                </c:pt>
                <c:pt idx="3">
                  <c:v>33.1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1" i="0" strike="noStrike" sz="90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D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A5B"/>
              </a:solidFill>
              <a:effectLst/>
            </c:spPr>
          </c:dPt>
          <c:dPt>
            <c:idx val="1"/>
            <c:bubble3D val="0"/>
            <c:spPr>
              <a:solidFill>
                <a:srgbClr val="DCE8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Top-4 clients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54864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1417320"/>
            <a:ext cx="3291840" cy="3291840"/>
          </a:xfrm>
          <a:prstGeom prst="ellipse">
            <a:avLst/>
          </a:prstGeom>
          <a:ln w="12700">
            <a:solidFill>
              <a:srgbClr val="1F3F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67928" y="1737360"/>
            <a:ext cx="2651760" cy="2651760"/>
          </a:xfrm>
          <a:prstGeom prst="ellipse">
            <a:avLst/>
          </a:prstGeom>
          <a:ln w="12700">
            <a:solidFill>
              <a:srgbClr val="2B5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87968" y="2057400"/>
            <a:ext cx="2011680" cy="2011680"/>
          </a:xfrm>
          <a:prstGeom prst="ellipse">
            <a:avLst/>
          </a:prstGeom>
          <a:ln w="15875">
            <a:solidFill>
              <a:srgbClr val="3A67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08008" y="2377440"/>
            <a:ext cx="1371600" cy="1371600"/>
          </a:xfrm>
          <a:prstGeom prst="ellipse">
            <a:avLst/>
          </a:prstGeom>
          <a:ln w="19050">
            <a:solidFill>
              <a:srgbClr val="5B8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2697480"/>
            <a:ext cx="731520" cy="731520"/>
          </a:xfrm>
          <a:prstGeom prst="ellipse">
            <a:avLst/>
          </a:prstGeom>
          <a:ln w="25400">
            <a:solidFill>
              <a:srgbClr val="8FB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47504" y="2916936"/>
            <a:ext cx="292608" cy="2926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240280"/>
            <a:ext cx="3840480" cy="0"/>
          </a:xfrm>
          <a:prstGeom prst="line">
            <a:avLst/>
          </a:prstGeom>
          <a:noFill/>
          <a:ln w="9525">
            <a:solidFill>
              <a:srgbClr val="3A67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3063240"/>
            <a:ext cx="3840480" cy="0"/>
          </a:xfrm>
          <a:prstGeom prst="line">
            <a:avLst/>
          </a:prstGeom>
          <a:noFill/>
          <a:ln w="15875">
            <a:solidFill>
              <a:srgbClr val="8FB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3886200"/>
            <a:ext cx="3840480" cy="0"/>
          </a:xfrm>
          <a:prstGeom prst="line">
            <a:avLst/>
          </a:prstGeom>
          <a:noFill/>
          <a:ln w="9525">
            <a:solidFill>
              <a:srgbClr val="3A67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0496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33104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25712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0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03536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96144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88752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73968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66576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59184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0496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3104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25712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8320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0928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03536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96144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88752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81360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173968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66576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59184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47888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40496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33104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25712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18320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10928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03536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96144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88752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81360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73968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66576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759184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" y="1417320"/>
            <a:ext cx="73152" cy="26517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012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 ×  LIMINAL CUSTODY SOLUTIONS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960120" y="1783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SATOSHI GATE</a:t>
            </a:r>
            <a:endParaRPr lang="en-US" sz="4000" dirty="0"/>
          </a:p>
        </p:txBody>
      </p:sp>
      <p:sp>
        <p:nvSpPr>
          <p:cNvPr id="58" name="Text 56"/>
          <p:cNvSpPr txBox="1"/>
          <p:nvPr/>
        </p:nvSpPr>
        <p:spPr>
          <a:xfrm>
            <a:off x="96012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TRANSACTION RECOMMENDATION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60120" y="3657600"/>
            <a:ext cx="20116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60120" y="3794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access today. Control only when the economics are proven.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960120" y="5074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ETERNAL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960120" y="5349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Raunak Jain  ·  Sambhav Khandelwal  ·  Surya Swarup  ·  Naman Ghosh  ·  Akshith Aitha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0" y="6144768"/>
            <a:ext cx="7589520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0" y="6144768"/>
            <a:ext cx="7589520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0" y="6208776"/>
            <a:ext cx="7589520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11480" y="6263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DATAFORGE 2026  ·  CASE: PROJECT SATOSHI GATE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RECOMMENDATION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the capability — not the full-control risk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6355080"/>
            <a:ext cx="16002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acquire 100% of Liminal today.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Pursue a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20–30% strategic minority investment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anchored at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25%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a midpoint team assumption, combined with: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56032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56032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Commercial custody/MPC partnership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55264" y="256032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55264" y="256032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Standalone governance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06324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0632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Pre-agreed call option for future control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55264" y="306324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55264" y="30632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Retention- and performance-linked future consideration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9632" y="128016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STRUCTURE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36792" y="169164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fit is real: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Liminal provides institutional custody and MPC infrastructure relevant to tokenized assets, e₹/CBDC infrastructure and cross-border settlement.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control creates value leakage: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case assumes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30–45% ARR churn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within 12 months after a full acquisition.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economics are severe: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full ownership creates an assumed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₹750 Cr recurring annual FCF drag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Near-term earnings support is limited: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Liminal is currently approximately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breakeven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Staging preserves optionality: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Paytm secures strategic access while delaying irreversible control until customer and regulatory outcomes are observable.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794760"/>
            <a:ext cx="1136599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79476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1208" y="379476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ASK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251960"/>
            <a:ext cx="2212848" cy="548640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0" y="4251960"/>
            <a:ext cx="2212848" cy="548640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017520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37760" y="4251960"/>
            <a:ext cx="2212848" cy="54864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12080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EXERCISE / HOLD / WALK AWAY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251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Exercise control </a:t>
            </a:r>
            <a:r>
              <a:rPr lang="en-US" sz="11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after clearing all six gates: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Retention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155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4155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Capital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824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824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493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493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162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0162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831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8831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RATIONALE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 can extend Paytm from payments into institutional digital settlement infrastructure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6355080"/>
            <a:ext cx="11430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TODAY — exposure across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53056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53056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Merchant Payments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57472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57472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Consumer Financial Services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9632" y="128016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 ADDS — institutional-grade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36792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36792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Digital-Asset Custody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41208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41208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Multi-Party Computation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45624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45624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Asset Infrastructure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2697480"/>
            <a:ext cx="1136599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269748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" y="269748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BRIDGE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127248"/>
            <a:ext cx="2236622" cy="566928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66974" y="3127248"/>
            <a:ext cx="2236622" cy="566928"/>
          </a:xfrm>
          <a:prstGeom prst="chevron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041294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Custody &amp; MPC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5309" y="3127248"/>
            <a:ext cx="2236622" cy="566928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59629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Tokenized Assets / Treasury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03643" y="3127248"/>
            <a:ext cx="2236622" cy="566928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77963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e₹ / CBDC Infrastructure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421978" y="3127248"/>
            <a:ext cx="2236622" cy="566928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96298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B2B &amp; Cross-Border Settlement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" y="4023360"/>
            <a:ext cx="6766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4023360"/>
            <a:ext cx="676656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1208" y="40233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453128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4453128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445312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51560" y="4453128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Extends Paytm into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 adjacent to its core payments capabilities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4837176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4837176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8640" y="48371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051560" y="4837176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Paytm’s stated interest in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tokenized treasury and cross-border settlement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5221224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5221224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8640" y="52212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51560" y="5221224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Creates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optionality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across future regulated digital-asset and settlement use cases.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5605272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605272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8640" y="56052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51560" y="560527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Adds an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capability layer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without requiring Paytm to immediately own every underlying activity.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388352" y="4023360"/>
            <a:ext cx="4389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88352" y="4023360"/>
            <a:ext cx="43891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98080" y="4023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QUESTION → OUR VIEW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525512" y="4434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Paytm need </a:t>
            </a:r>
            <a:r>
              <a:rPr lang="en-US" sz="11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 ownership today</a:t>
            </a:r>
            <a:r>
              <a:rPr lang="en-US" sz="11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to capture this strategic value?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525512" y="5120640"/>
            <a:ext cx="4114800" cy="7315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662672" y="5120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strategic access can precede strategic control.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OWNERSHIP PARADOX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ownership risks impairing the very asset Paytm is paying to acquire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6355080"/>
            <a:ext cx="11430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2344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₹4,000 Cr FULL ACQUISITION CREATES FOUR IMMEDIATE PRESSURES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CUSTOMER CONFLICT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Liminal’s major institutional clients may resist having their custody provider owned by a competing payments platform.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ASSUMPTION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30–45% ARR lost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within 12 months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82696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82696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92424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REGULATORY CAPITAL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419856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ownership is assumed to trigger bank-like reserves against custodied assets.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19856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9584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ASSUMPTION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529584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₹750 Cr recurring annual FCF drag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53912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53912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63640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FINANCIAL PRESSURE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291072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 is currently approximately PAT breakeven.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91072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acquired earnings initially offset new-share dilution or financing costs.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25128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25128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34856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VALUATION PRESSURE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162288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pays ₹4,000 Cr ÷ ₹220 Cr ARR =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18.2× headline ARR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before accounting for acquisition-driven churn.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62288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72016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272016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18.2×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headline ARR, pre-churn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429768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297680"/>
            <a:ext cx="557784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21208" y="42976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DEAL PARADOX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4709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wants Liminal for its </a:t>
            </a:r>
            <a:r>
              <a:rPr lang="en-US" sz="13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franchise</a:t>
            </a:r>
            <a:r>
              <a:rPr lang="en-US" sz="13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but taking control may </a:t>
            </a:r>
            <a:r>
              <a:rPr lang="en-US" sz="13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weaken that franchise</a:t>
            </a:r>
            <a:r>
              <a:rPr lang="en-US" sz="13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99632" y="429768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99632" y="429768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09360" y="42976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IMPLICATION — separate the two questions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36792" y="4709160"/>
            <a:ext cx="2331720" cy="11430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28232" y="47091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attractiveness</a:t>
            </a:r>
            <a:r>
              <a:rPr lang="en-US" sz="12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Liminal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686800" y="470916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390888" y="4709160"/>
            <a:ext cx="2249424" cy="11430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482328" y="4709160"/>
            <a:ext cx="2066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 attractiveness</a:t>
            </a:r>
            <a:r>
              <a:rPr lang="en-US" sz="12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owning 100% today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OPTIONS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paths — assessed on strategic access, control, downside and reversibility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6355080"/>
            <a:ext cx="11430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11365992" cy="914400"/>
        </p:xfrm>
        <a:graphic>
          <a:graphicData uri="http://schemas.openxmlformats.org/drawingml/2006/table">
            <a:tbl>
              <a:tblPr/>
              <a:tblGrid>
                <a:gridCol w="2500518"/>
                <a:gridCol w="2216368"/>
                <a:gridCol w="2216368"/>
                <a:gridCol w="2216368"/>
                <a:gridCol w="221636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 ACQUISITION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MINORITY STAKE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JOINT VENTURE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WALK AWAY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Strategic access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through partnership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within JV scope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Full-control churn exposure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30–45% case assumption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specified — validate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specified — validate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₹750 Cr capital treatment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Case assumes applicable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specified — validate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specified — validate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Upfront commitment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Structure-dependent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Reversibility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Future-control optionality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Already exercised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be preserved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be negotiated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Lost unless partnership retained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11480" y="4434840"/>
            <a:ext cx="6766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4434840"/>
            <a:ext cx="6766560" cy="310896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" y="44348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8463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 + partnership + call option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the strongest starting structure because it defers the two largest unresolved risks: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3191256" cy="41148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3949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response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9624" y="5394960"/>
            <a:ext cx="3191256" cy="41148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49624" y="53949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capital treatment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88352" y="4434840"/>
            <a:ext cx="4389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88352" y="4434840"/>
            <a:ext cx="438912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0" y="4434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DISCIPLINE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525512" y="4846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do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assume minority ownership automatically eliminates churn or the ₹750 Cr capital requirement.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525512" y="5486400"/>
            <a:ext cx="4114800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25512" y="5486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become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gates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RECOMMENDED TRANSACTION ARCHITECTURE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Buy optionality first — pay for control only after uncertainty reduces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6355080"/>
            <a:ext cx="118872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402336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402336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1 — STRATEGIC ENTRY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assumption: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25% stake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the midpoint of the permitted 20–30% range. If priced pro-rata to the ₹4,000 Cr headline value: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240280"/>
            <a:ext cx="3749040" cy="50292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240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upfront investment = </a:t>
            </a:r>
            <a:r>
              <a:rPr lang="en-US" sz="12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₹1,000 Cr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Phase-1 funding: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09067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₹1,000 Cr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existing balance-sheet cash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new debt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new equity issuance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gross cash remains approximately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₹7,900 Cr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before fees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280160"/>
            <a:ext cx="33832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280160"/>
            <a:ext cx="3383280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27448" y="1280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COMMERCIAL PARTNERSHIP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contractual access to Liminal’s custody/MPC infrastructure for agreed Paytm use cases.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258568"/>
            <a:ext cx="33832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258568"/>
            <a:ext cx="3383280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27448" y="2258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GOVERNANCE RING-FENCE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624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Preserve operational, client-data and institutional independence.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3236976"/>
            <a:ext cx="33832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236976"/>
            <a:ext cx="3383280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27448" y="3236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PRE-AGREED CALL OPTION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receives the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right — not obligation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to acquire control after a defined validation period.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1280160"/>
            <a:ext cx="359359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3880" y="1280160"/>
            <a:ext cx="35935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93608" y="128016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FUTURE-CONTROL PRICING PRINCIPLE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1691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consideration capped at the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of: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321040" y="1993392"/>
            <a:ext cx="3337560" cy="329184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1993392"/>
            <a:ext cx="384048" cy="329184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21040" y="19933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823960" y="1993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Agreed headline valuation mechanics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21040" y="2395728"/>
            <a:ext cx="3337560" cy="329184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2395728"/>
            <a:ext cx="384048" cy="329184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1040" y="23957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823960" y="2395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Retained-ARR / performance-based value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321040" y="2834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 to: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21040" y="3108960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21040" y="3108960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retention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044684" y="3108960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44684" y="3108960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capital treatment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21040" y="3456432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321040" y="3456432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performance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044684" y="3456432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044684" y="3456432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agreed valuation cap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321040" y="3803904"/>
            <a:ext cx="3337560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321040" y="38039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customary transaction adjustments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1480" y="4343400"/>
            <a:ext cx="113659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" y="434340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21208" y="434340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LOGIC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4754880"/>
            <a:ext cx="5440680" cy="10515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85800" y="475488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 for </a:t>
            </a:r>
            <a:r>
              <a:rPr lang="en-US" sz="15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access</a:t>
            </a:r>
            <a:r>
              <a:rPr lang="en-US" sz="1500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today.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6199632" y="4754880"/>
            <a:ext cx="5440680" cy="10515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336792" y="475488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 for </a:t>
            </a: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</a:t>
            </a: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only after the retained value is observable.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FACTS VS TEAM ASSUMPTIONS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the model auditable: separate facts, calculations and assumptions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6355080"/>
            <a:ext cx="118872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2918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291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FACTS — PAYTM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Market capitalization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₹1,18,750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Diluted shares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₹8,900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Gross debt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₹350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Revenue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₹8,450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EBITDA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₹640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₹480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Diluted EPS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₹7.50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Credit rating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CRISIL AA− Stable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840480" y="1280160"/>
            <a:ext cx="32918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40480" y="1280160"/>
            <a:ext cx="3291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950208" y="12801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FACTS — LIMINAL / DEAL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691640"/>
          <a:ext cx="3108960" cy="914400"/>
        </p:xfrm>
        <a:graphic>
          <a:graphicData uri="http://schemas.openxmlformats.org/drawingml/2006/table">
            <a:tbl>
              <a:tblPr/>
              <a:tblGrid>
                <a:gridCol w="1492301"/>
                <a:gridCol w="1616659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Headline acquisition value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Headline consideration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₹2,100 Cr cash + ₹1,900 Cr equity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Current PAT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 breakeven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Four largest clients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60% of ARR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Full-acquisition churn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30–45%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Full-control capital drag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₹750 Cr annual FCF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UPI MDR benefit to Paytm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₹115 Cr/year incremental net revenue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7269480" y="1280160"/>
            <a:ext cx="4507992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269480" y="1280160"/>
            <a:ext cx="4507992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79208" y="1280160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ASSUMPTIONS — with the values used in the model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388352" y="1691640"/>
            <a:ext cx="2148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ownership: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25%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midpoint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Indicative minority investment: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₹1,000 Cr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pro-rata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funding: existing cash (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no debt/equity)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period: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months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 option window months 12–24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Minority/JV churn: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0%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(client-consent gate)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Minority/JV regulatory capital treatment: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nil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(RBI gate; tested at ₹195 / ₹750 Cr)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 ARR growth: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20%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p.a. (bear 10%, bull 30%)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EBITDA / PAT / FCF margins: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0% → 25%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(+5 pp/yr); PAT = 75% of EBITDA; FCF ≈ PAT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9601200" y="1691640"/>
            <a:ext cx="21031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Debt cost and tax rate: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8.5%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pre-tax; tax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25%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Cash yield foregone: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6.0%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pre-tax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WACC / required return: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12%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 terminal growth 5%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costs: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₹100 Cr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one-time; Phase-1 fees ₹15 Cr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Synergies: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₹0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 base case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MDR-to-PAT / FCF conversion: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80% × (1 − 25%) → ₹69 Cr/yr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Call-option mechanics: cap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₹3,000 Cr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₹1,650 Cr upfront + ≤ ₹1,350 Cr earn-out (55–100% retained ARR)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Future-control valuation methodology: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min(cap, 75% × 18.2× × retained ARR)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411480" y="5394960"/>
            <a:ext cx="11365992" cy="5943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8640" y="53949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MODELING PRINCIPLE:   CASE FACT  ≠  DERIVED CALCULATION  ≠  TEAM ASSUMPTION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7863840" y="53949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material assumption must be </a:t>
            </a: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disclosed and sensitivity-tested</a:t>
            </a: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VALUATION &amp; CHURN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18.2× headline ARR becomes 26–33× on retained ARR under full-control churn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6355080"/>
            <a:ext cx="123444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HEADLINE VALUATION  ·  ₹4,000 Cr ÷ ₹220 Cr ARR = 18.2× ARR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402690"/>
                <a:gridCol w="1186891"/>
                <a:gridCol w="1294790"/>
                <a:gridCol w="151058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Full-control churn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lost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 / 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18.2×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₹66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26.0×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37.5%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₹82.5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₹137.5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29.1×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₹99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33.1×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199632" y="1280160"/>
            <a:ext cx="5577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MULTIPLE ON RETAINED ARR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309360" y="1627632"/>
          <a:ext cx="5349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2"/>
          <p:cNvSpPr/>
          <p:nvPr/>
        </p:nvSpPr>
        <p:spPr>
          <a:xfrm>
            <a:off x="411480" y="3931920"/>
            <a:ext cx="42062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11480" y="3931920"/>
            <a:ext cx="42062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21208" y="3931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 AT THE ORIGINAL 18.2× MULTIPLE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43400"/>
          <a:ext cx="4023360" cy="914400"/>
        </p:xfrm>
        <a:graphic>
          <a:graphicData uri="http://schemas.openxmlformats.org/drawingml/2006/table">
            <a:tbl>
              <a:tblPr/>
              <a:tblGrid>
                <a:gridCol w="1046074"/>
                <a:gridCol w="1367942"/>
                <a:gridCol w="1609344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Churn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Implied value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~₹2,800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37.5%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₹137.5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~₹2,500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~₹2,200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4754880" y="3931920"/>
            <a:ext cx="3383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754880" y="3931920"/>
            <a:ext cx="338328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864608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RECOVERY HURDLE</a:t>
            </a:r>
            <a:endParaRPr lang="en-US" sz="11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4343400"/>
          <a:ext cx="320040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1408176"/>
                <a:gridCol w="10241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 churn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→ original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Growth required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 → ₹220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+42.9%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 → ₹220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+81.8%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34" name="Shape 28"/>
          <p:cNvSpPr/>
          <p:nvPr/>
        </p:nvSpPr>
        <p:spPr>
          <a:xfrm>
            <a:off x="4846320" y="5486400"/>
            <a:ext cx="3200400" cy="38404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937760" y="5486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…just to </a:t>
            </a:r>
            <a:r>
              <a:rPr lang="en-US" sz="1000" b="1" i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 the original ARR base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275320" y="3931920"/>
            <a:ext cx="35021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275320" y="3931920"/>
            <a:ext cx="350215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385048" y="3931920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STRUCTURING RESPONSE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8412480" y="434340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412480" y="434340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Deferred Consideration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10090404" y="434340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10090404" y="434340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Earn-Out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8412480" y="475488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412480" y="475488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CVR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10090404" y="475488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0090404" y="475488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Retention-Linked Payout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8412480" y="5193792"/>
            <a:ext cx="3246120" cy="6858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8503920" y="5193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MESSAGE:</a:t>
            </a: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 not pay ₹4,000 Cr unconditionally for revenue that may disappear because of the acquisition itself.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&amp; EPS IMPACT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the capital commitment to protect liquidity, leverage and dilution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6355080"/>
            <a:ext cx="123444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65760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FULL-ACQUISITION COUNTERFACTUAL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Headline consideration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1965960"/>
            <a:ext cx="3383280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₹2,100 Cr cash + ₹1,900 Cr equity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₹2,100 Cr is funded entirely from existing cash: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3383280" cy="914400"/>
        </p:xfrm>
        <a:graphic>
          <a:graphicData uri="http://schemas.openxmlformats.org/drawingml/2006/table">
            <a:tbl>
              <a:tblPr/>
              <a:tblGrid>
                <a:gridCol w="1488643"/>
                <a:gridCol w="947318"/>
                <a:gridCol w="947318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Before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Balance-sheet cash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₹8,900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₹6,800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4864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equity dilution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3383280" cy="914400"/>
        </p:xfrm>
        <a:graphic>
          <a:graphicData uri="http://schemas.openxmlformats.org/drawingml/2006/table">
            <a:tbl>
              <a:tblPr/>
              <a:tblGrid>
                <a:gridCol w="2097634"/>
                <a:gridCol w="128564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Step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Implied Paytm share price (₹1,18,750 Cr ÷ 64 Cr)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₹1,855/share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₹1,900 Cr equity consideration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1.02 Cr new shares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Pro-forma diluted shares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65.02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EPS if PAT remains ₹480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₹7.38 vs ₹7.50 baseline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206240" y="1280160"/>
            <a:ext cx="365760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20624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31596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MECHANICAL DILUTION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343400" y="1691640"/>
            <a:ext cx="3383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343400" y="1691640"/>
            <a:ext cx="3383280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453128" y="180136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 1.6%</a:t>
            </a:r>
            <a:endParaRPr 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4453128" y="2258568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mechanical EPS dilution: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₹7.38 vs ₹7.50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baseline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434340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…before: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4343400" y="3063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costs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acquired earnings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synergies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costs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transaction effects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343400" y="4663440"/>
            <a:ext cx="3383280" cy="1188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48056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MESSAGE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should follow risk resolution — not precede it.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8001000" y="1280160"/>
            <a:ext cx="3776472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001000" y="1280160"/>
            <a:ext cx="3776472" cy="310896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110728" y="128016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RECOMMENDED PHASE-1 STRUCTURE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813816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₹1,000 Cr cash investment for 25%</a:t>
            </a:r>
            <a:endParaRPr lang="en-US" sz="10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2011680"/>
          <a:ext cx="3520440" cy="914400"/>
        </p:xfrm>
        <a:graphic>
          <a:graphicData uri="http://schemas.openxmlformats.org/drawingml/2006/table">
            <a:tbl>
              <a:tblPr/>
              <a:tblGrid>
                <a:gridCol w="2182673"/>
                <a:gridCol w="1337767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Phase 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 remaining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~₹7,900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debt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shares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Immediate share-count dilution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4" name="Shape 39"/>
          <p:cNvSpPr/>
          <p:nvPr/>
        </p:nvSpPr>
        <p:spPr>
          <a:xfrm>
            <a:off x="8001000" y="3657600"/>
            <a:ext cx="377647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001000" y="3657600"/>
            <a:ext cx="37764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110728" y="365760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FUTURE-CONTROL FINANCING PRINCIPLE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8138160" y="4069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pre-commit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full financing mix today. At exercise: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8138160" y="443484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preserve sufficient liquidity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rating headroom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 leverage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 excessive equity dilution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contingent consideration where value remains uncertain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&amp; FCF BREAKEVEN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deal must clear two separate hurdles: accounting accretion and cash-flow viability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6355080"/>
            <a:ext cx="123444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ACCOUNTING / PAT TEST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Incremental PAT =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Liminal PAT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Realized operating synergies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Financing costs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Integration / operating costs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Other incremental expenses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3108960"/>
            <a:ext cx="3383280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Pro-Forma EPS = Pro-Forma PAT ÷ Diluted Shares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206240" y="12801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0624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1596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CASH / FCF TEST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664208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Incremental FCF =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Liminal FCF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Realized cash synergies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Applicable MDR cash contribution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₹750 Cr capital drag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Integration / other cash costs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343400" y="3108960"/>
            <a:ext cx="3383280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34340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Starting position:</a:t>
            </a:r>
            <a:r>
              <a:rPr lang="en-US" sz="8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Liminal ≈ PAT breakeven → limited acquired earnings to offset dilution or financing costs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8001000" y="1280160"/>
            <a:ext cx="377647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01000" y="1280160"/>
            <a:ext cx="37764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110728" y="128016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DISTINCTION — THE ₹115 Cr UPI MDR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8138160" y="16642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₹115 Cr UPI MDR benefit is </a:t>
            </a: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incremental Paytm net revenue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It is: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8138160" y="20299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automatically ₹115 Cr PAT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automatically ₹115 Cr FCF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created by acquiring Liminal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8138160" y="2697480"/>
            <a:ext cx="3520440" cy="7772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229600" y="2697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Treatment: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model it separately as a Paytm standalone corporate benefit / offset, using an explicit revenue-to-PAT / FCF conversion assumption (80% × (1 − 25%) → ₹69 Cr/yr; covers 15% of the drag gross, 9% after conversion).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411480" y="3657600"/>
            <a:ext cx="113659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11480" y="365760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21208" y="365760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BREAKEVEN RESULTS FROM THE TRANSACTION MODEL (TA base: 20% ARR growth, margins to 25%, 6% cash yield, ₹750 Cr drag; MDR excluded as it is not deal-driven)</a:t>
            </a:r>
            <a:endParaRPr lang="en-US" sz="11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41648"/>
          <a:ext cx="11091672" cy="914400"/>
        </p:xfrm>
        <a:graphic>
          <a:graphicData uri="http://schemas.openxmlformats.org/drawingml/2006/table">
            <a:tbl>
              <a:tblPr/>
              <a:tblGrid>
                <a:gridCol w="2662001"/>
                <a:gridCol w="1441917"/>
                <a:gridCol w="2772918"/>
                <a:gridCol w="2218334"/>
                <a:gridCol w="1996501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Scenario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Year-1 EPS (₹)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 / EPS breakeven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Annual FCF breakeven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Cumulative cash by Y10 (₹ Cr)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Minority phase — 25% for ₹1,000 Cr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6.84 (−8.9%)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Associate income covers foregone interest in Y9; EPS-dilutive by foregone cash yield only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achieved without dividends (−₹45 Cr/yr foregone interest)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(1,450) — recovered through equity value / exit, not cash yield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 control — 0% churn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6.08 (−18.9%)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 5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within 10 years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(9,481)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 control — 30% churn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5.46 (−27.2%)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 7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within 10 years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(9,867)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 control — base 37.5% churn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5.29 (−29.4%)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 8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within 10 years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(9,965)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 control — 45% churn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5.13 (−31.6%)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 8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within 10 years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(10,062)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411480" y="5532120"/>
            <a:ext cx="5577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11480" y="553212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521208" y="55321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CASE DOES NOT PROVIDE FOR LIMINAL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58338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 · margins · capex · working capital · growth · financing costs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a specific breakeven year is assumption-driven and sensitivity-tested (values above).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6199632" y="5532120"/>
            <a:ext cx="5577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199632" y="5532120"/>
            <a:ext cx="557784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309360" y="55321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CONTROL-EXERCISE RULE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6336792" y="58338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exercise control until the model demonstrates credible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/ EPS breakeven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credible </a:t>
            </a:r>
            <a:r>
              <a:rPr lang="en-US" sz="8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 breakeven</a:t>
            </a: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after regulatory capital requirements.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RETENTION &amp; GOVERNANCE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the institutional franchise through structural independence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6355080"/>
            <a:ext cx="19659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93192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9319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CONCENTRATION RISK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1645920"/>
          <a:ext cx="1828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60%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2331720" y="173736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HDFC Bank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Axis Bank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CoinDCX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ZebPay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60% of Liminal ARR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₹132 Cr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₹220 Cr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520440"/>
            <a:ext cx="36576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Full-control churn assumption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3931920"/>
            <a:ext cx="3657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3931920"/>
            <a:ext cx="3657600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4041648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₹66–99 Cr ARR lost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" y="4498848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equivalent to approximately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50–75%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the ARR represented by the four largest relationships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4983480"/>
            <a:ext cx="3657600" cy="8686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4983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MESSAGE: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Governance is not cosmetic — it is a valuation-protection mechanism.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480560" y="1280160"/>
            <a:ext cx="729691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1280160"/>
            <a:ext cx="729691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90288" y="1280160"/>
            <a:ext cx="7114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 ARCHITECTURE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91640"/>
          <a:ext cx="7022592" cy="914400"/>
        </p:xfrm>
        <a:graphic>
          <a:graphicData uri="http://schemas.openxmlformats.org/drawingml/2006/table">
            <a:tbl>
              <a:tblPr/>
              <a:tblGrid>
                <a:gridCol w="421356"/>
                <a:gridCol w="2668585"/>
                <a:gridCol w="39326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Mechanism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does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Standalone Liminal brand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Preserve institutional neutrality.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Arm’s-length board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Independent directors + clearly defined reserved matters.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Strict information barriers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unrestricted Paytm access to client-sensitive custody or transaction data.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Independent compliance &amp; cybersecurity oversight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Separate monitoring, escalation and reporting.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Neutral service standards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preferential treatment for Paytm-linked activity.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Client-protection framework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Structured communication, consent and change-of-control management.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Retention-linked consideration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Align seller economics with preservation of the institutional franchise.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&amp; CLOSING ARCHITECTURE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Resolve regulatory capital treatment before committing to control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6355080"/>
            <a:ext cx="19659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806952" cy="457200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" y="128016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SIGNING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0144" y="1280160"/>
            <a:ext cx="3806952" cy="457200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74464" y="128016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SIGNING → CLOSING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88808" y="1280160"/>
            <a:ext cx="3806952" cy="45720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63128" y="128016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POST-CLOSE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1828800"/>
            <a:ext cx="37033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 feasibility of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 ownership and commercial partnership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Determine expected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treatment of minority vs control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Conduct AML, data, cybersecurity and compliance diligence.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Conduct structured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key-client soundings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regulatory and customer conditions precedent.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42816" y="1828800"/>
            <a:ext cx="37033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9976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Address, as applicable: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379976" y="21945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RBI approval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regulatory path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Competition clearance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Securities-related approvals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consents / retention protections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Information-security readiness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material adverse regulatory change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74152" y="1828800"/>
            <a:ext cx="37033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11312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Standalone compliance framework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AML controls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segregation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Cybersecurity monitoring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Independent compliance reporting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Board-level risk oversight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480560"/>
            <a:ext cx="67665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480560"/>
            <a:ext cx="676656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1208" y="44805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IMPORTANT UNRESOLVED QUESTION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8920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minority ownership </a:t>
            </a:r>
            <a:r>
              <a:rPr lang="en-US" sz="12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avoid, reduce or still trigger</a:t>
            </a:r>
            <a:r>
              <a:rPr lang="en-US" sz="12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₹750 Cr capital requirement?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4406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case does not specify the answer.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88352" y="4480560"/>
            <a:ext cx="4389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88352" y="4480560"/>
            <a:ext cx="43891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0" y="4480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DECISION GATE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25512" y="4892040"/>
            <a:ext cx="4114800" cy="9601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35240" y="48920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</a:t>
            </a: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exercise full control until regulatory capital treatment is </a:t>
            </a: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known and incorporated into the FCF model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COMPETITIVE &amp; DOWNSIDE RESPONSE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urgency must not become a winner’s curse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6355080"/>
            <a:ext cx="19659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PHONEPE–MASTERCARD THREAT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exploratory consortium creates a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opportunity cost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if Paytm walks away. However, the case provides: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286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competing valuation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competing transaction terms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quantified bidder synergies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certainty of completion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128016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1596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RESPONSE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automatically match a higher bid.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 a risk-adjusted reservation value based on: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2286000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43400" y="2286000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retained ARR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2286000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89904" y="2286000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capital treatment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43400" y="2633472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43400" y="26334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retention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9904" y="2633472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89904" y="26334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impact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43400" y="2980944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3400" y="2980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/ FCF economics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9904" y="2980944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89904" y="2980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optionality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343400" y="3291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another bidder exceeds Paytm’s reservation value: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 away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rather than destroy shareholder value.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1280160"/>
            <a:ext cx="3776472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1280160"/>
            <a:ext cx="37764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10728" y="128016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PRINCIPLE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38160" y="1691640"/>
            <a:ext cx="3520440" cy="20116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75320" y="16916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Competitive pressure may change </a:t>
            </a: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</a:t>
            </a: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it should </a:t>
            </a: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change valuation discipline.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11480" y="3977640"/>
            <a:ext cx="1136599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397764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1208" y="397764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DOWNSIDE PLAYBOOK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776417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Trigger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Response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Churn &gt; 45%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 not exercise control / activate price protection / reassess partnership.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Capital requirement unacceptable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Remain minority / restructure / exit.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clients resist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Strengthen ring-fence; no control exercise without acceptable retention.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Paytm share price compresses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Avoid fixed-value equity issuance that creates excessive dilution.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 / FCF case fails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 not escalate capital because of sunk cost.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Regulatory / security conditions fail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Suspend exercise / terminate where contractual rights permit.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ROADMAP &amp; DECISION GATES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 → Validate → Exercise / Hold / Walk Away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27848" y="6355080"/>
            <a:ext cx="10515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721608" cy="502920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1 | 0–3 MONTHS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INVEST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42816" y="1280160"/>
            <a:ext cx="3721608" cy="502920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17136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2 | 3–12 MONTHS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VALIDATE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74152" y="1280160"/>
            <a:ext cx="3721608" cy="50292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48472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3 | ~12 MONTHS+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DECIDE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87452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01168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Acquire strategic minority stake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commercial custody/MPC partnership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Establish standalone governance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Negotiate call option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future-control pricing mechanics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Establish client and regulatory gates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integrated transaction model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42816" y="187452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9976" y="198424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19842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 retention · Key-client renewals · Concentration trajectory · Customer willingness under potential control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79976" y="2679192"/>
            <a:ext cx="34290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79976" y="27157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REGULATION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27157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Capital treatment · Approval path · Compliance requirements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79976" y="3410712"/>
            <a:ext cx="34290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79976" y="34472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3447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 trajectory · PAT progression · FCF generation · MDR conversion · Synergy realization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79976" y="4142232"/>
            <a:ext cx="34290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79976" y="41788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4178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Cybersecurity · AML · Data segregation · Operational resilience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74152" y="187452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11312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7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EXERCISE CONTROL — only if: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211312" y="216712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retention remains acceptable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capital treatment is economically viable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valuation remains within Paytm’s reservation value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PAT/EPS economics are supportable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 economics are supportable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 / compliance conditions are satisfied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211312" y="3310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27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HOLD MINORITY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211312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strategic value remains attractive but control economics remain unresolved.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211312" y="3904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 AWAY / UNWIND — if: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211312" y="4114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churn exceeds tolerance · capital drag destroys returns · key clients reject ownership · regulatory conditions deteriorate · valuation exceeds risk-adjusted value · PAT / FCF economics fail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1480" y="5047488"/>
            <a:ext cx="11365992" cy="94183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047488"/>
            <a:ext cx="1463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D3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BOARD MESSAGE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011680" y="5047488"/>
            <a:ext cx="9601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should not pay today for risks it can observe tomorrow. Secure Liminal’s strategic infrastructure through a </a:t>
            </a: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 investment and commercial partnership</a:t>
            </a: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Preserve the </a:t>
            </a: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right — not obligation</a:t>
            </a: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to acquire control. Commit the remaining capital only after </a:t>
            </a: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trust, regulatory capital treatment, valuation and cash-flow economics are proven</a:t>
            </a: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</a:t>
            </a: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access now. Control only when value is protected.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A1–A2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model key inputs · Churn sensitivity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278892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27889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A1 · PAYTM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2606040" cy="914400"/>
        </p:xfrm>
        <a:graphic>
          <a:graphicData uri="http://schemas.openxmlformats.org/drawingml/2006/table">
            <a:tbl>
              <a:tblPr/>
              <a:tblGrid>
                <a:gridCol w="1433322"/>
                <a:gridCol w="117271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Market capitalization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₹1,18,750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Diluted shares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₹8,900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Gross debt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₹350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Revenue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₹8,450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EBITDA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₹640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₹480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EPS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₹7.50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Rating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CRISIL AA− Stable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337560" y="1280160"/>
            <a:ext cx="278892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37560" y="1280160"/>
            <a:ext cx="27889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47288" y="1280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A1 · LIMINAL &amp; RISKS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691640"/>
          <a:ext cx="2606040" cy="914400"/>
        </p:xfrm>
        <a:graphic>
          <a:graphicData uri="http://schemas.openxmlformats.org/drawingml/2006/table">
            <a:tbl>
              <a:tblPr/>
              <a:tblGrid>
                <a:gridCol w="1511503"/>
                <a:gridCol w="109453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Headline 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Headline multiple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18.2× ARR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Current PAT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 breakeven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Top-four-client concentration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churn (full control)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30–45%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Capital FCF drag (full control)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₹750 Cr/year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429000" y="4343400"/>
            <a:ext cx="2606040" cy="1508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520440" y="43891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CORPORATE OFFSET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 MDR: 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₹115 Cr/year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incremental net revenue.
</a:t>
            </a: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 Liminal transaction synergy.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263640" y="1280160"/>
            <a:ext cx="551383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263640" y="1280160"/>
            <a:ext cx="551383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73368" y="1280160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A2 · CHURN SENSITIVITY</a:t>
            </a:r>
            <a:endParaRPr lang="en-US" sz="11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30952" cy="914400"/>
        </p:xfrm>
        <a:graphic>
          <a:graphicData uri="http://schemas.openxmlformats.org/drawingml/2006/table">
            <a:tbl>
              <a:tblPr/>
              <a:tblGrid>
                <a:gridCol w="1172809"/>
                <a:gridCol w="1279428"/>
                <a:gridCol w="1439357"/>
                <a:gridCol w="1439357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Churn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lost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multiple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18.2×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₹66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26.0×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37.5%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₹82.5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₹137.5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29.1×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₹99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33.1×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63550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HURDLE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355080" y="4023360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355080" y="4023360"/>
            <a:ext cx="2560320" cy="54864"/>
          </a:xfrm>
          <a:prstGeom prst="rect">
            <a:avLst/>
          </a:prstGeom>
          <a:solidFill>
            <a:srgbClr val="C2790F"/>
          </a:solidFill>
          <a:ln w="12700">
            <a:solidFill>
              <a:srgbClr val="C2790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464808" y="41330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7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+42.9%</a:t>
            </a:r>
            <a:endParaRPr lang="en-US" sz="2200" dirty="0"/>
          </a:p>
        </p:txBody>
      </p:sp>
      <p:sp>
        <p:nvSpPr>
          <p:cNvPr id="36" name="Text 31"/>
          <p:cNvSpPr txBox="1"/>
          <p:nvPr/>
        </p:nvSpPr>
        <p:spPr>
          <a:xfrm>
            <a:off x="6464808" y="459028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30% churn: ₹154 Cr → ₹220 Cr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9098280" y="4023360"/>
            <a:ext cx="2587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098280" y="4023360"/>
            <a:ext cx="2587752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9208008" y="413308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+81.8%</a:t>
            </a:r>
            <a:endParaRPr lang="en-US" sz="2200" dirty="0"/>
          </a:p>
        </p:txBody>
      </p:sp>
      <p:sp>
        <p:nvSpPr>
          <p:cNvPr id="40" name="Text 35"/>
          <p:cNvSpPr txBox="1"/>
          <p:nvPr/>
        </p:nvSpPr>
        <p:spPr>
          <a:xfrm>
            <a:off x="9208008" y="459028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45% churn: ₹121 Cr → ₹220 Cr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355080" y="5166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 required </a:t>
            </a:r>
            <a:r>
              <a:rPr lang="en-US" sz="1050" b="1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merely to recover the original ARR base</a:t>
            </a:r>
            <a:r>
              <a:rPr lang="en-US" sz="105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A3–A4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Retention-linked value framework · EPS / dilution bridge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A3 · RETENTION-LINKED VALUE — at the original 18.2× ARR multiple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971093"/>
                <a:gridCol w="1402690"/>
                <a:gridCol w="1510589"/>
                <a:gridCol w="151058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Churn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Implied value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 gap vs ₹4,000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~₹2,800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~₹1,200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37.5%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₹137.5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~₹2,500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~₹1,500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~₹2,200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~₹1,800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4864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STRUCTURING PRINCIPLE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2606040" cy="73152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023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Upfront consideration =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access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91840" y="4023360"/>
            <a:ext cx="2560320" cy="7315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8328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Contingent consideration = </a:t>
            </a: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retained economic value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892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Future-control price should remain subject to: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valuation cap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901952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901952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retained ARR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55264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55264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08576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08576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outcome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99632" y="128016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A4 · EPS / DILUTION BRIDGE — full-acquisition illustration</a:t>
            </a:r>
            <a:endParaRPr lang="en-US" sz="11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3344875"/>
                <a:gridCol w="205008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Step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Implied Paytm share price: ₹1,18,750 Cr ÷ 64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₹1,855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₹1,900 Cr equity consideration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1.02 Cr new shares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Pro-forma diluted shares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65.02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EPS, assuming PAT remains ₹480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₹7.38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EPS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₹7.50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Approximate mechanical dilution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~1.6%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0" name="Text 36"/>
          <p:cNvSpPr txBox="1"/>
          <p:nvPr/>
        </p:nvSpPr>
        <p:spPr>
          <a:xfrm>
            <a:off x="6336792" y="4389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…before: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336792" y="4709160"/>
            <a:ext cx="1694688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336792" y="4709160"/>
            <a:ext cx="169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expense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8141208" y="4709160"/>
            <a:ext cx="1694688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141208" y="4709160"/>
            <a:ext cx="169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acquired earnings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9945624" y="4709160"/>
            <a:ext cx="1694688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945624" y="4709160"/>
            <a:ext cx="169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synergies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336792" y="5120640"/>
            <a:ext cx="25968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336792" y="51206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costs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9043416" y="5120640"/>
            <a:ext cx="25968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043416" y="51206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transaction effects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vs FCF breakeven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ACCOUNTING / PAT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5394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Liminal PAT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Synergies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Financing costs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Integration / operating costs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= Incremental PAT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02920" y="4069080"/>
            <a:ext cx="5394960" cy="6400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4069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   </a:t>
            </a: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Pro-Forma EPS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99632" y="1280160"/>
            <a:ext cx="5577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CASH / FCF</a:t>
            </a:r>
            <a:endParaRPr lang="en-US" sz="11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5394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Liminal FCF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Cash synergies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Applicable MDR cash contribution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₹750 Cr capital drag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Integration cash costs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= Incremental FCF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11480" y="5120640"/>
            <a:ext cx="11365992" cy="8686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D3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RULE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2011680" y="51206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breakeven ≠ FCF breakeven.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Both must be demonstrated </a:t>
            </a: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independently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before exercising full control.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A6–A7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register &amp; mitigants · Board decision tree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60350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60350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A6 · RISK REGISTER &amp; MITIGANTS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852160" cy="914400"/>
        </p:xfrm>
        <a:graphic>
          <a:graphicData uri="http://schemas.openxmlformats.org/drawingml/2006/table">
            <a:tbl>
              <a:tblPr/>
              <a:tblGrid>
                <a:gridCol w="2457907"/>
                <a:gridCol w="339425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Transaction response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30–45% full-control churn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Minority first + retention-linked consideration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60% top-client concentration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Standalone governance + client protections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₹750 Cr annual capital drag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Regulatory gate before control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18.2× headline valuation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Retained-value pricing + valuation cap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Immediate equity dilution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 consideration; avoid Phase-1 issuance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Rating / leverage pressure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Phase-1 debt; reassess at control exercise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PhonePe–Mastercard counterbid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Reservation value + walk-away discipline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Paytm stock compression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Avoid excessive fixed-value equity dilution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AML / data / cyber risk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Independent compliance + information barriers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&gt;45% churn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control exercise / remediation / unwind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Regulatory deterioration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Condition precedent / termination protection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 PAT / FCF economics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 not escalate capital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583680" y="1280160"/>
            <a:ext cx="51937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0" y="1280160"/>
            <a:ext cx="51937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93408" y="1280160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A7 · BOARD DECISION TREE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20840" y="1691640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20840" y="1691640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452360" y="1691640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43800" y="17282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Liminal strategically valuable to Paytm?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543800" y="21122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7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↓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720840" y="2587752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20840" y="258775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452360" y="2587752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43800" y="2624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Paytm secure strategic access without immediate full control?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543800" y="3008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7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— Minority + Commercial Partnership ↓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720840" y="3483864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720840" y="3483864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452360" y="3483864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543800" y="3520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 client retention and regulatory capital outcomes acceptable after validation?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7543800" y="3904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7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→ Test valuation + PAT + FCF economics  |  NO → Hold minority / restructure / exit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720840" y="4379976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720840" y="4379976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452360" y="4379976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543800" y="4416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full control clear Paytm’s risk-adjusted financial and governance hurdles?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7543800" y="4800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7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→ Exercise call option  |  NO → Do not acquire control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720840" y="5303520"/>
            <a:ext cx="4919472" cy="54864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12280" y="5303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 STATE:</a:t>
            </a: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Control becomes an earned option — not a day-one commitment.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A8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Full-control funding envelope · Commercial partnership terms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7223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722376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A8 · FULL-CONTROL FUNDING CASES — year-1 EPS from the ₹7.50 baseline (team assumptions: 6% cash yield, 8.5% debt, 25% tax, 37.5% churn)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040880" cy="914400"/>
        </p:xfrm>
        <a:graphic>
          <a:graphicData uri="http://schemas.openxmlformats.org/drawingml/2006/table">
            <a:tbl>
              <a:tblPr/>
              <a:tblGrid>
                <a:gridCol w="2112264"/>
                <a:gridCol w="844906"/>
                <a:gridCol w="774497"/>
                <a:gridCol w="844906"/>
                <a:gridCol w="704088"/>
                <a:gridCol w="704088"/>
                <a:gridCol w="10561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Funding case (₹ Cr)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 remaining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Gross debt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shares (Cr)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Y1 EPS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vs ₹7.50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Gross debt / EBITDA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Case mix: 2,100 cash + 1,900 equity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6,800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1.02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₹5.29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−29%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0.5×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Mix: 1,400 cash + 700 debt + 1,900 equity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7,500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1,050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1.02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₹5.09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−32%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1.6×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equity 4,000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8,900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2.16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₹6.63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−12%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0.5×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2,100 debt + 1,900 equity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8,900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2,450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1.02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₹4.69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−38%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3.8× — breaches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cash 4,000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4,900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₹4.04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−46%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0.5×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Share-count-only view of case mix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6,800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1.02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₹7.38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−1.6%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0.5×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02920" y="3886200"/>
            <a:ext cx="7040880" cy="5943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886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Preferred funding envelope if control is eventually exercised:</a:t>
            </a: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cash ≤ ₹1,400 Cr, new debt ≤ ₹700 Cr (gross debt / EBITDA ≤ 1.5×), balance in contingent equity via the earn-out; liquidity floor ₹5,000 Cr; never an unconditional ₹4,000 Cr.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0" y="1280160"/>
            <a:ext cx="400507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0" y="1280160"/>
            <a:ext cx="40050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82128" y="128016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A8 · COMMERCIAL PARTNERSHIP — RIGHTS SECURED WITHOUT CONTROL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909560" y="16916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Custody / MPC access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agreed Paytm use cases: tokenized treasury, e₹ / CBDC settlement, cross-border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Service-level standards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identical to third-party institutional clients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Pricing framework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 arm’s length, benchmarked annually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segregation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no automatic Paytm access to client data or key material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Duration / renewal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multi-year term co-terminous with the option window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Termination rights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 change of control of either party, regulatory prohibition or material breach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4709160"/>
            <a:ext cx="113659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470916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21208" y="470916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READ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Equity is the least EPS-dilutive currency at Paytm’s ~247× trailing P/E, but a fixed-value issuance is exposed to share-price compression; debt-funding the cash leg breaches rating headroom; an all-cash deal breaches the liquidity floor. No mix rescues a full acquisition today — which is why the recommendation stages the capital and pays the control tranche only against retained ARR.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A9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Independent valuation cross-check · Call-option strike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60350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60350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A9 · INDEPENDENT VALUATION CROSS-CHECK — standalone DCF (team assumptions: 12% WACC, 5% terminal growth, margin → 25%, no churn, no drag)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852160" cy="914400"/>
        </p:xfrm>
        <a:graphic>
          <a:graphicData uri="http://schemas.openxmlformats.org/drawingml/2006/table">
            <a:tbl>
              <a:tblPr/>
              <a:tblGrid>
                <a:gridCol w="1989734"/>
                <a:gridCol w="1287475"/>
                <a:gridCol w="1170432"/>
                <a:gridCol w="140451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Liminal ARR growth, 10 years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DCF value (₹ Cr)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Multiple of ARR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Supports ₹4,000 Cr?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10% (bear)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3.7×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20% (base)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1,753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8.0×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 (bull)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3,658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16.6×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31.3% — break-even growth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4,000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18.2×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Only with zero churn and no drag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7,345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33.4×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03320"/>
          <a:ext cx="5852160" cy="914400"/>
        </p:xfrm>
        <a:graphic>
          <a:graphicData uri="http://schemas.openxmlformats.org/drawingml/2006/table">
            <a:tbl>
              <a:tblPr/>
              <a:tblGrid>
                <a:gridCol w="3218688"/>
                <a:gridCol w="2633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Cross-check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Headline offer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Standalone DCF, base case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₹1,753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Implied premium of headline over base DCF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+128%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WACC 11% / 14% (base growth)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₹2,127 Cr / ₹1,265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10-year NPV of ₹750 Cr drag at WACC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₹4,238 Cr — exceeds the price on its own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Conclusion: 18.2× is supportable only if Liminal compounds at ~31% for a decade with zero churn and no capital drag. The valuation is therefore acceptable only as a </a:t>
            </a:r>
            <a:r>
              <a:rPr lang="en-US" sz="900" b="1" i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 reached through retained ARR</a:t>
            </a:r>
            <a:r>
              <a:rPr lang="en-US" sz="900" i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never as an unconditional price.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583680" y="1280160"/>
            <a:ext cx="51937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583680" y="1280160"/>
            <a:ext cx="51937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693408" y="1280160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A9 · CALL-OPTION STRIKE — precise mechanics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720840" y="1691640"/>
            <a:ext cx="4919472" cy="6858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81228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 price = min( ₹3,000 Cr cap ,  75% × 18.2× × retained ARR 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paid as ₹1,650 Cr at exercise + earn-out ≤ ₹1,350 Cr, linear between 55% and 100% retained ARR (measured at month 18 post-control)</a:t>
            </a:r>
            <a:endParaRPr lang="en-US" sz="95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514600"/>
          <a:ext cx="4919472" cy="914400"/>
        </p:xfrm>
        <a:graphic>
          <a:graphicData uri="http://schemas.openxmlformats.org/drawingml/2006/table">
            <a:tbl>
              <a:tblPr/>
              <a:tblGrid>
                <a:gridCol w="983894"/>
                <a:gridCol w="885505"/>
                <a:gridCol w="885505"/>
                <a:gridCol w="1180673"/>
                <a:gridCol w="98389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Post-control churn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ARR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Earn-out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 price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incl. Phase 1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₹1,350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₹3,000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₹750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₹2,400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₹3,400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70%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₹450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₹2,100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₹3,100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55%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₹1,650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₹2,650 Cr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&gt;45%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&lt;55%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₹1,650 Cr floor — no exercise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5"/>
          <p:cNvSpPr txBox="1"/>
          <p:nvPr/>
        </p:nvSpPr>
        <p:spPr>
          <a:xfrm>
            <a:off x="6720840" y="4343400"/>
            <a:ext cx="4919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Adjusted for </a:t>
            </a: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outcome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no exercise unless written capital treatment is incorporated into the FCF model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Adjusted for </a:t>
            </a: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PAT and FCF breakeven demonstrated before exercise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Valuation cap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never exceeded: maximum total consideration = headline ₹4,000 Cr; maximum unconditional = ₹1,000 Cr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Earn-out settled in Paytm shares within a collar, or cash at Paytm’s election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Satoshi Gate</dc:title>
  <dc:subject>PptxGenJS Presentation</dc:subject>
  <dc:creator>Team ETERNAL</dc:creator>
  <cp:lastModifiedBy>Team ETERNAL</cp:lastModifiedBy>
  <cp:revision>1</cp:revision>
  <dcterms:created xsi:type="dcterms:W3CDTF">2026-09-24T17:08:14Z</dcterms:created>
  <dcterms:modified xsi:type="dcterms:W3CDTF">2026-09-24T17:08:14Z</dcterms:modified>
</cp:coreProperties>
</file>