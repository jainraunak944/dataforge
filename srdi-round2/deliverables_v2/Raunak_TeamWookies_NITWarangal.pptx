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vs petrol (fraction)</c:v>
                </c:pt>
              </c:strCache>
            </c:strRef>
          </c:tx>
          <c:spPr>
            <a:ln w="31750">
              <a:solidFill>
                <a:srgbClr val="2A765D"/>
              </a:solidFill>
            </a:ln>
          </c:spPr>
          <c:marker>
            <c:spPr>
              <a:solidFill>
                <a:srgbClr val="2A765D"/>
              </a:solidFill>
              <a:ln>
                <a:solidFill>
                  <a:srgbClr val="2A765D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1.0</c:v>
                </c:pt>
                <c:pt idx="1">
                  <c:v>1.3</c:v>
                </c:pt>
                <c:pt idx="2">
                  <c:v>1.6</c:v>
                </c:pt>
                <c:pt idx="3">
                  <c:v>2.0</c:v>
                </c:pt>
                <c:pt idx="4">
                  <c:v>2.4</c:v>
                </c:pt>
                <c:pt idx="5">
                  <c:v>2.8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</c:v>
                </c:pt>
                <c:pt idx="1">
                  <c:v>0.72</c:v>
                </c:pt>
                <c:pt idx="2">
                  <c:v>0.62</c:v>
                </c:pt>
                <c:pt idx="3">
                  <c:v>0.5</c:v>
                </c:pt>
                <c:pt idx="4">
                  <c:v>0.42</c:v>
                </c:pt>
                <c:pt idx="5">
                  <c:v>0.36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Engine-out NOx vs stoichiometric (ratio)</c:v>
                </c:pt>
              </c:strCache>
            </c:strRef>
          </c:tx>
          <c:spPr>
            <a:ln w="31750">
              <a:solidFill>
                <a:srgbClr val="B03A2E"/>
              </a:solidFill>
            </a:ln>
          </c:spPr>
          <c:marker>
            <c:spPr>
              <a:solidFill>
                <a:srgbClr val="B03A2E"/>
              </a:solidFill>
              <a:ln>
                <a:solidFill>
                  <a:srgbClr val="B03A2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1.0</c:v>
                </c:pt>
                <c:pt idx="1">
                  <c:v>1.3</c:v>
                </c:pt>
                <c:pt idx="2">
                  <c:v>1.6</c:v>
                </c:pt>
                <c:pt idx="3">
                  <c:v>2.0</c:v>
                </c:pt>
                <c:pt idx="4">
                  <c:v>2.4</c:v>
                </c:pt>
                <c:pt idx="5">
                  <c:v>2.8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</c:v>
                </c:pt>
                <c:pt idx="1">
                  <c:v>2.7</c:v>
                </c:pt>
                <c:pt idx="2">
                  <c:v>1.2</c:v>
                </c:pt>
                <c:pt idx="3">
                  <c:v>0.15</c:v>
                </c:pt>
                <c:pt idx="4">
                  <c:v>0.03</c:v>
                </c:pt>
                <c:pt idx="5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/>
                  <a:t>Air-fuel ratio, lambda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9E9E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Capital net of residual value</c:v>
                </c:pt>
              </c:strCache>
            </c:strRef>
          </c:tx>
          <c:spPr>
            <a:solidFill>
              <a:srgbClr val="2C4662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Continue on CNG
₹10.4 lakh, ₹5.2/km</c:v>
                </c:pt>
                <c:pt idx="1">
                  <c:v>Hydrogen retrofit
₹27.3 lakh, ₹13.7/km</c:v>
                </c:pt>
                <c:pt idx="2">
                  <c:v>Sell, buy compact BEV
₹11.0 lakh, ₹5.6/km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-0.57</c:v>
                </c:pt>
                <c:pt idx="1">
                  <c:v>2.66</c:v>
                </c:pt>
                <c:pt idx="2">
                  <c:v>4.92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Fuel or energy</c:v>
                </c:pt>
              </c:strCache>
            </c:strRef>
          </c:tx>
          <c:spPr>
            <a:solidFill>
              <a:srgbClr val="2A765D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Continue on CNG
₹10.4 lakh, ₹5.2/km</c:v>
                </c:pt>
                <c:pt idx="1">
                  <c:v>Hydrogen retrofit
₹27.3 lakh, ₹13.7/km</c:v>
                </c:pt>
                <c:pt idx="2">
                  <c:v>Sell, buy compact BEV
₹11.0 lakh, ₹5.6/km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7.64</c:v>
                </c:pt>
                <c:pt idx="1">
                  <c:v>21.01</c:v>
                </c:pt>
                <c:pt idx="2">
                  <c:v>3.15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Maintenance and tyres</c:v>
                </c:pt>
              </c:strCache>
            </c:strRef>
          </c:tx>
          <c:spPr>
            <a:solidFill>
              <a:srgbClr val="8CC5F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Continue on CNG
₹10.4 lakh, ₹5.2/km</c:v>
                </c:pt>
                <c:pt idx="1">
                  <c:v>Hydrogen retrofit
₹27.3 lakh, ₹13.7/km</c:v>
                </c:pt>
                <c:pt idx="2">
                  <c:v>Sell, buy compact BEV
₹11.0 lakh, ₹5.6/km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1.79</c:v>
                </c:pt>
                <c:pt idx="1">
                  <c:v>1.99</c:v>
                </c:pt>
                <c:pt idx="2">
                  <c:v>0.99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Insurance and inspection</c:v>
                </c:pt>
              </c:strCache>
            </c:strRef>
          </c:tx>
          <c:spPr>
            <a:solidFill>
              <a:srgbClr val="78797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Continue on CNG
₹10.4 lakh, ₹5.2/km</c:v>
                </c:pt>
                <c:pt idx="1">
                  <c:v>Hydrogen retrofit
₹27.3 lakh, ₹13.7/km</c:v>
                </c:pt>
                <c:pt idx="2">
                  <c:v>Sell, buy compact BEV
₹11.0 lakh, ₹5.6/km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0.67</c:v>
                </c:pt>
                <c:pt idx="1">
                  <c:v>0.9</c:v>
                </c:pt>
                <c:pt idx="2">
                  <c:v>1.08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In-shift time cost</c:v>
                </c:pt>
              </c:strCache>
            </c:strRef>
          </c:tx>
          <c:spPr>
            <a:solidFill>
              <a:srgbClr val="E09A1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Continue on CNG
₹10.4 lakh, ₹5.2/km</c:v>
                </c:pt>
                <c:pt idx="1">
                  <c:v>Hydrogen retrofit
₹27.3 lakh, ₹13.7/km</c:v>
                </c:pt>
                <c:pt idx="2">
                  <c:v>Sell, buy compact BEV
₹11.0 lakh, ₹5.6/km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0.89</c:v>
                </c:pt>
                <c:pt idx="1">
                  <c:v>0.71</c:v>
                </c:pt>
                <c:pt idx="2">
                  <c:v>0.89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9E9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₹ lakh, present value at 12 percent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Storage and mounting</c:v>
                </c:pt>
              </c:strCache>
            </c:strRef>
          </c:tx>
          <c:spPr>
            <a:solidFill>
              <a:srgbClr val="2A765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batch
₹7.7 lakh</c:v>
                </c:pt>
                <c:pt idx="1">
                  <c:v>10,000 per year
₹3.2 lakh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3.35</c:v>
                </c:pt>
                <c:pt idx="1">
                  <c:v>1.24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Fuel delivery</c:v>
                </c:pt>
              </c:strCache>
            </c:strRef>
          </c:tx>
          <c:spPr>
            <a:solidFill>
              <a:srgbClr val="256B98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batch
₹7.7 lakh</c:v>
                </c:pt>
                <c:pt idx="1">
                  <c:v>10,000 per year
₹3.2 lakh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1.46</c:v>
                </c:pt>
                <c:pt idx="1">
                  <c:v>0.46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Controls and safety</c:v>
                </c:pt>
              </c:strCache>
            </c:strRef>
          </c:tx>
          <c:spPr>
            <a:solidFill>
              <a:srgbClr val="2C4662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batch
₹7.7 lakh</c:v>
                </c:pt>
                <c:pt idx="1">
                  <c:v>10,000 per year
₹3.2 lakh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0.67</c:v>
                </c:pt>
                <c:pt idx="1">
                  <c:v>0.22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Engine and NOx provision</c:v>
                </c:pt>
              </c:strCache>
            </c:strRef>
          </c:tx>
          <c:spPr>
            <a:solidFill>
              <a:srgbClr val="E09A1E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batch
₹7.7 lakh</c:v>
                </c:pt>
                <c:pt idx="1">
                  <c:v>10,000 per year
₹3.2 lakh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0.43</c:v>
                </c:pt>
                <c:pt idx="1">
                  <c:v>0.19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Installation and testing</c:v>
                </c:pt>
              </c:strCache>
            </c:strRef>
          </c:tx>
          <c:spPr>
            <a:solidFill>
              <a:srgbClr val="8CC5F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batch
₹7.7 lakh</c:v>
                </c:pt>
                <c:pt idx="1">
                  <c:v>10,000 per year
₹3.2 lakh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0.34</c:v>
                </c:pt>
                <c:pt idx="1">
                  <c:v>0.11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Certification allocation</c:v>
                </c:pt>
              </c:strCache>
            </c:strRef>
          </c:tx>
          <c:spPr>
            <a:solidFill>
              <a:srgbClr val="78797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batch
₹7.7 lakh</c:v>
                </c:pt>
                <c:pt idx="1">
                  <c:v>10,000 per year
₹3.2 lakh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0.0</c:v>
                </c:pt>
                <c:pt idx="1">
                  <c:v>0.08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Warranty, margin, GST</c:v>
                </c:pt>
              </c:strCache>
            </c:strRef>
          </c:tx>
          <c:spPr>
            <a:solidFill>
              <a:srgbClr val="E1E6E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Pilot batch
₹7.7 lakh</c:v>
                </c:pt>
                <c:pt idx="1">
                  <c:v>10,000 per year
₹3.2 lakh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1.49</c:v>
                </c:pt>
                <c:pt idx="1">
                  <c:v>0.93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9E9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50" b="0"/>
                  <a:t>₹ lakh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95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 point 2028: 150 kg/day, delivered H2</c:v>
                </c:pt>
              </c:strCache>
            </c:strRef>
          </c:tx>
          <c:spPr>
            <a:ln w="31750">
              <a:solidFill>
                <a:srgbClr val="2C4662"/>
              </a:solidFill>
            </a:ln>
          </c:spPr>
          <c:marker>
            <c:spPr>
              <a:solidFill>
                <a:srgbClr val="2C4662"/>
              </a:solidFill>
              <a:ln>
                <a:solidFill>
                  <a:srgbClr val="2C466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 percent</c:v>
                </c:pt>
                <c:pt idx="1">
                  <c:v>35 percent</c:v>
                </c:pt>
                <c:pt idx="2">
                  <c:v>50 percent</c:v>
                </c:pt>
                <c:pt idx="3">
                  <c:v>65 percent</c:v>
                </c:pt>
                <c:pt idx="4">
                  <c:v>80 percent</c:v>
                </c:pt>
                <c:pt idx="5">
                  <c:v>95 percent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2780</c:v>
                </c:pt>
                <c:pt idx="1">
                  <c:v>1818</c:v>
                </c:pt>
                <c:pt idx="2">
                  <c:v>1433</c:v>
                </c:pt>
                <c:pt idx="3">
                  <c:v>1226</c:v>
                </c:pt>
                <c:pt idx="4">
                  <c:v>1096</c:v>
                </c:pt>
                <c:pt idx="5">
                  <c:v>1007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Hub 2030: 500 kg/day, delivered H2</c:v>
                </c:pt>
              </c:strCache>
            </c:strRef>
          </c:tx>
          <c:spPr>
            <a:ln w="31750">
              <a:solidFill>
                <a:srgbClr val="2A765D"/>
              </a:solidFill>
            </a:ln>
          </c:spPr>
          <c:marker>
            <c:spPr>
              <a:solidFill>
                <a:srgbClr val="2A765D"/>
              </a:solidFill>
              <a:ln>
                <a:solidFill>
                  <a:srgbClr val="2A765D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 percent</c:v>
                </c:pt>
                <c:pt idx="1">
                  <c:v>35 percent</c:v>
                </c:pt>
                <c:pt idx="2">
                  <c:v>50 percent</c:v>
                </c:pt>
                <c:pt idx="3">
                  <c:v>65 percent</c:v>
                </c:pt>
                <c:pt idx="4">
                  <c:v>80 percent</c:v>
                </c:pt>
                <c:pt idx="5">
                  <c:v>95 percent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1162</c:v>
                </c:pt>
                <c:pt idx="1">
                  <c:v>815</c:v>
                </c:pt>
                <c:pt idx="2">
                  <c:v>677</c:v>
                </c:pt>
                <c:pt idx="3">
                  <c:v>602</c:v>
                </c:pt>
                <c:pt idx="4">
                  <c:v>556</c:v>
                </c:pt>
                <c:pt idx="5">
                  <c:v>524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Petrol fuel parity ₹368/kg</c:v>
                </c:pt>
              </c:strCache>
            </c:strRef>
          </c:tx>
          <c:spPr>
            <a:ln w="31750">
              <a:solidFill>
                <a:srgbClr val="E09A1E"/>
              </a:solidFill>
            </a:ln>
          </c:spPr>
          <c:marker>
            <c:spPr>
              <a:solidFill>
                <a:srgbClr val="E09A1E"/>
              </a:solidFill>
              <a:ln>
                <a:solidFill>
                  <a:srgbClr val="E09A1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 percent</c:v>
                </c:pt>
                <c:pt idx="1">
                  <c:v>35 percent</c:v>
                </c:pt>
                <c:pt idx="2">
                  <c:v>50 percent</c:v>
                </c:pt>
                <c:pt idx="3">
                  <c:v>65 percent</c:v>
                </c:pt>
                <c:pt idx="4">
                  <c:v>80 percent</c:v>
                </c:pt>
                <c:pt idx="5">
                  <c:v>95 percent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368</c:v>
                </c:pt>
                <c:pt idx="1">
                  <c:v>368</c:v>
                </c:pt>
                <c:pt idx="2">
                  <c:v>368</c:v>
                </c:pt>
                <c:pt idx="3">
                  <c:v>368</c:v>
                </c:pt>
                <c:pt idx="4">
                  <c:v>368</c:v>
                </c:pt>
                <c:pt idx="5">
                  <c:v>368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CNG fuel parity ₹188/kg</c:v>
                </c:pt>
              </c:strCache>
            </c:strRef>
          </c:tx>
          <c:spPr>
            <a:ln w="31750">
              <a:solidFill>
                <a:srgbClr val="B03A2E"/>
              </a:solidFill>
            </a:ln>
          </c:spPr>
          <c:marker>
            <c:spPr>
              <a:solidFill>
                <a:srgbClr val="B03A2E"/>
              </a:solidFill>
              <a:ln>
                <a:solidFill>
                  <a:srgbClr val="B03A2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 percent</c:v>
                </c:pt>
                <c:pt idx="1">
                  <c:v>35 percent</c:v>
                </c:pt>
                <c:pt idx="2">
                  <c:v>50 percent</c:v>
                </c:pt>
                <c:pt idx="3">
                  <c:v>65 percent</c:v>
                </c:pt>
                <c:pt idx="4">
                  <c:v>80 percent</c:v>
                </c:pt>
                <c:pt idx="5">
                  <c:v>95 percent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188</c:v>
                </c:pt>
                <c:pt idx="1">
                  <c:v>188</c:v>
                </c:pt>
                <c:pt idx="2">
                  <c:v>188</c:v>
                </c:pt>
                <c:pt idx="3">
                  <c:v>188</c:v>
                </c:pt>
                <c:pt idx="4">
                  <c:v>188</c:v>
                </c:pt>
                <c:pt idx="5">
                  <c:v>188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9E9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50" b="0"/>
                  <a:t>₹ per kg delivered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 CO2e per km</c:v>
                </c:pt>
              </c:strCache>
            </c:strRef>
          </c:tx>
          <c:spPr>
            <a:solidFill>
              <a:srgbClr val="2A765D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Continue on CNG</c:v>
                </c:pt>
                <c:pt idx="1">
                  <c:v>Retrofit, green H2</c:v>
                </c:pt>
                <c:pt idx="2">
                  <c:v>Retrofit, grey H2</c:v>
                </c:pt>
                <c:pt idx="3">
                  <c:v>BEV, 2025 grid</c:v>
                </c:pt>
                <c:pt idx="4">
                  <c:v>BEV, 2030 grid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</c:v>
                </c:pt>
                <c:pt idx="1">
                  <c:v>89</c:v>
                </c:pt>
                <c:pt idx="2">
                  <c:v>208</c:v>
                </c:pt>
                <c:pt idx="3">
                  <c:v>176</c:v>
                </c:pt>
                <c:pt idx="4">
                  <c:v>134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3D3D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97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9E9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g CO2e per km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1pag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71"/>
            <a:ext cx="18288000" cy="1021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Recommendation: validate before selling. Run a 30-car hydrogen retrofit pilot in a captive Faridabad fleet and scale only if delivered hydrogen falls below about ₹190 per 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The brief asks whether retrofits can be a safe, affordable, viable complement to BEVs by 2030. Evidence answer: safe with engineering, not affordable at unsubsidised hydrogen prices, viable only as a station-limited niche.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1874519"/>
            <a:ext cx="66751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Stations, not demand, set the niche: bottom-up funnel to 2030 (model)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185415"/>
            <a:ext cx="667512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2258567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CNG vehicles on road, Mar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2331719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749040" y="2331719"/>
            <a:ext cx="3429000" cy="356616"/>
          </a:xfrm>
          <a:prstGeom prst="rect">
            <a:avLst/>
          </a:prstGeom>
          <a:solidFill>
            <a:srgbClr val="8CC5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331719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8,195,000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43783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Passenger cars (estimate, 55 percent)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2916935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749040" y="2916935"/>
            <a:ext cx="3201509" cy="356616"/>
          </a:xfrm>
          <a:prstGeom prst="rect">
            <a:avLst/>
          </a:prstGeom>
          <a:solidFill>
            <a:srgbClr val="8CC5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49040" y="2916935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4,507,250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28999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Factory-fitted, boot bay, under 6 yr in 2028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3502151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749040" y="3502151"/>
            <a:ext cx="2937750" cy="356616"/>
          </a:xfrm>
          <a:prstGeom prst="rect">
            <a:avLst/>
          </a:prstGeom>
          <a:solidFill>
            <a:srgbClr val="8CC5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49040" y="3502151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2,253,625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14215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In commercial or institutional fleets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4087367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749040" y="4087367"/>
            <a:ext cx="2325322" cy="356616"/>
          </a:xfrm>
          <a:prstGeom prst="rect">
            <a:avLst/>
          </a:prstGeom>
          <a:solidFill>
            <a:srgbClr val="8CC5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49040" y="4087367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450,725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99431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In cities with a hydrogen hub by 2030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4672583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749040" y="4672583"/>
            <a:ext cx="1976652" cy="356616"/>
          </a:xfrm>
          <a:prstGeom prst="rect">
            <a:avLst/>
          </a:prstGeom>
          <a:solidFill>
            <a:srgbClr val="8CC5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749040" y="4672583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180,290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84647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Early adopters, return-to-base (hypothesis)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5257799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749040" y="5257799"/>
            <a:ext cx="836707" cy="356616"/>
          </a:xfrm>
          <a:prstGeom prst="rect">
            <a:avLst/>
          </a:prstGeom>
          <a:solidFill>
            <a:srgbClr val="256B9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49040" y="5257799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9,014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69863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Station-limited capacity: 8 hubs x 174 cars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5843015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749040" y="5843015"/>
            <a:ext cx="126483" cy="356616"/>
          </a:xfrm>
          <a:prstGeom prst="rect">
            <a:avLst/>
          </a:prstGeom>
          <a:solidFill>
            <a:srgbClr val="256B9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749040" y="5843015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1,394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355079"/>
            <a:ext cx="3200400" cy="5029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Realistic converted fleet, 2030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40" y="6428231"/>
            <a:ext cx="3429000" cy="356616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749040" y="6428231"/>
            <a:ext cx="126483" cy="356616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749040" y="6428231"/>
            <a:ext cx="3355848" cy="3566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D3D3B"/>
                </a:solidFill>
                <a:latin typeface="Arial"/>
              </a:rPr>
              <a:t>1,394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986015"/>
            <a:ext cx="667512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787974"/>
                </a:solidFill>
                <a:latin typeface="Arial"/>
              </a:rPr>
              <a:t>Bar length on a log10 scale (1,000 to 8.2 million). One 500 kg/day hub at 70 percent utilisation serves 174 cars at 2.0 kg per car per day; demand (9,000) exceeds station capacity (1,394) sevenfold. Round 1 said 1,00,000 cars.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7644383"/>
            <a:ext cx="2133600" cy="196596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02920" y="7644383"/>
            <a:ext cx="2133600" cy="329184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76072" y="7644383"/>
            <a:ext cx="204216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SAFE: yes, with engineering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" y="8046719"/>
            <a:ext cx="1987296" cy="1554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Composite cylinder, thermal relief, twin sensors, lean burn with NOx control. No approval route exists for a hydrogen retrofit today: gate 1.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73680" y="7644383"/>
            <a:ext cx="2133600" cy="196596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2773680" y="7644383"/>
            <a:ext cx="2133600" cy="3291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846832" y="7644383"/>
            <a:ext cx="204216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AFFORDABLE: not by 2030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46832" y="8046719"/>
            <a:ext cx="1987296" cy="1554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₹13.7/km converted vs ₹5.2/km on CNG at ₹800/kg (2028). CNG fuel parity needs ₹188/kg; cheapest 2030 forecast about ₹360/kg.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44440" y="7644383"/>
            <a:ext cx="2133600" cy="196596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044440" y="7644383"/>
            <a:ext cx="2133600" cy="329184"/>
          </a:xfrm>
          <a:prstGeom prst="rect">
            <a:avLst/>
          </a:prstGeom>
          <a:solidFill>
            <a:srgbClr val="E09A1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17592" y="7644383"/>
            <a:ext cx="204216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COMPLEMENT: niche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7592" y="8046719"/>
            <a:ext cx="1987296" cy="1554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A compact BEV costs ₹5.6/km including purchase. Hydrogen retrofits fit captive fleets beside hydrogen hubs, about 1,400 cars by 2030.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1874519"/>
            <a:ext cx="50749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Initial customer and use case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52360" y="2185415"/>
            <a:ext cx="507492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7452360" y="2258567"/>
            <a:ext cx="10515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Donor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2258567"/>
            <a:ext cx="40233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Maruti Suzuki Dzire Tour S CNG, 3 to 5 years old, factory bi-fuel; petrol stays as automatic backup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452360" y="2935223"/>
            <a:ext cx="50749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7452360" y="2971799"/>
            <a:ext cx="10515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Fleet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2971799"/>
            <a:ext cx="40233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Captive, return-to-base institutional and contract fleets: PSU and corporate staff transport, airport contracts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452360" y="3648455"/>
            <a:ext cx="50749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7452360" y="3685031"/>
            <a:ext cx="10515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Duty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3685031"/>
            <a:ext cx="40233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150 to 210 km per day, 330 days; two depot fills per day give about 120 km on hydrogen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452360" y="4361687"/>
            <a:ext cx="50749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452360" y="4398263"/>
            <a:ext cx="10515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Location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4398263"/>
            <a:ext cx="40233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Faridabad, Delhi-NCR: IOCL R&amp;D hydrogen dispensing point and the MNRE Sahibabad-Faridabad-Delhi corridor (sanctioned Mar 2025)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452360" y="5074919"/>
            <a:ext cx="50749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7452360" y="5111495"/>
            <a:ext cx="10515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Excluded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5111495"/>
            <a:ext cx="40233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Delhi app-cabs: aggregator scheme counts only EVs; CAQM allows only CNG or EV new aggregator cars from Jan 2026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452360" y="5788151"/>
            <a:ext cx="50749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7452360" y="5824727"/>
            <a:ext cx="10515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Second hub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5824727"/>
            <a:ext cx="4023360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Ahmedabad-Vadodara-Surat corridor; Gujarat funds 30 percent of the first 20 hydrogen stations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452360" y="6501383"/>
            <a:ext cx="50749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7452360" y="6647687"/>
            <a:ext cx="50749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Decision metrics (model, 2028 decision, 5 years)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452360" y="6958583"/>
            <a:ext cx="507492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75" name="Rectangle 74"/>
          <p:cNvSpPr/>
          <p:nvPr/>
        </p:nvSpPr>
        <p:spPr>
          <a:xfrm>
            <a:off x="7452360" y="7031735"/>
            <a:ext cx="2468880" cy="1115568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7452360" y="7031735"/>
            <a:ext cx="54864" cy="1115568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580376" y="7077455"/>
            <a:ext cx="22860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000">
                <a:solidFill>
                  <a:srgbClr val="001D57"/>
                </a:solidFill>
                <a:latin typeface="Arial"/>
              </a:rPr>
              <a:t>₹13.7 vs 5.2 vs 5.6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0376" y="7507223"/>
            <a:ext cx="2286000" cy="6126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per km: retrofit vs stay on CNG vs BEV (levelised, all-in)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58400" y="7031735"/>
            <a:ext cx="2468880" cy="1115568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0058400" y="7031735"/>
            <a:ext cx="54864" cy="1115568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0186416" y="7077455"/>
            <a:ext cx="22860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000">
                <a:solidFill>
                  <a:srgbClr val="001D57"/>
                </a:solidFill>
                <a:latin typeface="Arial"/>
              </a:rPr>
              <a:t>₹188/kg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86416" y="7507223"/>
            <a:ext cx="2286000" cy="6126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delivered hydrogen price for fuel parity with CNG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52360" y="8257031"/>
            <a:ext cx="2468880" cy="1115568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7452360" y="8257031"/>
            <a:ext cx="54864" cy="1115568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7580376" y="8302751"/>
            <a:ext cx="22860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000">
                <a:solidFill>
                  <a:srgbClr val="001D57"/>
                </a:solidFill>
                <a:latin typeface="Arial"/>
              </a:rPr>
              <a:t>61 km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80376" y="8732519"/>
            <a:ext cx="2286000" cy="6126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per hydrogen fill (1.12 kg usable); 555 km petrol backup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58400" y="8257031"/>
            <a:ext cx="2468880" cy="1115568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0058400" y="8257031"/>
            <a:ext cx="54864" cy="1115568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0186416" y="8302751"/>
            <a:ext cx="22860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000">
                <a:solidFill>
                  <a:srgbClr val="001D57"/>
                </a:solidFill>
                <a:latin typeface="Arial"/>
              </a:rPr>
              <a:t>~1,400 cars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86416" y="8732519"/>
            <a:ext cx="2286000" cy="6126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conditional 2030 fleet, station-limited (Round 1: 1,00,000)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801600" y="1874519"/>
            <a:ext cx="49834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Conditions for success and where they stand today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2801600" y="2185415"/>
            <a:ext cx="49834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12801600" y="2258567"/>
            <a:ext cx="370332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Retrofit approval route defined (gate 1, Mar 2027)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801600" y="2670047"/>
            <a:ext cx="370332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None exists; AIS-195 covers new vehicles only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6596360" y="2404871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2801600" y="3063239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12801600" y="3099815"/>
            <a:ext cx="370332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Delivered hydrogen at or below ₹250/kg by 2030 with a path to ₹188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01600" y="3511295"/>
            <a:ext cx="370332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Model hub ₹584; CEEW central ₹360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6596360" y="32461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09A1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FFFFFF"/>
                </a:solidFill>
                <a:latin typeface="Arial"/>
              </a:rPr>
              <a:t>Not met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2801600" y="3904487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01" name="TextBox 100"/>
          <p:cNvSpPr txBox="1"/>
          <p:nvPr/>
        </p:nvSpPr>
        <p:spPr>
          <a:xfrm>
            <a:off x="12801600" y="3941063"/>
            <a:ext cx="370332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Certified kit at or below ₹2.5 lakh installed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801600" y="4352543"/>
            <a:ext cx="370332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₹3.2 lakh at 10,000/yr; ₹7.7 lakh pilot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6596360" y="408736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09A1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FFFFFF"/>
                </a:solidFill>
                <a:latin typeface="Arial"/>
              </a:rPr>
              <a:t>Not met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2801600" y="4745735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12801600" y="4782311"/>
            <a:ext cx="370332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NOx at or below 60 mg/km on the BS-VI cycle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801600" y="5193791"/>
            <a:ext cx="370332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Lean burn plus NOx trap provision; not yet tested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6596360" y="4928615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09A1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2801600" y="5586983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12801600" y="5623559"/>
            <a:ext cx="370332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01D57"/>
                </a:solidFill>
                <a:latin typeface="Arial"/>
              </a:rPr>
              <a:t>Three fleets willing to accept 48 percent power loss and a smaller boot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801600" y="6035039"/>
            <a:ext cx="370332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No interviews yet; Phase 0 buys 30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6596360" y="5769863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8A8D8F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2801600" y="6428231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13" name="TextBox 112"/>
          <p:cNvSpPr txBox="1"/>
          <p:nvPr/>
        </p:nvSpPr>
        <p:spPr>
          <a:xfrm>
            <a:off x="12801600" y="6574535"/>
            <a:ext cx="49834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What changed since Round 1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2801600" y="6885431"/>
            <a:ext cx="49834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115" name="TextBox 114"/>
          <p:cNvSpPr txBox="1"/>
          <p:nvPr/>
        </p:nvSpPr>
        <p:spPr>
          <a:xfrm>
            <a:off x="12801600" y="6958583"/>
            <a:ext cx="114300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Fallback fuel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944600" y="6958583"/>
            <a:ext cx="384048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petrol already fitted, not a second CNG cylinder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801600" y="7434071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18" name="TextBox 117"/>
          <p:cNvSpPr txBox="1"/>
          <p:nvPr/>
        </p:nvSpPr>
        <p:spPr>
          <a:xfrm>
            <a:off x="12801600" y="7470647"/>
            <a:ext cx="114300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Price basis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944600" y="7470647"/>
            <a:ext cx="384048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pump price (₹584 to 1,433/kg), not production cost (₹160 to 200)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2801600" y="7946135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21" name="TextBox 120"/>
          <p:cNvSpPr txBox="1"/>
          <p:nvPr/>
        </p:nvSpPr>
        <p:spPr>
          <a:xfrm>
            <a:off x="12801600" y="7982711"/>
            <a:ext cx="114300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Rollout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944600" y="7982711"/>
            <a:ext cx="384048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3 prototypes, 30 pilot cars, about 1,400 by 2030, not 1,00,000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801600" y="8458199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24" name="TextBox 123"/>
          <p:cNvSpPr txBox="1"/>
          <p:nvPr/>
        </p:nvSpPr>
        <p:spPr>
          <a:xfrm>
            <a:off x="12801600" y="8494775"/>
            <a:ext cx="114300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Stop rules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944600" y="8494775"/>
            <a:ext cx="3840480" cy="5120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four gates with proceed, redesign or stop criteria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2801600" y="8970263"/>
            <a:ext cx="498348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27" name="TextBox 126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PNGRB citing Vahan, 81.95 lakh CNG vehicles [W3-S2]; Delhi aggregator scheme [W3-S17]; CAQM direction [W3-S19]; IOCL Faridabad [W3-S46]; MNRE corridors, PIB 3 Mar 2025 [W3-S36]; Gujarat policy [W4-S76]; CEEW 2025 [W4-S22]; workbook sheets Market, TCO, Energy_Range.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Technology choice: H2-ICE is the only route that is a retrofit in cost and scope, but its fuel economics are the weakest; a fuel-cell conversion costs as much as a new BEV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Matched criteria for the same donor and duty: Dzire Tour S CNG, 55,000 km per year, owner decision in 2028. Model outputs unless a source ID is given; estimates are labelled.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11750037" cy="5760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74745"/>
                <a:gridCol w="2876311"/>
                <a:gridCol w="2692717"/>
                <a:gridCol w="2570321"/>
                <a:gridCol w="1835943"/>
              </a:tblGrid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FFFFFF"/>
                          </a:solidFill>
                          <a:latin typeface="Arial"/>
                        </a:rPr>
                        <a:t>H2-ICE retrofit (selected)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FFFFFF"/>
                          </a:solidFill>
                          <a:latin typeface="Arial"/>
                        </a:rPr>
                        <a:t>Fuel-cell conversion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FFFFFF"/>
                          </a:solidFill>
                          <a:latin typeface="Arial"/>
                        </a:rPr>
                        <a:t>New compact BEV, donor sold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200">
                          <a:solidFill>
                            <a:srgbClr val="FFFFFF"/>
                          </a:solidFill>
                          <a:latin typeface="Arial"/>
                        </a:rPr>
                        <a:t>Continue on CNG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Scope of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Cylinder, lines, injectors, ECU, sensors; engine and petrol system retained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Whole powertrain: stack, battery, motor, inverter, cooling, tank,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New vehicle; donor sold for about ₹3.5 lakh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Cost to the owner, 2028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₹3.2 lakh installed at 10,000/yr (₹7.7 lakh pilot)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₹15 to 25 lakh pilot; ₹8 to 12 lakh at volume (estimate, W4)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₹10.5 lakh (Tiago EV to Punch EV class) [W3-S27]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Energy cost per km, 2028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₹12.0 blended; hydrogen km ₹14.8 at ₹800/kg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About half of H2-ICE per hydrogen km (stack efficiency)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₹1.5 at ₹6 depot, ₹20 public per kWh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₹3.6 at ₹87/kg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All-in cost per km, 5 years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₹13.7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Not modelled (capital above BEV)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₹5.6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₹5.2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Range per fill or charge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61 km on hydrogen plus 555 km petrol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About 2x H2-ICE on the same tank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187 to 260 km, real-world tests [W3-S30]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About 250 km at 25 km/kg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Refuel or recharge time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3 to 5 min, 350 bar non-cooled fill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3 to 5 min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About 1 h DC 10 to 80 percent; 6 to 8 h AC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3 to 5 min plus queue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Peak power vs petrol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About 52 percent, lean burn (city duty)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Restored by electric drive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Higher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About 85 percent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Tailpipe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Zero CO2 on hydrogen km; NOx must be controlled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Water vapour only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Zero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About 105 g CO2/km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Approval route today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None for retrofits; AIS-195 covers new H2-ICE vehicles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None; AIS-157 scope excludes retrofitted FCEVs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Established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Established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371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001D57"/>
                          </a:solidFill>
                          <a:latin typeface="Arial"/>
                        </a:rPr>
                        <a:t>Supplier readiness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Injectors, valves, regulators production-intent; car-size cylinders scarce</a:t>
                      </a:r>
                    </a:p>
                  </a:txBody>
                  <a:tcPr marL="54864" marR="54864" marT="27432" marB="27432" anchor="ctr">
                    <a:solidFill>
                      <a:srgbClr val="DDF1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Imported stacks; no light-duty supply chain in India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Mature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50">
                          <a:solidFill>
                            <a:srgbClr val="3D3D3B"/>
                          </a:solidFill>
                          <a:latin typeface="Arial"/>
                        </a:rPr>
                        <a:t>Mature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481560" y="1874519"/>
            <a:ext cx="53035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Global deployments: what is real, and the lesson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481560" y="2185415"/>
            <a:ext cx="530352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2481560" y="225856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Toyota Mirai (FCEV car)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81560" y="255117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US sales 210 in 2025; fuel credits needed [W3-S51]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687800" y="233171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481560" y="287121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2481560" y="289864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Hyundai Nexo gen 2 (FCEV)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81560" y="319125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Korea only at scale, subsidy-dependent [W3-S52]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87800" y="297179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481560" y="351129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12481560" y="353872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Toyota hydrogen HiAce (H2-ICE van)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81560" y="383133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Depot fuelled; under 200 km; SCR for NOx [W3-S55]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87800" y="361187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Pilot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481560" y="415137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12481560" y="417880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Suzuki-AVL hydrogen Swift (H2-ICE car)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81560" y="447141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1.4 L DI, 100 kW, Vienna May 2026; not a retrofit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687800" y="425195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8A8D8F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481560" y="479145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12481560" y="481888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KEYOU truck conversions (H2-ICE)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81560" y="511149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Only commercial retrofit model; Daimler 2027 [W3-S61]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687800" y="489203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Pilot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481560" y="543153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2481560" y="545896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JCB hydrogen engine (off-highway)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81560" y="575157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EU type approval May 2025 [W3-S60]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687800" y="553211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Approved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481560" y="607161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12481560" y="609904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Stellantis hydrogen vans (FCEV)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81560" y="639165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Cancelled Jul 2025: infrastructure, capital [W3-S64]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687800" y="617219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Withdrawn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481560" y="671169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12481560" y="6739127"/>
            <a:ext cx="411480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Shell CA, H2 Mobility DE car stations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81560" y="7031735"/>
            <a:ext cx="411480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43 car stations closed 2024 to 2025 [W3-S65, S66]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687800" y="6812279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Withdrawn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2481560" y="7351775"/>
            <a:ext cx="530352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12481560" y="7424927"/>
            <a:ext cx="530352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Status: Prototype = demonstrator; Pilot = fleet trial with data; Commercial = product on sale; Withdrawn = programme or stations closed.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7818119"/>
            <a:ext cx="172821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Why the selected route fits the donor, the customer and the question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8129015"/>
            <a:ext cx="1728216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502920" y="8202167"/>
            <a:ext cx="64008" cy="13258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67512" y="8202167"/>
            <a:ext cx="54559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Donor fit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8494775"/>
            <a:ext cx="5455920" cy="10515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1.2 L four-cylinder SI engine with CNG-hardened seats, a 55 L cylinder bay and a 37 L petrol tank: only the fuel system is new; engine, gearbox, body and petrol backup are retained.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4600" y="8202167"/>
            <a:ext cx="64008" cy="13258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89192" y="8202167"/>
            <a:ext cx="54559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Customer fit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9192" y="8494775"/>
            <a:ext cx="5455920" cy="10515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Return-to-base duty with two depot fills makes a 61 km hydrogen range workable for 73 percent of a 167 km day; petrol covers the rest, so no car is stranded by a missing station.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46280" y="8202167"/>
            <a:ext cx="64008" cy="13258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310872" y="8202167"/>
            <a:ext cx="54559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Economic fit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10872" y="8494775"/>
            <a:ext cx="5455920" cy="10515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50">
                <a:solidFill>
                  <a:srgbClr val="3D3D3B"/>
                </a:solidFill>
                <a:latin typeface="Arial"/>
              </a:rPr>
              <a:t>The only route whose cost is a kit (₹3.2 lakh) rather than a vehicle (₹8 to 25 lakh). Its case rests on one variable, the delivered hydrogen price, which the pilot is built to measure.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Donor_Tech and TCO sheets; fuel-cell conversion cost is an estimate from stack and battery cost literature [W4]; BEV data [W3-S27, S30]; AIS-157 scope [W2-S11, Scribd copy]; programmes [W3-S51 to S66]; Suzuki-AVL Swift (Fuel Cells Works, RushLane, May 2026).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Retrofit engineering: storage, fuel delivery, controls and safety are new; the engine, petrol system and body are retained. One fill gives about 61 km; power falls by about half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Donor: Maruti Suzuki Dzire Tour S CNG, 1.2 L K-series, 60 kW on petrol, 55 L steel CNG cylinder in the boot, 37 L petrol tank, 163 mm ground clearance. Concept schematic, not validated CAD.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02920" y="1874519"/>
            <a:ext cx="11384280" cy="4709160"/>
          </a:xfrm>
          <a:prstGeom prst="rect">
            <a:avLst/>
          </a:prstGeom>
          <a:solidFill>
            <a:srgbClr val="F8F9FA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993391"/>
            <a:ext cx="201168" cy="201168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947671"/>
            <a:ext cx="3127248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Added (new hydrogen parts)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993391"/>
            <a:ext cx="201168" cy="201168"/>
          </a:xfrm>
          <a:prstGeom prst="rect">
            <a:avLst/>
          </a:prstGeom>
          <a:solidFill>
            <a:srgbClr val="256B9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44568" y="1947671"/>
            <a:ext cx="1152144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Retained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93391"/>
            <a:ext cx="201168" cy="201168"/>
          </a:xfrm>
          <a:prstGeom prst="rect">
            <a:avLst/>
          </a:prstGeom>
          <a:solidFill>
            <a:srgbClr val="E09A1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99632" y="1947671"/>
            <a:ext cx="1152144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Modified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376" y="1993391"/>
            <a:ext cx="201168" cy="201168"/>
          </a:xfrm>
          <a:prstGeom prst="rect">
            <a:avLst/>
          </a:prstGeom>
          <a:solidFill>
            <a:srgbClr val="8A8D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54696" y="1947671"/>
            <a:ext cx="1042415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947671"/>
            <a:ext cx="3749039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Side view, not to scale; dashed = control link</a:t>
            </a:r>
          </a:p>
        </p:txBody>
      </p:sp>
      <p:sp>
        <p:nvSpPr>
          <p:cNvPr id="16" name="Freeform 15"/>
          <p:cNvSpPr/>
          <p:nvPr/>
        </p:nvSpPr>
        <p:spPr>
          <a:xfrm>
            <a:off x="1828800" y="3474719"/>
            <a:ext cx="8366760" cy="1737360"/>
          </a:xfrm>
          <a:custGeom>
            <a:avLst/>
            <a:gdLst/>
            <a:ahLst/>
            <a:cxnLst/>
            <a:rect l="l" t="t" r="r" b="b"/>
            <a:pathLst>
              <a:path w="8366760" h="1737360">
                <a:moveTo>
                  <a:pt x="0" y="1508760"/>
                </a:moveTo>
                <a:lnTo>
                  <a:pt x="182880" y="1097280"/>
                </a:lnTo>
                <a:lnTo>
                  <a:pt x="731520" y="795528"/>
                </a:lnTo>
                <a:lnTo>
                  <a:pt x="2286000" y="667512"/>
                </a:lnTo>
                <a:lnTo>
                  <a:pt x="3017520" y="45720"/>
                </a:lnTo>
                <a:lnTo>
                  <a:pt x="5577840" y="0"/>
                </a:lnTo>
                <a:lnTo>
                  <a:pt x="6629400" y="594360"/>
                </a:lnTo>
                <a:lnTo>
                  <a:pt x="8092440" y="685800"/>
                </a:lnTo>
                <a:lnTo>
                  <a:pt x="8321040" y="1051560"/>
                </a:lnTo>
                <a:lnTo>
                  <a:pt x="8366760" y="1554480"/>
                </a:lnTo>
                <a:lnTo>
                  <a:pt x="7863840" y="1737360"/>
                </a:lnTo>
                <a:lnTo>
                  <a:pt x="457200" y="1737360"/>
                </a:lnTo>
                <a:close/>
              </a:path>
            </a:pathLst>
          </a:custGeom>
          <a:solidFill>
            <a:srgbClr val="DCE7F2"/>
          </a:solidFill>
          <a:ln w="19050">
            <a:solidFill>
              <a:srgbClr val="2C466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983480" y="3584447"/>
            <a:ext cx="3246120" cy="621792"/>
          </a:xfrm>
          <a:custGeom>
            <a:avLst/>
            <a:gdLst/>
            <a:ahLst/>
            <a:cxnLst/>
            <a:rect l="l" t="t" r="r" b="b"/>
            <a:pathLst>
              <a:path w="3246120" h="621792">
                <a:moveTo>
                  <a:pt x="0" y="621792"/>
                </a:moveTo>
                <a:lnTo>
                  <a:pt x="457200" y="27432"/>
                </a:lnTo>
                <a:lnTo>
                  <a:pt x="2377440" y="0"/>
                </a:lnTo>
                <a:lnTo>
                  <a:pt x="3246120" y="484632"/>
                </a:lnTo>
                <a:lnTo>
                  <a:pt x="3246120" y="62179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2C466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6675120" y="3593591"/>
            <a:ext cx="0" cy="612648"/>
          </a:xfrm>
          <a:prstGeom prst="line">
            <a:avLst/>
          </a:prstGeom>
          <a:ln w="9525">
            <a:solidFill>
              <a:srgbClr val="2C4662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280160" y="5532119"/>
            <a:ext cx="9509760" cy="0"/>
          </a:xfrm>
          <a:prstGeom prst="line">
            <a:avLst/>
          </a:prstGeom>
          <a:ln w="12700">
            <a:solidFill>
              <a:srgbClr val="E1E6ED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2103120" y="3749039"/>
            <a:ext cx="14630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1" sz="1000">
                <a:solidFill>
                  <a:srgbClr val="787974"/>
                </a:solidFill>
                <a:latin typeface="Arial"/>
              </a:rPr>
              <a:t>Engine bay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343399"/>
            <a:ext cx="109728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1" sz="1000">
                <a:solidFill>
                  <a:srgbClr val="787974"/>
                </a:solidFill>
                <a:latin typeface="Arial"/>
              </a:rPr>
              <a:t>Cabin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931919"/>
            <a:ext cx="109728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1" sz="1000">
                <a:solidFill>
                  <a:srgbClr val="787974"/>
                </a:solidFill>
                <a:latin typeface="Arial"/>
              </a:rPr>
              <a:t>Boot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4816" y="4645151"/>
            <a:ext cx="0" cy="630936"/>
          </a:xfrm>
          <a:prstGeom prst="line">
            <a:avLst/>
          </a:prstGeom>
          <a:ln w="31750">
            <a:solidFill>
              <a:srgbClr val="2A765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H="1">
            <a:off x="4251960" y="5276087"/>
            <a:ext cx="4562856" cy="0"/>
          </a:xfrm>
          <a:prstGeom prst="line">
            <a:avLst/>
          </a:prstGeom>
          <a:ln w="31750">
            <a:solidFill>
              <a:srgbClr val="2A765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4251960" y="4681727"/>
            <a:ext cx="0" cy="594360"/>
          </a:xfrm>
          <a:prstGeom prst="line">
            <a:avLst/>
          </a:prstGeom>
          <a:ln w="31750">
            <a:solidFill>
              <a:srgbClr val="2A765D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3840480" y="4709159"/>
            <a:ext cx="0" cy="640080"/>
          </a:xfrm>
          <a:prstGeom prst="line">
            <a:avLst/>
          </a:prstGeom>
          <a:ln w="19050">
            <a:solidFill>
              <a:srgbClr val="8A8D8F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3840480" y="5349239"/>
            <a:ext cx="1828800" cy="0"/>
          </a:xfrm>
          <a:prstGeom prst="line">
            <a:avLst/>
          </a:prstGeom>
          <a:ln w="19050">
            <a:solidFill>
              <a:srgbClr val="8A8D8F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6492240" y="5349239"/>
            <a:ext cx="3566160" cy="0"/>
          </a:xfrm>
          <a:prstGeom prst="line">
            <a:avLst/>
          </a:prstGeom>
          <a:ln w="19050">
            <a:solidFill>
              <a:srgbClr val="8A8D8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857500" y="4686299"/>
            <a:ext cx="868680" cy="868680"/>
          </a:xfrm>
          <a:prstGeom prst="ellipse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086100" y="4914899"/>
            <a:ext cx="411480" cy="411480"/>
          </a:xfrm>
          <a:prstGeom prst="ellipse">
            <a:avLst/>
          </a:prstGeom>
          <a:solidFill>
            <a:srgbClr val="C8C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343900" y="4686299"/>
            <a:ext cx="868680" cy="868680"/>
          </a:xfrm>
          <a:prstGeom prst="ellipse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572500" y="4914899"/>
            <a:ext cx="411480" cy="411480"/>
          </a:xfrm>
          <a:prstGeom prst="ellipse">
            <a:avLst/>
          </a:prstGeom>
          <a:solidFill>
            <a:srgbClr val="C8C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377440" y="4160519"/>
            <a:ext cx="1508760" cy="566928"/>
          </a:xfrm>
          <a:prstGeom prst="roundRect">
            <a:avLst>
              <a:gd name="adj" fmla="val 10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b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800">
                <a:solidFill>
                  <a:srgbClr val="FFFFFF"/>
                </a:solidFill>
                <a:latin typeface="Arial"/>
              </a:rPr>
              <a:t>Engine 1.2 L, gearbox, catalyst (retained)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4160519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750">
                <a:solidFill>
                  <a:srgbClr val="FFFFFF"/>
                </a:solidFill>
                <a:latin typeface="Arial"/>
              </a:rPr>
              <a:t>Injectors, rail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4178807"/>
            <a:ext cx="274320" cy="109728"/>
          </a:xfrm>
          <a:prstGeom prst="roundRect">
            <a:avLst>
              <a:gd name="adj" fmla="val 50000"/>
            </a:avLst>
          </a:prstGeom>
          <a:solidFill>
            <a:srgbClr val="E09A1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023360" y="4389119"/>
            <a:ext cx="457200" cy="292608"/>
          </a:xfrm>
          <a:prstGeom prst="roundRect">
            <a:avLst>
              <a:gd name="adj" fmla="val 3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800">
                <a:solidFill>
                  <a:srgbClr val="FFFFFF"/>
                </a:solidFill>
                <a:latin typeface="Arial"/>
              </a:rPr>
              <a:t>Reg.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3749039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850">
                <a:solidFill>
                  <a:srgbClr val="FFFFFF"/>
                </a:solidFill>
                <a:latin typeface="Arial"/>
              </a:rPr>
              <a:t>H2 ECU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4846319"/>
            <a:ext cx="1371600" cy="274320"/>
          </a:xfrm>
          <a:prstGeom prst="roundRect">
            <a:avLst>
              <a:gd name="adj" fmla="val 40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800">
                <a:solidFill>
                  <a:srgbClr val="FFFFFF"/>
                </a:solidFill>
                <a:latin typeface="Arial"/>
              </a:rPr>
              <a:t>Petrol tank 37 L (retained)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4206239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850">
                <a:solidFill>
                  <a:srgbClr val="FFFFFF"/>
                </a:solidFill>
                <a:latin typeface="Arial"/>
              </a:rPr>
              <a:t>60 L H2 cylinder 350 bar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50808" y="4224527"/>
            <a:ext cx="128016" cy="420624"/>
          </a:xfrm>
          <a:prstGeom prst="roundRect">
            <a:avLst>
              <a:gd name="adj" fmla="val 3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235440" y="4709159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C4C7CA"/>
          </a:solidFill>
          <a:ln w="9525">
            <a:solidFill>
              <a:srgbClr val="8A8D8F"/>
            </a:solidFill>
            <a:prstDash val="dash"/>
          </a:ln>
          <a:effectLst/>
        </p:spPr>
        <p:txBody>
          <a:bodyPr rtlCol="0" anchor="ctr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700">
                <a:solidFill>
                  <a:srgbClr val="FFFFFF"/>
                </a:solidFill>
                <a:latin typeface="Arial"/>
              </a:rPr>
              <a:t>CNG 55 L removed</a:t>
            </a:r>
          </a:p>
        </p:txBody>
      </p:sp>
      <p:sp>
        <p:nvSpPr>
          <p:cNvPr id="42" name="Oval 41"/>
          <p:cNvSpPr/>
          <p:nvPr/>
        </p:nvSpPr>
        <p:spPr>
          <a:xfrm>
            <a:off x="9802368" y="4096511"/>
            <a:ext cx="182880" cy="182880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9326879" y="4233671"/>
            <a:ext cx="137160" cy="137160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343400" y="4114799"/>
            <a:ext cx="137160" cy="137160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669280" y="5248655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18288" tIns="0" rIns="18288" bIns="27432"/>
          <a:lstStyle/>
          <a:p>
            <a:pPr algn="ctr">
              <a:lnSpc>
                <a:spcPct val="100000"/>
              </a:lnSpc>
            </a:pPr>
            <a:r>
              <a:rPr b="1" i="0" sz="750">
                <a:solidFill>
                  <a:srgbClr val="FFFFFF"/>
                </a:solidFill>
                <a:latin typeface="Arial"/>
              </a:rPr>
              <a:t>NOx trap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8522208" y="4160519"/>
            <a:ext cx="0" cy="1005840"/>
          </a:xfrm>
          <a:prstGeom prst="line">
            <a:avLst/>
          </a:prstGeom>
          <a:ln w="38100">
            <a:solidFill>
              <a:srgbClr val="E09A1E"/>
            </a:solidFill>
          </a:ln>
        </p:spPr>
      </p:cxnSp>
      <p:cxnSp>
        <p:nvCxnSpPr>
          <p:cNvPr id="47" name="Connector 46"/>
          <p:cNvCxnSpPr/>
          <p:nvPr/>
        </p:nvCxnSpPr>
        <p:spPr>
          <a:xfrm flipH="1" flipV="1">
            <a:off x="3703319" y="4251959"/>
            <a:ext cx="320041" cy="274320"/>
          </a:xfrm>
          <a:prstGeom prst="line">
            <a:avLst/>
          </a:prstGeom>
          <a:ln w="25400">
            <a:solidFill>
              <a:srgbClr val="2A765D"/>
            </a:solidFill>
          </a:ln>
        </p:spPr>
      </p:cxnSp>
      <p:cxnSp>
        <p:nvCxnSpPr>
          <p:cNvPr id="48" name="Connector 47"/>
          <p:cNvCxnSpPr/>
          <p:nvPr/>
        </p:nvCxnSpPr>
        <p:spPr>
          <a:xfrm flipV="1">
            <a:off x="9893808" y="4206239"/>
            <a:ext cx="0" cy="73152"/>
          </a:xfrm>
          <a:prstGeom prst="line">
            <a:avLst/>
          </a:prstGeom>
          <a:ln w="25400">
            <a:solidFill>
              <a:srgbClr val="2A765D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0058400" y="4663439"/>
            <a:ext cx="0" cy="795528"/>
          </a:xfrm>
          <a:prstGeom prst="line">
            <a:avLst/>
          </a:prstGeom>
          <a:ln w="19050">
            <a:solidFill>
              <a:srgbClr val="2A765D"/>
            </a:solidFill>
            <a:prstDash val="dash"/>
          </a:ln>
        </p:spPr>
      </p:cxnSp>
      <p:cxnSp>
        <p:nvCxnSpPr>
          <p:cNvPr id="50" name="Connector 49"/>
          <p:cNvCxnSpPr/>
          <p:nvPr/>
        </p:nvCxnSpPr>
        <p:spPr>
          <a:xfrm flipH="1">
            <a:off x="3703319" y="3840479"/>
            <a:ext cx="1188721" cy="320040"/>
          </a:xfrm>
          <a:prstGeom prst="line">
            <a:avLst/>
          </a:prstGeom>
          <a:ln w="12700">
            <a:solidFill>
              <a:srgbClr val="2C4662"/>
            </a:solidFill>
            <a:prstDash val="dash"/>
          </a:ln>
        </p:spPr>
      </p:cxnSp>
      <p:cxnSp>
        <p:nvCxnSpPr>
          <p:cNvPr id="51" name="Connector 50"/>
          <p:cNvCxnSpPr/>
          <p:nvPr/>
        </p:nvCxnSpPr>
        <p:spPr>
          <a:xfrm>
            <a:off x="5715000" y="3840479"/>
            <a:ext cx="3035808" cy="365760"/>
          </a:xfrm>
          <a:prstGeom prst="line">
            <a:avLst/>
          </a:prstGeom>
          <a:ln w="12700">
            <a:solidFill>
              <a:srgbClr val="2C4662"/>
            </a:solidFill>
            <a:prstDash val="dash"/>
          </a:ln>
        </p:spPr>
      </p:cxnSp>
      <p:cxnSp>
        <p:nvCxnSpPr>
          <p:cNvPr id="52" name="Connector 51"/>
          <p:cNvCxnSpPr/>
          <p:nvPr/>
        </p:nvCxnSpPr>
        <p:spPr>
          <a:xfrm flipH="1" flipV="1">
            <a:off x="5715000" y="3749039"/>
            <a:ext cx="3611879" cy="484632"/>
          </a:xfrm>
          <a:prstGeom prst="line">
            <a:avLst/>
          </a:prstGeom>
          <a:ln w="12700">
            <a:solidFill>
              <a:srgbClr val="2C4662"/>
            </a:solidFill>
            <a:prstDash val="dash"/>
          </a:ln>
        </p:spPr>
      </p:cxnSp>
      <p:cxnSp>
        <p:nvCxnSpPr>
          <p:cNvPr id="53" name="Connector 52"/>
          <p:cNvCxnSpPr/>
          <p:nvPr/>
        </p:nvCxnSpPr>
        <p:spPr>
          <a:xfrm flipV="1">
            <a:off x="4416552" y="3794759"/>
            <a:ext cx="475488" cy="320040"/>
          </a:xfrm>
          <a:prstGeom prst="line">
            <a:avLst/>
          </a:prstGeom>
          <a:ln w="12700">
            <a:solidFill>
              <a:srgbClr val="2C4662"/>
            </a:solidFill>
            <a:prstDash val="dash"/>
          </a:ln>
        </p:spPr>
      </p:cxnSp>
      <p:sp>
        <p:nvSpPr>
          <p:cNvPr id="54" name="TextBox 53"/>
          <p:cNvSpPr txBox="1"/>
          <p:nvPr/>
        </p:nvSpPr>
        <p:spPr>
          <a:xfrm>
            <a:off x="731520" y="2331719"/>
            <a:ext cx="246888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Cold plugs, crankcase ventilation and lean calibration with retarded spark (modified)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965960" y="3017519"/>
            <a:ext cx="640080" cy="1161288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2574036" y="4146803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429000" y="2331719"/>
            <a:ext cx="246888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Hydrogen ECU: dual map, lambda 1.6 to 2.2, automatic petrol fallback, diagnostics (added)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663440" y="3017519"/>
            <a:ext cx="640080" cy="731520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5271516" y="3717035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126480" y="2331719"/>
            <a:ext cx="246888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Twin hydrogen sensors in boot and engine bay; vent fan, cabin warning (added)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60920" y="3017519"/>
            <a:ext cx="2029968" cy="1143000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9358884" y="4128515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823960" y="2331719"/>
            <a:ext cx="274320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60 L composite cylinder (OD 400 mm, 767 mm, 36 kg, 1.45 kg H2) with on-tank valve and TPRD; replaces the 55 L steel CNG cylinder; frame to 20 g / 8 g (added)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9601200" y="3017519"/>
            <a:ext cx="594360" cy="1188720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9569196" y="4174235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31520" y="5696711"/>
            <a:ext cx="1874519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Engine, gearbox and catalyst retained; injectors and rail on the intake (added)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1668779" y="4709159"/>
            <a:ext cx="1257301" cy="987552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2894076" y="4677155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2788920" y="5696711"/>
            <a:ext cx="1874519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Two-stage regulator, 350 bar to injection pressure (added)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3726179" y="4681727"/>
            <a:ext cx="525781" cy="1014984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4219956" y="4649723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4846320" y="5696711"/>
            <a:ext cx="1874519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316L high-pressure line under the floor; lean NOx trap provision on the exhaust (added)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5783579" y="5257799"/>
            <a:ext cx="297181" cy="438912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6048756" y="5225795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03720" y="5696711"/>
            <a:ext cx="1874519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Petrol tank and injection retained, 555 km backup; boot bulkhead sealed and vented (modified)</a:t>
            </a:r>
          </a:p>
        </p:txBody>
      </p:sp>
      <p:cxnSp>
        <p:nvCxnSpPr>
          <p:cNvPr id="76" name="Connector 75"/>
          <p:cNvCxnSpPr/>
          <p:nvPr/>
        </p:nvCxnSpPr>
        <p:spPr>
          <a:xfrm flipH="1" flipV="1">
            <a:off x="7772400" y="5120639"/>
            <a:ext cx="68579" cy="576072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740396" y="5088635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961120" y="5696711"/>
            <a:ext cx="1874519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H35 receptacle with check valve (added); TPRD vent routed outside (added)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9898379" y="5257799"/>
            <a:ext cx="160021" cy="438912"/>
          </a:xfrm>
          <a:prstGeom prst="line">
            <a:avLst/>
          </a:prstGeom>
          <a:ln w="9525">
            <a:solidFill>
              <a:srgbClr val="3D3D3B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10026396" y="5225795"/>
            <a:ext cx="64008" cy="64008"/>
          </a:xfrm>
          <a:prstGeom prst="ellipse">
            <a:avLst/>
          </a:prstGeom>
          <a:solidFill>
            <a:srgbClr val="3D3D3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2115800" y="1874519"/>
            <a:ext cx="56692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The central trade-off: lean burn buys low NOx at the cost of power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2115800" y="2185415"/>
            <a:ext cx="56692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12115800" y="2258567"/>
          <a:ext cx="566928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12115800" y="4471415"/>
            <a:ext cx="566928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Schematic curves through literature anchors, not measured data: port injection loses about 20 percent power at lambda 1 and a further 35 to 40 percent at lambda 2 [W1-S9a, S9b]; NOx peaks near lambda 1.3 at about 2.7 times the stoichiometric value and falls to near zero above lambda 2 to 2.7 [W1-S9h, S9b]. Accelerations leave the lean window, hence the NOx trap provision [W4-S70].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15800" y="5458967"/>
            <a:ext cx="56692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Packaging consequences (concept, mock-up in Phase 0)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2115800" y="5769863"/>
            <a:ext cx="56692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12115800" y="5843015"/>
          <a:ext cx="5669278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04094"/>
                <a:gridCol w="1272695"/>
                <a:gridCol w="1330545"/>
                <a:gridCol w="156194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CNG today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Hydrogen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Cylinder OD x length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316 x ~900 mm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400 x 767 mm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Boot loses ~50 L more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Cylinder mass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~55 kg steel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36 kg composite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Kerb mass -13 kg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Fuel on board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~9 kg CNG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1.12 kg usable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35 percent of energy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Seats / luggage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5 / ~200 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5 / ~150 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Two bags become one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12115800" y="7351775"/>
            <a:ext cx="56692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Consumption cross-check (kg H2 per 100 km)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115800" y="7662671"/>
            <a:ext cx="56692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12115800" y="7735823"/>
          <a:ext cx="5669278" cy="1316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07868"/>
                <a:gridCol w="907084"/>
                <a:gridCol w="2154326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Vehicle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kg/100 km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This retrofit, fleet use (model)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0.87 x CNG efficiency at 25 km/kg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Ford Focus H2RV (2.3 L, hybrid)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claimed, 2003 [W1-S12c]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Mazda RX-8 Hydrogen RE, rotary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2.4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claimed, 2006 [W1-S12b]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Toyota hydrogen HiAce (3.4 L van)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3.1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6.2 kg for 200 km [W1-S12e]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91" name="Rectangle 90"/>
          <p:cNvSpPr/>
          <p:nvPr/>
        </p:nvSpPr>
        <p:spPr>
          <a:xfrm>
            <a:off x="502920" y="6720839"/>
            <a:ext cx="1508760" cy="10972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502920" y="6720839"/>
            <a:ext cx="54864" cy="10972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30936" y="6766559"/>
            <a:ext cx="132588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001D57"/>
                </a:solidFill>
                <a:latin typeface="Arial"/>
              </a:rPr>
              <a:t>1.12 kg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6" y="7196327"/>
            <a:ext cx="1325880" cy="594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usable H2 per fill (1.44 kg nominal, 85 percent fill, 20 bar residual)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48840" y="6720839"/>
            <a:ext cx="1508760" cy="10972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2148840" y="6720839"/>
            <a:ext cx="54864" cy="10972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2276856" y="6766559"/>
            <a:ext cx="132588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001D57"/>
                </a:solidFill>
                <a:latin typeface="Arial"/>
              </a:rPr>
              <a:t>61 km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76856" y="7196327"/>
            <a:ext cx="1325880" cy="594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per fill at 1.85 kg/100 km; 105 km at 700 bar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794760" y="6720839"/>
            <a:ext cx="1508760" cy="10972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3794760" y="6720839"/>
            <a:ext cx="54864" cy="10972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3922776" y="6766559"/>
            <a:ext cx="132588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001D57"/>
                </a:solidFill>
                <a:latin typeface="Arial"/>
              </a:rPr>
              <a:t>~121 km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22776" y="7196327"/>
            <a:ext cx="1325880" cy="594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per day on hydrogen with two depot fills (73 percent of a 167 km day)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40680" y="6720839"/>
            <a:ext cx="1508760" cy="10972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5440680" y="6720839"/>
            <a:ext cx="54864" cy="10972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5568696" y="6766559"/>
            <a:ext cx="132588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001D57"/>
                </a:solidFill>
                <a:latin typeface="Arial"/>
              </a:rPr>
              <a:t>42 PS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68696" y="7196327"/>
            <a:ext cx="1325880" cy="594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peak in hydrogen mode, 48 percent below petrol; petrol switch at high load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086600" y="6720839"/>
            <a:ext cx="1508760" cy="10972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7086600" y="6720839"/>
            <a:ext cx="54864" cy="10972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214616" y="6766559"/>
            <a:ext cx="132588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001D57"/>
                </a:solidFill>
                <a:latin typeface="Arial"/>
              </a:rPr>
              <a:t>-13 kg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214616" y="7196327"/>
            <a:ext cx="1325880" cy="594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net kerb mass; payload unchanged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32520" y="6720839"/>
            <a:ext cx="1508760" cy="10972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8732520" y="6720839"/>
            <a:ext cx="54864" cy="10972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8860536" y="6766559"/>
            <a:ext cx="132588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001D57"/>
                </a:solidFill>
                <a:latin typeface="Arial"/>
              </a:rPr>
              <a:t>~150 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60536" y="7196327"/>
            <a:ext cx="1325880" cy="594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boot left (about 200 L with CNG); seats unchanged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378440" y="6720839"/>
            <a:ext cx="1508760" cy="1097280"/>
          </a:xfrm>
          <a:prstGeom prst="rect">
            <a:avLst/>
          </a:prstGeom>
          <a:solidFill>
            <a:srgbClr val="E5F2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0378440" y="6720839"/>
            <a:ext cx="54864" cy="1097280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506456" y="6766559"/>
            <a:ext cx="132588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001D57"/>
                </a:solidFill>
                <a:latin typeface="Arial"/>
              </a:rPr>
              <a:t>3 days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06456" y="7196327"/>
            <a:ext cx="1325880" cy="594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3D3D3B"/>
                </a:solidFill>
                <a:latin typeface="Arial"/>
              </a:rPr>
              <a:t>conversion downtime per car (14 labour hours at volume)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7955279"/>
            <a:ext cx="113842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What cannot be reused, and the injection choice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02920" y="8266175"/>
            <a:ext cx="113842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121" name="TextBox 120"/>
          <p:cNvSpPr txBox="1"/>
          <p:nvPr/>
        </p:nvSpPr>
        <p:spPr>
          <a:xfrm>
            <a:off x="502920" y="8339327"/>
            <a:ext cx="5600700" cy="10058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Removed, not reusable: the 55 L steel CNG cylinder (ISO 11439 steels are limited to 2 percent hydrogen), CNG regulator, rail, injectors, hoses and lines. Hydrogen parts need UN R134 or ISO 19881 class qualification [W1-S11a].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86500" y="8339327"/>
            <a:ext cx="5600700" cy="10058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Port injection timed after intake-valve closing prevents backfire and pre-ignition but costs power; direct injection (Suzuki-AVL Swift prototype) recovers it but is not a retrofit. Durability to prove: valve seats and guides, lubricant ash, sensor drift.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Maruti Suzuki Tour S and Dzire specifications [W1-S3a to S3c]; Luxfer G-Stor Pro V060H35 [W1-S2]; hydrogen densities [W1-S13a]; PFI power loss and NOx behaviour [W1-S9a, S9b, S9h]; ISO 11439 limit [W1-S11a]; UN R110 loads [W1-S14d]; Energy_Range and BOM sheets.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Safety and approval: each hazard has a known prevention, detection and test; the unresolved item is approval, because no route exists yet for a hydrogen retrofit of a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Hydrogen: flammable from 4 to 75 percent in air at 0.017 mJ, diffuses 3.8 times faster than natural gas, burns almost invisibly [W2-S43, S44]. Different risks, not automatically higher, if designed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11338558" cy="5943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15550"/>
                <a:gridCol w="2918837"/>
                <a:gridCol w="2750442"/>
                <a:gridCol w="3031100"/>
                <a:gridCol w="1122629"/>
              </a:tblGrid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Hazard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Prevention (design)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Detection and response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Evidence required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150">
                          <a:solidFill>
                            <a:srgbClr val="FFFFFF"/>
                          </a:solidFill>
                          <a:latin typeface="Arial"/>
                        </a:rPr>
                        <a:t>Evidence type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Leak into boot, cabin, garage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Sealed bulkhead, vented boot, no ignition sources in the bay, valve closed with ignition 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Two sensors (1 and 2 percent), tank valve closes within 1 s, switch to petrol, cabin warning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Below 4 percent in cabin, below 8 percent at vents (GTR 13 / AIS-195); parked enclosed-space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Type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Embrittlement, permeation, ageing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316L lines, hydrogen elastomers, composite liner; no CNG steel parts reused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Leak check at service; 3-yearly requalification; 15-year life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ISO 19881 / UN R134 supplier qualification; cycling and permeation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Crash damage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Cylinder inside the crush-free zone; frame to 20 g / 8 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Inertia switch closes the tank valve; post-crash leak limit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Sled test; full-vehicle rear crash under AIS-195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Type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Overpressure and fire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TPRD vents away from occupants and wheel wells; burst ratio 2.25 x NWP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TPRD opens on heat: controlled release, not rupture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Bonfire, burst, drop, cycling (GTR 13); vent-routing review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Type test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Detection or control failure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Redundant sensors, ECU watchdog, manual shut-off, limp-home on petrol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Fault codes, forced petrol mode, service lock-out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Fault injection and hardware-in-the-loop; 500 h engine durability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Programme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Workshop and refuelling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NFPA 2 ventilation (1 cfm per sq ft), detection, permit-to-work, PESO-trained staff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Dispenser and bay interlocks; nitrogen purge for venting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PESO Form-H licence; SAE J2601 fill protocol; incident drills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Licence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Combustion emissions (NOx)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Lean burn lambda 1.6 to 2.2, retarded spark, NOx trap provision, load limiting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Lambda sensor and OBD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BS-VI 60 mg/km on the certification cycle; quarterly pilot tests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070080" y="1874519"/>
            <a:ext cx="57150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Approval sequence: what exists and what is missing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070080" y="2185415"/>
            <a:ext cx="571500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9" name="Oval 8"/>
          <p:cNvSpPr/>
          <p:nvPr/>
        </p:nvSpPr>
        <p:spPr>
          <a:xfrm>
            <a:off x="12070080" y="2295143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8992" y="2258567"/>
            <a:ext cx="39776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New-vehicle hydrogen ICE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08992" y="2542031"/>
            <a:ext cx="397764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AIS-195:2023 (Amd 1, May 2025) via CMVR Rule 125M, GSR 746(E) [W2-S13]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96360" y="2313431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Established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234672" y="2642615"/>
            <a:ext cx="0" cy="438912"/>
          </a:xfrm>
          <a:prstGeom prst="line">
            <a:avLst/>
          </a:prstGeom>
          <a:ln w="12700">
            <a:solidFill>
              <a:srgbClr val="E1E6ED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12070080" y="3081527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08992" y="3044951"/>
            <a:ext cx="39776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Retrofit gateway in 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08992" y="3328415"/>
            <a:ext cx="397764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MV Act s.52; Rule 126 proviso; Rule 115 kit machinery written for CNG and LPG [W2-S3, S9]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596360" y="3099815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Established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234672" y="3428999"/>
            <a:ext cx="0" cy="438912"/>
          </a:xfrm>
          <a:prstGeom prst="line">
            <a:avLst/>
          </a:prstGeom>
          <a:ln w="12700">
            <a:solidFill>
              <a:srgbClr val="E1E6ED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12070080" y="3867911"/>
            <a:ext cx="329184" cy="329184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08992" y="3831335"/>
            <a:ext cx="39776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Hydrogen retrofit kit standard and emission procedure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08992" y="4114799"/>
            <a:ext cx="397764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None; AIS-157 excludes retrofitted FCEVs; AIS-195 retrofit position unverifiable [W2-S11]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596360" y="388619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234672" y="4215383"/>
            <a:ext cx="0" cy="438912"/>
          </a:xfrm>
          <a:prstGeom prst="line">
            <a:avLst/>
          </a:prstGeom>
          <a:ln w="12700">
            <a:solidFill>
              <a:srgbClr val="E1E6ED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12070080" y="4654295"/>
            <a:ext cx="329184" cy="329184"/>
          </a:xfrm>
          <a:prstGeom prst="ellipse">
            <a:avLst/>
          </a:prstGeom>
          <a:solidFill>
            <a:srgbClr val="E09A1E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08992" y="4617719"/>
            <a:ext cx="39776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Car-size cylinder approval (PESO)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08992" y="4901183"/>
            <a:ext cx="397764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Gas Cylinder Rules 2025 cover on-board hydrogen; only 150 to 250 L truck cylinders approved [W2-S24, S30]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596360" y="4672583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09A1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Unresolved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234672" y="5001767"/>
            <a:ext cx="0" cy="438912"/>
          </a:xfrm>
          <a:prstGeom prst="line">
            <a:avLst/>
          </a:prstGeom>
          <a:ln w="12700">
            <a:solidFill>
              <a:srgbClr val="E1E6ED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12070080" y="5440679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08992" y="5404103"/>
            <a:ext cx="39776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Dispensing licence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08992" y="5687567"/>
            <a:ext cx="397764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PESO Form-H online since May 2025; SMPV(U) 2025 for bulk storage [W2-S27]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596360" y="545896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Established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234672" y="5788151"/>
            <a:ext cx="0" cy="438912"/>
          </a:xfrm>
          <a:prstGeom prst="line">
            <a:avLst/>
          </a:prstGeom>
          <a:ln w="12700">
            <a:solidFill>
              <a:srgbClr val="E1E6ED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12070080" y="6227063"/>
            <a:ext cx="329184" cy="329184"/>
          </a:xfrm>
          <a:prstGeom prst="ellipse">
            <a:avLst/>
          </a:prstGeom>
          <a:solidFill>
            <a:srgbClr val="E09A1E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08992" y="6190487"/>
            <a:ext cx="39776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Registration, insurance, warranty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08992" y="6473951"/>
            <a:ext cx="397764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Form 22D endorsement needs an approved kit; IMT-25 covers CNG/LPG only; OEM warranty void [W2-S53, S54]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596360" y="6245351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09A1E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Unresolved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234672" y="6574535"/>
            <a:ext cx="0" cy="438912"/>
          </a:xfrm>
          <a:prstGeom prst="line">
            <a:avLst/>
          </a:prstGeom>
          <a:ln w="12700">
            <a:solidFill>
              <a:srgbClr val="E1E6ED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12070080" y="7013447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08992" y="6976871"/>
            <a:ext cx="39776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Trial route for the 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08992" y="7260335"/>
            <a:ext cx="3977640" cy="5029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Trade certificate plus test-agency evaluation (Mirai 2022, Tata trucks 2025); MNRE scheme names 4-wheelers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596360" y="7031735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1000">
                <a:solidFill>
                  <a:srgbClr val="FFFFFF"/>
                </a:solidFill>
                <a:latin typeface="Arial"/>
              </a:rPr>
              <a:t>Established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8000999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150">
                <a:solidFill>
                  <a:srgbClr val="3D3D3B"/>
                </a:solidFill>
                <a:latin typeface="Arial"/>
              </a:rPr>
              <a:t>NOx is the emission that matters: hydrogen combustion still forms thermal NOx (US DOE [W2-S52]). Lean burn above lambda 2 is near zero at steady state, but accelerations leave that window, so the kit carries a lean NOx trap provision and gate 2 requires 60 mg/km or better on the BS-VI cycle. Target, not a result. No 'approved' or 'fully safe' claim is made; safety evidence comes from type tests and standards, not from incident-free pilot operation.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070080" y="8000999"/>
            <a:ext cx="5715000" cy="1371600"/>
          </a:xfrm>
          <a:prstGeom prst="roundRect">
            <a:avLst>
              <a:gd name="adj" fmla="val 8000"/>
            </a:avLst>
          </a:prstGeom>
          <a:solidFill>
            <a:srgbClr val="C3EDD9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1" i="0" sz="1150">
                <a:solidFill>
                  <a:srgbClr val="0B3D2E"/>
                </a:solidFill>
                <a:latin typeface="Arial"/>
              </a:rPr>
              <a:t>Gate 1 (March 2027): a written regulator and test-agency view on the retrofit route, or the programme stops. Legend: green = in force; amber = exists but not for this case; red = missing instrument.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H2Tools and DOE properties [W2-S43, S44]; NFPA 2 [W2-S45]; GTR 13 limits [W2-S42]; GSR 746(E) [W2-S13]; Rules 126 and 115 [W2-S9, S3]; AIS-157 scope [W2-S11]; Gas Cylinder Rules 2025 [W2-S24]; Form-H [W2-S27]; IMT-25, Form 22D [W2-S53, S54]; incidents [W2-S48, S49].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Economics: over five years the converted car costs the owner ₹16.8 lakh more than staying on CNG and ₹16.2 lakh more than switching to a BEV; fuel is the whole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Fair comparison for an owner deciding in 2028 with a 3-year-old Dzire Tour S CNG. Same horizon, mileage, discount rate and time costs; donor sale credited to the BEV option; residual values credited to 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1874519"/>
            <a:ext cx="72237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Five-year cost of ownership by category, ₹ lakh NPV (model, base case)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185415"/>
            <a:ext cx="722376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258567"/>
          <a:ext cx="4663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57800" y="2532887"/>
          <a:ext cx="2468879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22218"/>
                <a:gridCol w="448887"/>
                <a:gridCol w="448887"/>
                <a:gridCol w="44888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₹ lakh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CNG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BEV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Capital net of residual</a:t>
                      </a:r>
                    </a:p>
                  </a:txBody>
                  <a:tcPr marL="54864" marR="54864" marT="27432" marB="27432" anchor="ctr">
                    <a:solidFill>
                      <a:srgbClr val="2C46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-0.6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Fuel or energy</a:t>
                      </a:r>
                    </a:p>
                  </a:txBody>
                  <a:tcPr marL="54864" marR="54864" marT="27432" marB="27432" anchor="ctr">
                    <a:solidFill>
                      <a:srgbClr val="2A7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7.6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3.1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Maintenance, tyres</a:t>
                      </a:r>
                    </a:p>
                  </a:txBody>
                  <a:tcPr marL="54864" marR="54864" marT="27432" marB="27432" anchor="ctr">
                    <a:solidFill>
                      <a:srgbClr val="8CC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Insurance, inspection</a:t>
                      </a:r>
                    </a:p>
                  </a:txBody>
                  <a:tcPr marL="54864" marR="54864" marT="27432" marB="27432" anchor="ctr">
                    <a:solidFill>
                      <a:srgbClr val="7879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0.7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In-shift time</a:t>
                      </a:r>
                    </a:p>
                  </a:txBody>
                  <a:tcPr marL="54864" marR="54864" marT="27432" marB="27432" anchor="ctr">
                    <a:solidFill>
                      <a:srgbClr val="E09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Total NPV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10.4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27.3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₹ per 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5.2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13.7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5.6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257800" y="5733287"/>
            <a:ext cx="246888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50">
                <a:solidFill>
                  <a:srgbClr val="787974"/>
                </a:solidFill>
                <a:latin typeface="Arial"/>
              </a:rPr>
              <a:t>Colours match the chart segments. Capital is net of residual value (negative for the kept CNG car). Petrol backup km are inside 'fuel or energy' for the retrofit (₹5.0 lakh).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059167"/>
            <a:ext cx="72237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Fuel or energy: hydrogen km ₹14.8/km at ₹800/kg falling 10 percent a year, petrol backup km ₹6.8, CNG ₹3.5, BEV ₹1.5. Negative capital for the CNG car is its residual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874519"/>
            <a:ext cx="48463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Conversion cost by category, ₹ lakh installed (BOM sheet)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2185415"/>
            <a:ext cx="484632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8001000" y="2258567"/>
          <a:ext cx="48463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001000" y="5093207"/>
          <a:ext cx="4846318" cy="2139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58086"/>
                <a:gridCol w="994116"/>
                <a:gridCol w="99411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Pilot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Volume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Storage and mounting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3.35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Fuel delivery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1.46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Controls and safety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Engine and NOx provision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0.43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0.19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Installation and testing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Certification allocation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0.08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Warranty, margin, GST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1.49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0.93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Installed total incl. GST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7.74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3D3D3B"/>
                          </a:solidFill>
                          <a:latin typeface="Arial"/>
                        </a:rPr>
                        <a:t>3.22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121640" y="1874519"/>
            <a:ext cx="466344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Extra cost vs staying on CNG, ₹ lakh over 5 years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121640" y="2185415"/>
            <a:ext cx="466344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3121640" y="2258567"/>
          <a:ext cx="4663437" cy="1975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32411"/>
                <a:gridCol w="1110342"/>
                <a:gridCol w="1110342"/>
                <a:gridCol w="111034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₹/kg \ km/yr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30,000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50,000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70,000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₹150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+3.6</a:t>
                      </a:r>
                    </a:p>
                  </a:txBody>
                  <a:tcPr marL="54864" marR="54864" marT="27432" marB="27432" anchor="ctr">
                    <a:solidFill>
                      <a:srgbClr val="C7DA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+3.8</a:t>
                      </a:r>
                    </a:p>
                  </a:txBody>
                  <a:tcPr marL="54864" marR="54864" marT="27432" marB="27432" anchor="ctr">
                    <a:solidFill>
                      <a:srgbClr val="C7D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+4.0</a:t>
                      </a:r>
                    </a:p>
                  </a:txBody>
                  <a:tcPr marL="54864" marR="54864" marT="27432" marB="27432" anchor="ctr">
                    <a:solidFill>
                      <a:srgbClr val="C8D8C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₹250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+4.7</a:t>
                      </a:r>
                    </a:p>
                  </a:txBody>
                  <a:tcPr marL="54864" marR="54864" marT="27432" marB="27432" anchor="ctr">
                    <a:solidFill>
                      <a:srgbClr val="C9D4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 marL="54864" marR="54864" marT="27432" marB="27432" anchor="ctr">
                    <a:solidFill>
                      <a:srgbClr val="CACF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+6.5</a:t>
                      </a:r>
                    </a:p>
                  </a:txBody>
                  <a:tcPr marL="54864" marR="54864" marT="27432" marB="27432" anchor="ctr">
                    <a:solidFill>
                      <a:srgbClr val="CBCAB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₹400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+6.3</a:t>
                      </a:r>
                    </a:p>
                  </a:txBody>
                  <a:tcPr marL="54864" marR="54864" marT="27432" marB="27432" anchor="ctr">
                    <a:solidFill>
                      <a:srgbClr val="CBCC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+8.3</a:t>
                      </a:r>
                    </a:p>
                  </a:txBody>
                  <a:tcPr marL="54864" marR="54864" marT="27432" marB="27432" anchor="ctr">
                    <a:solidFill>
                      <a:srgbClr val="CDC1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+10.3</a:t>
                      </a:r>
                    </a:p>
                  </a:txBody>
                  <a:tcPr marL="54864" marR="54864" marT="27432" marB="27432" anchor="ctr">
                    <a:solidFill>
                      <a:srgbClr val="D0B6A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₹600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+8.5</a:t>
                      </a:r>
                    </a:p>
                  </a:txBody>
                  <a:tcPr marL="54864" marR="54864" marT="27432" marB="27432" anchor="ctr">
                    <a:solidFill>
                      <a:srgbClr val="CEC0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+11.9</a:t>
                      </a:r>
                    </a:p>
                  </a:txBody>
                  <a:tcPr marL="54864" marR="54864" marT="27432" marB="27432" anchor="ctr">
                    <a:solidFill>
                      <a:srgbClr val="D2A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+15.4</a:t>
                      </a:r>
                    </a:p>
                  </a:txBody>
                  <a:tcPr marL="54864" marR="54864" marT="27432" marB="27432" anchor="ctr">
                    <a:solidFill>
                      <a:srgbClr val="D79C8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001D57"/>
                          </a:solidFill>
                          <a:latin typeface="Arial"/>
                        </a:rPr>
                        <a:t>₹800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+10.7</a:t>
                      </a:r>
                    </a:p>
                  </a:txBody>
                  <a:tcPr marL="54864" marR="54864" marT="27432" marB="27432" anchor="ctr">
                    <a:solidFill>
                      <a:srgbClr val="D1B5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+15.6</a:t>
                      </a:r>
                    </a:p>
                  </a:txBody>
                  <a:tcPr marL="54864" marR="54864" marT="27432" marB="27432" anchor="ctr">
                    <a:solidFill>
                      <a:srgbClr val="D79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100">
                          <a:solidFill>
                            <a:srgbClr val="3D3D3B"/>
                          </a:solidFill>
                          <a:latin typeface="Arial"/>
                        </a:rPr>
                        <a:t>+20.5</a:t>
                      </a:r>
                    </a:p>
                  </a:txBody>
                  <a:tcPr marL="54864" marR="54864" marT="27432" marB="27432" anchor="ctr">
                    <a:solidFill>
                      <a:srgbClr val="DE816D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3121640" y="4498847"/>
            <a:ext cx="466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Every cell is positive: no cell turns negative in the workbook grid down to ₹100/kg. More mileage widens the gap while hydrogen is above ₹188/kg.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21640" y="5047487"/>
            <a:ext cx="466344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Break-even indicators (model)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121640" y="5358383"/>
            <a:ext cx="466344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13121640" y="5431535"/>
            <a:ext cx="173736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001D57"/>
                </a:solidFill>
                <a:latin typeface="Arial"/>
              </a:rPr>
              <a:t>CNG fuel parity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59000" y="5431535"/>
            <a:ext cx="29260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₹188/kg delivered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121640" y="5815583"/>
            <a:ext cx="466344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13121640" y="5852159"/>
            <a:ext cx="173736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001D57"/>
                </a:solidFill>
                <a:latin typeface="Arial"/>
              </a:rPr>
              <a:t>Petrol fuel parity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0" y="5852159"/>
            <a:ext cx="29260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₹368/kg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121640" y="6236207"/>
            <a:ext cx="466344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13121640" y="6272783"/>
            <a:ext cx="173736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001D57"/>
                </a:solidFill>
                <a:latin typeface="Arial"/>
              </a:rPr>
              <a:t>Full-TCO break-even vs CNG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59000" y="6272783"/>
            <a:ext cx="29260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none in 5 years at any price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121640" y="6656831"/>
            <a:ext cx="466344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13121640" y="6693407"/>
            <a:ext cx="173736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001D57"/>
                </a:solidFill>
                <a:latin typeface="Arial"/>
              </a:rPr>
              <a:t>Full-TCO break-even vs BEV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59000" y="6693407"/>
            <a:ext cx="29260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none at base; needs about ₹150/kg, ₹2 lakh kit, 85 percent hydrogen km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121640" y="7077455"/>
            <a:ext cx="466344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13121640" y="7114031"/>
            <a:ext cx="173736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001D57"/>
                </a:solidFill>
                <a:latin typeface="Arial"/>
              </a:rPr>
              <a:t>Abatement cost vs CNG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59000" y="7114031"/>
            <a:ext cx="29260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₹129,000/t CO2e at base; about ₹45,000/t at ₹250/kg (credits ₹1,350 to 2,800/t)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121640" y="7498079"/>
            <a:ext cx="4663440" cy="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02920" y="7543799"/>
            <a:ext cx="172821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Assumptions used in every exhibit on this slide (Inputs sheet; downside and upside cases in the annexure)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7854695"/>
            <a:ext cx="1728216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39" name="Rounded Rectangle 38"/>
          <p:cNvSpPr/>
          <p:nvPr/>
        </p:nvSpPr>
        <p:spPr>
          <a:xfrm>
            <a:off x="502920" y="7927847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Decision 2028, 5 years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4952" y="7927847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55,110 km/yr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26864" y="7927847"/>
            <a:ext cx="2144268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Discount 12 percent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80860" y="7927847"/>
            <a:ext cx="3296412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H2 ₹800/kg, minus 10 percent/yr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87000" y="7927847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CNG ₹87/kg at 25 km/kg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29032" y="7927847"/>
            <a:ext cx="1568195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Petrol ₹102/L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8330183"/>
            <a:ext cx="3680459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H2 1.85 kg/100 km, 65 percent of km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3107" y="8330183"/>
            <a:ext cx="3584448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Power ₹6 depot, ₹20 public per kWh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87283" y="8330183"/>
            <a:ext cx="3392424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BEV ₹10.5 lakh, resale ₹4.2 lakh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89435" y="8330183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Donor sale ₹3.5 lakh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839443" y="8330183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Time ₹150/h in shift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8833103"/>
            <a:ext cx="17282160" cy="868680"/>
          </a:xfrm>
          <a:prstGeom prst="roundRect">
            <a:avLst>
              <a:gd name="adj" fmla="val 8000"/>
            </a:avLst>
          </a:prstGeom>
          <a:solidFill>
            <a:srgbClr val="C3EDD9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1" i="0" sz="1150">
                <a:solidFill>
                  <a:srgbClr val="0B3D2E"/>
                </a:solidFill>
                <a:latin typeface="Arial"/>
              </a:rPr>
              <a:t>Reading: the retrofit is a decarbonisation cost, not a saving. Hydrogen km cost ₹14.8 against ₹3.5 on CNG, and the 35 percent of km on petrol backup add ₹5.0 lakh. It needs a paying counterparty or a cheaper molecule than any 2030 forecast found (CEEW ₹360/kg delivered; refinery-gate record ₹279/kg before compression).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fuel prices Sep 2026 [W4-S16, S19]; DERC tariff, public charging [W4-S20, S21]; BEV prices, tests, warranties [W3-S27, S30; W4-S26]; NITI Aayog mileage [W4-S30]; CEEW 2025 [W4-S22]; Numaligarh tender [W3-S39]; carbon credits [W4-S73]; TCO, BOM and Sensitivities sheets.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400">
                <a:solidFill>
                  <a:srgbClr val="002444"/>
                </a:solidFill>
                <a:latin typeface="Arial"/>
              </a:rPr>
              <a:t>Hydrogen supply: a 30-car pilot needs about 60 kg a day; delivered hydrogen costs about ₹1,433/kg at a pilot point and ₹584/kg at a 2030 hub, and utilisation alone cannot reach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Pilot setting: Faridabad, Delhi-NCR (IOCL R&amp;D dispensing since the 2022 Mirai pilot; MNRE corridor sanctioned March 2025, 18 to 24 months to commission). No station is public or confirmed available: access is a proposed partnership.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1874519"/>
            <a:ext cx="172821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Supply-to-fleet flow with pilot quantities (model, H2_Supply sheet) and proposed owners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185415"/>
            <a:ext cx="1728216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502920" y="2258567"/>
            <a:ext cx="26136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2258567"/>
            <a:ext cx="2613660" cy="34747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6072" y="2258567"/>
            <a:ext cx="252222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1. Green hydrogen producer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642615"/>
            <a:ext cx="2467356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SIGHT-awarded plant; ₹400/kg at gate (2026-28), ₹240/kg (2030); certified 2 kg CO2e/kg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3255263"/>
            <a:ext cx="2467356" cy="256032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950">
                <a:solidFill>
                  <a:srgbClr val="001D57"/>
                </a:solidFill>
                <a:latin typeface="Arial"/>
              </a:rPr>
              <a:t>Producer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16580.0" y="2990087"/>
            <a:ext cx="320040.0" cy="0"/>
          </a:xfrm>
          <a:prstGeom prst="line">
            <a:avLst/>
          </a:prstGeom>
          <a:ln w="31750">
            <a:solidFill>
              <a:srgbClr val="2A7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36620" y="2258567"/>
            <a:ext cx="26136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436620" y="2258567"/>
            <a:ext cx="2613660" cy="34747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9772" y="2258567"/>
            <a:ext cx="252222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2. Tube-trailer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772" y="2642615"/>
            <a:ext cx="2467356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300 kg payload; 1.4 loads per week; ₹45/kg; about 150 km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9772" y="3255263"/>
            <a:ext cx="2467356" cy="256032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950">
                <a:solidFill>
                  <a:srgbClr val="001D57"/>
                </a:solidFill>
                <a:latin typeface="Arial"/>
              </a:rPr>
              <a:t>Logistics contractor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0280.0" y="2990087"/>
            <a:ext cx="320040.0" cy="0"/>
          </a:xfrm>
          <a:prstGeom prst="line">
            <a:avLst/>
          </a:prstGeom>
          <a:ln w="31750">
            <a:solidFill>
              <a:srgbClr val="2A7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70320" y="2258567"/>
            <a:ext cx="26136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370320" y="2258567"/>
            <a:ext cx="2613660" cy="34747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43472" y="2258567"/>
            <a:ext cx="252222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3. Cascade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472" y="2642615"/>
            <a:ext cx="2467356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90 kg buffer (1.5 days) at 450 bar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3472" y="3255263"/>
            <a:ext cx="2467356" cy="256032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950">
                <a:solidFill>
                  <a:srgbClr val="001D57"/>
                </a:solidFill>
                <a:latin typeface="Arial"/>
              </a:rPr>
              <a:t>OMC station partner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83980.0" y="2990087"/>
            <a:ext cx="320040.0" cy="0"/>
          </a:xfrm>
          <a:prstGeom prst="line">
            <a:avLst/>
          </a:prstGeom>
          <a:ln w="31750">
            <a:solidFill>
              <a:srgbClr val="2A7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304020" y="2258567"/>
            <a:ext cx="26136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304020" y="2258567"/>
            <a:ext cx="2613660" cy="34747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77172" y="2258567"/>
            <a:ext cx="252222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4. Compression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7172" y="2642615"/>
            <a:ext cx="2467356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9.4 kg/h on a 150 kg/day design; 3 kWh/kg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7172" y="3255263"/>
            <a:ext cx="2467356" cy="256032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950">
                <a:solidFill>
                  <a:srgbClr val="001D57"/>
                </a:solidFill>
                <a:latin typeface="Arial"/>
              </a:rPr>
              <a:t>OMC station partner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917680.0" y="2990087"/>
            <a:ext cx="320040.0" cy="0"/>
          </a:xfrm>
          <a:prstGeom prst="line">
            <a:avLst/>
          </a:prstGeom>
          <a:ln w="31750">
            <a:solidFill>
              <a:srgbClr val="2A7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2237720" y="2258567"/>
            <a:ext cx="26136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2237720" y="2258567"/>
            <a:ext cx="2613660" cy="34747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310872" y="2258567"/>
            <a:ext cx="252222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5. Dispensing (H35)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10872" y="2642615"/>
            <a:ext cx="2467356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2 positions; 60 fills/day, 10 per hour in the peak window; PESO Form-H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10872" y="3255263"/>
            <a:ext cx="2467356" cy="256032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950">
                <a:solidFill>
                  <a:srgbClr val="001D57"/>
                </a:solidFill>
                <a:latin typeface="Arial"/>
              </a:rPr>
              <a:t>OMC station partner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851380.0" y="2990087"/>
            <a:ext cx="320040.0" cy="0"/>
          </a:xfrm>
          <a:prstGeom prst="line">
            <a:avLst/>
          </a:prstGeom>
          <a:ln w="31750">
            <a:solidFill>
              <a:srgbClr val="2A7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5171420" y="2258567"/>
            <a:ext cx="26136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5171420" y="2258567"/>
            <a:ext cx="2613660" cy="347472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5244572" y="2258567"/>
            <a:ext cx="252222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FFFFFF"/>
                </a:solidFill>
                <a:latin typeface="Arial"/>
              </a:rPr>
              <a:t>6. Fleet consumption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4572" y="2642615"/>
            <a:ext cx="2467356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30 cars x 2 fills; 60 kg/day; 65 percent of km on hydrogen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244572" y="3255263"/>
            <a:ext cx="2467356" cy="256032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100000"/>
              </a:lnSpc>
            </a:pPr>
            <a:r>
              <a:rPr b="1" i="0" sz="950">
                <a:solidFill>
                  <a:srgbClr val="001D57"/>
                </a:solidFill>
                <a:latin typeface="Arial"/>
              </a:rPr>
              <a:t>Fleet partner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767327"/>
            <a:ext cx="84124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Delivered price falls with utilisation but never reaches CNG parity (model)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4078223"/>
            <a:ext cx="84124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502920" y="4151375"/>
          <a:ext cx="841248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502920" y="6592823"/>
            <a:ext cx="841248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At 95 percent utilisation the hub price is still ₹524/kg: production, transport and compression alone (₹312/kg) exceed CNG parity. Station utilisation is the axis; capex ₹10 crore (pilot) and ₹12 crore (hub) recovered over 10 years at 12 percent.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3767327"/>
            <a:ext cx="85953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Ownership and risk (proposed, not committed)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89720" y="4078223"/>
            <a:ext cx="859536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9189720" y="4151375"/>
          <a:ext cx="8595359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19072"/>
                <a:gridCol w="3594423"/>
                <a:gridCol w="32818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FFFFFF"/>
                          </a:solidFill>
                          <a:latin typeface="Arial"/>
                        </a:rPr>
                        <a:t>Proposed holder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100">
                          <a:solidFill>
                            <a:srgbClr val="FFFFFF"/>
                          </a:solidFill>
                          <a:latin typeface="Arial"/>
                        </a:rPr>
                        <a:t>Risk carried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Vehicles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Fleet partner (PSU, corporate or airport contract)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Residual value, backed by programme buy-back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Kits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SRDI-led consortium; kit integrator warrants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Development and warranty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Dispensing 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OMC partner (proposed IOCL, Faridabad), Form-H licence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Utilisation, covered by take-or-pay from the fleet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Fuel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SIGHT-awarded producer by tube trailer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Supply reliability; buffer covers 1.5 days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Two hydrogen-ready workshops; PESO test station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Safety compliance and 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IIT Delhi or CEEW (proposed)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Credibility of results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502920" y="7168895"/>
            <a:ext cx="84124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Delivered price build-up, ₹ per kg (model): pilot point 2028 versus 2030 hub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02920" y="7479791"/>
            <a:ext cx="84124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502920" y="7552943"/>
          <a:ext cx="8412480" cy="1874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45408"/>
                <a:gridCol w="2383536"/>
                <a:gridCol w="23835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Pilot point, 150 kg/day at 50 percent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Hub 2030, 500 kg/day at 70 percent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Production at plant gate (green)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Tube-trailer transport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Compression electricity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Station capital recovery (10 years, 12 percent)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Station fixed O&amp;M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Losses, margin and taxes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Delivered price at the dispenser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050">
                          <a:solidFill>
                            <a:srgbClr val="3D3D3B"/>
                          </a:solidFill>
                          <a:latin typeface="Arial"/>
                        </a:rPr>
                        <a:t>1,433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i="0" sz="1050">
                          <a:solidFill>
                            <a:srgbClr val="3D3D3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9189720" y="6757415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100">
                <a:solidFill>
                  <a:srgbClr val="3D3D3B"/>
                </a:solidFill>
                <a:latin typeface="Arial"/>
              </a:rPr>
              <a:t>Main bottleneck: not station throughput (2 dispensers cover 60 fills a day) but the hydrogen price stack. Delivered gas keeps pilot capital to a dispensing point; on-site electrolysis is justified only at hub scale. Petrol backup covers supply interruptions.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7808975"/>
            <a:ext cx="85953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Station sizing from the fleet (H2_Supply sheet)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89720" y="8119871"/>
            <a:ext cx="859536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9189720" y="8193023"/>
            <a:ext cx="859536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•  30 cars x 167 km x 0.0185 kg/km x 0.65 = 60 kg/day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•  60 fills/day, 50 percent in a 3 h window = 10/h, 2 dispensers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•  Compressor 9.4 kg/h over 16 h; buffer 90 kg (1.5 days)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•  Cars alone use 40 percent of capacity; 50 percent assumed with bus and truck users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•  One 2030 hub serves 174 cars at 70 percent utilisation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MNRE corridors, PIB 3 Mar 2025 [W3-S36]; IOCL Faridabad [W3-S46, W4-S81]; CEEW station model [W4-S22]; ICCT utilisation [W4-S46]; Indian station capex indication [W4-S56]; green hydrogen cost [W4-S33, S38, S57]; Gas Cylinder Rules, Form-H [W2-S24, S27]; H2_Supply sheet.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2444"/>
                </a:solidFill>
                <a:latin typeface="Arial"/>
              </a:rPr>
              <a:t>Roadmap to 2030: four gated phases across five workstreams, ₹37.6 crore including contingency, with a proceed, redesign or stop decision at each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October 2026 to September 2030. Suzuki R&amp;D Center India proposed as engineering lead; public support sought under the MNRE transport pilot scheme, which names buses, trucks and 4-wheelers (PIB 14 Feb 2024).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2834640" y="1874519"/>
            <a:ext cx="879437" cy="274320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34640" y="1874519"/>
            <a:ext cx="879437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10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077" y="1874519"/>
            <a:ext cx="3517750" cy="274320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14077" y="1874519"/>
            <a:ext cx="351775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100">
                <a:solidFill>
                  <a:srgbClr val="FFFFFF"/>
                </a:solidFill>
                <a:latin typeface="Arial"/>
              </a:rPr>
              <a:t>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1828" y="1874519"/>
            <a:ext cx="3517750" cy="274320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31828" y="1874519"/>
            <a:ext cx="351775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100">
                <a:solidFill>
                  <a:srgbClr val="FFFFFF"/>
                </a:solidFill>
                <a:latin typeface="Arial"/>
              </a:rPr>
              <a:t>2028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9578" y="1874519"/>
            <a:ext cx="3517750" cy="274320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9578" y="1874519"/>
            <a:ext cx="351775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100">
                <a:solidFill>
                  <a:srgbClr val="FFFFFF"/>
                </a:solidFill>
                <a:latin typeface="Arial"/>
              </a:rPr>
              <a:t>2029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67329" y="1874519"/>
            <a:ext cx="3517750" cy="274320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267329" y="1874519"/>
            <a:ext cx="351775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100">
                <a:solidFill>
                  <a:srgbClr val="FFFFFF"/>
                </a:solidFill>
                <a:latin typeface="Arial"/>
              </a:rPr>
              <a:t>2030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.0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714077.6470588236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4593515.294117647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472952.94117647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6352390.588235294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231828.235294118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8111265.882352941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8990703.529411765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9870141.176470589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10749578.823529411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11629016.470588235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12508454.11764706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13387891.764705881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14267329.411764706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15146767.05882353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16026204.705882352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16905642.352941178" y="2148839"/>
            <a:ext cx="0.0" cy="4800600"/>
          </a:xfrm>
          <a:prstGeom prst="line">
            <a:avLst/>
          </a:prstGeom>
          <a:ln w="6350">
            <a:solidFill>
              <a:srgbClr val="E1E6ED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02920" y="2203703"/>
            <a:ext cx="228600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00">
                <a:solidFill>
                  <a:srgbClr val="B03A2E"/>
                </a:solidFill>
                <a:latin typeface="Arial"/>
              </a:rPr>
              <a:t>Decision gates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2587751"/>
            <a:ext cx="228600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00">
                <a:solidFill>
                  <a:srgbClr val="001D57"/>
                </a:solidFill>
                <a:latin typeface="Arial"/>
              </a:rPr>
              <a:t>Phase and budget (₹ crore)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2587751"/>
            <a:ext cx="1731443" cy="329184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834640" y="2587751"/>
            <a:ext cx="1758875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Phase 0: feasibility  ₹0.9 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3515" y="2587751"/>
            <a:ext cx="3490318" cy="329184"/>
          </a:xfrm>
          <a:prstGeom prst="rect">
            <a:avLst/>
          </a:prstGeom>
          <a:solidFill>
            <a:srgbClr val="256B9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93515" y="2587751"/>
            <a:ext cx="351775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Phase 1: engineering and controlled validation  ₹8.5 cr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1265" y="2587751"/>
            <a:ext cx="3490318" cy="329184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11265" y="2587751"/>
            <a:ext cx="351775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Phase 2: certification and pilot build  ₹15.2 cr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629016" y="2587751"/>
            <a:ext cx="5249193" cy="329184"/>
          </a:xfrm>
          <a:prstGeom prst="rect">
            <a:avLst/>
          </a:prstGeom>
          <a:solidFill>
            <a:srgbClr val="016F4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1629016" y="2587751"/>
            <a:ext cx="5276625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Phase 3: pilot operation  ₹8.1 cr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05642" y="2587751"/>
            <a:ext cx="852005" cy="329184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6905642" y="2587751"/>
            <a:ext cx="879437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Cond.</a:t>
            </a:r>
          </a:p>
        </p:txBody>
      </p:sp>
      <p:sp>
        <p:nvSpPr>
          <p:cNvPr id="45" name="Diamond 44"/>
          <p:cNvSpPr/>
          <p:nvPr/>
        </p:nvSpPr>
        <p:spPr>
          <a:xfrm>
            <a:off x="4438067" y="2212847"/>
            <a:ext cx="310896" cy="310896"/>
          </a:xfrm>
          <a:prstGeom prst="diamond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776395" y="2203703"/>
            <a:ext cx="146304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B03A2E"/>
                </a:solidFill>
                <a:latin typeface="Arial"/>
              </a:rPr>
              <a:t>G1 Mar 2027</a:t>
            </a:r>
          </a:p>
        </p:txBody>
      </p:sp>
      <p:sp>
        <p:nvSpPr>
          <p:cNvPr id="47" name="Diamond 46"/>
          <p:cNvSpPr/>
          <p:nvPr/>
        </p:nvSpPr>
        <p:spPr>
          <a:xfrm>
            <a:off x="7955817" y="2212847"/>
            <a:ext cx="310896" cy="310896"/>
          </a:xfrm>
          <a:prstGeom prst="diamond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94145" y="2203703"/>
            <a:ext cx="146304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B03A2E"/>
                </a:solidFill>
                <a:latin typeface="Arial"/>
              </a:rPr>
              <a:t>G2 Mar 2028</a:t>
            </a:r>
          </a:p>
        </p:txBody>
      </p:sp>
      <p:sp>
        <p:nvSpPr>
          <p:cNvPr id="49" name="Diamond 48"/>
          <p:cNvSpPr/>
          <p:nvPr/>
        </p:nvSpPr>
        <p:spPr>
          <a:xfrm>
            <a:off x="11473568" y="2212847"/>
            <a:ext cx="310896" cy="310896"/>
          </a:xfrm>
          <a:prstGeom prst="diamond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1811896" y="2203703"/>
            <a:ext cx="146304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B03A2E"/>
                </a:solidFill>
                <a:latin typeface="Arial"/>
              </a:rPr>
              <a:t>G3 Mar 2029</a:t>
            </a:r>
          </a:p>
        </p:txBody>
      </p:sp>
      <p:sp>
        <p:nvSpPr>
          <p:cNvPr id="51" name="Diamond 50"/>
          <p:cNvSpPr/>
          <p:nvPr/>
        </p:nvSpPr>
        <p:spPr>
          <a:xfrm>
            <a:off x="16750194" y="2212847"/>
            <a:ext cx="310896" cy="310896"/>
          </a:xfrm>
          <a:prstGeom prst="diamond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7088522" y="2203703"/>
            <a:ext cx="146304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B03A2E"/>
                </a:solidFill>
                <a:latin typeface="Arial"/>
              </a:rPr>
              <a:t>G4 Sep 2030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999231"/>
            <a:ext cx="17282160" cy="7863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02920" y="3072383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Engineering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3383279"/>
            <a:ext cx="2240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Owner: SRDI lead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62072" y="3108959"/>
            <a:ext cx="1676579" cy="566928"/>
          </a:xfrm>
          <a:prstGeom prst="roundRect">
            <a:avLst>
              <a:gd name="adj" fmla="val 15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Packaging mock-up, CAD, hazard analysis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20947" y="3108959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500 h test-cell programme; 3 prototype conversions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697" y="3108959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30 conversions; installer training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656448" y="3108959"/>
            <a:ext cx="5194329" cy="566928"/>
          </a:xfrm>
          <a:prstGeom prst="roundRect">
            <a:avLst>
              <a:gd name="adj" fmla="val 15000"/>
            </a:avLst>
          </a:prstGeom>
          <a:solidFill>
            <a:srgbClr val="016F49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Field support, calibration updates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6933074" y="3108959"/>
            <a:ext cx="797141" cy="566928"/>
          </a:xfrm>
          <a:prstGeom prst="roundRect">
            <a:avLst>
              <a:gd name="adj" fmla="val 15000"/>
            </a:avLst>
          </a:prstGeom>
          <a:solidFill>
            <a:srgbClr val="E1E6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02920" y="3858767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Testing and approval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4169663"/>
            <a:ext cx="2240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Owner: ARAI or ICAT; PESO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62072" y="3895343"/>
            <a:ext cx="1676579" cy="566928"/>
          </a:xfrm>
          <a:prstGeom prst="roundRect">
            <a:avLst>
              <a:gd name="adj" fmla="val 15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Route consultation: AISC, MoRTH, ARAI, ICAT, PESO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620947" y="3895343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Storage qualification; leak, ventilation, crash-structure tests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697" y="3895343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Kit type approval; 80,000 km durability on 2 cars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656448" y="3895343"/>
            <a:ext cx="5194329" cy="566928"/>
          </a:xfrm>
          <a:prstGeom prst="roundRect">
            <a:avLst>
              <a:gd name="adj" fmla="val 15000"/>
            </a:avLst>
          </a:prstGeom>
          <a:solidFill>
            <a:srgbClr val="016F49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Quarterly emission and safety tests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6933074" y="3895343"/>
            <a:ext cx="797141" cy="566928"/>
          </a:xfrm>
          <a:prstGeom prst="roundRect">
            <a:avLst>
              <a:gd name="adj" fmla="val 15000"/>
            </a:avLst>
          </a:prstGeom>
          <a:solidFill>
            <a:srgbClr val="E1E6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502920" y="4571999"/>
            <a:ext cx="17282160" cy="7863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4645151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Fuel supply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4956047"/>
            <a:ext cx="2240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Owner: OMC partner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862072" y="4681727"/>
            <a:ext cx="1676579" cy="566928"/>
          </a:xfrm>
          <a:prstGeom prst="roundRect">
            <a:avLst>
              <a:gd name="adj" fmla="val 15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Station partner letter; supply options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620947" y="4681727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Supply contract; Form-H application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38697" y="4681727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Dispensing point commissioned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656448" y="4681727"/>
            <a:ext cx="5194329" cy="566928"/>
          </a:xfrm>
          <a:prstGeom prst="roundRect">
            <a:avLst>
              <a:gd name="adj" fmla="val 15000"/>
            </a:avLst>
          </a:prstGeom>
          <a:solidFill>
            <a:srgbClr val="016F49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Deliveries 1.4 loads/week; utilisation log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933074" y="4681727"/>
            <a:ext cx="797141" cy="566928"/>
          </a:xfrm>
          <a:prstGeom prst="roundRect">
            <a:avLst>
              <a:gd name="adj" fmla="val 15000"/>
            </a:avLst>
          </a:prstGeom>
          <a:solidFill>
            <a:srgbClr val="E1E6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02920" y="5431535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Fleet operations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742431"/>
            <a:ext cx="2240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Owner: Fleet partner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862072" y="5468111"/>
            <a:ext cx="1676579" cy="566928"/>
          </a:xfrm>
          <a:prstGeom prst="roundRect">
            <a:avLst>
              <a:gd name="adj" fmla="val 15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30 interviews; telematics on 20 cars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20947" y="5468111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Driver and workshop training plan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38697" y="5468111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2 workshops upgraded; 30 cars inducted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656448" y="5468111"/>
            <a:ext cx="5194329" cy="566928"/>
          </a:xfrm>
          <a:prstGeom prst="roundRect">
            <a:avLst>
              <a:gd name="adj" fmla="val 15000"/>
            </a:avLst>
          </a:prstGeom>
          <a:solidFill>
            <a:srgbClr val="016F49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18 months with 10 CNG and 10 BEV comparison cars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6933074" y="5468111"/>
            <a:ext cx="797141" cy="566928"/>
          </a:xfrm>
          <a:prstGeom prst="roundRect">
            <a:avLst>
              <a:gd name="adj" fmla="val 15000"/>
            </a:avLst>
          </a:prstGeom>
          <a:solidFill>
            <a:srgbClr val="E1E6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502920" y="6144767"/>
            <a:ext cx="17282160" cy="7863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502920" y="6217919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Commercial validation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6528815"/>
            <a:ext cx="22402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Owner: SRDI with evaluator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862072" y="6254495"/>
            <a:ext cx="1676579" cy="566928"/>
          </a:xfrm>
          <a:prstGeom prst="roundRect">
            <a:avLst>
              <a:gd name="adj" fmla="val 15000"/>
            </a:avLst>
          </a:prstGeom>
          <a:solidFill>
            <a:srgbClr val="2C4662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Demand evidence from 3 fleets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20947" y="6254495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56B98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Cost model with supplier quotations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38697" y="6254495"/>
            <a:ext cx="3435454" cy="566928"/>
          </a:xfrm>
          <a:prstGeom prst="roundRect">
            <a:avLst>
              <a:gd name="adj" fmla="val 15000"/>
            </a:avLst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MNRE sanction; insurer endorsement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656448" y="6254495"/>
            <a:ext cx="5194329" cy="566928"/>
          </a:xfrm>
          <a:prstGeom prst="roundRect">
            <a:avLst>
              <a:gd name="adj" fmla="val 15000"/>
            </a:avLst>
          </a:prstGeom>
          <a:solidFill>
            <a:srgbClr val="016F49"/>
          </a:solidFill>
          <a:ln>
            <a:noFill/>
          </a:ln>
          <a:effectLst/>
        </p:spPr>
        <p:txBody>
          <a:bodyPr rtlCol="0" anchor="ctr" wrap="square" lIns="73152" tIns="18288" rIns="54864" bIns="18288"/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FFFFFF"/>
                </a:solidFill>
                <a:latin typeface="Arial"/>
              </a:rPr>
              <a:t>Independent evaluation; scale decision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6933074" y="6254495"/>
            <a:ext cx="797141" cy="566928"/>
          </a:xfrm>
          <a:prstGeom prst="roundRect">
            <a:avLst>
              <a:gd name="adj" fmla="val 15000"/>
            </a:avLst>
          </a:prstGeom>
          <a:solidFill>
            <a:srgbClr val="E1E6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502920" y="6976871"/>
            <a:ext cx="172821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Dependencies: gate 1 needs the regulator view and a station partner letter; Phase 1 needs car-size cylinder samples (Luxfer, Quantum, NPROXX, Time Technoplast) and hydrogen injectors; Phase 2 needs the MNRE sanction, PESO approvals and corridor station timing; Phase 3 needs the fuel contract and an insurer endorsement. Phase 4 (from Oct 2030, grey) is conditional: 1,000 to 1,500 cars at up to 8 hubs.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502920" y="7507223"/>
          <a:ext cx="12070079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9344"/>
                <a:gridCol w="8368588"/>
                <a:gridCol w="209214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Proceed if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Otherwise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G1 Mar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Written route from regulator and test agency; station partner secured; demand evidence from 3 fleets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G2 Mar 2028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below 2.2 kg/100 km; NOx at or below 60 mg/km on cycle; no abnormal combustion in 500 h; safety tests passed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Redesign once, then stop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G3 Mar 2029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Kit approval granted; dispensing point commissioned within 6 months of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Pause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G4 Sep 2030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Availability 95 percent; zero reportable hydrogen incidents; measured ₹/km published; delivered hydrogen at or below ₹250/kg with a credible path to ₹190/kg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Stop and publish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12801600" y="7507223"/>
            <a:ext cx="49834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Proposed funding of ₹37.6 crore (shares are proposals)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2801600" y="7818119"/>
            <a:ext cx="498348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95" name="Rectangle 94"/>
          <p:cNvSpPr/>
          <p:nvPr/>
        </p:nvSpPr>
        <p:spPr>
          <a:xfrm>
            <a:off x="12801600" y="7891271"/>
            <a:ext cx="1993392" cy="347472"/>
          </a:xfrm>
          <a:prstGeom prst="rect">
            <a:avLst/>
          </a:prstGeom>
          <a:solidFill>
            <a:srgbClr val="2C46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2801600" y="7891271"/>
            <a:ext cx="1993392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4794992" y="7891271"/>
            <a:ext cx="1744218" cy="347472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4794992" y="7891271"/>
            <a:ext cx="1744218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35%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6539210" y="7891271"/>
            <a:ext cx="747522" cy="347472"/>
          </a:xfrm>
          <a:prstGeom prst="rect">
            <a:avLst/>
          </a:prstGeom>
          <a:solidFill>
            <a:srgbClr val="256B9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16539210" y="7891271"/>
            <a:ext cx="747522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7286732" y="7891271"/>
            <a:ext cx="498348" cy="347472"/>
          </a:xfrm>
          <a:prstGeom prst="rect">
            <a:avLst/>
          </a:prstGeom>
          <a:solidFill>
            <a:srgbClr val="E09A1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7286732" y="7891271"/>
            <a:ext cx="498348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00">
                <a:solidFill>
                  <a:srgbClr val="FFFFFF"/>
                </a:solidFill>
                <a:latin typeface="Arial"/>
              </a:rPr>
              <a:t>10%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801600" y="8302751"/>
            <a:ext cx="498348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3D3D3B"/>
                </a:solidFill>
                <a:latin typeface="Arial"/>
              </a:rPr>
              <a:t>SRDI and Maruti Suzuki ₹15.0 cr | Public: MNRE pilot or R&amp;D scheme, state policy ₹13.1 cr | OMC partner ₹5.6 cr | Fleet partner ₹3.8 cr. Why Suzuki's role is plausible: CNG engine and calibration know-how, 70 percent of India's CNG cars, its own hydrogen combustion prototypes (Swift with AVL, Burgman). No endorsement is implied.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MNRE scheme guidelines, PIB 14 Feb 2024 (buses, trucks and 4-wheelers) [PIB 2006052]; ARAI Phase-II call for proposals (Sep to Dec 2025); test facilities [W4-S14, S15]; CNG kit approval precedent [W2-S3, S8]; PESO rules [W2-S24]; Pilot_Budget sheet.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600">
                <a:solidFill>
                  <a:srgbClr val="002444"/>
                </a:solidFill>
                <a:latin typeface="Arial"/>
              </a:rPr>
              <a:t>Impact is real but small by 2030: about 1,400 cars and 3.6 kt CO2e a year, conditional on the gates. The decision requested is ₹0.9 crore for Phase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Matched service (same car, same duty) for every comparison; projections are labelled as modelled, pilot target or conditional scenario, never as achieved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1874519"/>
            <a:ext cx="59436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Emissions per km, well-to-wheel with manufacturing (model)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185415"/>
            <a:ext cx="594360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258567"/>
          <a:ext cx="5943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04687"/>
            <a:ext cx="5943600" cy="8686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Green-hydrogen retrofit is 35 percent below CNG with petrol backup km included; grid-electrolysis hydrogen would be 533 g/km, four times CNG. Reversal: hydrogen above 5.9 kg CO2e/kg makes the retrofit worse than CNG; grid below 0.29 kg/kWh at the meter makes the BEV cleaner (CEA path about 0.5 by 2032). NOx remains.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64807"/>
            <a:ext cx="59436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Scenario table (per car unless stated)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775703"/>
            <a:ext cx="594360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6848855"/>
          <a:ext cx="5943599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44693"/>
                <a:gridCol w="1056640"/>
                <a:gridCol w="1188720"/>
                <a:gridCol w="1144693"/>
                <a:gridCol w="140885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Baseline: keep CNG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Modelled retrofit, base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Pilot target 2029-30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FFFFFF"/>
                          </a:solidFill>
                          <a:latin typeface="Arial"/>
                        </a:rPr>
                        <a:t>Conditional 2030 (about 1,400 cars)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CO2e, g/km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below 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3,645 t/yr avoided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Hydrogen use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1.85 kg/100 km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below 2.2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924 t/yr demand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Cost per km, all-in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₹5.2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₹13.7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measured and published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depends on hydrogen price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not yet measured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above 95 percent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above 95 percent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720840" y="1874519"/>
            <a:ext cx="59436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Pilot scorecard: metric, success threshold, measurement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2185415"/>
            <a:ext cx="594360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20840" y="2258567"/>
          <a:ext cx="5943598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15035"/>
                <a:gridCol w="2447364"/>
                <a:gridCol w="198119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Threshold (gate 4)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How measured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Consumption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below 2.2 kg/100 km in fleet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Dispenser mass logs, CAN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Range per fill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above 55 km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Trip logs, GPS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Hydrogen share of 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above 60 percent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Telematics, fuel mode 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above 95 percent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Downtime by cause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Safety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zero reportable incidents; all alarms 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Incident register, sensor logs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NOx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below 60 mg/km on cycle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Test agency, quarterly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Maintenance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within ₹1.2/km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Job cards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Refuelling time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under 6 min per fill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Dispenser logs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Delivered hydrogen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at or below ₹250/kg, path to ₹190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Fuel invoices, station utilisation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fleet managers and drivers accept power and boot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Quarterly interviews, willingness to pay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720840" y="6190487"/>
            <a:ext cx="59436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Major unresolved risks (ranked)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20840" y="6501383"/>
            <a:ext cx="594360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720840" y="6574535"/>
          <a:ext cx="5943599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98494"/>
                <a:gridCol w="2330823"/>
                <a:gridCol w="221428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Delivered hydrogen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₹360 to ₹1,430/kg across sources; decides the scale case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Price gate; take-or-pay; pilot fuel as programme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Approval route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No instrument for a hydrogen retrofit kit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Gate 1 consultation; trial under trade certificate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NOx on transients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Lean window lost under acceleration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NOx trap provision; load limiting; cycle test at gate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Cylinder supply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No car-size PESO-approved cylinder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Samples from 4 suppliers in Phase 0; PESO prototype approval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i="0" sz="1000">
                          <a:solidFill>
                            <a:srgbClr val="001D57"/>
                          </a:solidFill>
                          <a:latin typeface="Arial"/>
                        </a:rPr>
                        <a:t>Customer demand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Hypothesis; power and boot loss may be refused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00">
                          <a:solidFill>
                            <a:srgbClr val="3D3D3B"/>
                          </a:solidFill>
                          <a:latin typeface="Arial"/>
                        </a:rPr>
                        <a:t>30 interviews; gate 1 needs 3 fleets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2938760" y="1874519"/>
            <a:ext cx="48463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Decision requested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938760" y="2185415"/>
            <a:ext cx="484632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12938760" y="2295143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77672" y="2258567"/>
            <a:ext cx="438912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Approve Phase 0: ₹0.9 crore, six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77672" y="2551175"/>
            <a:ext cx="4389120" cy="6217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regulator consultations, 30 fleet interviews, telematics on 20 cars, boot mock-up; no commitment beyond gate 1</a:t>
            </a:r>
          </a:p>
        </p:txBody>
      </p:sp>
      <p:sp>
        <p:nvSpPr>
          <p:cNvPr id="24" name="Oval 23"/>
          <p:cNvSpPr/>
          <p:nvPr/>
        </p:nvSpPr>
        <p:spPr>
          <a:xfrm>
            <a:off x="12938760" y="3209543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77672" y="3172967"/>
            <a:ext cx="438912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Endorse a scheme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77672" y="3465575"/>
            <a:ext cx="4389120" cy="6217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MNRE transport pilot scheme, 4-wheeler category, with ARAI as implementing agency; Gujarat station subsidy for the second hub</a:t>
            </a:r>
          </a:p>
        </p:txBody>
      </p:sp>
      <p:sp>
        <p:nvSpPr>
          <p:cNvPr id="27" name="Oval 26"/>
          <p:cNvSpPr/>
          <p:nvPr/>
        </p:nvSpPr>
        <p:spPr>
          <a:xfrm>
            <a:off x="12938760" y="4123943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77672" y="4087367"/>
            <a:ext cx="438912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Nominate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77672" y="4379975"/>
            <a:ext cx="4389120" cy="6217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SRDI engineering lead; fleet and fuel partner shortlist (proposed IOCL Faridabad; PSU and airport-contract fleets)</a:t>
            </a:r>
          </a:p>
        </p:txBody>
      </p:sp>
      <p:sp>
        <p:nvSpPr>
          <p:cNvPr id="30" name="Oval 29"/>
          <p:cNvSpPr/>
          <p:nvPr/>
        </p:nvSpPr>
        <p:spPr>
          <a:xfrm>
            <a:off x="12938760" y="5038343"/>
            <a:ext cx="329184" cy="329184"/>
          </a:xfrm>
          <a:prstGeom prst="ellipse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77672" y="5001767"/>
            <a:ext cx="438912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150">
                <a:solidFill>
                  <a:srgbClr val="001D57"/>
                </a:solidFill>
                <a:latin typeface="Arial"/>
              </a:rPr>
              <a:t>Start HCNG in parallel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77672" y="5294375"/>
            <a:ext cx="4389120" cy="6217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3D3D3B"/>
                </a:solidFill>
                <a:latin typeface="Arial"/>
              </a:rPr>
              <a:t>where a CGD company blends to IS 17314: legal since 2020, no vehicle change, about 6 percent of energy from hydrogen; an air-quality 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38760" y="6053327"/>
            <a:ext cx="484632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What would make us stop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938760" y="6364223"/>
            <a:ext cx="484632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12938760" y="6528815"/>
            <a:ext cx="164592" cy="16459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3213080" y="6437375"/>
            <a:ext cx="457200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No written regulator route by March 2027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938760" y="6912863"/>
            <a:ext cx="164592" cy="16459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3213080" y="6821423"/>
            <a:ext cx="457200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Backfire or NOx not controlled within 500 test-cell hours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938760" y="7296911"/>
            <a:ext cx="164592" cy="16459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3213080" y="7205471"/>
            <a:ext cx="457200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Delivered hydrogen above ₹250/kg in 2030 with no path to ₹190/kg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38760" y="7680959"/>
            <a:ext cx="164592" cy="16459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3213080" y="7589519"/>
            <a:ext cx="457200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3D3D3B"/>
                </a:solidFill>
                <a:latin typeface="Arial"/>
              </a:rPr>
              <a:t>Fleets refuse the power and boot loss in Phase 0 interviews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938760" y="8129015"/>
            <a:ext cx="4846320" cy="123444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H2-SHIFT keeps India's hydrogen retrofit option open at low cost, states the price at which it works, and hands the 2030 scale decision to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Sources: CEA CO2 baseline v21 and National Electricity Plan [W4-S59, S60]; IPCC fuel factors [W4-S62]; ICCT 2025 lifecycle and battery factors [W4-S63]; hydrogen carbon intensities [W4-S64, S65]; DOE NOx page [W2-S52]; MNRE scheme scope [PIB 2006052]; H-CNG notification [W2-S1]; Emissions, Market and Pilot_Budget sheets.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463040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002444"/>
                </a:solidFill>
                <a:latin typeface="Arial"/>
              </a:rPr>
              <a:t>Key sources by theme (IDs as used on the slides) and annexure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1490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450">
                <a:solidFill>
                  <a:srgbClr val="3D3D3B"/>
                </a:solidFill>
                <a:latin typeface="Arial"/>
              </a:rPr>
              <a:t>Research cut-off 14 September 2026. The full register (309 entries with URLs, dates, sections and limitations) is in Annexure A2 and the workbook Sources 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0" y="292608"/>
            <a:ext cx="2560320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/>
            <a:r>
              <a:rPr sz="2600" b="1" i="1">
                <a:solidFill>
                  <a:srgbClr val="15448C"/>
                </a:solidFill>
                <a:latin typeface="Arial"/>
              </a:rPr>
              <a:t>H</a:t>
            </a:r>
            <a:r>
              <a:rPr sz="2600" b="1" i="1">
                <a:solidFill>
                  <a:srgbClr val="15448C"/>
                </a:solidFill>
                <a:latin typeface="Arial"/>
              </a:rPr>
              <a:t>₂</a:t>
            </a:r>
            <a:r>
              <a:rPr sz="2600" b="1" i="1">
                <a:solidFill>
                  <a:srgbClr val="016F49"/>
                </a:solidFill>
                <a:latin typeface="Arial"/>
              </a:rPr>
              <a:t>-SHIFT</a:t>
            </a:r>
          </a:p>
          <a:p>
            <a:pPr algn="r"/>
            <a:r>
              <a:rPr sz="1150" b="1">
                <a:solidFill>
                  <a:srgbClr val="002444"/>
                </a:solidFill>
                <a:latin typeface="Arial"/>
              </a:rPr>
              <a:t>Convert. Don't Replace.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737360"/>
            <a:ext cx="17282160" cy="0"/>
          </a:xfrm>
          <a:prstGeom prst="line">
            <a:avLst/>
          </a:prstGeom>
          <a:ln w="19050">
            <a:solidFill>
              <a:srgbClr val="2A765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02920" y="1874519"/>
            <a:ext cx="38709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Policy, standards and approval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.0" y="2185415"/>
            <a:ext cx="3870960.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02920" y="2258567"/>
            <a:ext cx="3870960" cy="32918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W2-S13 MoRTH GSR 746(E), 16 Oct 2023: Rule 125M, AIS 195:2023 (Amd 1, May 2025)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W2-S11 MoRTH GSR 579(E), 23 Sep 2020: AIS 157:2020; scope excludes retrofitted FCEVs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W2-S1 MoRTH GSR 585(E), 25 Sep 2020: H-CNG per IS 17314:2019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W2-S3, S9 CMVR Rules 115 and 126 (CNG/LPG kit provisions, retrofit proviso)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W2-S24, S27 Gas Cylinders (Amendment) Rules 2025, GSR 225(E); PESO Form-H licensing (May 2025)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W2-S42 to S45 UN GTR 13 Amend. 1 (2023); H2Tools and DOE properties; NFPA 2 (2023)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6760" y="1874519"/>
            <a:ext cx="38709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Market, fleet and customer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56760.0" y="2185415"/>
            <a:ext cx="3870960.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556760" y="2258567"/>
            <a:ext cx="3870960" cy="32918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W3-S2 PNGRB citing Vahan: 81.95 lakh CNG vehicles (Mar 2025)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W3-S4, S6 MoPNG: 8,150 plus CNG stations; 17,700 to 18,000 by 2030 (targets)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W3-S10, S12 Maruti Suzuki CNG sales: 6.12 to 6.2 lakh FY25, above 7 lakh FY26; 71.6 percent segment share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W3-S17, S19 Delhi aggregator scheme 2023; CAQM NCR direction (Jan 2026)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W4-S30 NITI Aayog (Feb 2026): 4W taxi mileage 70,000 km/yr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W3-S27, S30 Tata Tiago EV, Punch EV, Xpres-T prices; Autocar India real-world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600" y="1874519"/>
            <a:ext cx="38709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Vehicle, components and combustion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10600.0" y="2185415"/>
            <a:ext cx="3870960.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10600" y="2258567"/>
            <a:ext cx="3870960" cy="32918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W1-S3a to S3c Maruti Suzuki Tour S and Dzire specifications and releases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W1-S2 Luxfer G-Stor Pro H2 table (V060H35: 60 L, 350 bar, 36 kg, 1.45 kg)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W1-S1 Hexagon Purus Type 4 cylinder table (Rev 08/22)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W1-S9a, S9b, S9h PFI air displacement and power loss; lambda-NOx behaviour (IJHE 2024-25; Onorati et al.)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W1-S11a ISO 11439 hydrogen limit for steel CNG cylinders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W4-S1, S2 US DOE records 19008 and 24006: Type IV storage system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38"/>
            <a:ext cx="38709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Hydrogen supply and cost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.0" y="6117334"/>
            <a:ext cx="3870960.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02920" y="6190486"/>
            <a:ext cx="3870960" cy="32918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PIB 2107795 (3 Mar 2025): 5 pilots, 37 vehicles, 9 stations, 10 routes, ₹208 crore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PIB 2006052 (14 Feb 2024): scheme guidelines, buses, trucks and 4-wheelers, ₹496 crore; W3-S37 PIB 29 Jul 2026: 12 projects, 70 vehicles, 16 stations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W4-S22 CEEW 2025: delivered green hydrogen USD 4.2/kg in 2030; above USD 10/kg today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W4-S33, S38, S57 CEEW, SIGHT ammonia auctions, IEA GHR: production cost evidence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W3-S39 Numaligarh refinery tender ₹279/kg; W4-S46 ICCT station cost by utilisation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W3-S46, W4-S81 IOCL R&amp;D Faridabad hydrogen dispensing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60" y="5806438"/>
            <a:ext cx="38709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Emissions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56760.0" y="6117334"/>
            <a:ext cx="3870960.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56760" y="6190486"/>
            <a:ext cx="3870960" cy="32918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W4-S59, S60 CEA CO2 Baseline Database v21 (0.710 t/MWh, FY2024-25); National Electricity Plan 2022-32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W4-S62 IPCC 2006 fuel factors (petrol, natural gas)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W4-S63 ICCT 2025 lifecycle factors; battery about 70 kg CO2e/kWh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W4-S64, S65 IEA hydrogen carbon intensities; MNRE Green Hydrogen Standard (2 kg CO2e/kg)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W2-S52 US DOE: hydrogen combustion and NOx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0600" y="5806438"/>
            <a:ext cx="387096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01D57"/>
                </a:solidFill>
                <a:latin typeface="Arial"/>
              </a:rPr>
              <a:t>Global programmes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10600.0" y="6117334"/>
            <a:ext cx="3870960.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610600" y="6190486"/>
            <a:ext cx="3870960" cy="32918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W3-S51, S52 Toyota Mirai sales; Hyundai Nexo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W3-S55, S56 Toyota hydrogen HiAce pilot; GR Corolla H2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Fuel Cells Works, RushLane (May 2026): Suzuki-AVL hydrogen Swift prototype; W3-S58 Suzuki Burgman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W3-S59 to S63 Cummins B6.7H India; JCB type approval; KEYOU; MAN; ULEMCo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b="0" i="0" sz="1200">
                <a:solidFill>
                  <a:srgbClr val="3D3D3B"/>
                </a:solidFill>
                <a:latin typeface="Arial"/>
              </a:rPr>
              <a:t>•  W3-S64 to S67 Stellantis (Jul 2025); Shell California (Feb 2024); H2 Mobility Germany (2025); GM-Honda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4440" y="1874519"/>
            <a:ext cx="512064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Annexure index (separate PDF and workbook)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664440" y="2185415"/>
            <a:ext cx="512064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2664440" y="2258567"/>
          <a:ext cx="5120639" cy="35112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86264"/>
                <a:gridCol w="423437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FFFFFF"/>
                          </a:solidFill>
                          <a:latin typeface="Arial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001D5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Claim audit: Round 1 versus evidence, with corrections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A2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Assumptions, evidence classes, full source register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Cost model: BOM, TCO cash flows, break-even, sensitivities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A4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Packaging, energy balance and performance calculations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Regulatory compliance matrix and hazard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A6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Market sizing method and funnel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Global benchmark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A8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Pilot design, instrumentation, first 90 days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Phase budgets, responsibilities, funding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A10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Judge Q&amp;A, validation log, change log</a:t>
                      </a:r>
                    </a:p>
                  </a:txBody>
                  <a:tcPr marL="54864" marR="54864" marT="27432" marB="27432" anchor="ctr">
                    <a:solidFill>
                      <a:srgbClr val="F6F7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b="1" i="0" sz="1050">
                          <a:solidFill>
                            <a:srgbClr val="001D57"/>
                          </a:solidFill>
                          <a:latin typeface="Arial"/>
                        </a:rPr>
                        <a:t>Workbook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050">
                          <a:solidFill>
                            <a:srgbClr val="3D3D3B"/>
                          </a:solidFill>
                          <a:latin typeface="Arial"/>
                        </a:rPr>
                        <a:t>H2SHIFT model: 11 formula-driven sheets, recalculated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2664440" y="6373367"/>
            <a:ext cx="512064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00">
                <a:solidFill>
                  <a:srgbClr val="001D57"/>
                </a:solidFill>
                <a:latin typeface="Arial"/>
              </a:rPr>
              <a:t>Model inputs by evidence class (98 inputs)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664440" y="6684263"/>
            <a:ext cx="5120640" cy="0"/>
          </a:xfrm>
          <a:prstGeom prst="line">
            <a:avLst/>
          </a:prstGeom>
          <a:ln w="9525">
            <a:solidFill>
              <a:srgbClr val="E1E6ED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12664440" y="6757415"/>
            <a:ext cx="1619794" cy="329184"/>
          </a:xfrm>
          <a:prstGeom prst="rect">
            <a:avLst/>
          </a:prstGeom>
          <a:solidFill>
            <a:srgbClr val="2A765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664440" y="6757415"/>
            <a:ext cx="161979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FFFFFF"/>
                </a:solidFill>
                <a:latin typeface="Arial"/>
              </a:rPr>
              <a:t>A 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284234" y="6757415"/>
            <a:ext cx="679268" cy="329184"/>
          </a:xfrm>
          <a:prstGeom prst="rect">
            <a:avLst/>
          </a:prstGeom>
          <a:solidFill>
            <a:srgbClr val="256B9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284234" y="6757415"/>
            <a:ext cx="67926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FFFFFF"/>
                </a:solidFill>
                <a:latin typeface="Arial"/>
              </a:rPr>
              <a:t>B 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963502" y="6757415"/>
            <a:ext cx="2717074" cy="329184"/>
          </a:xfrm>
          <a:prstGeom prst="rect">
            <a:avLst/>
          </a:prstGeom>
          <a:solidFill>
            <a:srgbClr val="E09A1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4963502" y="6757415"/>
            <a:ext cx="271707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FFFFFF"/>
                </a:solidFill>
                <a:latin typeface="Arial"/>
              </a:rPr>
              <a:t>C 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680576" y="6757415"/>
            <a:ext cx="104502" cy="329184"/>
          </a:xfrm>
          <a:prstGeom prst="rect">
            <a:avLst/>
          </a:prstGeom>
          <a:solidFill>
            <a:srgbClr val="8A8D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7680576" y="6757415"/>
            <a:ext cx="104502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050">
                <a:solidFill>
                  <a:srgbClr val="FFFFFF"/>
                </a:solidFill>
                <a:latin typeface="Arial"/>
              </a:rPr>
              <a:t>D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64440" y="7123175"/>
            <a:ext cx="5120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00">
                <a:solidFill>
                  <a:srgbClr val="787974"/>
                </a:solidFill>
                <a:latin typeface="Arial"/>
              </a:rPr>
              <a:t>A 31 | B 13 | C 52 | D 2 (A verified, B model, C assumption, D target)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7443215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3D3D3B"/>
                </a:solidFill>
                <a:latin typeface="Arial"/>
              </a:rPr>
              <a:t>Evidence classes: A verified external evidence; B model estimate; C explicit assumption or range; D proposed target. Many originals were inaccessible through the build environment's network policy; entries marked 'excerpt' or 'summary' rest on indexed page text and should be re-verified before external use. No customer interviews, letters of interest, test results or partnerships are claimed.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9710928"/>
            <a:ext cx="16093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Team Wookies, NIT Warangal. SRDI Igniters Innovation Challenge 2026, Engineering Track, Option 2: Hydrogen Retrofit Solution. Round 2 submission.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282160" y="9857232"/>
            <a:ext cx="548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1050">
                <a:solidFill>
                  <a:srgbClr val="7879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