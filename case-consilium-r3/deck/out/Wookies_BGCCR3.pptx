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672"/>
                </a:solidFill>
                <a:latin typeface="Inter"/>
              </a:defRPr>
            </a:pPr>
            <a:r>
              <a:rPr sz="1200" b="0" i="0" u="none" strike="noStrike">
                <a:solidFill>
                  <a:srgbClr val="5B6672"/>
                </a:solidFill>
                <a:latin typeface="Inter"/>
              </a:rPr>
              <a:t>Viewership index (case, CF3)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index</c:v>
                </c:pt>
              </c:strCache>
            </c:strRef>
          </c:tx>
          <c:spPr>
            <a:solidFill>
              <a:srgbClr val="007A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12B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Ordinary week</c:v>
                  </c:pt>
                  <c:pt idx="1">
                    <c:v>India-friendly Masters week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150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8212B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72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9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672"/>
                </a:solidFill>
                <a:latin typeface="Inter"/>
              </a:defRPr>
            </a:pPr>
            <a:r>
              <a:rPr sz="1200" b="0" i="0" u="none" strike="noStrike">
                <a:solidFill>
                  <a:srgbClr val="5B6672"/>
                </a:solidFill>
                <a:latin typeface="Inter"/>
              </a:rPr>
              <a:t>Allocation by row, ₹ lakh (total ₹10.0 lakh = 100%)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Stage 1 (now)</c:v>
                </c:pt>
              </c:strCache>
            </c:strRef>
          </c:tx>
          <c:spPr>
            <a:solidFill>
              <a:srgbClr val="0B66C3"/>
            </a:solidFill>
            <a:effectLst/>
          </c:spPr>
          <c:invertIfNegative val="0"/>
          <c:dLbls>
            <c:numFmt formatCode="0.0;−0.0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Inter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C2 Search + retargeting · 30% · ₹3.0L</c:v>
                  </c:pt>
                  <c:pt idx="1">
                    <c:v>C5 Editorial · 15% · ₹1.5L</c:v>
                  </c:pt>
                  <c:pt idx="2">
                    <c:v>C1 Prospecting, bounded test · 10% · ₹1.0L</c:v>
                  </c:pt>
                  <c:pt idx="3">
                    <c:v>C6 ESPN.in geo test · 10% · ₹1.0L</c:v>
                  </c:pt>
                  <c:pt idx="4">
                    <c:v>C8 Measurement · 9% · ₹0.9L</c:v>
                  </c:pt>
                  <c:pt idx="5">
                    <c:v>C3 CRM activation · 8% · ₹0.8L</c:v>
                  </c:pt>
                  <c:pt idx="6">
                    <c:v>C4 Contests · 7% · ₹0.7L</c:v>
                  </c:pt>
                  <c:pt idx="7">
                    <c:v>C7 Retention comms · 6% · ₹0.6L</c:v>
                  </c:pt>
                  <c:pt idx="8">
                    <c:v>C3b Reactivation · 5% · ₹0.5L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1.5</c:v>
                </c:pt>
                <c:pt idx="1">
                  <c:v>0.3</c:v>
                </c:pt>
                <c:pt idx="2">
                  <c:v>0</c:v>
                </c:pt>
                <c:pt idx="3">
                  <c:v>0</c:v>
                </c:pt>
                <c:pt idx="4">
                  <c:v>0.5</c:v>
                </c:pt>
                <c:pt idx="5">
                  <c:v>0.6</c:v>
                </c:pt>
                <c:pt idx="6">
                  <c:v>0.4</c:v>
                </c:pt>
                <c:pt idx="7">
                  <c:v>0.3</c:v>
                </c:pt>
                <c:pt idx="8">
                  <c:v>0.4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Stage 2 (at gate G2)</c:v>
                </c:pt>
              </c:strCache>
            </c:strRef>
          </c:tx>
          <c:spPr>
            <a:solidFill>
              <a:srgbClr val="A9CBF2"/>
            </a:solidFill>
            <a:effectLst/>
          </c:spPr>
          <c:invertIfNegative val="0"/>
          <c:dLbls>
            <c:numFmt formatCode="0.0;−0.0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Inter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C2 Search + retargeting · 30% · ₹3.0L</c:v>
                  </c:pt>
                  <c:pt idx="1">
                    <c:v>C5 Editorial · 15% · ₹1.5L</c:v>
                  </c:pt>
                  <c:pt idx="2">
                    <c:v>C1 Prospecting, bounded test · 10% · ₹1.0L</c:v>
                  </c:pt>
                  <c:pt idx="3">
                    <c:v>C6 ESPN.in geo test · 10% · ₹1.0L</c:v>
                  </c:pt>
                  <c:pt idx="4">
                    <c:v>C8 Measurement · 9% · ₹0.9L</c:v>
                  </c:pt>
                  <c:pt idx="5">
                    <c:v>C3 CRM activation · 8% · ₹0.8L</c:v>
                  </c:pt>
                  <c:pt idx="6">
                    <c:v>C4 Contests · 7% · ₹0.7L</c:v>
                  </c:pt>
                  <c:pt idx="7">
                    <c:v>C7 Retention comms · 6% · ₹0.6L</c:v>
                  </c:pt>
                  <c:pt idx="8">
                    <c:v>C3b Reactivation · 5% · ₹0.5L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1.5</c:v>
                </c:pt>
                <c:pt idx="1">
                  <c:v>1.2</c:v>
                </c:pt>
                <c:pt idx="2">
                  <c:v>1</c:v>
                </c:pt>
                <c:pt idx="3">
                  <c:v>1</c:v>
                </c:pt>
                <c:pt idx="4">
                  <c:v>0.4</c:v>
                </c:pt>
                <c:pt idx="5">
                  <c:v>0.2</c:v>
                </c:pt>
                <c:pt idx="6">
                  <c:v>0.3</c:v>
                </c:pt>
                <c:pt idx="7">
                  <c:v>0.3</c:v>
                </c:pt>
                <c:pt idx="8">
                  <c:v>0.1</c:v>
                </c:pt>
              </c:numCache>
            </c:numRef>
          </c:val>
        </c:ser>
        <c:dLbls>
          <c:numFmt formatCode="0.0;−0.0;;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Inter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8212B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5"/>
          <c:min val="0"/>
        </c:scaling>
        <c:delete val="0"/>
        <c:axPos val="b"/>
        <c:majorGridlines>
          <c:spPr>
            <a:ln w="6350" cap="flat">
              <a:solidFill>
                <a:srgbClr val="EDF1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72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672"/>
                </a:solidFill>
                <a:latin typeface="Inter"/>
              </a:defRPr>
            </a:pPr>
            <a:r>
              <a:rPr sz="1200" b="0" i="0" u="none" strike="noStrike">
                <a:solidFill>
                  <a:srgbClr val="5B6672"/>
                </a:solidFill>
                <a:latin typeface="Inter"/>
              </a:rPr>
              <a:t>CAC per new payer, ₹ (rows with a new-payer denominator)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Attributed</c:v>
                </c:pt>
              </c:strCache>
            </c:strRef>
          </c:tx>
          <c:spPr>
            <a:solidFill>
              <a:srgbClr val="0B66C3"/>
            </a:solidFill>
            <a:effectLst/>
          </c:spPr>
          <c:invertIfNegative val="0"/>
          <c:dLbls>
            <c:numFmt formatCode="&quot;₹&quot;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12B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C1 Prospecting</c:v>
                  </c:pt>
                  <c:pt idx="1">
                    <c:v>C2 Search</c:v>
                  </c:pt>
                  <c:pt idx="2">
                    <c:v>C3 CRM</c:v>
                  </c:pt>
                  <c:pt idx="3">
                    <c:v>C4 Contests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1429</c:v>
                </c:pt>
                <c:pt idx="1">
                  <c:v>206</c:v>
                </c:pt>
                <c:pt idx="2">
                  <c:v>67</c:v>
                </c:pt>
                <c:pt idx="3">
                  <c:v>214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Incremental</c:v>
                </c:pt>
              </c:strCache>
            </c:strRef>
          </c:tx>
          <c:spPr>
            <a:solidFill>
              <a:srgbClr val="EF5E16"/>
            </a:solidFill>
            <a:effectLst/>
          </c:spPr>
          <c:invertIfNegative val="0"/>
          <c:dLbls>
            <c:numFmt formatCode="&quot;₹&quot;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12B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C1 Prospecting</c:v>
                  </c:pt>
                  <c:pt idx="1">
                    <c:v>C2 Search</c:v>
                  </c:pt>
                  <c:pt idx="2">
                    <c:v>C3 CRM</c:v>
                  </c:pt>
                  <c:pt idx="3">
                    <c:v>C4 Contests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2381</c:v>
                </c:pt>
                <c:pt idx="1">
                  <c:v>317</c:v>
                </c:pt>
                <c:pt idx="2">
                  <c:v>133</c:v>
                </c:pt>
                <c:pt idx="3">
                  <c:v>427</c:v>
                </c:pt>
              </c:numCache>
            </c:numRef>
          </c:val>
        </c:ser>
        <c:dLbls>
          <c:numFmt formatCode="&quot;₹&quot;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8212B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8212B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atpmedia.tv/article/fancode-signs-exclusive-atp-tour-multi-year-broadcast-deal/" TargetMode="External"/><Relationship Id="rId2" Type="http://schemas.openxmlformats.org/officeDocument/2006/relationships/hyperlink" Target="https://www.moneycontrol.com/news/business/startup/fancode-strikes-exclusive-multi-year-deal-to-broadcast-atp-tour-events-in-indian-subcontinent-13757010.html" TargetMode="External"/><Relationship Id="rId3" Type="http://schemas.openxmlformats.org/officeDocument/2006/relationships/hyperlink" Target="https://www.atptour.com/en/news/what-is-the-2026-atp-tour-calendar" TargetMode="External"/><Relationship Id="rId4" Type="http://schemas.openxmlformats.org/officeDocument/2006/relationships/hyperlink" Target="https://www.atptour.com/en/tournaments/tv-schedule" TargetMode="External"/><Relationship Id="rId5" Type="http://schemas.openxmlformats.org/officeDocument/2006/relationships/hyperlink" Target="https://www.jiostar.com/news/jiohotstar-introduces-monthly-plans-across-tiers-giving-viewers-more-choice-in-how-they-watch-their-favourite-entertainment/" TargetMode="External"/><Relationship Id="rId6" Type="http://schemas.openxmlformats.org/officeDocument/2006/relationships/hyperlink" Target="https://help.sonyliv.com/top-articles/what-are-the-types-of-subscription-available-on-liv-how-much-does-sony-liv-cost-1" TargetMode="External"/><Relationship Id="rId7" Type="http://schemas.openxmlformats.org/officeDocument/2006/relationships/hyperlink" Target="https://support.tennistv.com/hc/en-us/articles/21872957780636-How-much-does-Tennis-TV-cost" TargetMode="External"/><Relationship Id="rId8" Type="http://schemas.openxmlformats.org/officeDocument/2006/relationships/hyperlink" Target="https://apps.apple.com/in/app/tennis-tv-live-streaming/id1114471030" TargetMode="External"/><Relationship Id="rId9" Type="http://schemas.openxmlformats.org/officeDocument/2006/relationships/hyperlink" Target="https://support.tennistv.com/hc/en-us/articles/21873584842652-What-is-Spoiler-Mode-on-Tennis-TV" TargetMode="External"/><Relationship Id="rId10" Type="http://schemas.openxmlformats.org/officeDocument/2006/relationships/hyperlink" Target="https://www.fancode.com/content/subscribe" TargetMode="External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fancode.com/terms-conditions" TargetMode="External"/><Relationship Id="rId2" Type="http://schemas.openxmlformats.org/officeDocument/2006/relationships/hyperlink" Target="https://x.com/IndTennisDaily/status/2032792847951516150" TargetMode="External"/><Relationship Id="rId3" Type="http://schemas.openxmlformats.org/officeDocument/2006/relationships/hyperlink" Target="https://www.fancode.com/np/tennis/tour/-0/video-highlights/atp-tour-this-week-episode-35-223193" TargetMode="External"/><Relationship Id="rId4" Type="http://schemas.openxmlformats.org/officeDocument/2006/relationships/hyperlink" Target="https://www.autocarindia.com/motor-sports-news/f1-2026-fancode-f1-tv-india-subscription-prices-439142" TargetMode="External"/><Relationship Id="rId5" Type="http://schemas.openxmlformats.org/officeDocument/2006/relationships/hyperlink" Target="https://www.fancode.com/football/tour/laliga-202627-19782952/video-highlights/laliga-202627-live-on-fancode-222601" TargetMode="External"/><Relationship Id="rId6" Type="http://schemas.openxmlformats.org/officeDocument/2006/relationships/hyperlink" Target="https://unstop.com/competitions/case-consilium-bits-goa-consulting-club-bgcc-1734140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8595360" y="0"/>
            <a:ext cx="3596335" cy="2377440"/>
          </a:xfrm>
          <a:prstGeom prst="rtTriangle">
            <a:avLst/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35240" y="1051560"/>
            <a:ext cx="4114800" cy="4754880"/>
          </a:xfrm>
          <a:prstGeom prst="roundRect">
            <a:avLst>
              <a:gd name="adj" fmla="val 3111"/>
            </a:avLst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01000" y="1417320"/>
            <a:ext cx="3383280" cy="4023360"/>
          </a:xfrm>
          <a:prstGeom prst="rect">
            <a:avLst/>
          </a:prstGeom>
          <a:solidFill>
            <a:srgbClr val="0B66C3"/>
          </a:solidFill>
          <a:ln w="19050">
            <a:solidFill>
              <a:srgbClr val="9CC4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73161" y="1417320"/>
            <a:ext cx="0" cy="4023360"/>
          </a:xfrm>
          <a:prstGeom prst="line">
            <a:avLst/>
          </a:prstGeom>
          <a:noFill/>
          <a:ln w="15875">
            <a:solidFill>
              <a:srgbClr val="9CC4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12119" y="1417320"/>
            <a:ext cx="0" cy="4023360"/>
          </a:xfrm>
          <a:prstGeom prst="line">
            <a:avLst/>
          </a:prstGeom>
          <a:noFill/>
          <a:ln w="15875">
            <a:solidFill>
              <a:srgbClr val="9CC4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73161" y="2382926"/>
            <a:ext cx="2638958" cy="0"/>
          </a:xfrm>
          <a:prstGeom prst="line">
            <a:avLst/>
          </a:prstGeom>
          <a:noFill/>
          <a:ln w="15875">
            <a:solidFill>
              <a:srgbClr val="9CC4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73161" y="4475074"/>
            <a:ext cx="2638958" cy="0"/>
          </a:xfrm>
          <a:prstGeom prst="line">
            <a:avLst/>
          </a:prstGeom>
          <a:noFill/>
          <a:ln w="15875">
            <a:solidFill>
              <a:srgbClr val="9CC4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0" y="2382926"/>
            <a:ext cx="0" cy="2092147"/>
          </a:xfrm>
          <a:prstGeom prst="line">
            <a:avLst/>
          </a:prstGeom>
          <a:noFill/>
          <a:ln w="15875">
            <a:solidFill>
              <a:srgbClr val="9CC4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18120" y="3429000"/>
            <a:ext cx="3749040" cy="0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166299" y="2624328"/>
            <a:ext cx="329184" cy="329184"/>
          </a:xfrm>
          <a:prstGeom prst="ellipse">
            <a:avLst/>
          </a:prstGeom>
          <a:solidFill>
            <a:srgbClr val="EF5E16"/>
          </a:solidFill>
          <a:ln w="12700">
            <a:solidFill>
              <a:srgbClr val="EF5E1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9601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6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BGCC Case Consilium 2026  ·  Round 3  ·  Case partner: FanCode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417320"/>
            <a:ext cx="6766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821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From ATP peaks to </a:t>
            </a:r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007A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retained paying subscribers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457200" y="3310128"/>
            <a:ext cx="731520" cy="45720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52044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Converting irregular ATP Tour interest into incremental, retained subscription growth for FanCode in India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4348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821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Wookies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50292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Raunak Jain · Khushi Jha · Dhruv Mundra · Sambhav Khandelwal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309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5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Submission deck · 12 pages · prices in ₹, times in IST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94484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1821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Buy intent, sell the season, prove the lift: </a:t>
            </a:r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007A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₹4 lakh now, ₹6 lakh on evidence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9997135" y="3840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6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36776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6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· Eligible audience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39112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Acquire never-paid tennis intent, reactivate lapsed 2025 buyers, cross-sell F1, MotoGP, LaLiga payers; defer the broad base.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014216" y="2400300"/>
            <a:ext cx="283464" cy="0"/>
          </a:xfrm>
          <a:prstGeom prst="line">
            <a:avLst/>
          </a:prstGeom>
          <a:noFill/>
          <a:ln w="25400">
            <a:solidFill>
              <a:srgbClr val="007AF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334256" y="150876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17136" y="1636776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6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· Relevant paid occasion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17136" y="2039112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Sessions ₹29-₹39 with morning replay, tournaments ₹79-₹99, rest of season ₹199; each rung credited to the next.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891272" y="2400300"/>
            <a:ext cx="283464" cy="0"/>
          </a:xfrm>
          <a:prstGeom prst="line">
            <a:avLst/>
          </a:prstGeom>
          <a:noFill/>
          <a:ln w="25400">
            <a:solidFill>
              <a:srgbClr val="007AF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211312" y="150876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94192" y="1636776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6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· Repeat value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94192" y="2039112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Race to Turin, a 30-day upgrade credit, a season-end bridge and a ₹349 loyalty price for 2027.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35204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5661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7A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₹206 / ₹317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005072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Attributed / incremental CAC per new payer, search + retargeting row only, base case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34256" y="3474720"/>
            <a:ext cx="35204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17136" y="35661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7A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₹550 to ₹1,027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517136" y="4005072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per incremental new payer: Stage 1 (₹4 lakh, no engineering) to the full ₹14 lakh incl. implementation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11312" y="3474720"/>
            <a:ext cx="35204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94192" y="35661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−₹1.0 lakh / −₹8.8 lakh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8394192" y="4005072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24-month incremental contribution net of spend: Stage 1 / full programme incl. ₹4 lakh engineering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892040"/>
            <a:ext cx="11277295" cy="1051560"/>
          </a:xfrm>
          <a:prstGeom prst="roundRect">
            <a:avLst>
              <a:gd name="adj" fmla="val 8696"/>
            </a:avLst>
          </a:prstGeom>
          <a:solidFill>
            <a:srgbClr val="FDEFE6"/>
          </a:solidFill>
          <a:ln w="12700">
            <a:solidFill>
              <a:srgbClr val="FDEFE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4937760"/>
            <a:ext cx="108200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550" b="1" dirty="0">
                <a:solidFill>
                  <a:srgbClr val="EF5E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Decision: </a:t>
            </a:r>
            <a:pPr indent="0" marL="0">
              <a:lnSpc>
                <a:spcPct val="106000"/>
              </a:lnSpc>
              <a:buNone/>
            </a:pPr>
            <a:r>
              <a:rPr lang="en-US" sz="155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 Stage 1 (₹4 lakh: owned channels, reactivation, one paid search cell, 10% holdout). Release Stage 2 (₹6 lakh) and ₹4 lakh engineering only if day-45 incremental CAC ≤ ₹276 and upgrade share ≥ 32%. The base case misses this gate: the pilot buys measurement, not a return.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309360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facts CF1-CF19 from the Round 3 brief (see References). Model v2, base case; contribution before marketing excludes the fixed ATP rights fee. CAC = customer acquisition cost.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13687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94484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1821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Intent and payment state decide the action: </a:t>
            </a:r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007A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acquire, reactivate, cross-sell or retain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9997135" y="3840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6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1 of 8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600200" y="1463040"/>
            <a:ext cx="6217920" cy="3657600"/>
          </a:xfrm>
          <a:prstGeom prst="rect">
            <a:avLst/>
          </a:prstGeom>
          <a:solidFill>
            <a:srgbClr val="FAFCFF"/>
          </a:solidFill>
          <a:ln w="12700">
            <a:solidFill>
              <a:srgbClr val="D9E0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45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All-sport pass (ATP included)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00200" y="2194560"/>
            <a:ext cx="6217920" cy="0"/>
          </a:xfrm>
          <a:prstGeom prst="line">
            <a:avLst/>
          </a:prstGeom>
          <a:noFill/>
          <a:ln w="9525">
            <a:solidFill>
              <a:srgbClr val="EDF1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377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Paying ATP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00200" y="2926080"/>
            <a:ext cx="6217920" cy="0"/>
          </a:xfrm>
          <a:prstGeom prst="line">
            <a:avLst/>
          </a:prstGeom>
          <a:noFill/>
          <a:ln w="9525">
            <a:solidFill>
              <a:srgbClr val="EDF1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31089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Paying, no ATP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600200" y="3657600"/>
            <a:ext cx="6217920" cy="0"/>
          </a:xfrm>
          <a:prstGeom prst="line">
            <a:avLst/>
          </a:prstGeom>
          <a:noFill/>
          <a:ln w="9525">
            <a:solidFill>
              <a:srgbClr val="EDF1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840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Lapsed 2025 buyer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600200" y="4389120"/>
            <a:ext cx="6217920" cy="0"/>
          </a:xfrm>
          <a:prstGeom prst="line">
            <a:avLst/>
          </a:prstGeom>
          <a:noFill/>
          <a:ln w="9525">
            <a:solidFill>
              <a:srgbClr val="EDF1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4572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paid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600200" y="5120640"/>
            <a:ext cx="6217920" cy="0"/>
          </a:xfrm>
          <a:prstGeom prst="line">
            <a:avLst/>
          </a:prstGeom>
          <a:noFill/>
          <a:ln w="9525">
            <a:solidFill>
              <a:srgbClr val="EDF1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600200" y="5175504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Observable tennis intent →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51755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5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51755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5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73875" y="4581144"/>
            <a:ext cx="347472" cy="347472"/>
          </a:xfrm>
          <a:prstGeom prst="ellipse">
            <a:avLst/>
          </a:prstGeom>
          <a:solidFill>
            <a:srgbClr val="EF5E16"/>
          </a:solidFill>
          <a:ln w="12700">
            <a:solidFill>
              <a:srgbClr val="EF5E1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73875" y="4581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295851" y="442569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paid, tennis signals (free highlights, page visits, 90 d)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210251" y="4791456"/>
            <a:ext cx="1463040" cy="274320"/>
          </a:xfrm>
          <a:prstGeom prst="roundRect">
            <a:avLst>
              <a:gd name="adj" fmla="val 26667"/>
            </a:avLst>
          </a:prstGeom>
          <a:solidFill>
            <a:srgbClr val="FDEFE6"/>
          </a:solidFill>
          <a:ln w="12700">
            <a:solidFill>
              <a:srgbClr val="FDEFE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210251" y="47914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5E1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ACQUIRE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281574" y="3849624"/>
            <a:ext cx="347472" cy="347472"/>
          </a:xfrm>
          <a:prstGeom prst="ellipse">
            <a:avLst/>
          </a:prstGeom>
          <a:solidFill>
            <a:srgbClr val="EF5E16"/>
          </a:solidFill>
          <a:ln w="12700">
            <a:solidFill>
              <a:srgbClr val="EF5E1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281574" y="3849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2803550" y="369417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Lapsed 2025 ATP buyers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268626" y="4059936"/>
            <a:ext cx="2912364" cy="274320"/>
          </a:xfrm>
          <a:prstGeom prst="roundRect">
            <a:avLst>
              <a:gd name="adj" fmla="val 26667"/>
            </a:avLst>
          </a:prstGeom>
          <a:solidFill>
            <a:srgbClr val="FDEFE6"/>
          </a:solidFill>
          <a:ln w="12700">
            <a:solidFill>
              <a:srgbClr val="FDEFE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268626" y="4059936"/>
            <a:ext cx="29123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5E1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REACTIVATE (reported apart)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773875" y="2386584"/>
            <a:ext cx="347472" cy="347472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773875" y="2386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295851" y="223113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ATP core: 2026 passes, season holders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048963" y="2596896"/>
            <a:ext cx="2624328" cy="274320"/>
          </a:xfrm>
          <a:prstGeom prst="roundRect">
            <a:avLst>
              <a:gd name="adj" fmla="val 26667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048963" y="2596896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REPEAT · UPGRADE · RENEW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291840" y="3118104"/>
            <a:ext cx="347472" cy="347472"/>
          </a:xfrm>
          <a:prstGeom prst="ellipse">
            <a:avLst/>
          </a:prstGeom>
          <a:solidFill>
            <a:srgbClr val="EF5E16"/>
          </a:solidFill>
          <a:ln w="12700">
            <a:solidFill>
              <a:srgbClr val="EF5E1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291840" y="3118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3739896" y="296265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F1 · MotoGP · LaLiga pass holders, no ATP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739896" y="3328416"/>
            <a:ext cx="2240280" cy="274320"/>
          </a:xfrm>
          <a:prstGeom prst="roundRect">
            <a:avLst>
              <a:gd name="adj" fmla="val 26667"/>
            </a:avLst>
          </a:prstGeom>
          <a:solidFill>
            <a:srgbClr val="FDEFE6"/>
          </a:solidFill>
          <a:ln w="12700">
            <a:solidFill>
              <a:srgbClr val="FDEFE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739896" y="332841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5E1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CROSS-SELL A SESSION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903366" y="1655064"/>
            <a:ext cx="347472" cy="347472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903366" y="16550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3425342" y="149961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/ Yearly holders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410358" y="1865376"/>
            <a:ext cx="3392424" cy="274320"/>
          </a:xfrm>
          <a:prstGeom prst="roundRect">
            <a:avLst>
              <a:gd name="adj" fmla="val 26667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410358" y="1865376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ENGAGE · RENEW, never new payers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923898" y="4581144"/>
            <a:ext cx="347472" cy="347472"/>
          </a:xfrm>
          <a:prstGeom prst="ellipse">
            <a:avLst/>
          </a:prstGeom>
          <a:solidFill>
            <a:srgbClr val="5B6672"/>
          </a:solidFill>
          <a:ln w="12700">
            <a:solidFill>
              <a:srgbClr val="5B667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923898" y="4581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2371954" y="442569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Broad base, no tennis signal (240M registered)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371954" y="4791456"/>
            <a:ext cx="2240280" cy="274320"/>
          </a:xfrm>
          <a:prstGeom prst="roundRect">
            <a:avLst>
              <a:gd name="adj" fmla="val 26667"/>
            </a:avLst>
          </a:prstGeom>
          <a:solidFill>
            <a:srgbClr val="F5F6F7"/>
          </a:solidFill>
          <a:ln w="12700">
            <a:solidFill>
              <a:srgbClr val="F5F6F7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2371954" y="479145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6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DEFER · BOUNDED TEST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6117336" y="2999232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F1 weeknights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MotoGP mornings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LaLiga late nights</a:t>
            </a:r>
            <a:endParaRPr lang="en-US" sz="1200" dirty="0"/>
          </a:p>
        </p:txBody>
      </p:sp>
      <p:graphicFrame>
        <p:nvGraphicFramePr>
          <p:cNvPr id="49" name="Chart 0" descr=""/>
          <p:cNvGraphicFramePr/>
          <p:nvPr/>
        </p:nvGraphicFramePr>
        <p:xfrm>
          <a:off x="8229600" y="1417320"/>
          <a:ext cx="3502152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0" name="Text 47"/>
          <p:cNvSpPr txBox="1"/>
          <p:nvPr/>
        </p:nvSpPr>
        <p:spPr>
          <a:xfrm>
            <a:off x="8229600" y="333756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Priority. </a:t>
            </a:r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acquire, 2 reactivate, 3 cross-sell; ATP core is a retention audience.</a:t>
            </a:r>
            <a:endParaRPr lang="en-US" sz="1600" dirty="0"/>
          </a:p>
        </p:txBody>
      </p:sp>
      <p:sp>
        <p:nvSpPr>
          <p:cNvPr id="51" name="Text 48"/>
          <p:cNvSpPr txBox="1"/>
          <p:nvPr/>
        </p:nvSpPr>
        <p:spPr>
          <a:xfrm>
            <a:off x="8229600" y="4297680"/>
            <a:ext cx="3502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Equal markers: no audience sizes are verified (CF1). Signals use first-party consented data only.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457200" y="5669280"/>
            <a:ext cx="11277295" cy="384048"/>
          </a:xfrm>
          <a:prstGeom prst="roundRect">
            <a:avLst>
              <a:gd name="adj" fmla="val 19048"/>
            </a:avLst>
          </a:prstGeom>
          <a:solidFill>
            <a:srgbClr val="FDEFE6"/>
          </a:solidFill>
          <a:ln w="12700">
            <a:solidFill>
              <a:srgbClr val="FDEFE6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Ordinary weeks are retention weeks: about 90% of their viewers are already fans (CF4).</a:t>
            </a:r>
            <a:endParaRPr lang="en-US" sz="14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6309360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CF1-CF4, CF17 (case brief); S3 ATP calendar; S15 LaLiga on FanCode. Adjacent-sport rows are existing-payer cross-sell and never enter the new-payer count.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13687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94484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1821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Owned channels build the occasion from T-7 days; </a:t>
            </a:r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007A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paid conversion fires at T-48 hours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9997135" y="3840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6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2 of 8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240280" y="1737360"/>
            <a:ext cx="9418320" cy="0"/>
          </a:xfrm>
          <a:prstGeom prst="line">
            <a:avLst/>
          </a:prstGeom>
          <a:noFill/>
          <a:ln w="19050">
            <a:solidFill>
              <a:srgbClr val="18212B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2711196" y="1664208"/>
            <a:ext cx="0" cy="146304"/>
          </a:xfrm>
          <a:prstGeom prst="line">
            <a:avLst/>
          </a:prstGeom>
          <a:noFill/>
          <a:ln w="19050">
            <a:solidFill>
              <a:srgbClr val="1821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59636" y="13898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T-7 days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83226" y="1664208"/>
            <a:ext cx="0" cy="146304"/>
          </a:xfrm>
          <a:prstGeom prst="line">
            <a:avLst/>
          </a:prstGeom>
          <a:noFill/>
          <a:ln w="19050">
            <a:solidFill>
              <a:srgbClr val="1821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31666" y="13898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T-48 hours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0" y="1664208"/>
            <a:ext cx="0" cy="146304"/>
          </a:xfrm>
          <a:prstGeom prst="line">
            <a:avLst/>
          </a:prstGeom>
          <a:noFill/>
          <a:ln w="19050">
            <a:solidFill>
              <a:srgbClr val="1821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97880" y="13898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 time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021470" y="1664208"/>
            <a:ext cx="0" cy="146304"/>
          </a:xfrm>
          <a:prstGeom prst="line">
            <a:avLst/>
          </a:prstGeom>
          <a:noFill/>
          <a:ln w="19050">
            <a:solidFill>
              <a:srgbClr val="1821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69910" y="13898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morning 07:00 IST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999318" y="1664208"/>
            <a:ext cx="0" cy="146304"/>
          </a:xfrm>
          <a:prstGeom prst="line">
            <a:avLst/>
          </a:prstGeom>
          <a:noFill/>
          <a:ln w="19050">
            <a:solidFill>
              <a:srgbClr val="1821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947758" y="13898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event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1965960"/>
            <a:ext cx="11277295" cy="566928"/>
          </a:xfrm>
          <a:prstGeom prst="roundRect">
            <a:avLst>
              <a:gd name="adj" fmla="val 9677"/>
            </a:avLst>
          </a:prstGeom>
          <a:solidFill>
            <a:srgbClr val="F5F6F7"/>
          </a:solidFill>
          <a:ln w="12700">
            <a:solidFill>
              <a:srgbClr val="F5F6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" y="196596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Owned / editorial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606040"/>
            <a:ext cx="11277295" cy="566928"/>
          </a:xfrm>
          <a:prstGeom prst="roundRect">
            <a:avLst>
              <a:gd name="adj" fmla="val 9677"/>
            </a:avLst>
          </a:prstGeom>
          <a:solidFill>
            <a:srgbClr val="F5F6F7"/>
          </a:solidFill>
          <a:ln w="12700">
            <a:solidFill>
              <a:srgbClr val="F5F6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" y="260604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Paid conversion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246120"/>
            <a:ext cx="11277295" cy="566928"/>
          </a:xfrm>
          <a:prstGeom prst="roundRect">
            <a:avLst>
              <a:gd name="adj" fmla="val 9677"/>
            </a:avLst>
          </a:prstGeom>
          <a:solidFill>
            <a:srgbClr val="F5F6F7"/>
          </a:solidFill>
          <a:ln w="12700">
            <a:solidFill>
              <a:srgbClr val="F5F6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" y="32461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After the view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240280" y="2029968"/>
            <a:ext cx="1883664" cy="438912"/>
          </a:xfrm>
          <a:prstGeom prst="roundRect">
            <a:avLst>
              <a:gd name="adj" fmla="val 12500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313432" y="202996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Race-to-Turin preview, IST times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23944" y="2029968"/>
            <a:ext cx="2072030" cy="438912"/>
          </a:xfrm>
          <a:prstGeom prst="roundRect">
            <a:avLst>
              <a:gd name="adj" fmla="val 12500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197096" y="2029968"/>
            <a:ext cx="192572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/ tournament offer to segments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057486" y="2029968"/>
            <a:ext cx="1601114" cy="438912"/>
          </a:xfrm>
          <a:prstGeom prst="roundRect">
            <a:avLst>
              <a:gd name="adj" fmla="val 12500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130638" y="2029968"/>
            <a:ext cx="14548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Next-event push, day-20 credit reminder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00677" y="2670048"/>
            <a:ext cx="2637130" cy="438912"/>
          </a:xfrm>
          <a:prstGeom prst="roundRect">
            <a:avLst>
              <a:gd name="adj" fmla="val 12500"/>
            </a:avLst>
          </a:prstGeom>
          <a:solidFill>
            <a:srgbClr val="FDEFE6"/>
          </a:solidFill>
          <a:ln w="12700">
            <a:solidFill>
              <a:srgbClr val="FDEFE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73829" y="2670048"/>
            <a:ext cx="249082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5E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+ retargeting, control IDs excluded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057486" y="2670048"/>
            <a:ext cx="1601114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130638" y="2670048"/>
            <a:ext cx="14548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paid spend in ordinary weeks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384341" y="3310128"/>
            <a:ext cx="1506931" cy="438912"/>
          </a:xfrm>
          <a:prstGeom prst="roundRect">
            <a:avLst>
              <a:gd name="adj" fmla="val 12500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57493" y="3310128"/>
            <a:ext cx="136062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Live: Shanghai night 17:00 IST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079638" y="3310128"/>
            <a:ext cx="2166214" cy="438912"/>
          </a:xfrm>
          <a:prstGeom prst="roundRect">
            <a:avLst>
              <a:gd name="adj" fmla="val 12500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152790" y="3310128"/>
            <a:ext cx="20199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Spoiler-free replay push: Paris evening 00:00 IST → 07:00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2240280" y="3840480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India-friendly occasion = live; overnight occasion = next-morning replay (times typical, illustrative)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160520"/>
          <a:ext cx="1127455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2834640"/>
                <a:gridCol w="386791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Persona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Trigger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Offer → next paid step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Sample message (≤ 15 words)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ATP core (paying)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After each final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Upgrade credit → ₹199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Marquee followers, never paid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T-48 h, Shanghai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₹89 pass; credit within 30 days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F5E1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"Shanghai starts Wednesday, 17:00 IST. ₹89 covers all 12 days and counts toward your season."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F1 pass holders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Tue-Fri, never race Sunday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₹39 night session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MotoGP pass holders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Asian-swing mornings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₹39 day session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LaLiga late-night viewers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Fri / Sat, Paris and Turin weeks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₹39 evening session + 07:00 replay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F5E1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"Kick-off at 1:30 AM? So is Paris. ₹39: watch live, or spoiler-free at 7 AM."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7" name="Text 34"/>
          <p:cNvSpPr txBox="1"/>
          <p:nvPr/>
        </p:nvSpPr>
        <p:spPr>
          <a:xfrm>
            <a:off x="457200" y="6309360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CF6, CF11 (case brief); S3 ATP 2026 calendar. Session start times are typical of recent editions and illustrative until the 2026 orders of play are published. Copy is original and subject to commercial approval.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113687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94484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1821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public ladder, session to tournament to rest of season: </a:t>
            </a:r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007A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each rung is credited to the next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9997135" y="3840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6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3 of 8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3383280"/>
            <a:ext cx="2103120" cy="2148840"/>
          </a:xfrm>
          <a:prstGeom prst="roundRect">
            <a:avLst>
              <a:gd name="adj" fmla="val 4348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4930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6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Session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80390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1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₹29 / ₹39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42976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ATP 250/500 ₹29 · Masters, Finals ₹39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session, live + 48 h replay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5184648"/>
            <a:ext cx="1828800" cy="246888"/>
          </a:xfrm>
          <a:prstGeom prst="roundRect">
            <a:avLst>
              <a:gd name="adj" fmla="val 296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518464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5E1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proposed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71800" y="278892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08960" y="28986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6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Tournament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108960" y="320954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₹79 / ₹89 / ₹99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108960" y="370332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ATP 250/500 · Masters 1000 · Finals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whole event, live + replays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08960" y="5184648"/>
            <a:ext cx="1828800" cy="246888"/>
          </a:xfrm>
          <a:prstGeom prst="roundRect">
            <a:avLst>
              <a:gd name="adj" fmla="val 296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08960" y="518464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6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existing (case)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0" y="2148840"/>
            <a:ext cx="2103120" cy="3383280"/>
          </a:xfrm>
          <a:prstGeom prst="roundRect">
            <a:avLst>
              <a:gd name="adj" fmla="val 4348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23560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6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Rest of season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623560" y="256946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1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₹199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5623560" y="3063240"/>
            <a:ext cx="18288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Oct-22 Nov 2026 · all events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already used late-season (S12)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new: credits in, loyalty renewal out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23560" y="5184648"/>
            <a:ext cx="1828800" cy="246888"/>
          </a:xfrm>
          <a:prstGeom prst="roundRect">
            <a:avLst>
              <a:gd name="adj" fmla="val 296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23560" y="518464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5E1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existing price, new treatment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 flipV="1">
            <a:off x="1508760" y="3154680"/>
            <a:ext cx="0" cy="228600"/>
          </a:xfrm>
          <a:prstGeom prst="line">
            <a:avLst/>
          </a:prstGeom>
          <a:noFill/>
          <a:ln w="28575">
            <a:solidFill>
              <a:srgbClr val="007A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08760" y="3154680"/>
            <a:ext cx="1463040" cy="0"/>
          </a:xfrm>
          <a:prstGeom prst="line">
            <a:avLst/>
          </a:prstGeom>
          <a:noFill/>
          <a:ln w="28575">
            <a:solidFill>
              <a:srgbClr val="007AFF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365760" y="23774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₹29 paid + ₹50 = ₹79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price credited to the same event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 flipV="1">
            <a:off x="4023360" y="2377440"/>
            <a:ext cx="0" cy="411480"/>
          </a:xfrm>
          <a:prstGeom prst="line">
            <a:avLst/>
          </a:prstGeom>
          <a:noFill/>
          <a:ln w="28575">
            <a:solidFill>
              <a:srgbClr val="007A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23360" y="2377440"/>
            <a:ext cx="1463040" cy="0"/>
          </a:xfrm>
          <a:prstGeom prst="line">
            <a:avLst/>
          </a:prstGeom>
          <a:noFill/>
          <a:ln w="28575">
            <a:solidFill>
              <a:srgbClr val="007AFF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2880360" y="16459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₹89 paid + ₹110 = ₹199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 ₹99 · one credit per account · 30 days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0" y="1325880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577840" y="132588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2027 season: ₹399 assumed list · ₹349 loyalty by 15 Jan (proposed)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 flipV="1">
            <a:off x="6537960" y="1920240"/>
            <a:ext cx="0" cy="228600"/>
          </a:xfrm>
          <a:prstGeom prst="line">
            <a:avLst/>
          </a:prstGeom>
          <a:noFill/>
          <a:ln w="25400">
            <a:solidFill>
              <a:srgbClr val="007AFF"/>
            </a:solidFill>
            <a:prstDash val="dash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955280" y="1325880"/>
            <a:ext cx="3776472" cy="822960"/>
          </a:xfrm>
          <a:prstGeom prst="roundRect">
            <a:avLst>
              <a:gd name="adj" fmla="val 8889"/>
            </a:avLst>
          </a:prstGeom>
          <a:solidFill>
            <a:srgbClr val="F5F6F7"/>
          </a:solidFill>
          <a:ln w="12700">
            <a:solidFill>
              <a:srgbClr val="F5F6F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092440" y="1325880"/>
            <a:ext cx="3502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Timing examples.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Shanghai night, 17:00 IST: ₹39 session. Vienna evening, 00:00 IST: ₹29 session with the 07:00 replay.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955280" y="2240280"/>
            <a:ext cx="3776472" cy="777240"/>
          </a:xfrm>
          <a:prstGeom prst="roundRect">
            <a:avLst>
              <a:gd name="adj" fmla="val 9412"/>
            </a:avLst>
          </a:prstGeom>
          <a:solidFill>
            <a:srgbClr val="F5F6F7"/>
          </a:solidFill>
          <a:ln w="12700">
            <a:solidFill>
              <a:srgbClr val="F5F6F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092440" y="2240280"/>
            <a:ext cx="3502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Folded or rejected.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Replay rental folded into the session pass; player bundle rejected (participation cannot be guaranteed).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955280" y="3108960"/>
            <a:ext cx="3776472" cy="731520"/>
          </a:xfrm>
          <a:prstGeom prst="roundRect">
            <a:avLst>
              <a:gd name="adj" fmla="val 10000"/>
            </a:avLst>
          </a:prstGeom>
          <a:solidFill>
            <a:srgbClr val="FDEFE6"/>
          </a:solidFill>
          <a:ln w="12700">
            <a:solidFill>
              <a:srgbClr val="FDEFE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092440" y="3108960"/>
            <a:ext cx="3502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5E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Caveat.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Pass ₹179 covers 'all applicable' tours (S11): confirm inclusions before promising F1 or LaLiga.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5280" y="3950208"/>
          <a:ext cx="3776472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508760"/>
                <a:gridCol w="48463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Product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Upfront price · period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ATP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FanCode tournament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₹79-₹99 · 1 event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Yes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FanCode rest of season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₹199 · 7 weeks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Yes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JioHotstar Mobile (S5)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₹79 · month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SonyLIV Mobile (S6)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₹699 · year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8" name="Shape 35"/>
          <p:cNvSpPr/>
          <p:nvPr/>
        </p:nvSpPr>
        <p:spPr>
          <a:xfrm>
            <a:off x="457200" y="5715000"/>
            <a:ext cx="11277295" cy="384048"/>
          </a:xfrm>
          <a:prstGeom prst="roundRect">
            <a:avLst>
              <a:gd name="adj" fmla="val 19048"/>
            </a:avLst>
          </a:prstGeom>
          <a:solidFill>
            <a:srgbClr val="FDEFE6"/>
          </a:solidFill>
          <a:ln w="12700">
            <a:solidFill>
              <a:srgbClr val="FDEFE6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0080" y="5715000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Ladder totals equal direct prices (₹29 + ₹50 = ₹79; ₹89 + ₹110 = ₹199), so no path undercuts a direct purchase.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457200" y="6309360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CF15, CF16 (case); S5, S6, S10-S12. Prices assumed GST-inclusive. Tennis TV is not listed as a local competitor: India availability under FanCode exclusivity is unverified (S7-S8).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113687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94484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1821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Rest-of-season entrants clear the acquisition hurdle; </a:t>
            </a:r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007A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tournament entrants do not without upgrades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9997135" y="3840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6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4 of 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984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Contribution before marketing per entrant, ₹ (base case)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352544" y="1600200"/>
            <a:ext cx="429768" cy="3383280"/>
          </a:xfrm>
          <a:prstGeom prst="rect">
            <a:avLst/>
          </a:prstGeom>
          <a:solidFill>
            <a:srgbClr val="FDEFE6"/>
          </a:solidFill>
          <a:ln w="12700">
            <a:solidFill>
              <a:srgbClr val="FDE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66744" y="13258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5E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target ₹150-₹200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33884" y="1600200"/>
            <a:ext cx="0" cy="3429000"/>
          </a:xfrm>
          <a:prstGeom prst="line">
            <a:avLst/>
          </a:prstGeom>
          <a:noFill/>
          <a:ln w="15875">
            <a:solidFill>
              <a:srgbClr val="0B66C3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3919484" y="50383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₹206 attributed CAC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787969" y="1600200"/>
            <a:ext cx="0" cy="3429000"/>
          </a:xfrm>
          <a:prstGeom prst="line">
            <a:avLst/>
          </a:prstGeom>
          <a:noFill/>
          <a:ln w="15875">
            <a:solidFill>
              <a:srgbClr val="EF5E16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5833689" y="1325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F5E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₹317 incremental CAC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69164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rest-of-season buyer (₹199)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63240" y="1737360"/>
            <a:ext cx="2569028" cy="182880"/>
          </a:xfrm>
          <a:prstGeom prst="rect">
            <a:avLst/>
          </a:prstGeom>
          <a:solidFill>
            <a:srgbClr val="A9CBF2"/>
          </a:solidFill>
          <a:ln w="12700">
            <a:solidFill>
              <a:srgbClr val="A9CB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77988" y="170992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₹299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063240" y="1956816"/>
            <a:ext cx="3911312" cy="182880"/>
          </a:xfrm>
          <a:prstGeom prst="rect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20272" y="192938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₹455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52360" y="181965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E3F3E7"/>
          </a:solidFill>
          <a:ln w="12700">
            <a:solidFill>
              <a:srgbClr val="E3F3E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52360" y="181965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E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clears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24028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Upgrade via credit (₹89 + ₹110)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063240" y="2286000"/>
            <a:ext cx="2193537" cy="182880"/>
          </a:xfrm>
          <a:prstGeom prst="rect">
            <a:avLst/>
          </a:prstGeom>
          <a:solidFill>
            <a:srgbClr val="A9CBF2"/>
          </a:solidFill>
          <a:ln w="12700">
            <a:solidFill>
              <a:srgbClr val="A9CBF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02497" y="225856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₹255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063240" y="2505456"/>
            <a:ext cx="3081876" cy="182880"/>
          </a:xfrm>
          <a:prstGeom prst="rect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90836" y="247802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₹359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52360" y="236829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E3F3E7"/>
          </a:solidFill>
          <a:ln w="12700">
            <a:solidFill>
              <a:srgbClr val="E3F3E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52360" y="236829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E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clears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278892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 buyer, no upgrade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063240" y="2834640"/>
            <a:ext cx="1290193" cy="182880"/>
          </a:xfrm>
          <a:prstGeom prst="rect">
            <a:avLst/>
          </a:prstGeom>
          <a:solidFill>
            <a:srgbClr val="A9CBF2"/>
          </a:solidFill>
          <a:ln w="12700">
            <a:solidFill>
              <a:srgbClr val="A9CBF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399153" y="280720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₹150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063240" y="3054096"/>
            <a:ext cx="1795827" cy="182880"/>
          </a:xfrm>
          <a:prstGeom prst="rect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904787" y="302666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₹209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452360" y="29169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52360" y="29169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fails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333756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tournament entrant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063240" y="3383280"/>
            <a:ext cx="1167481" cy="182880"/>
          </a:xfrm>
          <a:prstGeom prst="rect">
            <a:avLst/>
          </a:prstGeom>
          <a:solidFill>
            <a:srgbClr val="A9CBF2"/>
          </a:solidFill>
          <a:ln w="12700">
            <a:solidFill>
              <a:srgbClr val="A9CBF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276441" y="335584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₹136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063240" y="3602736"/>
            <a:ext cx="1547403" cy="182880"/>
          </a:xfrm>
          <a:prstGeom prst="rect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656363" y="357530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₹180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452360" y="346557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452360" y="346557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fails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38862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entrant (₹35 blended)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063240" y="3931920"/>
            <a:ext cx="583656" cy="182880"/>
          </a:xfrm>
          <a:prstGeom prst="rect">
            <a:avLst/>
          </a:prstGeom>
          <a:solidFill>
            <a:srgbClr val="A9CBF2"/>
          </a:solidFill>
          <a:ln w="12700">
            <a:solidFill>
              <a:srgbClr val="A9CBF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692616" y="390448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₹68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063240" y="4151376"/>
            <a:ext cx="751915" cy="182880"/>
          </a:xfrm>
          <a:prstGeom prst="rect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860875" y="412394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₹87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452360" y="401421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452360" y="401421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fails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457200" y="443484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Entry-only (₹89, never returns)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063240" y="4480560"/>
            <a:ext cx="531741" cy="182880"/>
          </a:xfrm>
          <a:prstGeom prst="rect">
            <a:avLst/>
          </a:prstGeom>
          <a:solidFill>
            <a:srgbClr val="A9CBF2"/>
          </a:solidFill>
          <a:ln w="12700">
            <a:solidFill>
              <a:srgbClr val="A9CBF2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640701" y="445312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₹62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063240" y="4700016"/>
            <a:ext cx="531741" cy="182880"/>
          </a:xfrm>
          <a:prstGeom prst="rect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640701" y="467258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₹62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452360" y="456285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452360" y="456285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fails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063240" y="1600200"/>
            <a:ext cx="0" cy="3383280"/>
          </a:xfrm>
          <a:prstGeom prst="line">
            <a:avLst/>
          </a:prstGeom>
          <a:noFill/>
          <a:ln w="12700">
            <a:solidFill>
              <a:srgbClr val="18212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063240" y="5394960"/>
            <a:ext cx="274320" cy="146304"/>
          </a:xfrm>
          <a:prstGeom prst="rect">
            <a:avLst/>
          </a:prstGeom>
          <a:solidFill>
            <a:srgbClr val="A9CBF2"/>
          </a:solidFill>
          <a:ln w="12700">
            <a:solidFill>
              <a:srgbClr val="A9CBF2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3392424" y="53400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months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343400" y="5394960"/>
            <a:ext cx="274320" cy="146304"/>
          </a:xfrm>
          <a:prstGeom prst="rect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672584" y="53400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 months (rights horizon)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6720840" y="53400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clears: ≥ ₹317 at 24 months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8092440" y="1325880"/>
            <a:ext cx="3639312" cy="1188720"/>
          </a:xfrm>
          <a:prstGeom prst="roundRect">
            <a:avLst>
              <a:gd name="adj" fmla="val 6154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229600" y="1325880"/>
            <a:ext cx="33649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Break-even upgrade share, tournament entrants, 24 months: </a:t>
            </a:r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32% at ₹206 attributed, 81% at ₹317 incremental (not achievable); base assumption 20%. u* = (CAC − C entry) ÷ (C upgrade − C entry).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92440" y="2651760"/>
          <a:ext cx="3639312" cy="914400"/>
        </p:xfrm>
        <a:graphic>
          <a:graphicData uri="http://schemas.openxmlformats.org/drawingml/2006/table">
            <a:tbl>
              <a:tblPr/>
              <a:tblGrid>
                <a:gridCol w="1444752"/>
                <a:gridCol w="731520"/>
                <a:gridCol w="731520"/>
                <a:gridCol w="7315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24-month net, ₹ lakh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Down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Base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Up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Stage 1: ₹4 lakh, no engineering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−₹2.9L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−₹1.0L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+₹2.4L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Full: ₹10 lakh + ₹4 lakh engineering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−₹12.1L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−₹8.8L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−₹3.0L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Full, attributed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−₹5.3L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−₹0.8L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+₹5.4L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2" name="Text 59"/>
          <p:cNvSpPr txBox="1"/>
          <p:nvPr/>
        </p:nvSpPr>
        <p:spPr>
          <a:xfrm>
            <a:off x="8092440" y="4297680"/>
            <a:ext cx="3639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Incremental basis, net of cannibalisation, cash at purchase; the fixed ATP rights fee is excluded, so this is not profit.</a:t>
            </a:r>
            <a:endParaRPr lang="en-US" sz="1200" dirty="0"/>
          </a:p>
        </p:txBody>
      </p:sp>
      <p:sp>
        <p:nvSpPr>
          <p:cNvPr id="63" name="Shape 60"/>
          <p:cNvSpPr/>
          <p:nvPr/>
        </p:nvSpPr>
        <p:spPr>
          <a:xfrm>
            <a:off x="457200" y="5715000"/>
            <a:ext cx="11277295" cy="384048"/>
          </a:xfrm>
          <a:prstGeom prst="roundRect">
            <a:avLst>
              <a:gd name="adj" fmla="val 19048"/>
            </a:avLst>
          </a:prstGeom>
          <a:solidFill>
            <a:srgbClr val="FDEFE6"/>
          </a:solidFill>
          <a:ln w="12700">
            <a:solidFill>
              <a:srgbClr val="FDEFE6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640080" y="5715000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case: the full programme loses ₹8.8 lakh over the rights horizon; Stage 1 nearly breaks even (−₹1.0 lakh).</a:t>
            </a:r>
            <a:endParaRPr lang="en-US" sz="1400" dirty="0"/>
          </a:p>
        </p:txBody>
      </p:sp>
      <p:sp>
        <p:nvSpPr>
          <p:cNvPr id="65" name="Text 62"/>
          <p:cNvSpPr txBox="1"/>
          <p:nvPr/>
        </p:nvSpPr>
        <p:spPr>
          <a:xfrm>
            <a:off x="457200" y="6309360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CF7-CF9, CF15, CF16, CF18 (case); model v2 (pathway mix 40/40/20, repeaters 1.5/2.5 more passes, loyalty renewal 35%/60%, 90% for 2028, GST 18%, 4% gateway and support, ₹2 per streaming hour). All values modelled.</a:t>
            </a:r>
            <a:endParaRPr lang="en-US" sz="1000" dirty="0"/>
          </a:p>
        </p:txBody>
      </p:sp>
      <p:sp>
        <p:nvSpPr>
          <p:cNvPr id="66" name="Text 63"/>
          <p:cNvSpPr txBox="1"/>
          <p:nvPr/>
        </p:nvSpPr>
        <p:spPr>
          <a:xfrm>
            <a:off x="113687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94484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1821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Retention runs on the next occasion: </a:t>
            </a:r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007A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first purchase, next viewing, next paid decision, renewal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9997135" y="3840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6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5 of 8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2606040" cy="420624"/>
          </a:xfrm>
          <a:prstGeom prst="roundRect">
            <a:avLst>
              <a:gd name="adj" fmla="val 21739"/>
            </a:avLst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46304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 First purchase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9933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Trigger: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 rung bought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523744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Action: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2 players and a viewing window; spoiler preference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58444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Outcome: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Qualified first view (≥ 20 min)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4160520"/>
            <a:ext cx="2331720" cy="256032"/>
          </a:xfrm>
          <a:prstGeom prst="roundRect">
            <a:avLst>
              <a:gd name="adj" fmla="val 28571"/>
            </a:avLst>
          </a:prstGeom>
          <a:solidFill>
            <a:srgbClr val="F5F6F7"/>
          </a:solidFill>
          <a:ln w="12700">
            <a:solidFill>
              <a:srgbClr val="F5F6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416052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6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90672" y="2926080"/>
            <a:ext cx="228600" cy="0"/>
          </a:xfrm>
          <a:prstGeom prst="line">
            <a:avLst/>
          </a:prstGeom>
          <a:noFill/>
          <a:ln w="25400">
            <a:solidFill>
              <a:srgbClr val="007AF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346704" y="146304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46704" y="1463040"/>
            <a:ext cx="2606040" cy="420624"/>
          </a:xfrm>
          <a:prstGeom prst="roundRect">
            <a:avLst>
              <a:gd name="adj" fmla="val 21739"/>
            </a:avLst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83864" y="146304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 Next viewing occasion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483864" y="19933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Trigger: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session of the event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83864" y="2523744"/>
            <a:ext cx="2331720" cy="457200"/>
          </a:xfrm>
          <a:prstGeom prst="roundRect">
            <a:avLst>
              <a:gd name="adj" fmla="val 12000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75304" y="252374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Live, 17:00 IST (India-friendly)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83864" y="3054096"/>
            <a:ext cx="2331720" cy="457200"/>
          </a:xfrm>
          <a:prstGeom prst="roundRect">
            <a:avLst>
              <a:gd name="adj" fmla="val 12000"/>
            </a:avLst>
          </a:prstGeom>
          <a:solidFill>
            <a:srgbClr val="FDEFE6"/>
          </a:solidFill>
          <a:ln w="12700">
            <a:solidFill>
              <a:srgbClr val="FDEF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75304" y="3054096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Morning replay 07:00, spoiler-free (overnight)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483864" y="358444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Outcome: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 qualified view; next-event return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83864" y="4160520"/>
            <a:ext cx="2331720" cy="256032"/>
          </a:xfrm>
          <a:prstGeom prst="roundRect">
            <a:avLst>
              <a:gd name="adj" fmla="val 28571"/>
            </a:avLst>
          </a:prstGeom>
          <a:solidFill>
            <a:srgbClr val="F5F6F7"/>
          </a:solidFill>
          <a:ln w="12700">
            <a:solidFill>
              <a:srgbClr val="F5F6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83864" y="416052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6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· Editorial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80176" y="2926080"/>
            <a:ext cx="228600" cy="0"/>
          </a:xfrm>
          <a:prstGeom prst="line">
            <a:avLst/>
          </a:prstGeom>
          <a:noFill/>
          <a:ln w="25400">
            <a:solidFill>
              <a:srgbClr val="007AFF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236208" y="146304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36208" y="1463040"/>
            <a:ext cx="2606040" cy="420624"/>
          </a:xfrm>
          <a:prstGeom prst="roundRect">
            <a:avLst>
              <a:gd name="adj" fmla="val 21739"/>
            </a:avLst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73368" y="146304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 Next paid decision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373368" y="19933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Trigger: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Tournament ends; day 20 of the credit window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73368" y="2523744"/>
            <a:ext cx="2331720" cy="457200"/>
          </a:xfrm>
          <a:prstGeom prst="roundRect">
            <a:avLst>
              <a:gd name="adj" fmla="val 12000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64808" y="252374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Credit upgrade ₹110 → ₹199 rest of season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373368" y="3054096"/>
            <a:ext cx="2331720" cy="457200"/>
          </a:xfrm>
          <a:prstGeom prst="roundRect">
            <a:avLst>
              <a:gd name="adj" fmla="val 12000"/>
            </a:avLst>
          </a:prstGeom>
          <a:solidFill>
            <a:srgbClr val="FDEFE6"/>
          </a:solidFill>
          <a:ln w="12700">
            <a:solidFill>
              <a:srgbClr val="FDEFE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64808" y="3054096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tournament ₹79-₹99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373368" y="358444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Outcome: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Upgrade share; repeat purchase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73368" y="4160520"/>
            <a:ext cx="2331720" cy="256032"/>
          </a:xfrm>
          <a:prstGeom prst="roundRect">
            <a:avLst>
              <a:gd name="adj" fmla="val 28571"/>
            </a:avLst>
          </a:prstGeom>
          <a:solidFill>
            <a:srgbClr val="F5F6F7"/>
          </a:solidFill>
          <a:ln w="12700">
            <a:solidFill>
              <a:srgbClr val="F5F6F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73368" y="416052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6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CRM · Commercial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869680" y="2926080"/>
            <a:ext cx="228600" cy="0"/>
          </a:xfrm>
          <a:prstGeom prst="line">
            <a:avLst/>
          </a:prstGeom>
          <a:noFill/>
          <a:ln w="25400">
            <a:solidFill>
              <a:srgbClr val="007AFF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125712" y="146304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125712" y="1463040"/>
            <a:ext cx="2606040" cy="420624"/>
          </a:xfrm>
          <a:prstGeom prst="roundRect">
            <a:avLst>
              <a:gd name="adj" fmla="val 21739"/>
            </a:avLst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262872" y="146304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 Expiry and renewal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9262872" y="19933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Trigger: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 Nov expiry; 2027 opens 5 Jan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262872" y="2523744"/>
            <a:ext cx="2331720" cy="457200"/>
          </a:xfrm>
          <a:prstGeom prst="roundRect">
            <a:avLst>
              <a:gd name="adj" fmla="val 12000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354312" y="252374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Pass ₹179 (paid; inclusions to confirm)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262872" y="3054096"/>
            <a:ext cx="2331720" cy="457200"/>
          </a:xfrm>
          <a:prstGeom prst="roundRect">
            <a:avLst>
              <a:gd name="adj" fmla="val 12000"/>
            </a:avLst>
          </a:prstGeom>
          <a:solidFill>
            <a:srgbClr val="FDEFE6"/>
          </a:solidFill>
          <a:ln w="12700">
            <a:solidFill>
              <a:srgbClr val="FDEFE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354312" y="3054096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2027 loyalty ₹349 by 15 Jan (paid)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9262872" y="358444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Outcome: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Renewal (event-based); off-season replays, Next Gen Finals = engagement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262872" y="4160520"/>
            <a:ext cx="2331720" cy="256032"/>
          </a:xfrm>
          <a:prstGeom prst="roundRect">
            <a:avLst>
              <a:gd name="adj" fmla="val 28571"/>
            </a:avLst>
          </a:prstGeom>
          <a:solidFill>
            <a:srgbClr val="F5F6F7"/>
          </a:solidFill>
          <a:ln w="12700">
            <a:solidFill>
              <a:srgbClr val="F5F6F7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262872" y="416052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6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CRM · Commercial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57200" y="470916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94360" y="470916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Portfolio branches.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F1, MotoGP and LaLiga: an engagement nudge when already entitled; a paid purchase when not. Never new payers.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245352" y="470916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5F6F7"/>
          </a:solidFill>
          <a:ln w="12700">
            <a:solidFill>
              <a:srgbClr val="F5F6F7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382512" y="470916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Controls.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Entitlement checked before every send; caps 3 / 2 / 1 pushes a week (new payers / others / replay); refunds suppress offers 30 days.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57200" y="5760720"/>
            <a:ext cx="11277295" cy="384048"/>
          </a:xfrm>
          <a:prstGeom prst="roundRect">
            <a:avLst>
              <a:gd name="adj" fmla="val 19048"/>
            </a:avLst>
          </a:prstGeom>
          <a:solidFill>
            <a:srgbClr val="FDEFE6"/>
          </a:solidFill>
          <a:ln w="12700">
            <a:solidFill>
              <a:srgbClr val="FDEFE6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40080" y="5760720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Behavioural return, paid access and renewal are three different measures, reported separately (Solution 7).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457200" y="6309360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CF6, CF7, CF17 (case); S3 calendar (2027 season opens 5 Jan; no Slam rights); S9 spoiler control exists in the ATP's own service; S10-S11 Monthly Pass scope; S13 weekly show.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113687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94484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1821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₹10 lakh in two stages: </a:t>
            </a:r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007A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₹4 lakh now, ₹6 lakh only if the gate is met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9997135" y="3840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6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6 of 8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667512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7360920" y="1371600"/>
          <a:ext cx="4370832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360920" y="3931920"/>
            <a:ext cx="4370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directly attributed: C5, C6, C7, C8 (₹4.0 lakh) sit in programme cost with no CAC. Performance share: 65-70% today → 47% (C1 + C2 + C4).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457200" y="4892040"/>
            <a:ext cx="3611880" cy="868680"/>
          </a:xfrm>
          <a:prstGeom prst="roundRect">
            <a:avLst>
              <a:gd name="adj" fmla="val 8421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94360" y="489204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1 (₹4 lakh): 1,236 attributed / 727 incremental new payers, 630 reactivated; ₹550 per incremental new payer.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288536" y="4892040"/>
            <a:ext cx="3611880" cy="868680"/>
          </a:xfrm>
          <a:prstGeom prst="roundRect">
            <a:avLst>
              <a:gd name="adj" fmla="val 8421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425696" y="489204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programme: ₹439 attributed, ₹733 incremental, ₹1,027 with ₹4 lakh implementation, per new payer.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8119872" y="4892040"/>
            <a:ext cx="3611880" cy="868680"/>
          </a:xfrm>
          <a:prstGeom prst="roundRect">
            <a:avLst>
              <a:gd name="adj" fmla="val 8421"/>
            </a:avLst>
          </a:prstGeom>
          <a:solidFill>
            <a:srgbClr val="FDEFE6"/>
          </a:solidFill>
          <a:ln w="12700">
            <a:solidFill>
              <a:srgbClr val="FDEFE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257032" y="489204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Gate G2 (day 45): release Stage 2 paid rows only if C2 incremental CAC ≤ ₹276 and upgrade share ≥ 32%. The base case fails this gate.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6309360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CF9-CF13 (case); model v2 (CPM ₹120, CPC ₹7 / ₹5 / ₹7.5, CVR 1.5% / 4.0% / 7.0% / 7.8%, class mixes, 8% dedup, planning pools; all assumptions). ₹276 = 24-month contribution of a C2 entrant.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113687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94484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1821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persistent 10% holdout turns attributed sales into </a:t>
            </a:r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007A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measured incremental payers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9997135" y="3840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6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7 of 8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417320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Eligible users per segment (day 0), 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0" y="1847088"/>
            <a:ext cx="365760" cy="0"/>
          </a:xfrm>
          <a:prstGeom prst="line">
            <a:avLst/>
          </a:prstGeom>
          <a:noFill/>
          <a:ln w="25400">
            <a:solidFill>
              <a:srgbClr val="007AF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926080" y="141732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35808" y="1417320"/>
            <a:ext cx="2157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Treatment 90% (N_T): ATP CRM + retargeting; control IDs excluded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26080" y="242316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5F6F7"/>
          </a:solidFill>
          <a:ln w="12700">
            <a:solidFill>
              <a:srgbClr val="F5F6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35808" y="2423160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Holdout 10% (N_C): no ATP marketing; persistent; stratified by payment state, sport, viewing window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0" y="1847088"/>
            <a:ext cx="365760" cy="1033272"/>
          </a:xfrm>
          <a:prstGeom prst="line">
            <a:avLst/>
          </a:prstGeom>
          <a:noFill/>
          <a:ln w="25400">
            <a:solidFill>
              <a:srgbClr val="007AF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303520" y="1847088"/>
            <a:ext cx="365760" cy="0"/>
          </a:xfrm>
          <a:prstGeom prst="line">
            <a:avLst/>
          </a:prstGeom>
          <a:noFill/>
          <a:ln w="25400">
            <a:solidFill>
              <a:srgbClr val="007AF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303520" y="2880360"/>
            <a:ext cx="365760" cy="0"/>
          </a:xfrm>
          <a:prstGeom prst="line">
            <a:avLst/>
          </a:prstGeom>
          <a:noFill/>
          <a:ln w="25400">
            <a:solidFill>
              <a:srgbClr val="007AF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669280" y="1417320"/>
            <a:ext cx="2148840" cy="1920240"/>
          </a:xfrm>
          <a:prstGeom prst="roundRect">
            <a:avLst>
              <a:gd name="adj" fmla="val 3810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779008" y="1417320"/>
            <a:ext cx="19293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Outcomes per eligible user at day 30 and day 90: new-payer rate p_T vs p_C; retained-payer rate r_T vs r_C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818120" y="2377440"/>
            <a:ext cx="365760" cy="0"/>
          </a:xfrm>
          <a:prstGeom prst="line">
            <a:avLst/>
          </a:prstGeom>
          <a:noFill/>
          <a:ln w="25400">
            <a:solidFill>
              <a:srgbClr val="007AF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183880" y="1417320"/>
            <a:ext cx="3547872" cy="1920240"/>
          </a:xfrm>
          <a:prstGeom prst="roundRect">
            <a:avLst>
              <a:gd name="adj" fmla="val 3810"/>
            </a:avLst>
          </a:prstGeom>
          <a:solidFill>
            <a:srgbClr val="FDEFE6"/>
          </a:solidFill>
          <a:ln w="12700">
            <a:solidFill>
              <a:srgbClr val="FDEFE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93608" y="1417320"/>
            <a:ext cx="332841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Incremental new payers = (p_T − p_C) × N_T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Incremental CAC = spend ÷ incremental new payers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Incremental D90 retained = (r_T − r_C) × N_T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 ≤ 0 → unfavourable, never a positive CAC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47472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Detecting a 50% lift on a 0.36% purchase rate with a 90/10 split needs about 128,000 eligible users (12,800 held out). Cohorts mature at day 90: 22 Dec-16 Jan for October buyers.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069080"/>
          <a:ext cx="1127455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5760720"/>
                <a:gridCol w="222199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Measure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Definition and window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Threshold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F5E1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North star: incremental D90 retained payers ÷ incremental new payers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Paid entitlement on day 90 and ≥ 1 qualified view (≥ 20 min, any FanCode content) in days 61-90; fixed window; treatment minus control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≥ 30%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Incremental CAC, search + retargeting row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Row spend ÷ incremental new payers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≤ ₹276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Upgrade share within 30 days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Rest-of-season purchases ÷ tournament entrants whose window closed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≥ 32% (break-even at ₹206)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Next-event return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Qualified view in the next tournament ÷ new payers whose next tournament ended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≥ 45%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2027 ATP renewal (event-based)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Season purchases by 15 Feb ÷ eligible 2026 rest-of-season holders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≥ 50%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8"/>
          <p:cNvSpPr txBox="1"/>
          <p:nvPr/>
        </p:nvSpPr>
        <p:spPr>
          <a:xfrm>
            <a:off x="457200" y="6309360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CF9, CF17 (case). Sample sizes: two-sided α 0.05, power 0.80, 90/10 allocation, 0.36% baseline (model v2). Organic F1/football demand sits in the control group; subscribers already entitled to ATP are never counted as new.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13687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94484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1821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Release ₹4 lakh now; </a:t>
            </a:r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007A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₹6 lakh and engineering wait for measured lift at day 45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9997135" y="3840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6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8 of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2697480" cy="502920"/>
          </a:xfrm>
          <a:prstGeom prst="homePlate">
            <a:avLst/>
          </a:prstGeom>
          <a:solidFill>
            <a:srgbClr val="0B66C3"/>
          </a:solidFill>
          <a:ln>
            <a:solidFill>
              <a:srgbClr val="0B66C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Days 0-14 · 23 Sep-6 Oct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2148840"/>
            <a:ext cx="24780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 counts, segments, holdout (Growth analytics)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 card, credits, refunds (Commercial, Legal)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Contests (Community); replay v0 (CRM)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3794760"/>
            <a:ext cx="2478024" cy="274320"/>
          </a:xfrm>
          <a:prstGeom prst="roundRect">
            <a:avLst>
              <a:gd name="adj" fmla="val 26667"/>
            </a:avLst>
          </a:prstGeom>
          <a:solidFill>
            <a:srgbClr val="FDEFE6"/>
          </a:solidFill>
          <a:ln w="12700">
            <a:solidFill>
              <a:srgbClr val="FDE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3794760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5E1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₹4 lakh Stage 1 committed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19272" y="1417320"/>
            <a:ext cx="2697480" cy="502920"/>
          </a:xfrm>
          <a:prstGeom prst="chevron">
            <a:avLst/>
          </a:prstGeom>
          <a:solidFill>
            <a:srgbClr val="0B66C3"/>
          </a:solidFill>
          <a:ln>
            <a:solidFill>
              <a:srgbClr val="0B66C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Days 15-45 · 7 Oct-6 Nov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19272" y="205740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2148840"/>
            <a:ext cx="24780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 search cell at T-48 h (Growth)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Ladder live; reactivation wave (CRM)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Race to Turin on the weekly show (Editorial)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29000" y="3794760"/>
            <a:ext cx="2478024" cy="274320"/>
          </a:xfrm>
          <a:prstGeom prst="roundRect">
            <a:avLst>
              <a:gd name="adj" fmla="val 26667"/>
            </a:avLst>
          </a:prstGeom>
          <a:solidFill>
            <a:srgbClr val="F5F6F7"/>
          </a:solidFill>
          <a:ln w="12700">
            <a:solidFill>
              <a:srgbClr val="F5F6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3794760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6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engineering yet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81344" y="1417320"/>
            <a:ext cx="2697480" cy="502920"/>
          </a:xfrm>
          <a:prstGeom prst="chevron">
            <a:avLst/>
          </a:prstGeom>
          <a:solidFill>
            <a:srgbClr val="0B66C3"/>
          </a:solidFill>
          <a:ln>
            <a:solidFill>
              <a:srgbClr val="0B66C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Days 46-90 · 7 Nov-21 Dec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81344" y="205740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91072" y="2148840"/>
            <a:ext cx="24780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Season-end bridge; loyalty renewal (CRM, Commercial)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G2 passed: ₹6 lakh Stage 2 + ₹4 lakh engineering (Product)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Day-30 / 45 readouts (Analytics)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91072" y="3794760"/>
            <a:ext cx="2478024" cy="274320"/>
          </a:xfrm>
          <a:prstGeom prst="roundRect">
            <a:avLst>
              <a:gd name="adj" fmla="val 26667"/>
            </a:avLst>
          </a:prstGeom>
          <a:solidFill>
            <a:srgbClr val="F5F6F7"/>
          </a:solidFill>
          <a:ln w="12700">
            <a:solidFill>
              <a:srgbClr val="F5F6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91072" y="3794760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6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Spend released only on G2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043416" y="1417320"/>
            <a:ext cx="2697480" cy="502920"/>
          </a:xfrm>
          <a:prstGeom prst="chevron">
            <a:avLst/>
          </a:prstGeom>
          <a:solidFill>
            <a:srgbClr val="0B66C3"/>
          </a:solidFill>
          <a:ln>
            <a:solidFill>
              <a:srgbClr val="0B66C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Days 91-120 · 22 Dec-20 Jan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043416" y="205740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53144" y="2148840"/>
            <a:ext cx="24780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Day-90 readout, Sept-Oct cohorts (Analytics)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2027 season-start push (CRM)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Feb-Mar 2027 wave decision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53144" y="3794760"/>
            <a:ext cx="2478024" cy="274320"/>
          </a:xfrm>
          <a:prstGeom prst="roundRect">
            <a:avLst>
              <a:gd name="adj" fmla="val 26667"/>
            </a:avLst>
          </a:prstGeom>
          <a:solidFill>
            <a:srgbClr val="F5F6F7"/>
          </a:solidFill>
          <a:ln w="12700">
            <a:solidFill>
              <a:srgbClr val="F5F6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53144" y="3794760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6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Scale decision at G3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507992"/>
            <a:ext cx="11277295" cy="0"/>
          </a:xfrm>
          <a:prstGeom prst="line">
            <a:avLst/>
          </a:prstGeom>
          <a:noFill/>
          <a:ln w="12700">
            <a:solidFill>
              <a:srgbClr val="D9E0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42616" y="4343400"/>
            <a:ext cx="1188720" cy="329184"/>
          </a:xfrm>
          <a:prstGeom prst="roundRect">
            <a:avLst>
              <a:gd name="adj" fmla="val 22222"/>
            </a:avLst>
          </a:prstGeom>
          <a:solidFill>
            <a:srgbClr val="EF5E16"/>
          </a:solidFill>
          <a:ln w="12700">
            <a:solidFill>
              <a:srgbClr val="EF5E1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642616" y="434340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G1 · day 14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911096" y="472744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holdout live; rate card signed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504688" y="4343400"/>
            <a:ext cx="1188720" cy="329184"/>
          </a:xfrm>
          <a:prstGeom prst="roundRect">
            <a:avLst>
              <a:gd name="adj" fmla="val 22222"/>
            </a:avLst>
          </a:prstGeom>
          <a:solidFill>
            <a:srgbClr val="EF5E16"/>
          </a:solidFill>
          <a:ln w="12700">
            <a:solidFill>
              <a:srgbClr val="EF5E1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504688" y="434340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G2 · day 45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773168" y="472744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CAC ≤ ₹276 incremental and upgrade ≥ 32%: release; else owned rows only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366760" y="4343400"/>
            <a:ext cx="1188720" cy="329184"/>
          </a:xfrm>
          <a:prstGeom prst="roundRect">
            <a:avLst>
              <a:gd name="adj" fmla="val 22222"/>
            </a:avLst>
          </a:prstGeom>
          <a:solidFill>
            <a:srgbClr val="EF5E16"/>
          </a:solidFill>
          <a:ln w="12700">
            <a:solidFill>
              <a:srgbClr val="EF5E1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366760" y="434340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G3 · day 90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635240" y="472744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next-event return ≥ 45%; D90 for cohorts observed 90 days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440680"/>
            <a:ext cx="5852160" cy="777240"/>
          </a:xfrm>
          <a:prstGeom prst="roundRect">
            <a:avLst>
              <a:gd name="adj" fmla="val 9412"/>
            </a:avLst>
          </a:prstGeom>
          <a:solidFill>
            <a:srgbClr val="F5F6F7"/>
          </a:solidFill>
          <a:ln w="12700">
            <a:solidFill>
              <a:srgbClr val="F5F6F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66928" y="5440680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Risks.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Cannibalisation → one credit per account, loyalty price for prior holders. Weak lift → stop rules; owned rows continue. Withdrawals → event-defined SKUs, automatic credits.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92240" y="5440680"/>
            <a:ext cx="5239512" cy="777240"/>
          </a:xfrm>
          <a:prstGeom prst="roundRect">
            <a:avLst>
              <a:gd name="adj" fmla="val 9412"/>
            </a:avLst>
          </a:prstGeom>
          <a:solidFill>
            <a:srgbClr val="FDEFE6"/>
          </a:solidFill>
          <a:ln w="12700">
            <a:solidFill>
              <a:srgbClr val="FDEFE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601968" y="544068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5E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Decision.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₹14 lakh maximum exposure; ₹4 lakh committed now. Base 24-month incremental net: Stage 1 −₹1.0 lakh, full −₹8.8 lakh: Stage 2 is released only if results beat the base case.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6309360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CF18 (rights through 2028); S3 calendar. Engineering (spoiler-free surfaces, replay automation, checkout credits) and ATP Media clip rights are dependencies released at G2. Implementation budget is an assumption.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113687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94484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1821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References (1 of 2): </a:t>
            </a:r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007A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9997135" y="3840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6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5455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S1 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ATP Media. </a:t>
            </a:r>
            <a:pPr indent="0" marL="0">
              <a:lnSpc>
                <a:spcPct val="105000"/>
              </a:lnSpc>
              <a:buNone/>
            </a:pPr>
            <a:r>
              <a:rPr lang="en-US" sz="1100" u="sng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FanCode signs exclusive ATP Tour multi-year broadcast deal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Jan 2026; accessed 21 Sep 2026.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31720"/>
            <a:ext cx="5455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S2 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Moneycontrol. </a:t>
            </a:r>
            <a:pPr indent="0" marL="0">
              <a:lnSpc>
                <a:spcPct val="105000"/>
              </a:lnSpc>
              <a:buNone/>
            </a:pPr>
            <a:r>
              <a:rPr lang="en-US" sz="1100" u="sng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FanCode strikes exclusive multi-year ATP Tour deal (56 events)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Jan 2026; accessed 21 Sep 2026.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200400"/>
            <a:ext cx="5455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S3 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ATP Tour. </a:t>
            </a:r>
            <a:pPr indent="0" marL="0">
              <a:lnSpc>
                <a:spcPct val="105000"/>
              </a:lnSpc>
              <a:buNone/>
            </a:pPr>
            <a:r>
              <a:rPr lang="en-US" sz="1100" u="sng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the 2026 ATP Tour calendar?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27 Nov 2025; accessed 21 Sep 2026.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069080"/>
            <a:ext cx="5455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S4 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ATP Tour. </a:t>
            </a:r>
            <a:pPr indent="0" marL="0">
              <a:lnSpc>
                <a:spcPct val="105000"/>
              </a:lnSpc>
              <a:buNone/>
            </a:pPr>
            <a:r>
              <a:rPr lang="en-US" sz="1100" u="sng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TV schedule: broadcaster list (India: FanCode)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2026; accessed 21 Sep 2026.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937760"/>
            <a:ext cx="5455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S5 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JioStar (press release). </a:t>
            </a:r>
            <a:pPr indent="0" marL="0">
              <a:lnSpc>
                <a:spcPct val="105000"/>
              </a:lnSpc>
              <a:buNone/>
            </a:pPr>
            <a:r>
              <a:rPr lang="en-US" sz="1100" u="sng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JioHotstar introduces monthly plans across tiers (prices from 28 Jan 2026)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21 Jan 2026; accessed 21 Sep 2026.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278728" y="1463040"/>
            <a:ext cx="5455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S6 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Sony LIV Help Centre. </a:t>
            </a:r>
            <a:pPr indent="0" marL="0">
              <a:lnSpc>
                <a:spcPct val="105000"/>
              </a:lnSpc>
              <a:buNone/>
            </a:pPr>
            <a:r>
              <a:rPr lang="en-US" sz="1100" u="sng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are the types of subscription available? / How much does Sony LIV cost?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undated help article; accessed 21 Sep 2026.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278728" y="2331720"/>
            <a:ext cx="5455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S7 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Tennis TV Help Centre. </a:t>
            </a:r>
            <a:pPr indent="0" marL="0">
              <a:lnSpc>
                <a:spcPct val="105000"/>
              </a:lnSpc>
              <a:buNone/>
            </a:pPr>
            <a:r>
              <a:rPr lang="en-US" sz="1100" u="sng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much does Tennis TV cost?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undated help article; accessed 21 Sep 2026.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278728" y="3200400"/>
            <a:ext cx="5455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S8 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Apple App Store (India storefront). </a:t>
            </a:r>
            <a:pPr indent="0" marL="0">
              <a:lnSpc>
                <a:spcPct val="105000"/>
              </a:lnSpc>
              <a:buNone/>
            </a:pPr>
            <a:r>
              <a:rPr lang="en-US" sz="1100" u="sng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Tennis TV app listing, India storefront (in-app prices)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current listing; accessed 21 Sep 2026.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278728" y="4069080"/>
            <a:ext cx="5455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S9 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Tennis TV Help Centre. </a:t>
            </a:r>
            <a:pPr indent="0" marL="0">
              <a:lnSpc>
                <a:spcPct val="105000"/>
              </a:lnSpc>
              <a:buNone/>
            </a:pPr>
            <a:r>
              <a:rPr lang="en-US" sz="1100" u="sng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Spoiler Mode on Tennis TV?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undated help article; accessed 21 Sep 2026.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278728" y="4937760"/>
            <a:ext cx="5455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S10 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FanCode. </a:t>
            </a:r>
            <a:pPr indent="0" marL="0">
              <a:lnSpc>
                <a:spcPct val="105000"/>
              </a:lnSpc>
              <a:buNone/>
            </a:pPr>
            <a:r>
              <a:rPr lang="en-US" sz="1100" u="sng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FanCode subscription page (Monthly Pass ₹179)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current page; accessed 21 Sep 2026.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58978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cut-off: sources published on or before 19 September 2026, accessed 21 September 2026 through search-index copies (the build environment could not open the sites directly). Case facts (CF) come from the Round 3 brief and govern where public figures differ.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13687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94484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1821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References (2 of 2): </a:t>
            </a:r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007A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sources, definitions, assumptions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9997135" y="3840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6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5455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S11 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FanCode. </a:t>
            </a:r>
            <a:pPr indent="0" marL="0">
              <a:lnSpc>
                <a:spcPct val="105000"/>
              </a:lnSpc>
              <a:buNone/>
            </a:pPr>
            <a:r>
              <a:rPr lang="en-US" sz="1100" u="sng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FanCode terms and conditions (pass definitions)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current page; accessed 21 Sep 2026.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84832"/>
            <a:ext cx="5455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S12 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Indian Tennis Daily (ITD) on X and Instagram. </a:t>
            </a:r>
            <a:pPr indent="0" marL="0">
              <a:lnSpc>
                <a:spcPct val="105000"/>
              </a:lnSpc>
              <a:buNone/>
            </a:pPr>
            <a:r>
              <a:rPr lang="en-US" sz="1100" u="sng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Indian Tennis Daily posts on FanCode ATP passes (X, Instagram)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Mar 2026 and in-season 2026; accessed 21 Sep 2026.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98064"/>
            <a:ext cx="5455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S13 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FanCode. </a:t>
            </a:r>
            <a:pPr indent="0" marL="0">
              <a:lnSpc>
                <a:spcPct val="105000"/>
              </a:lnSpc>
              <a:buNone/>
            </a:pPr>
            <a:r>
              <a:rPr lang="en-US" sz="1100" u="sng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ATP Tour This Week, episode 35 (weekly show page)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2026; accessed 21 Sep 2026.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511296"/>
            <a:ext cx="5455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S14 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Autocar India. </a:t>
            </a:r>
            <a:pPr indent="0" marL="0">
              <a:lnSpc>
                <a:spcPct val="105000"/>
              </a:lnSpc>
              <a:buNone/>
            </a:pPr>
            <a:r>
              <a:rPr lang="en-US" sz="1100" u="sng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F1 2026: FanCode and F1 TV India subscription prices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early 2026; accessed 21 Sep 2026.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278728" y="1371600"/>
            <a:ext cx="5455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S15 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FanCode. </a:t>
            </a:r>
            <a:pPr indent="0" marL="0">
              <a:lnSpc>
                <a:spcPct val="105000"/>
              </a:lnSpc>
              <a:buNone/>
            </a:pPr>
            <a:r>
              <a:rPr lang="en-US" sz="1100" u="sng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LALIGA 2026-27: live on FanCode (tour page)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2026; accessed 21 Sep 2026.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278728" y="2084832"/>
            <a:ext cx="5455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S16 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Unstop / BITS Goa Consulting Club. </a:t>
            </a:r>
            <a:pPr indent="0" marL="0">
              <a:lnSpc>
                <a:spcPct val="105000"/>
              </a:lnSpc>
              <a:buNone/>
            </a:pPr>
            <a:r>
              <a:rPr lang="en-US" sz="1100" u="sng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Case Consilium 2026 competition page (Unstop)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2026, not reachable from the build environment; accessed 21 Sep 2026.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278728" y="2798064"/>
            <a:ext cx="5455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S17 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BITS Goa Consulting Club / FanCode.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Round 3 case brief (not available in the build session)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Facts quoted via the master prompt register with PDF page indices; verify before upload.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297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6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Definitions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6177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payer. </a:t>
            </a:r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First-ever FanCode payment is an ATP pass. Reactivated = a lapsed 2025 buyer returning. Existing-payer ATP purchase = a current F1, MotoGP, LaLiga or Monthly payer buying ATP.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983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CAC. </a:t>
            </a:r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Attributed = row spend ÷ attributed new payers. Incremental = spend ÷ (attributed × validated share from the holdout). Programme cost per payer uses the whole budget, with or without implementation.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53492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Contribution. </a:t>
            </a:r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÷ 1.18 (GST assumed included) − 4% of gross (gateway, support) − ₹2 per streaming hour; cash basis; the fixed ATP rights fee is excluded.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57150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Horizons. </a:t>
            </a:r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 days, 12 and 24 months from a 7 Oct 2026 purchase; 24 months sits inside the rights term to 2028 (CF18).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053328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Assumptions and limits: CRM pools (150k / 120k / 40k / 60k), CPC, CPM, CVR, class mixes, pathway shares, renewals and session start times are model assumptions. Unverified: the case PDF (quoted via the master prompt register), Tennis TV live availability in India, the 2027 season tariff, Monthly Pass tour inclusions. ATP = Association of Tennis Professionals; CRM = customer relationship management; D90 = day 90 after first purchase; IST = India Standard Time.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13687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Wookies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Wookies: FanCode ATP growth (BGCC Case Consilium 2026, Round 3)</dc:title>
  <dc:subject>PptxGenJS Presentation</dc:subject>
  <dc:creator>Wookies</dc:creator>
  <cp:lastModifiedBy>Wookies</cp:lastModifiedBy>
  <cp:revision>1</cp:revision>
  <dcterms:created xsi:type="dcterms:W3CDTF">2026-09-21T16:52:48Z</dcterms:created>
  <dcterms:modified xsi:type="dcterms:W3CDTF">2026-09-21T16:52:48Z</dcterms:modified>
</cp:coreProperties>
</file>